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activeX/activeX2.bin" ContentType="application/vnd.ms-office.activeX"/>
  <Override PartName="/ppt/activeX/activeX2.xml" ContentType="application/vnd.ms-office.activeX+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handoutMasterIdLst>
    <p:handoutMasterId r:id="rId55"/>
  </p:handoutMasterIdLst>
  <p:sldIdLst>
    <p:sldId id="266" r:id="rId3"/>
    <p:sldId id="353" r:id="rId4"/>
    <p:sldId id="350" r:id="rId5"/>
    <p:sldId id="355" r:id="rId6"/>
    <p:sldId id="356" r:id="rId7"/>
    <p:sldId id="357" r:id="rId8"/>
    <p:sldId id="394" r:id="rId9"/>
    <p:sldId id="395" r:id="rId10"/>
    <p:sldId id="396" r:id="rId11"/>
    <p:sldId id="354" r:id="rId12"/>
    <p:sldId id="358" r:id="rId13"/>
    <p:sldId id="359" r:id="rId14"/>
    <p:sldId id="360" r:id="rId15"/>
    <p:sldId id="361" r:id="rId16"/>
    <p:sldId id="362" r:id="rId17"/>
    <p:sldId id="363" r:id="rId18"/>
    <p:sldId id="389" r:id="rId19"/>
    <p:sldId id="390" r:id="rId20"/>
    <p:sldId id="330" r:id="rId21"/>
    <p:sldId id="331" r:id="rId22"/>
    <p:sldId id="404" r:id="rId23"/>
    <p:sldId id="399" r:id="rId24"/>
    <p:sldId id="371" r:id="rId25"/>
    <p:sldId id="348" r:id="rId26"/>
    <p:sldId id="379" r:id="rId27"/>
    <p:sldId id="372" r:id="rId28"/>
    <p:sldId id="373" r:id="rId29"/>
    <p:sldId id="374" r:id="rId30"/>
    <p:sldId id="375" r:id="rId31"/>
    <p:sldId id="376" r:id="rId32"/>
    <p:sldId id="377" r:id="rId33"/>
    <p:sldId id="378" r:id="rId34"/>
    <p:sldId id="382" r:id="rId35"/>
    <p:sldId id="383" r:id="rId36"/>
    <p:sldId id="319" r:id="rId37"/>
    <p:sldId id="384" r:id="rId38"/>
    <p:sldId id="324" r:id="rId39"/>
    <p:sldId id="385" r:id="rId40"/>
    <p:sldId id="386" r:id="rId41"/>
    <p:sldId id="320" r:id="rId42"/>
    <p:sldId id="333" r:id="rId43"/>
    <p:sldId id="403" r:id="rId44"/>
    <p:sldId id="334" r:id="rId45"/>
    <p:sldId id="321" r:id="rId46"/>
    <p:sldId id="335" r:id="rId47"/>
    <p:sldId id="336" r:id="rId48"/>
    <p:sldId id="326" r:id="rId49"/>
    <p:sldId id="338" r:id="rId50"/>
    <p:sldId id="339" r:id="rId51"/>
    <p:sldId id="401" r:id="rId52"/>
    <p:sldId id="402" r:id="rId53"/>
  </p:sldIdLst>
  <p:sldSz cx="9144000" cy="6858000" type="screen4x3"/>
  <p:notesSz cx="6833870" cy="9979025"/>
  <p:custDataLst>
    <p:tags r:id="rId59"/>
  </p:custDataLst>
  <p:defaultTextStyle>
    <a:defPPr>
      <a:defRPr lang="zh-CN"/>
    </a:defPPr>
    <a:lvl1pPr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FF0066"/>
    <a:srgbClr val="FFCC66"/>
    <a:srgbClr val="CCECFF"/>
    <a:srgbClr val="FFCC9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77" autoAdjust="0"/>
    <p:restoredTop sz="94614" autoAdjust="0"/>
  </p:normalViewPr>
  <p:slideViewPr>
    <p:cSldViewPr showGuides="1">
      <p:cViewPr>
        <p:scale>
          <a:sx n="100" d="100"/>
          <a:sy n="100" d="100"/>
        </p:scale>
        <p:origin x="1308"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howGuides="1">
      <p:cViewPr varScale="1">
        <p:scale>
          <a:sx n="79" d="100"/>
          <a:sy n="79" d="100"/>
        </p:scale>
        <p:origin x="-4008" y="-84"/>
      </p:cViewPr>
      <p:guideLst>
        <p:guide orient="horz" pos="3143"/>
        <p:guide pos="2152"/>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9" Type="http://schemas.openxmlformats.org/officeDocument/2006/relationships/tags" Target="tags/tag1.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handoutMaster" Target="handoutMasters/handoutMaster1.xml"/><Relationship Id="rId54" Type="http://schemas.openxmlformats.org/officeDocument/2006/relationships/notesMaster" Target="notesMasters/notesMaster1.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4" Type="http://schemas.openxmlformats.org/officeDocument/2006/relationships/image" Target="../media/image4.wmf"/><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8.emf"/><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20.emf"/><Relationship Id="rId8" Type="http://schemas.openxmlformats.org/officeDocument/2006/relationships/image" Target="../media/image19.emf"/><Relationship Id="rId7" Type="http://schemas.openxmlformats.org/officeDocument/2006/relationships/image" Target="../media/image18.emf"/><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 Id="rId3" Type="http://schemas.openxmlformats.org/officeDocument/2006/relationships/image" Target="../media/image14.emf"/><Relationship Id="rId2" Type="http://schemas.openxmlformats.org/officeDocument/2006/relationships/image" Target="../media/image13.emf"/><Relationship Id="rId18" Type="http://schemas.openxmlformats.org/officeDocument/2006/relationships/image" Target="../media/image29.emf"/><Relationship Id="rId17" Type="http://schemas.openxmlformats.org/officeDocument/2006/relationships/image" Target="../media/image28.emf"/><Relationship Id="rId16" Type="http://schemas.openxmlformats.org/officeDocument/2006/relationships/image" Target="../media/image27.emf"/><Relationship Id="rId15" Type="http://schemas.openxmlformats.org/officeDocument/2006/relationships/image" Target="../media/image26.emf"/><Relationship Id="rId14" Type="http://schemas.openxmlformats.org/officeDocument/2006/relationships/image" Target="../media/image25.emf"/><Relationship Id="rId13" Type="http://schemas.openxmlformats.org/officeDocument/2006/relationships/image" Target="../media/image24.emf"/><Relationship Id="rId12" Type="http://schemas.openxmlformats.org/officeDocument/2006/relationships/image" Target="../media/image23.emf"/><Relationship Id="rId11" Type="http://schemas.openxmlformats.org/officeDocument/2006/relationships/image" Target="../media/image22.emf"/><Relationship Id="rId10" Type="http://schemas.openxmlformats.org/officeDocument/2006/relationships/image" Target="../media/image21.emf"/><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emf"/><Relationship Id="rId1" Type="http://schemas.openxmlformats.org/officeDocument/2006/relationships/image" Target="../media/image30.e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41.wmf"/><Relationship Id="rId8" Type="http://schemas.openxmlformats.org/officeDocument/2006/relationships/image" Target="../media/image40.wmf"/><Relationship Id="rId7" Type="http://schemas.openxmlformats.org/officeDocument/2006/relationships/image" Target="../media/image39.wmf"/><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image" Target="../media/image33.e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50.wmf"/><Relationship Id="rId8" Type="http://schemas.openxmlformats.org/officeDocument/2006/relationships/image" Target="../media/image49.emf"/><Relationship Id="rId7" Type="http://schemas.openxmlformats.org/officeDocument/2006/relationships/image" Target="../media/image48.emf"/><Relationship Id="rId6" Type="http://schemas.openxmlformats.org/officeDocument/2006/relationships/image" Target="../media/image47.emf"/><Relationship Id="rId5" Type="http://schemas.openxmlformats.org/officeDocument/2006/relationships/image" Target="../media/image46.emf"/><Relationship Id="rId4" Type="http://schemas.openxmlformats.org/officeDocument/2006/relationships/image" Target="../media/image45.emf"/><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image" Target="../media/image4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62.wmf"/><Relationship Id="rId8" Type="http://schemas.openxmlformats.org/officeDocument/2006/relationships/image" Target="../media/image61.wmf"/><Relationship Id="rId7" Type="http://schemas.openxmlformats.org/officeDocument/2006/relationships/image" Target="../media/image60.wmf"/><Relationship Id="rId6" Type="http://schemas.openxmlformats.org/officeDocument/2006/relationships/image" Target="../media/image59.emf"/><Relationship Id="rId5" Type="http://schemas.openxmlformats.org/officeDocument/2006/relationships/image" Target="../media/image58.wmf"/><Relationship Id="rId4" Type="http://schemas.openxmlformats.org/officeDocument/2006/relationships/image" Target="../media/image57.wmf"/><Relationship Id="rId3" Type="http://schemas.openxmlformats.org/officeDocument/2006/relationships/image" Target="../media/image56.wmf"/><Relationship Id="rId2" Type="http://schemas.openxmlformats.org/officeDocument/2006/relationships/image" Target="../media/image55.wmf"/><Relationship Id="rId10" Type="http://schemas.openxmlformats.org/officeDocument/2006/relationships/image" Target="../media/image63.wmf"/><Relationship Id="rId1" Type="http://schemas.openxmlformats.org/officeDocument/2006/relationships/image" Target="../media/image54.wmf"/></Relationships>
</file>

<file path=ppt/drawings/_rels/vmlDrawing10.vml.rels><?xml version="1.0" encoding="UTF-8" standalone="yes"?>
<Relationships xmlns="http://schemas.openxmlformats.org/package/2006/relationships"><Relationship Id="rId6" Type="http://schemas.openxmlformats.org/officeDocument/2006/relationships/image" Target="../media/image67.emf"/><Relationship Id="rId5" Type="http://schemas.openxmlformats.org/officeDocument/2006/relationships/image" Target="../media/image66.wmf"/><Relationship Id="rId4" Type="http://schemas.openxmlformats.org/officeDocument/2006/relationships/image" Target="../media/image65.emf"/><Relationship Id="rId3" Type="http://schemas.openxmlformats.org/officeDocument/2006/relationships/image" Target="../media/image64.wmf"/><Relationship Id="rId2" Type="http://schemas.openxmlformats.org/officeDocument/2006/relationships/image" Target="../media/image58.wmf"/><Relationship Id="rId1" Type="http://schemas.openxmlformats.org/officeDocument/2006/relationships/image" Target="../media/image57.w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77.emf"/><Relationship Id="rId8" Type="http://schemas.openxmlformats.org/officeDocument/2006/relationships/image" Target="../media/image76.wmf"/><Relationship Id="rId7" Type="http://schemas.openxmlformats.org/officeDocument/2006/relationships/image" Target="../media/image75.emf"/><Relationship Id="rId6" Type="http://schemas.openxmlformats.org/officeDocument/2006/relationships/image" Target="../media/image74.emf"/><Relationship Id="rId5" Type="http://schemas.openxmlformats.org/officeDocument/2006/relationships/image" Target="../media/image73.wmf"/><Relationship Id="rId4" Type="http://schemas.openxmlformats.org/officeDocument/2006/relationships/image" Target="../media/image72.wmf"/><Relationship Id="rId3" Type="http://schemas.openxmlformats.org/officeDocument/2006/relationships/image" Target="../media/image71.emf"/><Relationship Id="rId2" Type="http://schemas.openxmlformats.org/officeDocument/2006/relationships/image" Target="../media/image70.wmf"/><Relationship Id="rId1" Type="http://schemas.openxmlformats.org/officeDocument/2006/relationships/image" Target="../media/image69.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86.wmf"/><Relationship Id="rId8" Type="http://schemas.openxmlformats.org/officeDocument/2006/relationships/image" Target="../media/image85.wmf"/><Relationship Id="rId7" Type="http://schemas.openxmlformats.org/officeDocument/2006/relationships/image" Target="../media/image84.emf"/><Relationship Id="rId6" Type="http://schemas.openxmlformats.org/officeDocument/2006/relationships/image" Target="../media/image83.emf"/><Relationship Id="rId5" Type="http://schemas.openxmlformats.org/officeDocument/2006/relationships/image" Target="../media/image82.wmf"/><Relationship Id="rId4" Type="http://schemas.openxmlformats.org/officeDocument/2006/relationships/image" Target="../media/image81.emf"/><Relationship Id="rId3" Type="http://schemas.openxmlformats.org/officeDocument/2006/relationships/image" Target="../media/image80.wmf"/><Relationship Id="rId2" Type="http://schemas.openxmlformats.org/officeDocument/2006/relationships/image" Target="../media/image79.wmf"/><Relationship Id="rId10" Type="http://schemas.openxmlformats.org/officeDocument/2006/relationships/image" Target="../media/image87.wmf"/><Relationship Id="rId1" Type="http://schemas.openxmlformats.org/officeDocument/2006/relationships/image" Target="../media/image78.wmf"/></Relationships>
</file>

<file path=ppt/drawings/_rels/vmlDrawing13.vml.rels><?xml version="1.0" encoding="UTF-8" standalone="yes"?>
<Relationships xmlns="http://schemas.openxmlformats.org/package/2006/relationships"><Relationship Id="rId7" Type="http://schemas.openxmlformats.org/officeDocument/2006/relationships/image" Target="../media/image93.wmf"/><Relationship Id="rId6" Type="http://schemas.openxmlformats.org/officeDocument/2006/relationships/image" Target="../media/image92.wmf"/><Relationship Id="rId5" Type="http://schemas.openxmlformats.org/officeDocument/2006/relationships/image" Target="../media/image91.wmf"/><Relationship Id="rId4" Type="http://schemas.openxmlformats.org/officeDocument/2006/relationships/image" Target="../media/image90.wmf"/><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5.wmf"/></Relationships>
</file>

<file path=ppt/drawings/_rels/vmlDrawing14.vml.rels><?xml version="1.0" encoding="UTF-8" standalone="yes"?>
<Relationships xmlns="http://schemas.openxmlformats.org/package/2006/relationships"><Relationship Id="rId5" Type="http://schemas.openxmlformats.org/officeDocument/2006/relationships/image" Target="../media/image98.emf"/><Relationship Id="rId4" Type="http://schemas.openxmlformats.org/officeDocument/2006/relationships/image" Target="../media/image97.emf"/><Relationship Id="rId3" Type="http://schemas.openxmlformats.org/officeDocument/2006/relationships/image" Target="../media/image96.emf"/><Relationship Id="rId2" Type="http://schemas.openxmlformats.org/officeDocument/2006/relationships/image" Target="../media/image95.emf"/><Relationship Id="rId1" Type="http://schemas.openxmlformats.org/officeDocument/2006/relationships/image" Target="../media/image94.wmf"/></Relationships>
</file>

<file path=ppt/drawings/_rels/vmlDrawing15.vml.rels><?xml version="1.0" encoding="UTF-8" standalone="yes"?>
<Relationships xmlns="http://schemas.openxmlformats.org/package/2006/relationships"><Relationship Id="rId7" Type="http://schemas.openxmlformats.org/officeDocument/2006/relationships/image" Target="../media/image105.wmf"/><Relationship Id="rId6" Type="http://schemas.openxmlformats.org/officeDocument/2006/relationships/image" Target="../media/image104.emf"/><Relationship Id="rId5" Type="http://schemas.openxmlformats.org/officeDocument/2006/relationships/image" Target="../media/image103.emf"/><Relationship Id="rId4" Type="http://schemas.openxmlformats.org/officeDocument/2006/relationships/image" Target="../media/image102.emf"/><Relationship Id="rId3" Type="http://schemas.openxmlformats.org/officeDocument/2006/relationships/image" Target="../media/image101.emf"/><Relationship Id="rId2" Type="http://schemas.openxmlformats.org/officeDocument/2006/relationships/image" Target="../media/image100.emf"/><Relationship Id="rId1" Type="http://schemas.openxmlformats.org/officeDocument/2006/relationships/image" Target="../media/image99.emf"/></Relationships>
</file>

<file path=ppt/drawings/_rels/vmlDrawing16.vml.rels><?xml version="1.0" encoding="UTF-8" standalone="yes"?>
<Relationships xmlns="http://schemas.openxmlformats.org/package/2006/relationships"><Relationship Id="rId7" Type="http://schemas.openxmlformats.org/officeDocument/2006/relationships/image" Target="../media/image112.emf"/><Relationship Id="rId6" Type="http://schemas.openxmlformats.org/officeDocument/2006/relationships/image" Target="../media/image111.emf"/><Relationship Id="rId5" Type="http://schemas.openxmlformats.org/officeDocument/2006/relationships/image" Target="../media/image110.emf"/><Relationship Id="rId4" Type="http://schemas.openxmlformats.org/officeDocument/2006/relationships/image" Target="../media/image109.emf"/><Relationship Id="rId3" Type="http://schemas.openxmlformats.org/officeDocument/2006/relationships/image" Target="../media/image108.emf"/><Relationship Id="rId2" Type="http://schemas.openxmlformats.org/officeDocument/2006/relationships/image" Target="../media/image107.emf"/><Relationship Id="rId1" Type="http://schemas.openxmlformats.org/officeDocument/2006/relationships/image" Target="../media/image106.e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121.emf"/><Relationship Id="rId8" Type="http://schemas.openxmlformats.org/officeDocument/2006/relationships/image" Target="../media/image120.emf"/><Relationship Id="rId7" Type="http://schemas.openxmlformats.org/officeDocument/2006/relationships/image" Target="../media/image119.emf"/><Relationship Id="rId6" Type="http://schemas.openxmlformats.org/officeDocument/2006/relationships/image" Target="../media/image118.emf"/><Relationship Id="rId5" Type="http://schemas.openxmlformats.org/officeDocument/2006/relationships/image" Target="../media/image117.emf"/><Relationship Id="rId4" Type="http://schemas.openxmlformats.org/officeDocument/2006/relationships/image" Target="../media/image116.emf"/><Relationship Id="rId3" Type="http://schemas.openxmlformats.org/officeDocument/2006/relationships/image" Target="../media/image115.emf"/><Relationship Id="rId2" Type="http://schemas.openxmlformats.org/officeDocument/2006/relationships/image" Target="../media/image114.emf"/><Relationship Id="rId1" Type="http://schemas.openxmlformats.org/officeDocument/2006/relationships/image" Target="../media/image113.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23.emf"/><Relationship Id="rId2" Type="http://schemas.openxmlformats.org/officeDocument/2006/relationships/image" Target="../media/image122.emf"/><Relationship Id="rId1" Type="http://schemas.openxmlformats.org/officeDocument/2006/relationships/image" Target="../media/image118.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25.emf"/><Relationship Id="rId1" Type="http://schemas.openxmlformats.org/officeDocument/2006/relationships/image" Target="../media/image124.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7.wmf"/><Relationship Id="rId1" Type="http://schemas.openxmlformats.org/officeDocument/2006/relationships/image" Target="../media/image126.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31.emf"/><Relationship Id="rId2" Type="http://schemas.openxmlformats.org/officeDocument/2006/relationships/image" Target="../media/image130.emf"/><Relationship Id="rId1" Type="http://schemas.openxmlformats.org/officeDocument/2006/relationships/image" Target="../media/image129.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33.emf"/><Relationship Id="rId1" Type="http://schemas.openxmlformats.org/officeDocument/2006/relationships/image" Target="../media/image132.emf"/></Relationships>
</file>

<file path=ppt/drawings/_rels/vmlDrawing23.vml.rels><?xml version="1.0" encoding="UTF-8" standalone="yes"?>
<Relationships xmlns="http://schemas.openxmlformats.org/package/2006/relationships"><Relationship Id="rId5" Type="http://schemas.openxmlformats.org/officeDocument/2006/relationships/image" Target="../media/image138.emf"/><Relationship Id="rId4" Type="http://schemas.openxmlformats.org/officeDocument/2006/relationships/image" Target="../media/image137.emf"/><Relationship Id="rId3" Type="http://schemas.openxmlformats.org/officeDocument/2006/relationships/image" Target="../media/image136.emf"/><Relationship Id="rId2" Type="http://schemas.openxmlformats.org/officeDocument/2006/relationships/image" Target="../media/image135.emf"/><Relationship Id="rId1" Type="http://schemas.openxmlformats.org/officeDocument/2006/relationships/image" Target="../media/image134.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40.wmf"/><Relationship Id="rId1" Type="http://schemas.openxmlformats.org/officeDocument/2006/relationships/image" Target="../media/image139.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41.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s>
</file>

<file path=ppt/drawings/_rels/vmlDrawing27.vml.rels><?xml version="1.0" encoding="UTF-8" standalone="yes"?>
<Relationships xmlns="http://schemas.openxmlformats.org/package/2006/relationships"><Relationship Id="rId4" Type="http://schemas.openxmlformats.org/officeDocument/2006/relationships/image" Target="../media/image148.wmf"/><Relationship Id="rId3" Type="http://schemas.openxmlformats.org/officeDocument/2006/relationships/image" Target="../media/image147.wmf"/><Relationship Id="rId2" Type="http://schemas.openxmlformats.org/officeDocument/2006/relationships/image" Target="../media/image146.wmf"/><Relationship Id="rId1" Type="http://schemas.openxmlformats.org/officeDocument/2006/relationships/image" Target="../media/image145.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50.emf"/><Relationship Id="rId1" Type="http://schemas.openxmlformats.org/officeDocument/2006/relationships/image" Target="../media/image149.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51.emf"/></Relationships>
</file>

<file path=ppt/drawings/_rels/vmlDrawing30.vml.rels><?xml version="1.0" encoding="UTF-8" standalone="yes"?>
<Relationships xmlns="http://schemas.openxmlformats.org/package/2006/relationships"><Relationship Id="rId7" Type="http://schemas.openxmlformats.org/officeDocument/2006/relationships/image" Target="../media/image156.emf"/><Relationship Id="rId6" Type="http://schemas.openxmlformats.org/officeDocument/2006/relationships/image" Target="../media/image155.emf"/><Relationship Id="rId5" Type="http://schemas.openxmlformats.org/officeDocument/2006/relationships/image" Target="../media/image154.emf"/><Relationship Id="rId4" Type="http://schemas.openxmlformats.org/officeDocument/2006/relationships/image" Target="../media/image153.emf"/><Relationship Id="rId3" Type="http://schemas.openxmlformats.org/officeDocument/2006/relationships/image" Target="../media/image58.wmf"/><Relationship Id="rId2" Type="http://schemas.openxmlformats.org/officeDocument/2006/relationships/image" Target="../media/image152.emf"/><Relationship Id="rId1" Type="http://schemas.openxmlformats.org/officeDocument/2006/relationships/image" Target="../media/image57.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58.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58.wmf"/><Relationship Id="rId7" Type="http://schemas.openxmlformats.org/officeDocument/2006/relationships/image" Target="../media/image163.emf"/><Relationship Id="rId6" Type="http://schemas.openxmlformats.org/officeDocument/2006/relationships/image" Target="../media/image162.emf"/><Relationship Id="rId5" Type="http://schemas.openxmlformats.org/officeDocument/2006/relationships/image" Target="../media/image161.emf"/><Relationship Id="rId4" Type="http://schemas.openxmlformats.org/officeDocument/2006/relationships/image" Target="../media/image160.emf"/><Relationship Id="rId3" Type="http://schemas.openxmlformats.org/officeDocument/2006/relationships/image" Target="../media/image159.emf"/><Relationship Id="rId2" Type="http://schemas.openxmlformats.org/officeDocument/2006/relationships/image" Target="../media/image58.wmf"/><Relationship Id="rId1" Type="http://schemas.openxmlformats.org/officeDocument/2006/relationships/image" Target="../media/image57.wmf"/></Relationships>
</file>

<file path=ppt/drawings/_rels/vmlDrawing33.vml.rels><?xml version="1.0" encoding="UTF-8" standalone="yes"?>
<Relationships xmlns="http://schemas.openxmlformats.org/package/2006/relationships"><Relationship Id="rId9" Type="http://schemas.openxmlformats.org/officeDocument/2006/relationships/image" Target="../media/image158.wmf"/><Relationship Id="rId8" Type="http://schemas.openxmlformats.org/officeDocument/2006/relationships/image" Target="../media/image171.wmf"/><Relationship Id="rId7" Type="http://schemas.openxmlformats.org/officeDocument/2006/relationships/image" Target="../media/image170.wmf"/><Relationship Id="rId6" Type="http://schemas.openxmlformats.org/officeDocument/2006/relationships/image" Target="../media/image169.emf"/><Relationship Id="rId5" Type="http://schemas.openxmlformats.org/officeDocument/2006/relationships/image" Target="../media/image168.emf"/><Relationship Id="rId4" Type="http://schemas.openxmlformats.org/officeDocument/2006/relationships/image" Target="../media/image167.emf"/><Relationship Id="rId3" Type="http://schemas.openxmlformats.org/officeDocument/2006/relationships/image" Target="../media/image166.emf"/><Relationship Id="rId2" Type="http://schemas.openxmlformats.org/officeDocument/2006/relationships/image" Target="../media/image165.emf"/><Relationship Id="rId1" Type="http://schemas.openxmlformats.org/officeDocument/2006/relationships/image" Target="../media/image164.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72.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74.emf"/><Relationship Id="rId2" Type="http://schemas.openxmlformats.org/officeDocument/2006/relationships/image" Target="../media/image172.wmf"/><Relationship Id="rId1" Type="http://schemas.openxmlformats.org/officeDocument/2006/relationships/image" Target="../media/image173.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182.emf"/><Relationship Id="rId7" Type="http://schemas.openxmlformats.org/officeDocument/2006/relationships/image" Target="../media/image174.emf"/><Relationship Id="rId6" Type="http://schemas.openxmlformats.org/officeDocument/2006/relationships/image" Target="../media/image181.emf"/><Relationship Id="rId5" Type="http://schemas.openxmlformats.org/officeDocument/2006/relationships/image" Target="../media/image172.wmf"/><Relationship Id="rId4" Type="http://schemas.openxmlformats.org/officeDocument/2006/relationships/image" Target="../media/image173.wmf"/><Relationship Id="rId3" Type="http://schemas.openxmlformats.org/officeDocument/2006/relationships/image" Target="../media/image180.emf"/><Relationship Id="rId2" Type="http://schemas.openxmlformats.org/officeDocument/2006/relationships/image" Target="../media/image179.emf"/><Relationship Id="rId1" Type="http://schemas.openxmlformats.org/officeDocument/2006/relationships/image" Target="../media/image178.emf"/></Relationships>
</file>

<file path=ppt/drawings/_rels/vmlDrawing37.vml.rels><?xml version="1.0" encoding="UTF-8" standalone="yes"?>
<Relationships xmlns="http://schemas.openxmlformats.org/package/2006/relationships"><Relationship Id="rId9" Type="http://schemas.openxmlformats.org/officeDocument/2006/relationships/image" Target="../media/image189.wmf"/><Relationship Id="rId8" Type="http://schemas.openxmlformats.org/officeDocument/2006/relationships/image" Target="../media/image188.emf"/><Relationship Id="rId7" Type="http://schemas.openxmlformats.org/officeDocument/2006/relationships/image" Target="../media/image187.emf"/><Relationship Id="rId6" Type="http://schemas.openxmlformats.org/officeDocument/2006/relationships/image" Target="../media/image186.emf"/><Relationship Id="rId5" Type="http://schemas.openxmlformats.org/officeDocument/2006/relationships/image" Target="../media/image185.emf"/><Relationship Id="rId4" Type="http://schemas.openxmlformats.org/officeDocument/2006/relationships/image" Target="../media/image184.emf"/><Relationship Id="rId3" Type="http://schemas.openxmlformats.org/officeDocument/2006/relationships/image" Target="../media/image183.emf"/><Relationship Id="rId2" Type="http://schemas.openxmlformats.org/officeDocument/2006/relationships/image" Target="../media/image182.emf"/><Relationship Id="rId10" Type="http://schemas.openxmlformats.org/officeDocument/2006/relationships/image" Target="../media/image172.wmf"/><Relationship Id="rId1" Type="http://schemas.openxmlformats.org/officeDocument/2006/relationships/image" Target="../media/image181.e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91.emf"/><Relationship Id="rId1" Type="http://schemas.openxmlformats.org/officeDocument/2006/relationships/image" Target="../media/image190.emf"/></Relationships>
</file>

<file path=ppt/drawings/_rels/vmlDrawing39.vml.rels><?xml version="1.0" encoding="UTF-8" standalone="yes"?>
<Relationships xmlns="http://schemas.openxmlformats.org/package/2006/relationships"><Relationship Id="rId4" Type="http://schemas.openxmlformats.org/officeDocument/2006/relationships/image" Target="../media/image195.emf"/><Relationship Id="rId3" Type="http://schemas.openxmlformats.org/officeDocument/2006/relationships/image" Target="../media/image194.emf"/><Relationship Id="rId2" Type="http://schemas.openxmlformats.org/officeDocument/2006/relationships/image" Target="../media/image193.emf"/><Relationship Id="rId1" Type="http://schemas.openxmlformats.org/officeDocument/2006/relationships/image" Target="../media/image192.e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191.emf"/><Relationship Id="rId7" Type="http://schemas.openxmlformats.org/officeDocument/2006/relationships/image" Target="../media/image203.wmf"/><Relationship Id="rId6" Type="http://schemas.openxmlformats.org/officeDocument/2006/relationships/image" Target="../media/image202.emf"/><Relationship Id="rId5" Type="http://schemas.openxmlformats.org/officeDocument/2006/relationships/image" Target="../media/image201.emf"/><Relationship Id="rId4" Type="http://schemas.openxmlformats.org/officeDocument/2006/relationships/image" Target="../media/image200.emf"/><Relationship Id="rId3" Type="http://schemas.openxmlformats.org/officeDocument/2006/relationships/image" Target="../media/image199.emf"/><Relationship Id="rId2" Type="http://schemas.openxmlformats.org/officeDocument/2006/relationships/image" Target="../media/image198.emf"/><Relationship Id="rId1" Type="http://schemas.openxmlformats.org/officeDocument/2006/relationships/image" Target="../media/image197.e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06.emf"/><Relationship Id="rId2" Type="http://schemas.openxmlformats.org/officeDocument/2006/relationships/image" Target="../media/image205.emf"/><Relationship Id="rId1" Type="http://schemas.openxmlformats.org/officeDocument/2006/relationships/image" Target="../media/image204.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09.emf"/><Relationship Id="rId2" Type="http://schemas.openxmlformats.org/officeDocument/2006/relationships/image" Target="../media/image208.emf"/><Relationship Id="rId1" Type="http://schemas.openxmlformats.org/officeDocument/2006/relationships/image" Target="../media/image207.e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12.emf"/><Relationship Id="rId2" Type="http://schemas.openxmlformats.org/officeDocument/2006/relationships/image" Target="../media/image211.emf"/><Relationship Id="rId1" Type="http://schemas.openxmlformats.org/officeDocument/2006/relationships/image" Target="../media/image210.emf"/></Relationships>
</file>

<file path=ppt/drawings/_rels/vmlDrawing44.vml.rels><?xml version="1.0" encoding="UTF-8" standalone="yes"?>
<Relationships xmlns="http://schemas.openxmlformats.org/package/2006/relationships"><Relationship Id="rId4" Type="http://schemas.openxmlformats.org/officeDocument/2006/relationships/image" Target="../media/image216.wmf"/><Relationship Id="rId3" Type="http://schemas.openxmlformats.org/officeDocument/2006/relationships/image" Target="../media/image215.wmf"/><Relationship Id="rId2" Type="http://schemas.openxmlformats.org/officeDocument/2006/relationships/image" Target="../media/image214.wmf"/><Relationship Id="rId1" Type="http://schemas.openxmlformats.org/officeDocument/2006/relationships/image" Target="../media/image213.wmf"/></Relationships>
</file>

<file path=ppt/drawings/_rels/vmlDrawing45.vml.rels><?xml version="1.0" encoding="UTF-8" standalone="yes"?>
<Relationships xmlns="http://schemas.openxmlformats.org/package/2006/relationships"><Relationship Id="rId8" Type="http://schemas.openxmlformats.org/officeDocument/2006/relationships/image" Target="../media/image224.wmf"/><Relationship Id="rId7" Type="http://schemas.openxmlformats.org/officeDocument/2006/relationships/image" Target="../media/image223.wmf"/><Relationship Id="rId6" Type="http://schemas.openxmlformats.org/officeDocument/2006/relationships/image" Target="../media/image222.wmf"/><Relationship Id="rId5" Type="http://schemas.openxmlformats.org/officeDocument/2006/relationships/image" Target="../media/image221.wmf"/><Relationship Id="rId4" Type="http://schemas.openxmlformats.org/officeDocument/2006/relationships/image" Target="../media/image220.wmf"/><Relationship Id="rId3" Type="http://schemas.openxmlformats.org/officeDocument/2006/relationships/image" Target="../media/image219.wmf"/><Relationship Id="rId2" Type="http://schemas.openxmlformats.org/officeDocument/2006/relationships/image" Target="../media/image218.wmf"/><Relationship Id="rId1" Type="http://schemas.openxmlformats.org/officeDocument/2006/relationships/image" Target="../media/image2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bwMode="auto">
          <a:xfrm>
            <a:off x="0" y="0"/>
            <a:ext cx="2962275" cy="498475"/>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pPr>
              <a:defRPr/>
            </a:pPr>
            <a:endParaRPr lang="en-US" altLang="zh-CN"/>
          </a:p>
        </p:txBody>
      </p:sp>
      <p:sp>
        <p:nvSpPr>
          <p:cNvPr id="117763" name="Rectangle 3"/>
          <p:cNvSpPr>
            <a:spLocks noGrp="1" noChangeArrowheads="1"/>
          </p:cNvSpPr>
          <p:nvPr>
            <p:ph type="dt" sz="quarter" idx="1"/>
          </p:nvPr>
        </p:nvSpPr>
        <p:spPr bwMode="auto">
          <a:xfrm>
            <a:off x="3871913" y="0"/>
            <a:ext cx="2960687" cy="498475"/>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a:defRPr/>
            </a:pPr>
            <a:endParaRPr lang="en-US" altLang="zh-CN"/>
          </a:p>
        </p:txBody>
      </p:sp>
      <p:sp>
        <p:nvSpPr>
          <p:cNvPr id="117764" name="Rectangle 4"/>
          <p:cNvSpPr>
            <a:spLocks noGrp="1" noChangeArrowheads="1"/>
          </p:cNvSpPr>
          <p:nvPr>
            <p:ph type="ftr" sz="quarter" idx="2"/>
          </p:nvPr>
        </p:nvSpPr>
        <p:spPr bwMode="auto">
          <a:xfrm>
            <a:off x="0" y="9478963"/>
            <a:ext cx="2962275" cy="498475"/>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pPr>
              <a:defRPr/>
            </a:pPr>
            <a:endParaRPr lang="en-US" altLang="zh-CN"/>
          </a:p>
        </p:txBody>
      </p:sp>
      <p:sp>
        <p:nvSpPr>
          <p:cNvPr id="117765" name="Rectangle 5"/>
          <p:cNvSpPr>
            <a:spLocks noGrp="1" noChangeArrowheads="1"/>
          </p:cNvSpPr>
          <p:nvPr>
            <p:ph type="sldNum" sz="quarter" idx="3"/>
          </p:nvPr>
        </p:nvSpPr>
        <p:spPr bwMode="auto">
          <a:xfrm>
            <a:off x="3871913" y="9478963"/>
            <a:ext cx="2960687" cy="498475"/>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B7783F29-8EF5-4C04-B901-C8ECEF5F5DB7}"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bwMode="auto">
          <a:xfrm>
            <a:off x="0" y="0"/>
            <a:ext cx="2962275" cy="498475"/>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pPr>
              <a:defRPr/>
            </a:pPr>
            <a:endParaRPr lang="en-US" altLang="zh-CN"/>
          </a:p>
        </p:txBody>
      </p:sp>
      <p:sp>
        <p:nvSpPr>
          <p:cNvPr id="125955" name="Rectangle 3"/>
          <p:cNvSpPr>
            <a:spLocks noGrp="1" noChangeArrowheads="1"/>
          </p:cNvSpPr>
          <p:nvPr>
            <p:ph type="dt" idx="1"/>
          </p:nvPr>
        </p:nvSpPr>
        <p:spPr bwMode="auto">
          <a:xfrm>
            <a:off x="3871913" y="0"/>
            <a:ext cx="2960687" cy="498475"/>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a:defRPr/>
            </a:pPr>
            <a:endParaRPr lang="en-US" altLang="zh-CN"/>
          </a:p>
        </p:txBody>
      </p:sp>
      <p:sp>
        <p:nvSpPr>
          <p:cNvPr id="55300" name="Rectangle 4"/>
          <p:cNvSpPr>
            <a:spLocks noGrp="1" noRot="1" noChangeAspect="1" noChangeArrowheads="1" noTextEdit="1"/>
          </p:cNvSpPr>
          <p:nvPr>
            <p:ph type="sldImg" idx="2"/>
          </p:nvPr>
        </p:nvSpPr>
        <p:spPr bwMode="auto">
          <a:xfrm>
            <a:off x="922338" y="747713"/>
            <a:ext cx="4991100" cy="37433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5957" name="Rectangle 5"/>
          <p:cNvSpPr>
            <a:spLocks noGrp="1" noChangeArrowheads="1"/>
          </p:cNvSpPr>
          <p:nvPr>
            <p:ph type="body" sz="quarter" idx="3"/>
          </p:nvPr>
        </p:nvSpPr>
        <p:spPr bwMode="auto">
          <a:xfrm>
            <a:off x="684213" y="4740275"/>
            <a:ext cx="5467350" cy="4491038"/>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125958" name="Rectangle 6"/>
          <p:cNvSpPr>
            <a:spLocks noGrp="1" noChangeArrowheads="1"/>
          </p:cNvSpPr>
          <p:nvPr>
            <p:ph type="ftr" sz="quarter" idx="4"/>
          </p:nvPr>
        </p:nvSpPr>
        <p:spPr bwMode="auto">
          <a:xfrm>
            <a:off x="0" y="9478963"/>
            <a:ext cx="2962275" cy="498475"/>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pPr>
              <a:defRPr/>
            </a:pPr>
            <a:endParaRPr lang="en-US" altLang="zh-CN"/>
          </a:p>
        </p:txBody>
      </p:sp>
      <p:sp>
        <p:nvSpPr>
          <p:cNvPr id="125959" name="Rectangle 7"/>
          <p:cNvSpPr>
            <a:spLocks noGrp="1" noChangeArrowheads="1"/>
          </p:cNvSpPr>
          <p:nvPr>
            <p:ph type="sldNum" sz="quarter" idx="5"/>
          </p:nvPr>
        </p:nvSpPr>
        <p:spPr bwMode="auto">
          <a:xfrm>
            <a:off x="3871913" y="9478963"/>
            <a:ext cx="2960687" cy="498475"/>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DCC90F03-9C97-447F-A3D4-0B83CB607033}"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FC85E50E-AE4A-43FB-9C47-7687B4B315C1}"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8908C9C8-2350-4D08-8799-6CED9363ACE3}"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1A7BD329-F0E6-4108-874F-6BEAFBDB0A0D}"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3BAB6F92-0225-4670-83BF-D034956C17C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fld id="{337DBBF0-FA51-46EC-B557-B3EC78133E8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D43B5BA4-2079-427D-9EAB-6BE4B0D451A6}"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fld id="{3A3C1176-44BE-4726-B470-3EDACFE0D5FA}"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C0F535A2-0C92-4CB4-B1F7-D2811F531168}"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3E4DD200-CDD3-4756-9C76-40C3760B98DF}"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6F484D21-E1AE-4DC0-84DB-CA363FAE379D}"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16D39078-4B75-4282-A294-1BD0A1D111F8}"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fld id="{D7F3BBC6-A7C5-4610-A769-941159EFDFC9}"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457200" y="1600200"/>
            <a:ext cx="4038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57200" y="3938588"/>
            <a:ext cx="40386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938588"/>
            <a:ext cx="40386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fld id="{9312F874-C856-4D65-AF49-8C16230ECCA9}"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48131"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5476"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defRPr>
            </a:lvl1pPr>
          </a:lstStyle>
          <a:p>
            <a:pPr>
              <a:defRPr/>
            </a:pPr>
            <a:endParaRPr lang="en-US" altLang="zh-CN"/>
          </a:p>
        </p:txBody>
      </p:sp>
      <p:sp>
        <p:nvSpPr>
          <p:cNvPr id="105477"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defRPr>
            </a:lvl1pPr>
          </a:lstStyle>
          <a:p>
            <a:pPr>
              <a:defRPr/>
            </a:pPr>
            <a:endParaRPr lang="en-US" altLang="zh-CN"/>
          </a:p>
        </p:txBody>
      </p:sp>
      <p:sp>
        <p:nvSpPr>
          <p:cNvPr id="105478"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fld id="{6B30BC9C-17F4-4898-ADE8-9AEDCBCCCB18}"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wmf"/><Relationship Id="rId7" Type="http://schemas.openxmlformats.org/officeDocument/2006/relationships/oleObject" Target="../embeddings/oleObject4.bin"/><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emf"/><Relationship Id="rId7" Type="http://schemas.openxmlformats.org/officeDocument/2006/relationships/oleObject" Target="../embeddings/oleObject8.bin"/><Relationship Id="rId6" Type="http://schemas.openxmlformats.org/officeDocument/2006/relationships/image" Target="../media/image7.emf"/><Relationship Id="rId5" Type="http://schemas.openxmlformats.org/officeDocument/2006/relationships/oleObject" Target="../embeddings/oleObject7.bin"/><Relationship Id="rId4" Type="http://schemas.openxmlformats.org/officeDocument/2006/relationships/image" Target="../media/image6.emf"/><Relationship Id="rId3" Type="http://schemas.openxmlformats.org/officeDocument/2006/relationships/oleObject" Target="../embeddings/oleObject6.bin"/><Relationship Id="rId2" Type="http://schemas.openxmlformats.org/officeDocument/2006/relationships/image" Target="../media/image5.wmf"/><Relationship Id="rId10" Type="http://schemas.openxmlformats.org/officeDocument/2006/relationships/vmlDrawing" Target="../drawings/vmlDrawing2.vml"/><Relationship Id="rId1"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7.xml"/><Relationship Id="rId6" Type="http://schemas.openxmlformats.org/officeDocument/2006/relationships/image" Target="../media/image11.wmf"/><Relationship Id="rId5" Type="http://schemas.openxmlformats.org/officeDocument/2006/relationships/oleObject" Target="../embeddings/oleObject11.bin"/><Relationship Id="rId4" Type="http://schemas.openxmlformats.org/officeDocument/2006/relationships/image" Target="../media/image10.wmf"/><Relationship Id="rId3" Type="http://schemas.openxmlformats.org/officeDocument/2006/relationships/oleObject" Target="../embeddings/oleObject10.bin"/><Relationship Id="rId2" Type="http://schemas.openxmlformats.org/officeDocument/2006/relationships/image" Target="../media/image9.emf"/><Relationship Id="rId1" Type="http://schemas.openxmlformats.org/officeDocument/2006/relationships/oleObject" Target="../embeddings/oleObject9.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15.emf"/><Relationship Id="rId7" Type="http://schemas.openxmlformats.org/officeDocument/2006/relationships/oleObject" Target="../embeddings/oleObject15.bin"/><Relationship Id="rId6" Type="http://schemas.openxmlformats.org/officeDocument/2006/relationships/image" Target="../media/image14.emf"/><Relationship Id="rId5" Type="http://schemas.openxmlformats.org/officeDocument/2006/relationships/oleObject" Target="../embeddings/oleObject14.bin"/><Relationship Id="rId4" Type="http://schemas.openxmlformats.org/officeDocument/2006/relationships/image" Target="../media/image13.emf"/><Relationship Id="rId38" Type="http://schemas.openxmlformats.org/officeDocument/2006/relationships/vmlDrawing" Target="../drawings/vmlDrawing4.vml"/><Relationship Id="rId37" Type="http://schemas.openxmlformats.org/officeDocument/2006/relationships/slideLayout" Target="../slideLayouts/slideLayout7.xml"/><Relationship Id="rId36" Type="http://schemas.openxmlformats.org/officeDocument/2006/relationships/image" Target="../media/image29.emf"/><Relationship Id="rId35" Type="http://schemas.openxmlformats.org/officeDocument/2006/relationships/oleObject" Target="../embeddings/oleObject29.bin"/><Relationship Id="rId34" Type="http://schemas.openxmlformats.org/officeDocument/2006/relationships/image" Target="../media/image28.emf"/><Relationship Id="rId33" Type="http://schemas.openxmlformats.org/officeDocument/2006/relationships/oleObject" Target="../embeddings/oleObject28.bin"/><Relationship Id="rId32" Type="http://schemas.openxmlformats.org/officeDocument/2006/relationships/image" Target="../media/image27.emf"/><Relationship Id="rId31" Type="http://schemas.openxmlformats.org/officeDocument/2006/relationships/oleObject" Target="../embeddings/oleObject27.bin"/><Relationship Id="rId30" Type="http://schemas.openxmlformats.org/officeDocument/2006/relationships/image" Target="../media/image26.emf"/><Relationship Id="rId3" Type="http://schemas.openxmlformats.org/officeDocument/2006/relationships/oleObject" Target="../embeddings/oleObject13.bin"/><Relationship Id="rId29" Type="http://schemas.openxmlformats.org/officeDocument/2006/relationships/oleObject" Target="../embeddings/oleObject26.bin"/><Relationship Id="rId28" Type="http://schemas.openxmlformats.org/officeDocument/2006/relationships/image" Target="../media/image25.emf"/><Relationship Id="rId27" Type="http://schemas.openxmlformats.org/officeDocument/2006/relationships/oleObject" Target="../embeddings/oleObject25.bin"/><Relationship Id="rId26" Type="http://schemas.openxmlformats.org/officeDocument/2006/relationships/image" Target="../media/image24.emf"/><Relationship Id="rId25" Type="http://schemas.openxmlformats.org/officeDocument/2006/relationships/oleObject" Target="../embeddings/oleObject24.bin"/><Relationship Id="rId24" Type="http://schemas.openxmlformats.org/officeDocument/2006/relationships/image" Target="../media/image23.emf"/><Relationship Id="rId23" Type="http://schemas.openxmlformats.org/officeDocument/2006/relationships/oleObject" Target="../embeddings/oleObject23.bin"/><Relationship Id="rId22" Type="http://schemas.openxmlformats.org/officeDocument/2006/relationships/image" Target="../media/image22.emf"/><Relationship Id="rId21" Type="http://schemas.openxmlformats.org/officeDocument/2006/relationships/oleObject" Target="../embeddings/oleObject22.bin"/><Relationship Id="rId20" Type="http://schemas.openxmlformats.org/officeDocument/2006/relationships/image" Target="../media/image21.emf"/><Relationship Id="rId2" Type="http://schemas.openxmlformats.org/officeDocument/2006/relationships/image" Target="../media/image12.emf"/><Relationship Id="rId19" Type="http://schemas.openxmlformats.org/officeDocument/2006/relationships/oleObject" Target="../embeddings/oleObject21.bin"/><Relationship Id="rId18" Type="http://schemas.openxmlformats.org/officeDocument/2006/relationships/image" Target="../media/image20.emf"/><Relationship Id="rId17" Type="http://schemas.openxmlformats.org/officeDocument/2006/relationships/oleObject" Target="../embeddings/oleObject20.bin"/><Relationship Id="rId16" Type="http://schemas.openxmlformats.org/officeDocument/2006/relationships/image" Target="../media/image19.emf"/><Relationship Id="rId15" Type="http://schemas.openxmlformats.org/officeDocument/2006/relationships/oleObject" Target="../embeddings/oleObject19.bin"/><Relationship Id="rId14" Type="http://schemas.openxmlformats.org/officeDocument/2006/relationships/image" Target="../media/image18.emf"/><Relationship Id="rId13" Type="http://schemas.openxmlformats.org/officeDocument/2006/relationships/oleObject" Target="../embeddings/oleObject18.bin"/><Relationship Id="rId12" Type="http://schemas.openxmlformats.org/officeDocument/2006/relationships/image" Target="../media/image17.emf"/><Relationship Id="rId11" Type="http://schemas.openxmlformats.org/officeDocument/2006/relationships/oleObject" Target="../embeddings/oleObject17.bin"/><Relationship Id="rId10" Type="http://schemas.openxmlformats.org/officeDocument/2006/relationships/image" Target="../media/image16.emf"/><Relationship Id="rId1" Type="http://schemas.openxmlformats.org/officeDocument/2006/relationships/oleObject" Target="../embeddings/oleObject12.bin"/></Relationships>
</file>

<file path=ppt/slides/_rels/slide7.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7.xml"/><Relationship Id="rId6" Type="http://schemas.openxmlformats.org/officeDocument/2006/relationships/image" Target="../media/image32.wmf"/><Relationship Id="rId5" Type="http://schemas.openxmlformats.org/officeDocument/2006/relationships/oleObject" Target="../embeddings/oleObject32.bin"/><Relationship Id="rId4" Type="http://schemas.openxmlformats.org/officeDocument/2006/relationships/image" Target="../media/image31.emf"/><Relationship Id="rId3" Type="http://schemas.openxmlformats.org/officeDocument/2006/relationships/oleObject" Target="../embeddings/oleObject31.bin"/><Relationship Id="rId2" Type="http://schemas.openxmlformats.org/officeDocument/2006/relationships/image" Target="../media/image30.emf"/><Relationship Id="rId1" Type="http://schemas.openxmlformats.org/officeDocument/2006/relationships/oleObject" Target="../embeddings/oleObject30.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36.wmf"/><Relationship Id="rId7" Type="http://schemas.openxmlformats.org/officeDocument/2006/relationships/oleObject" Target="../embeddings/oleObject36.bin"/><Relationship Id="rId6" Type="http://schemas.openxmlformats.org/officeDocument/2006/relationships/image" Target="../media/image35.emf"/><Relationship Id="rId5" Type="http://schemas.openxmlformats.org/officeDocument/2006/relationships/oleObject" Target="../embeddings/oleObject35.bin"/><Relationship Id="rId4" Type="http://schemas.openxmlformats.org/officeDocument/2006/relationships/image" Target="../media/image34.emf"/><Relationship Id="rId3" Type="http://schemas.openxmlformats.org/officeDocument/2006/relationships/oleObject" Target="../embeddings/oleObject34.bin"/><Relationship Id="rId20" Type="http://schemas.openxmlformats.org/officeDocument/2006/relationships/vmlDrawing" Target="../drawings/vmlDrawing6.vml"/><Relationship Id="rId2" Type="http://schemas.openxmlformats.org/officeDocument/2006/relationships/image" Target="../media/image33.emf"/><Relationship Id="rId19" Type="http://schemas.openxmlformats.org/officeDocument/2006/relationships/slideLayout" Target="../slideLayouts/slideLayout7.xml"/><Relationship Id="rId18" Type="http://schemas.openxmlformats.org/officeDocument/2006/relationships/image" Target="../media/image41.wmf"/><Relationship Id="rId17" Type="http://schemas.openxmlformats.org/officeDocument/2006/relationships/control" Target="../activeX/activeX2.xml"/><Relationship Id="rId16" Type="http://schemas.openxmlformats.org/officeDocument/2006/relationships/image" Target="../media/image40.wmf"/><Relationship Id="rId15" Type="http://schemas.openxmlformats.org/officeDocument/2006/relationships/control" Target="../activeX/activeX1.xml"/><Relationship Id="rId14" Type="http://schemas.openxmlformats.org/officeDocument/2006/relationships/image" Target="../media/image39.wmf"/><Relationship Id="rId13" Type="http://schemas.openxmlformats.org/officeDocument/2006/relationships/oleObject" Target="../embeddings/oleObject39.bin"/><Relationship Id="rId12" Type="http://schemas.openxmlformats.org/officeDocument/2006/relationships/image" Target="../media/image38.wmf"/><Relationship Id="rId11" Type="http://schemas.openxmlformats.org/officeDocument/2006/relationships/oleObject" Target="../embeddings/oleObject38.bin"/><Relationship Id="rId10" Type="http://schemas.openxmlformats.org/officeDocument/2006/relationships/image" Target="../media/image37.wmf"/><Relationship Id="rId1" Type="http://schemas.openxmlformats.org/officeDocument/2006/relationships/oleObject" Target="../embeddings/oleObject33.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44.bin"/><Relationship Id="rId8" Type="http://schemas.openxmlformats.org/officeDocument/2006/relationships/image" Target="../media/image45.emf"/><Relationship Id="rId7" Type="http://schemas.openxmlformats.org/officeDocument/2006/relationships/oleObject" Target="../embeddings/oleObject43.bin"/><Relationship Id="rId6" Type="http://schemas.openxmlformats.org/officeDocument/2006/relationships/image" Target="../media/image44.emf"/><Relationship Id="rId5" Type="http://schemas.openxmlformats.org/officeDocument/2006/relationships/oleObject" Target="../embeddings/oleObject42.bin"/><Relationship Id="rId4" Type="http://schemas.openxmlformats.org/officeDocument/2006/relationships/image" Target="../media/image43.emf"/><Relationship Id="rId3" Type="http://schemas.openxmlformats.org/officeDocument/2006/relationships/oleObject" Target="../embeddings/oleObject41.bin"/><Relationship Id="rId20" Type="http://schemas.openxmlformats.org/officeDocument/2006/relationships/vmlDrawing" Target="../drawings/vmlDrawing7.vml"/><Relationship Id="rId2" Type="http://schemas.openxmlformats.org/officeDocument/2006/relationships/image" Target="../media/image42.wmf"/><Relationship Id="rId19" Type="http://schemas.openxmlformats.org/officeDocument/2006/relationships/slideLayout" Target="../slideLayouts/slideLayout7.xml"/><Relationship Id="rId18" Type="http://schemas.openxmlformats.org/officeDocument/2006/relationships/image" Target="../media/image50.wmf"/><Relationship Id="rId17" Type="http://schemas.openxmlformats.org/officeDocument/2006/relationships/oleObject" Target="../embeddings/oleObject48.bin"/><Relationship Id="rId16" Type="http://schemas.openxmlformats.org/officeDocument/2006/relationships/image" Target="../media/image49.emf"/><Relationship Id="rId15" Type="http://schemas.openxmlformats.org/officeDocument/2006/relationships/oleObject" Target="../embeddings/oleObject47.bin"/><Relationship Id="rId14" Type="http://schemas.openxmlformats.org/officeDocument/2006/relationships/image" Target="../media/image48.emf"/><Relationship Id="rId13" Type="http://schemas.openxmlformats.org/officeDocument/2006/relationships/oleObject" Target="../embeddings/oleObject46.bin"/><Relationship Id="rId12" Type="http://schemas.openxmlformats.org/officeDocument/2006/relationships/image" Target="../media/image47.emf"/><Relationship Id="rId11" Type="http://schemas.openxmlformats.org/officeDocument/2006/relationships/oleObject" Target="../embeddings/oleObject45.bin"/><Relationship Id="rId10" Type="http://schemas.openxmlformats.org/officeDocument/2006/relationships/image" Target="../media/image46.emf"/><Relationship Id="rId1" Type="http://schemas.openxmlformats.org/officeDocument/2006/relationships/oleObject" Target="../embeddings/oleObject40.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7.xml"/><Relationship Id="rId6" Type="http://schemas.openxmlformats.org/officeDocument/2006/relationships/image" Target="../media/image53.wmf"/><Relationship Id="rId5" Type="http://schemas.openxmlformats.org/officeDocument/2006/relationships/oleObject" Target="../embeddings/oleObject51.bin"/><Relationship Id="rId4" Type="http://schemas.openxmlformats.org/officeDocument/2006/relationships/image" Target="../media/image52.wmf"/><Relationship Id="rId3" Type="http://schemas.openxmlformats.org/officeDocument/2006/relationships/oleObject" Target="../embeddings/oleObject50.bin"/><Relationship Id="rId2" Type="http://schemas.openxmlformats.org/officeDocument/2006/relationships/image" Target="../media/image51.wmf"/><Relationship Id="rId1" Type="http://schemas.openxmlformats.org/officeDocument/2006/relationships/oleObject" Target="../embeddings/oleObject49.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57.wmf"/><Relationship Id="rId7" Type="http://schemas.openxmlformats.org/officeDocument/2006/relationships/oleObject" Target="../embeddings/oleObject55.bin"/><Relationship Id="rId6" Type="http://schemas.openxmlformats.org/officeDocument/2006/relationships/image" Target="../media/image56.wmf"/><Relationship Id="rId5" Type="http://schemas.openxmlformats.org/officeDocument/2006/relationships/oleObject" Target="../embeddings/oleObject54.bin"/><Relationship Id="rId4" Type="http://schemas.openxmlformats.org/officeDocument/2006/relationships/image" Target="../media/image55.wmf"/><Relationship Id="rId3" Type="http://schemas.openxmlformats.org/officeDocument/2006/relationships/oleObject" Target="../embeddings/oleObject53.bin"/><Relationship Id="rId22" Type="http://schemas.openxmlformats.org/officeDocument/2006/relationships/vmlDrawing" Target="../drawings/vmlDrawing9.vml"/><Relationship Id="rId21" Type="http://schemas.openxmlformats.org/officeDocument/2006/relationships/slideLayout" Target="../slideLayouts/slideLayout4.xml"/><Relationship Id="rId20" Type="http://schemas.openxmlformats.org/officeDocument/2006/relationships/image" Target="../media/image63.wmf"/><Relationship Id="rId2" Type="http://schemas.openxmlformats.org/officeDocument/2006/relationships/image" Target="../media/image54.wmf"/><Relationship Id="rId19" Type="http://schemas.openxmlformats.org/officeDocument/2006/relationships/oleObject" Target="../embeddings/oleObject61.bin"/><Relationship Id="rId18" Type="http://schemas.openxmlformats.org/officeDocument/2006/relationships/image" Target="../media/image62.wmf"/><Relationship Id="rId17" Type="http://schemas.openxmlformats.org/officeDocument/2006/relationships/oleObject" Target="../embeddings/oleObject60.bin"/><Relationship Id="rId16" Type="http://schemas.openxmlformats.org/officeDocument/2006/relationships/image" Target="../media/image61.wmf"/><Relationship Id="rId15" Type="http://schemas.openxmlformats.org/officeDocument/2006/relationships/oleObject" Target="../embeddings/oleObject59.bin"/><Relationship Id="rId14" Type="http://schemas.openxmlformats.org/officeDocument/2006/relationships/image" Target="../media/image60.wmf"/><Relationship Id="rId13" Type="http://schemas.openxmlformats.org/officeDocument/2006/relationships/oleObject" Target="../embeddings/oleObject58.bin"/><Relationship Id="rId12" Type="http://schemas.openxmlformats.org/officeDocument/2006/relationships/image" Target="../media/image59.emf"/><Relationship Id="rId11" Type="http://schemas.openxmlformats.org/officeDocument/2006/relationships/oleObject" Target="../embeddings/oleObject57.bin"/><Relationship Id="rId10" Type="http://schemas.openxmlformats.org/officeDocument/2006/relationships/image" Target="../media/image58.wmf"/><Relationship Id="rId1" Type="http://schemas.openxmlformats.org/officeDocument/2006/relationships/oleObject" Target="../embeddings/oleObject52.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66.bin"/><Relationship Id="rId8" Type="http://schemas.openxmlformats.org/officeDocument/2006/relationships/image" Target="../media/image65.emf"/><Relationship Id="rId7" Type="http://schemas.openxmlformats.org/officeDocument/2006/relationships/oleObject" Target="../embeddings/oleObject65.bin"/><Relationship Id="rId6" Type="http://schemas.openxmlformats.org/officeDocument/2006/relationships/image" Target="../media/image64.wmf"/><Relationship Id="rId5" Type="http://schemas.openxmlformats.org/officeDocument/2006/relationships/oleObject" Target="../embeddings/oleObject64.bin"/><Relationship Id="rId4" Type="http://schemas.openxmlformats.org/officeDocument/2006/relationships/image" Target="../media/image58.wmf"/><Relationship Id="rId3" Type="http://schemas.openxmlformats.org/officeDocument/2006/relationships/oleObject" Target="../embeddings/oleObject63.bin"/><Relationship Id="rId2" Type="http://schemas.openxmlformats.org/officeDocument/2006/relationships/image" Target="../media/image57.wmf"/><Relationship Id="rId14" Type="http://schemas.openxmlformats.org/officeDocument/2006/relationships/vmlDrawing" Target="../drawings/vmlDrawing10.vml"/><Relationship Id="rId13" Type="http://schemas.openxmlformats.org/officeDocument/2006/relationships/slideLayout" Target="../slideLayouts/slideLayout2.xml"/><Relationship Id="rId12" Type="http://schemas.openxmlformats.org/officeDocument/2006/relationships/image" Target="../media/image67.emf"/><Relationship Id="rId11" Type="http://schemas.openxmlformats.org/officeDocument/2006/relationships/oleObject" Target="../embeddings/oleObject67.bin"/><Relationship Id="rId10" Type="http://schemas.openxmlformats.org/officeDocument/2006/relationships/image" Target="../media/image66.wmf"/><Relationship Id="rId1" Type="http://schemas.openxmlformats.org/officeDocument/2006/relationships/oleObject" Target="../embeddings/oleObject62.bin"/></Relationships>
</file>

<file path=ppt/slides/_rels/slide14.xml.rels><?xml version="1.0" encoding="UTF-8" standalone="yes"?>
<Relationships xmlns="http://schemas.openxmlformats.org/package/2006/relationships"><Relationship Id="rId9" Type="http://schemas.openxmlformats.org/officeDocument/2006/relationships/image" Target="../media/image72.wmf"/><Relationship Id="rId8" Type="http://schemas.openxmlformats.org/officeDocument/2006/relationships/oleObject" Target="../embeddings/oleObject71.bin"/><Relationship Id="rId7" Type="http://schemas.openxmlformats.org/officeDocument/2006/relationships/image" Target="../media/image71.emf"/><Relationship Id="rId6" Type="http://schemas.openxmlformats.org/officeDocument/2006/relationships/oleObject" Target="../embeddings/oleObject70.bin"/><Relationship Id="rId5" Type="http://schemas.openxmlformats.org/officeDocument/2006/relationships/image" Target="../media/image70.wmf"/><Relationship Id="rId4" Type="http://schemas.openxmlformats.org/officeDocument/2006/relationships/oleObject" Target="../embeddings/oleObject69.bin"/><Relationship Id="rId3" Type="http://schemas.openxmlformats.org/officeDocument/2006/relationships/image" Target="../media/image69.wmf"/><Relationship Id="rId21" Type="http://schemas.openxmlformats.org/officeDocument/2006/relationships/vmlDrawing" Target="../drawings/vmlDrawing11.vml"/><Relationship Id="rId20" Type="http://schemas.openxmlformats.org/officeDocument/2006/relationships/slideLayout" Target="../slideLayouts/slideLayout7.xml"/><Relationship Id="rId2" Type="http://schemas.openxmlformats.org/officeDocument/2006/relationships/oleObject" Target="../embeddings/oleObject68.bin"/><Relationship Id="rId19" Type="http://schemas.openxmlformats.org/officeDocument/2006/relationships/image" Target="../media/image77.emf"/><Relationship Id="rId18" Type="http://schemas.openxmlformats.org/officeDocument/2006/relationships/oleObject" Target="../embeddings/oleObject76.bin"/><Relationship Id="rId17" Type="http://schemas.openxmlformats.org/officeDocument/2006/relationships/image" Target="../media/image76.wmf"/><Relationship Id="rId16" Type="http://schemas.openxmlformats.org/officeDocument/2006/relationships/oleObject" Target="../embeddings/oleObject75.bin"/><Relationship Id="rId15" Type="http://schemas.openxmlformats.org/officeDocument/2006/relationships/image" Target="../media/image75.emf"/><Relationship Id="rId14" Type="http://schemas.openxmlformats.org/officeDocument/2006/relationships/oleObject" Target="../embeddings/oleObject74.bin"/><Relationship Id="rId13" Type="http://schemas.openxmlformats.org/officeDocument/2006/relationships/image" Target="../media/image74.emf"/><Relationship Id="rId12" Type="http://schemas.openxmlformats.org/officeDocument/2006/relationships/oleObject" Target="../embeddings/oleObject73.bin"/><Relationship Id="rId11" Type="http://schemas.openxmlformats.org/officeDocument/2006/relationships/image" Target="../media/image73.wmf"/><Relationship Id="rId10" Type="http://schemas.openxmlformats.org/officeDocument/2006/relationships/oleObject" Target="../embeddings/oleObject72.bin"/><Relationship Id="rId1" Type="http://schemas.openxmlformats.org/officeDocument/2006/relationships/image" Target="../media/image68.png"/></Relationships>
</file>

<file path=ppt/slides/_rels/slide15.xml.rels><?xml version="1.0" encoding="UTF-8" standalone="yes"?>
<Relationships xmlns="http://schemas.openxmlformats.org/package/2006/relationships"><Relationship Id="rId9" Type="http://schemas.openxmlformats.org/officeDocument/2006/relationships/image" Target="../media/image81.emf"/><Relationship Id="rId8" Type="http://schemas.openxmlformats.org/officeDocument/2006/relationships/oleObject" Target="../embeddings/oleObject80.bin"/><Relationship Id="rId7" Type="http://schemas.openxmlformats.org/officeDocument/2006/relationships/image" Target="../media/image80.wmf"/><Relationship Id="rId6" Type="http://schemas.openxmlformats.org/officeDocument/2006/relationships/oleObject" Target="../embeddings/oleObject79.bin"/><Relationship Id="rId5" Type="http://schemas.openxmlformats.org/officeDocument/2006/relationships/image" Target="../media/image79.wmf"/><Relationship Id="rId4" Type="http://schemas.openxmlformats.org/officeDocument/2006/relationships/oleObject" Target="../embeddings/oleObject78.bin"/><Relationship Id="rId3" Type="http://schemas.openxmlformats.org/officeDocument/2006/relationships/image" Target="../media/image78.wmf"/><Relationship Id="rId24" Type="http://schemas.openxmlformats.org/officeDocument/2006/relationships/vmlDrawing" Target="../drawings/vmlDrawing12.vml"/><Relationship Id="rId23" Type="http://schemas.openxmlformats.org/officeDocument/2006/relationships/slideLayout" Target="../slideLayouts/slideLayout7.xml"/><Relationship Id="rId22" Type="http://schemas.openxmlformats.org/officeDocument/2006/relationships/image" Target="../media/image87.wmf"/><Relationship Id="rId21" Type="http://schemas.openxmlformats.org/officeDocument/2006/relationships/oleObject" Target="../embeddings/oleObject87.bin"/><Relationship Id="rId20" Type="http://schemas.openxmlformats.org/officeDocument/2006/relationships/image" Target="../media/image86.wmf"/><Relationship Id="rId2" Type="http://schemas.openxmlformats.org/officeDocument/2006/relationships/oleObject" Target="../embeddings/oleObject77.bin"/><Relationship Id="rId19" Type="http://schemas.openxmlformats.org/officeDocument/2006/relationships/oleObject" Target="../embeddings/oleObject86.bin"/><Relationship Id="rId18" Type="http://schemas.openxmlformats.org/officeDocument/2006/relationships/oleObject" Target="../embeddings/oleObject85.bin"/><Relationship Id="rId17" Type="http://schemas.openxmlformats.org/officeDocument/2006/relationships/image" Target="../media/image85.wmf"/><Relationship Id="rId16" Type="http://schemas.openxmlformats.org/officeDocument/2006/relationships/oleObject" Target="../embeddings/oleObject84.bin"/><Relationship Id="rId15" Type="http://schemas.openxmlformats.org/officeDocument/2006/relationships/image" Target="../media/image84.emf"/><Relationship Id="rId14" Type="http://schemas.openxmlformats.org/officeDocument/2006/relationships/oleObject" Target="../embeddings/oleObject83.bin"/><Relationship Id="rId13" Type="http://schemas.openxmlformats.org/officeDocument/2006/relationships/image" Target="../media/image83.emf"/><Relationship Id="rId12" Type="http://schemas.openxmlformats.org/officeDocument/2006/relationships/oleObject" Target="../embeddings/oleObject82.bin"/><Relationship Id="rId11" Type="http://schemas.openxmlformats.org/officeDocument/2006/relationships/image" Target="../media/image82.wmf"/><Relationship Id="rId10" Type="http://schemas.openxmlformats.org/officeDocument/2006/relationships/oleObject" Target="../embeddings/oleObject81.bin"/><Relationship Id="rId1" Type="http://schemas.openxmlformats.org/officeDocument/2006/relationships/image" Target="../media/image68.png"/></Relationships>
</file>

<file path=ppt/slides/_rels/slide16.xml.rels><?xml version="1.0" encoding="UTF-8" standalone="yes"?>
<Relationships xmlns="http://schemas.openxmlformats.org/package/2006/relationships"><Relationship Id="rId9" Type="http://schemas.openxmlformats.org/officeDocument/2006/relationships/image" Target="../media/image89.wmf"/><Relationship Id="rId8" Type="http://schemas.openxmlformats.org/officeDocument/2006/relationships/oleObject" Target="../embeddings/oleObject92.bin"/><Relationship Id="rId7" Type="http://schemas.openxmlformats.org/officeDocument/2006/relationships/image" Target="../media/image88.wmf"/><Relationship Id="rId6" Type="http://schemas.openxmlformats.org/officeDocument/2006/relationships/oleObject" Target="../embeddings/oleObject91.bin"/><Relationship Id="rId5" Type="http://schemas.openxmlformats.org/officeDocument/2006/relationships/oleObject" Target="../embeddings/oleObject90.bin"/><Relationship Id="rId4" Type="http://schemas.openxmlformats.org/officeDocument/2006/relationships/oleObject" Target="../embeddings/oleObject89.bin"/><Relationship Id="rId3" Type="http://schemas.openxmlformats.org/officeDocument/2006/relationships/image" Target="../media/image85.wmf"/><Relationship Id="rId2" Type="http://schemas.openxmlformats.org/officeDocument/2006/relationships/oleObject" Target="../embeddings/oleObject88.bin"/><Relationship Id="rId19" Type="http://schemas.openxmlformats.org/officeDocument/2006/relationships/vmlDrawing" Target="../drawings/vmlDrawing13.vml"/><Relationship Id="rId18" Type="http://schemas.openxmlformats.org/officeDocument/2006/relationships/slideLayout" Target="../slideLayouts/slideLayout7.xml"/><Relationship Id="rId17" Type="http://schemas.openxmlformats.org/officeDocument/2006/relationships/image" Target="../media/image93.wmf"/><Relationship Id="rId16" Type="http://schemas.openxmlformats.org/officeDocument/2006/relationships/oleObject" Target="../embeddings/oleObject96.bin"/><Relationship Id="rId15" Type="http://schemas.openxmlformats.org/officeDocument/2006/relationships/image" Target="../media/image92.wmf"/><Relationship Id="rId14" Type="http://schemas.openxmlformats.org/officeDocument/2006/relationships/oleObject" Target="../embeddings/oleObject95.bin"/><Relationship Id="rId13" Type="http://schemas.openxmlformats.org/officeDocument/2006/relationships/image" Target="../media/image91.wmf"/><Relationship Id="rId12" Type="http://schemas.openxmlformats.org/officeDocument/2006/relationships/oleObject" Target="../embeddings/oleObject94.bin"/><Relationship Id="rId11" Type="http://schemas.openxmlformats.org/officeDocument/2006/relationships/image" Target="../media/image90.wmf"/><Relationship Id="rId10" Type="http://schemas.openxmlformats.org/officeDocument/2006/relationships/oleObject" Target="../embeddings/oleObject93.bin"/><Relationship Id="rId1" Type="http://schemas.openxmlformats.org/officeDocument/2006/relationships/image" Target="../media/image68.png"/></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101.bin"/><Relationship Id="rId8" Type="http://schemas.openxmlformats.org/officeDocument/2006/relationships/image" Target="../media/image97.emf"/><Relationship Id="rId7" Type="http://schemas.openxmlformats.org/officeDocument/2006/relationships/oleObject" Target="../embeddings/oleObject100.bin"/><Relationship Id="rId6" Type="http://schemas.openxmlformats.org/officeDocument/2006/relationships/image" Target="../media/image96.emf"/><Relationship Id="rId5" Type="http://schemas.openxmlformats.org/officeDocument/2006/relationships/oleObject" Target="../embeddings/oleObject99.bin"/><Relationship Id="rId4" Type="http://schemas.openxmlformats.org/officeDocument/2006/relationships/image" Target="../media/image95.emf"/><Relationship Id="rId3" Type="http://schemas.openxmlformats.org/officeDocument/2006/relationships/oleObject" Target="../embeddings/oleObject98.bin"/><Relationship Id="rId2" Type="http://schemas.openxmlformats.org/officeDocument/2006/relationships/image" Target="../media/image94.wmf"/><Relationship Id="rId12" Type="http://schemas.openxmlformats.org/officeDocument/2006/relationships/vmlDrawing" Target="../drawings/vmlDrawing14.vml"/><Relationship Id="rId11" Type="http://schemas.openxmlformats.org/officeDocument/2006/relationships/slideLayout" Target="../slideLayouts/slideLayout2.xml"/><Relationship Id="rId10" Type="http://schemas.openxmlformats.org/officeDocument/2006/relationships/image" Target="../media/image98.emf"/><Relationship Id="rId1" Type="http://schemas.openxmlformats.org/officeDocument/2006/relationships/oleObject" Target="../embeddings/oleObject97.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106.bin"/><Relationship Id="rId8" Type="http://schemas.openxmlformats.org/officeDocument/2006/relationships/image" Target="../media/image102.emf"/><Relationship Id="rId7" Type="http://schemas.openxmlformats.org/officeDocument/2006/relationships/oleObject" Target="../embeddings/oleObject105.bin"/><Relationship Id="rId6" Type="http://schemas.openxmlformats.org/officeDocument/2006/relationships/image" Target="../media/image101.emf"/><Relationship Id="rId5" Type="http://schemas.openxmlformats.org/officeDocument/2006/relationships/oleObject" Target="../embeddings/oleObject104.bin"/><Relationship Id="rId4" Type="http://schemas.openxmlformats.org/officeDocument/2006/relationships/image" Target="../media/image100.emf"/><Relationship Id="rId3" Type="http://schemas.openxmlformats.org/officeDocument/2006/relationships/oleObject" Target="../embeddings/oleObject103.bin"/><Relationship Id="rId2" Type="http://schemas.openxmlformats.org/officeDocument/2006/relationships/image" Target="../media/image99.emf"/><Relationship Id="rId16" Type="http://schemas.openxmlformats.org/officeDocument/2006/relationships/vmlDrawing" Target="../drawings/vmlDrawing15.vml"/><Relationship Id="rId15" Type="http://schemas.openxmlformats.org/officeDocument/2006/relationships/slideLayout" Target="../slideLayouts/slideLayout4.xml"/><Relationship Id="rId14" Type="http://schemas.openxmlformats.org/officeDocument/2006/relationships/image" Target="../media/image105.wmf"/><Relationship Id="rId13" Type="http://schemas.openxmlformats.org/officeDocument/2006/relationships/oleObject" Target="../embeddings/oleObject108.bin"/><Relationship Id="rId12" Type="http://schemas.openxmlformats.org/officeDocument/2006/relationships/image" Target="../media/image104.emf"/><Relationship Id="rId11" Type="http://schemas.openxmlformats.org/officeDocument/2006/relationships/oleObject" Target="../embeddings/oleObject107.bin"/><Relationship Id="rId10" Type="http://schemas.openxmlformats.org/officeDocument/2006/relationships/image" Target="../media/image103.emf"/><Relationship Id="rId1" Type="http://schemas.openxmlformats.org/officeDocument/2006/relationships/oleObject" Target="../embeddings/oleObject102.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13.bin"/><Relationship Id="rId8" Type="http://schemas.openxmlformats.org/officeDocument/2006/relationships/image" Target="../media/image109.emf"/><Relationship Id="rId7" Type="http://schemas.openxmlformats.org/officeDocument/2006/relationships/oleObject" Target="../embeddings/oleObject112.bin"/><Relationship Id="rId6" Type="http://schemas.openxmlformats.org/officeDocument/2006/relationships/image" Target="../media/image108.emf"/><Relationship Id="rId5" Type="http://schemas.openxmlformats.org/officeDocument/2006/relationships/oleObject" Target="../embeddings/oleObject111.bin"/><Relationship Id="rId4" Type="http://schemas.openxmlformats.org/officeDocument/2006/relationships/image" Target="../media/image107.emf"/><Relationship Id="rId3" Type="http://schemas.openxmlformats.org/officeDocument/2006/relationships/oleObject" Target="../embeddings/oleObject110.bin"/><Relationship Id="rId2" Type="http://schemas.openxmlformats.org/officeDocument/2006/relationships/image" Target="../media/image106.emf"/><Relationship Id="rId16" Type="http://schemas.openxmlformats.org/officeDocument/2006/relationships/vmlDrawing" Target="../drawings/vmlDrawing16.vml"/><Relationship Id="rId15" Type="http://schemas.openxmlformats.org/officeDocument/2006/relationships/slideLayout" Target="../slideLayouts/slideLayout7.xml"/><Relationship Id="rId14" Type="http://schemas.openxmlformats.org/officeDocument/2006/relationships/image" Target="../media/image112.emf"/><Relationship Id="rId13" Type="http://schemas.openxmlformats.org/officeDocument/2006/relationships/oleObject" Target="../embeddings/oleObject115.bin"/><Relationship Id="rId12" Type="http://schemas.openxmlformats.org/officeDocument/2006/relationships/image" Target="../media/image111.emf"/><Relationship Id="rId11" Type="http://schemas.openxmlformats.org/officeDocument/2006/relationships/oleObject" Target="../embeddings/oleObject114.bin"/><Relationship Id="rId10" Type="http://schemas.openxmlformats.org/officeDocument/2006/relationships/image" Target="../media/image110.emf"/><Relationship Id="rId1" Type="http://schemas.openxmlformats.org/officeDocument/2006/relationships/oleObject" Target="../embeddings/oleObject109.bin"/></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120.bin"/><Relationship Id="rId8" Type="http://schemas.openxmlformats.org/officeDocument/2006/relationships/image" Target="../media/image116.emf"/><Relationship Id="rId7" Type="http://schemas.openxmlformats.org/officeDocument/2006/relationships/oleObject" Target="../embeddings/oleObject119.bin"/><Relationship Id="rId6" Type="http://schemas.openxmlformats.org/officeDocument/2006/relationships/image" Target="../media/image115.emf"/><Relationship Id="rId5" Type="http://schemas.openxmlformats.org/officeDocument/2006/relationships/oleObject" Target="../embeddings/oleObject118.bin"/><Relationship Id="rId4" Type="http://schemas.openxmlformats.org/officeDocument/2006/relationships/image" Target="../media/image114.emf"/><Relationship Id="rId3" Type="http://schemas.openxmlformats.org/officeDocument/2006/relationships/oleObject" Target="../embeddings/oleObject117.bin"/><Relationship Id="rId20" Type="http://schemas.openxmlformats.org/officeDocument/2006/relationships/vmlDrawing" Target="../drawings/vmlDrawing17.vml"/><Relationship Id="rId2" Type="http://schemas.openxmlformats.org/officeDocument/2006/relationships/image" Target="../media/image113.emf"/><Relationship Id="rId19" Type="http://schemas.openxmlformats.org/officeDocument/2006/relationships/slideLayout" Target="../slideLayouts/slideLayout7.xml"/><Relationship Id="rId18" Type="http://schemas.openxmlformats.org/officeDocument/2006/relationships/image" Target="../media/image121.emf"/><Relationship Id="rId17" Type="http://schemas.openxmlformats.org/officeDocument/2006/relationships/oleObject" Target="../embeddings/oleObject124.bin"/><Relationship Id="rId16" Type="http://schemas.openxmlformats.org/officeDocument/2006/relationships/image" Target="../media/image120.emf"/><Relationship Id="rId15" Type="http://schemas.openxmlformats.org/officeDocument/2006/relationships/oleObject" Target="../embeddings/oleObject123.bin"/><Relationship Id="rId14" Type="http://schemas.openxmlformats.org/officeDocument/2006/relationships/image" Target="../media/image119.emf"/><Relationship Id="rId13" Type="http://schemas.openxmlformats.org/officeDocument/2006/relationships/oleObject" Target="../embeddings/oleObject122.bin"/><Relationship Id="rId12" Type="http://schemas.openxmlformats.org/officeDocument/2006/relationships/image" Target="../media/image118.emf"/><Relationship Id="rId11" Type="http://schemas.openxmlformats.org/officeDocument/2006/relationships/oleObject" Target="../embeddings/oleObject121.bin"/><Relationship Id="rId10" Type="http://schemas.openxmlformats.org/officeDocument/2006/relationships/image" Target="../media/image117.emf"/><Relationship Id="rId1" Type="http://schemas.openxmlformats.org/officeDocument/2006/relationships/oleObject" Target="../embeddings/oleObject116.bin"/></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18.vml"/><Relationship Id="rId7" Type="http://schemas.openxmlformats.org/officeDocument/2006/relationships/slideLayout" Target="../slideLayouts/slideLayout7.xml"/><Relationship Id="rId6" Type="http://schemas.openxmlformats.org/officeDocument/2006/relationships/image" Target="../media/image123.emf"/><Relationship Id="rId5" Type="http://schemas.openxmlformats.org/officeDocument/2006/relationships/oleObject" Target="../embeddings/oleObject127.bin"/><Relationship Id="rId4" Type="http://schemas.openxmlformats.org/officeDocument/2006/relationships/image" Target="../media/image122.emf"/><Relationship Id="rId3" Type="http://schemas.openxmlformats.org/officeDocument/2006/relationships/oleObject" Target="../embeddings/oleObject126.bin"/><Relationship Id="rId2" Type="http://schemas.openxmlformats.org/officeDocument/2006/relationships/image" Target="../media/image118.emf"/><Relationship Id="rId1" Type="http://schemas.openxmlformats.org/officeDocument/2006/relationships/oleObject" Target="../embeddings/oleObject125.bin"/></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7.xml"/><Relationship Id="rId4" Type="http://schemas.openxmlformats.org/officeDocument/2006/relationships/image" Target="../media/image125.emf"/><Relationship Id="rId3" Type="http://schemas.openxmlformats.org/officeDocument/2006/relationships/oleObject" Target="../embeddings/oleObject129.bin"/><Relationship Id="rId2" Type="http://schemas.openxmlformats.org/officeDocument/2006/relationships/image" Target="../media/image124.emf"/><Relationship Id="rId1" Type="http://schemas.openxmlformats.org/officeDocument/2006/relationships/oleObject" Target="../embeddings/oleObject128.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7.xml"/><Relationship Id="rId6" Type="http://schemas.openxmlformats.org/officeDocument/2006/relationships/image" Target="../media/image128.wmf"/><Relationship Id="rId5" Type="http://schemas.openxmlformats.org/officeDocument/2006/relationships/oleObject" Target="../embeddings/oleObject132.bin"/><Relationship Id="rId4" Type="http://schemas.openxmlformats.org/officeDocument/2006/relationships/image" Target="../media/image127.wmf"/><Relationship Id="rId3" Type="http://schemas.openxmlformats.org/officeDocument/2006/relationships/oleObject" Target="../embeddings/oleObject131.bin"/><Relationship Id="rId2" Type="http://schemas.openxmlformats.org/officeDocument/2006/relationships/image" Target="../media/image126.emf"/><Relationship Id="rId1" Type="http://schemas.openxmlformats.org/officeDocument/2006/relationships/oleObject" Target="../embeddings/oleObject130.bin"/></Relationships>
</file>

<file path=ppt/slides/_rels/slide25.xml.rels><?xml version="1.0" encoding="UTF-8" standalone="yes"?>
<Relationships xmlns="http://schemas.openxmlformats.org/package/2006/relationships"><Relationship Id="rId8" Type="http://schemas.openxmlformats.org/officeDocument/2006/relationships/vmlDrawing" Target="../drawings/vmlDrawing21.vml"/><Relationship Id="rId7" Type="http://schemas.openxmlformats.org/officeDocument/2006/relationships/slideLayout" Target="../slideLayouts/slideLayout7.xml"/><Relationship Id="rId6" Type="http://schemas.openxmlformats.org/officeDocument/2006/relationships/image" Target="../media/image131.emf"/><Relationship Id="rId5" Type="http://schemas.openxmlformats.org/officeDocument/2006/relationships/oleObject" Target="../embeddings/oleObject135.bin"/><Relationship Id="rId4" Type="http://schemas.openxmlformats.org/officeDocument/2006/relationships/image" Target="../media/image130.emf"/><Relationship Id="rId3" Type="http://schemas.openxmlformats.org/officeDocument/2006/relationships/oleObject" Target="../embeddings/oleObject134.bin"/><Relationship Id="rId2" Type="http://schemas.openxmlformats.org/officeDocument/2006/relationships/image" Target="../media/image129.emf"/><Relationship Id="rId1" Type="http://schemas.openxmlformats.org/officeDocument/2006/relationships/oleObject" Target="../embeddings/oleObject133.bin"/></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22.vml"/><Relationship Id="rId5" Type="http://schemas.openxmlformats.org/officeDocument/2006/relationships/slideLayout" Target="../slideLayouts/slideLayout7.xml"/><Relationship Id="rId4" Type="http://schemas.openxmlformats.org/officeDocument/2006/relationships/image" Target="../media/image133.emf"/><Relationship Id="rId3" Type="http://schemas.openxmlformats.org/officeDocument/2006/relationships/oleObject" Target="../embeddings/oleObject137.bin"/><Relationship Id="rId2" Type="http://schemas.openxmlformats.org/officeDocument/2006/relationships/image" Target="../media/image132.emf"/><Relationship Id="rId1" Type="http://schemas.openxmlformats.org/officeDocument/2006/relationships/oleObject" Target="../embeddings/oleObject136.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142.bin"/><Relationship Id="rId8" Type="http://schemas.openxmlformats.org/officeDocument/2006/relationships/image" Target="../media/image137.emf"/><Relationship Id="rId7" Type="http://schemas.openxmlformats.org/officeDocument/2006/relationships/oleObject" Target="../embeddings/oleObject141.bin"/><Relationship Id="rId6" Type="http://schemas.openxmlformats.org/officeDocument/2006/relationships/image" Target="../media/image136.emf"/><Relationship Id="rId5" Type="http://schemas.openxmlformats.org/officeDocument/2006/relationships/oleObject" Target="../embeddings/oleObject140.bin"/><Relationship Id="rId4" Type="http://schemas.openxmlformats.org/officeDocument/2006/relationships/image" Target="../media/image135.emf"/><Relationship Id="rId3" Type="http://schemas.openxmlformats.org/officeDocument/2006/relationships/oleObject" Target="../embeddings/oleObject139.bin"/><Relationship Id="rId2" Type="http://schemas.openxmlformats.org/officeDocument/2006/relationships/image" Target="../media/image134.emf"/><Relationship Id="rId12" Type="http://schemas.openxmlformats.org/officeDocument/2006/relationships/vmlDrawing" Target="../drawings/vmlDrawing23.vml"/><Relationship Id="rId11" Type="http://schemas.openxmlformats.org/officeDocument/2006/relationships/slideLayout" Target="../slideLayouts/slideLayout7.xml"/><Relationship Id="rId10" Type="http://schemas.openxmlformats.org/officeDocument/2006/relationships/image" Target="../media/image138.emf"/><Relationship Id="rId1" Type="http://schemas.openxmlformats.org/officeDocument/2006/relationships/oleObject" Target="../embeddings/oleObject138.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7.xml"/><Relationship Id="rId4" Type="http://schemas.openxmlformats.org/officeDocument/2006/relationships/image" Target="../media/image140.wmf"/><Relationship Id="rId3" Type="http://schemas.openxmlformats.org/officeDocument/2006/relationships/oleObject" Target="../embeddings/oleObject144.bin"/><Relationship Id="rId2" Type="http://schemas.openxmlformats.org/officeDocument/2006/relationships/image" Target="../media/image139.emf"/><Relationship Id="rId1" Type="http://schemas.openxmlformats.org/officeDocument/2006/relationships/oleObject" Target="../embeddings/oleObject143.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7.xml"/><Relationship Id="rId2" Type="http://schemas.openxmlformats.org/officeDocument/2006/relationships/image" Target="../media/image141.wmf"/><Relationship Id="rId1" Type="http://schemas.openxmlformats.org/officeDocument/2006/relationships/oleObject" Target="../embeddings/oleObject145.bin"/></Relationships>
</file>

<file path=ppt/slides/_rels/slide31.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7.xml"/><Relationship Id="rId6" Type="http://schemas.openxmlformats.org/officeDocument/2006/relationships/image" Target="../media/image144.wmf"/><Relationship Id="rId5" Type="http://schemas.openxmlformats.org/officeDocument/2006/relationships/oleObject" Target="../embeddings/oleObject148.bin"/><Relationship Id="rId4" Type="http://schemas.openxmlformats.org/officeDocument/2006/relationships/image" Target="../media/image143.wmf"/><Relationship Id="rId3" Type="http://schemas.openxmlformats.org/officeDocument/2006/relationships/oleObject" Target="../embeddings/oleObject147.bin"/><Relationship Id="rId2" Type="http://schemas.openxmlformats.org/officeDocument/2006/relationships/image" Target="../media/image142.wmf"/><Relationship Id="rId1" Type="http://schemas.openxmlformats.org/officeDocument/2006/relationships/oleObject" Target="../embeddings/oleObject146.bin"/></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48.wmf"/><Relationship Id="rId7" Type="http://schemas.openxmlformats.org/officeDocument/2006/relationships/oleObject" Target="../embeddings/oleObject152.bin"/><Relationship Id="rId6" Type="http://schemas.openxmlformats.org/officeDocument/2006/relationships/image" Target="../media/image147.wmf"/><Relationship Id="rId5" Type="http://schemas.openxmlformats.org/officeDocument/2006/relationships/oleObject" Target="../embeddings/oleObject151.bin"/><Relationship Id="rId4" Type="http://schemas.openxmlformats.org/officeDocument/2006/relationships/image" Target="../media/image146.wmf"/><Relationship Id="rId3" Type="http://schemas.openxmlformats.org/officeDocument/2006/relationships/oleObject" Target="../embeddings/oleObject150.bin"/><Relationship Id="rId2" Type="http://schemas.openxmlformats.org/officeDocument/2006/relationships/image" Target="../media/image145.wmf"/><Relationship Id="rId10" Type="http://schemas.openxmlformats.org/officeDocument/2006/relationships/vmlDrawing" Target="../drawings/vmlDrawing27.vml"/><Relationship Id="rId1" Type="http://schemas.openxmlformats.org/officeDocument/2006/relationships/oleObject" Target="../embeddings/oleObject149.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7.xml"/><Relationship Id="rId4" Type="http://schemas.openxmlformats.org/officeDocument/2006/relationships/image" Target="../media/image150.emf"/><Relationship Id="rId3" Type="http://schemas.openxmlformats.org/officeDocument/2006/relationships/oleObject" Target="../embeddings/oleObject154.bin"/><Relationship Id="rId2" Type="http://schemas.openxmlformats.org/officeDocument/2006/relationships/image" Target="../media/image149.emf"/><Relationship Id="rId1" Type="http://schemas.openxmlformats.org/officeDocument/2006/relationships/oleObject" Target="../embeddings/oleObject153.bin"/></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7.xml"/><Relationship Id="rId2" Type="http://schemas.openxmlformats.org/officeDocument/2006/relationships/image" Target="../media/image151.emf"/><Relationship Id="rId1" Type="http://schemas.openxmlformats.org/officeDocument/2006/relationships/oleObject" Target="../embeddings/oleObject155.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160.bin"/><Relationship Id="rId8" Type="http://schemas.openxmlformats.org/officeDocument/2006/relationships/image" Target="../media/image153.emf"/><Relationship Id="rId7" Type="http://schemas.openxmlformats.org/officeDocument/2006/relationships/oleObject" Target="../embeddings/oleObject159.bin"/><Relationship Id="rId6" Type="http://schemas.openxmlformats.org/officeDocument/2006/relationships/image" Target="../media/image58.wmf"/><Relationship Id="rId5" Type="http://schemas.openxmlformats.org/officeDocument/2006/relationships/oleObject" Target="../embeddings/oleObject158.bin"/><Relationship Id="rId4" Type="http://schemas.openxmlformats.org/officeDocument/2006/relationships/image" Target="../media/image152.emf"/><Relationship Id="rId3" Type="http://schemas.openxmlformats.org/officeDocument/2006/relationships/oleObject" Target="../embeddings/oleObject157.bin"/><Relationship Id="rId2" Type="http://schemas.openxmlformats.org/officeDocument/2006/relationships/image" Target="../media/image57.wmf"/><Relationship Id="rId17" Type="http://schemas.openxmlformats.org/officeDocument/2006/relationships/vmlDrawing" Target="../drawings/vmlDrawing30.vml"/><Relationship Id="rId16" Type="http://schemas.openxmlformats.org/officeDocument/2006/relationships/slideLayout" Target="../slideLayouts/slideLayout7.xml"/><Relationship Id="rId15" Type="http://schemas.openxmlformats.org/officeDocument/2006/relationships/image" Target="../media/image157.png"/><Relationship Id="rId14" Type="http://schemas.openxmlformats.org/officeDocument/2006/relationships/image" Target="../media/image156.emf"/><Relationship Id="rId13" Type="http://schemas.openxmlformats.org/officeDocument/2006/relationships/oleObject" Target="../embeddings/oleObject162.bin"/><Relationship Id="rId12" Type="http://schemas.openxmlformats.org/officeDocument/2006/relationships/image" Target="../media/image155.emf"/><Relationship Id="rId11" Type="http://schemas.openxmlformats.org/officeDocument/2006/relationships/oleObject" Target="../embeddings/oleObject161.bin"/><Relationship Id="rId10" Type="http://schemas.openxmlformats.org/officeDocument/2006/relationships/image" Target="../media/image154.emf"/><Relationship Id="rId1" Type="http://schemas.openxmlformats.org/officeDocument/2006/relationships/oleObject" Target="../embeddings/oleObject156.bin"/></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7.xml"/><Relationship Id="rId2" Type="http://schemas.openxmlformats.org/officeDocument/2006/relationships/image" Target="../media/image158.wmf"/><Relationship Id="rId1" Type="http://schemas.openxmlformats.org/officeDocument/2006/relationships/oleObject" Target="../embeddings/oleObject163.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168.bin"/><Relationship Id="rId8" Type="http://schemas.openxmlformats.org/officeDocument/2006/relationships/image" Target="../media/image160.emf"/><Relationship Id="rId7" Type="http://schemas.openxmlformats.org/officeDocument/2006/relationships/oleObject" Target="../embeddings/oleObject167.bin"/><Relationship Id="rId6" Type="http://schemas.openxmlformats.org/officeDocument/2006/relationships/image" Target="../media/image159.emf"/><Relationship Id="rId5" Type="http://schemas.openxmlformats.org/officeDocument/2006/relationships/oleObject" Target="../embeddings/oleObject166.bin"/><Relationship Id="rId4" Type="http://schemas.openxmlformats.org/officeDocument/2006/relationships/image" Target="../media/image58.wmf"/><Relationship Id="rId3" Type="http://schemas.openxmlformats.org/officeDocument/2006/relationships/oleObject" Target="../embeddings/oleObject165.bin"/><Relationship Id="rId2" Type="http://schemas.openxmlformats.org/officeDocument/2006/relationships/image" Target="../media/image57.wmf"/><Relationship Id="rId18" Type="http://schemas.openxmlformats.org/officeDocument/2006/relationships/vmlDrawing" Target="../drawings/vmlDrawing32.vml"/><Relationship Id="rId17" Type="http://schemas.openxmlformats.org/officeDocument/2006/relationships/slideLayout" Target="../slideLayouts/slideLayout7.xml"/><Relationship Id="rId16" Type="http://schemas.openxmlformats.org/officeDocument/2006/relationships/image" Target="../media/image158.wmf"/><Relationship Id="rId15" Type="http://schemas.openxmlformats.org/officeDocument/2006/relationships/oleObject" Target="../embeddings/oleObject171.bin"/><Relationship Id="rId14" Type="http://schemas.openxmlformats.org/officeDocument/2006/relationships/image" Target="../media/image163.emf"/><Relationship Id="rId13" Type="http://schemas.openxmlformats.org/officeDocument/2006/relationships/oleObject" Target="../embeddings/oleObject170.bin"/><Relationship Id="rId12" Type="http://schemas.openxmlformats.org/officeDocument/2006/relationships/image" Target="../media/image162.emf"/><Relationship Id="rId11" Type="http://schemas.openxmlformats.org/officeDocument/2006/relationships/oleObject" Target="../embeddings/oleObject169.bin"/><Relationship Id="rId10" Type="http://schemas.openxmlformats.org/officeDocument/2006/relationships/image" Target="../media/image161.emf"/><Relationship Id="rId1" Type="http://schemas.openxmlformats.org/officeDocument/2006/relationships/oleObject" Target="../embeddings/oleObject164.bin"/></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176.bin"/><Relationship Id="rId8" Type="http://schemas.openxmlformats.org/officeDocument/2006/relationships/image" Target="../media/image167.emf"/><Relationship Id="rId7" Type="http://schemas.openxmlformats.org/officeDocument/2006/relationships/oleObject" Target="../embeddings/oleObject175.bin"/><Relationship Id="rId6" Type="http://schemas.openxmlformats.org/officeDocument/2006/relationships/image" Target="../media/image166.emf"/><Relationship Id="rId5" Type="http://schemas.openxmlformats.org/officeDocument/2006/relationships/oleObject" Target="../embeddings/oleObject174.bin"/><Relationship Id="rId4" Type="http://schemas.openxmlformats.org/officeDocument/2006/relationships/image" Target="../media/image165.emf"/><Relationship Id="rId3" Type="http://schemas.openxmlformats.org/officeDocument/2006/relationships/oleObject" Target="../embeddings/oleObject173.bin"/><Relationship Id="rId20" Type="http://schemas.openxmlformats.org/officeDocument/2006/relationships/vmlDrawing" Target="../drawings/vmlDrawing33.vml"/><Relationship Id="rId2" Type="http://schemas.openxmlformats.org/officeDocument/2006/relationships/image" Target="../media/image164.wmf"/><Relationship Id="rId19" Type="http://schemas.openxmlformats.org/officeDocument/2006/relationships/slideLayout" Target="../slideLayouts/slideLayout7.xml"/><Relationship Id="rId18" Type="http://schemas.openxmlformats.org/officeDocument/2006/relationships/image" Target="../media/image158.wmf"/><Relationship Id="rId17" Type="http://schemas.openxmlformats.org/officeDocument/2006/relationships/oleObject" Target="../embeddings/oleObject180.bin"/><Relationship Id="rId16" Type="http://schemas.openxmlformats.org/officeDocument/2006/relationships/image" Target="../media/image171.wmf"/><Relationship Id="rId15" Type="http://schemas.openxmlformats.org/officeDocument/2006/relationships/oleObject" Target="../embeddings/oleObject179.bin"/><Relationship Id="rId14" Type="http://schemas.openxmlformats.org/officeDocument/2006/relationships/image" Target="../media/image170.wmf"/><Relationship Id="rId13" Type="http://schemas.openxmlformats.org/officeDocument/2006/relationships/oleObject" Target="../embeddings/oleObject178.bin"/><Relationship Id="rId12" Type="http://schemas.openxmlformats.org/officeDocument/2006/relationships/image" Target="../media/image169.emf"/><Relationship Id="rId11" Type="http://schemas.openxmlformats.org/officeDocument/2006/relationships/oleObject" Target="../embeddings/oleObject177.bin"/><Relationship Id="rId10" Type="http://schemas.openxmlformats.org/officeDocument/2006/relationships/image" Target="../media/image168.emf"/><Relationship Id="rId1" Type="http://schemas.openxmlformats.org/officeDocument/2006/relationships/oleObject" Target="../embeddings/oleObject172.bin"/></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34.vml"/><Relationship Id="rId3" Type="http://schemas.openxmlformats.org/officeDocument/2006/relationships/slideLayout" Target="../slideLayouts/slideLayout7.xml"/><Relationship Id="rId2" Type="http://schemas.openxmlformats.org/officeDocument/2006/relationships/image" Target="../media/image172.wmf"/><Relationship Id="rId1" Type="http://schemas.openxmlformats.org/officeDocument/2006/relationships/oleObject" Target="../embeddings/oleObject181.bin"/></Relationships>
</file>

<file path=ppt/slides/_rels/slide41.xml.rels><?xml version="1.0" encoding="UTF-8" standalone="yes"?>
<Relationships xmlns="http://schemas.openxmlformats.org/package/2006/relationships"><Relationship Id="rId9" Type="http://schemas.openxmlformats.org/officeDocument/2006/relationships/image" Target="../media/image176.png"/><Relationship Id="rId8" Type="http://schemas.openxmlformats.org/officeDocument/2006/relationships/image" Target="../media/image175.png"/><Relationship Id="rId7" Type="http://schemas.openxmlformats.org/officeDocument/2006/relationships/image" Target="../media/image174.emf"/><Relationship Id="rId6" Type="http://schemas.openxmlformats.org/officeDocument/2006/relationships/oleObject" Target="../embeddings/oleObject185.bin"/><Relationship Id="rId5" Type="http://schemas.openxmlformats.org/officeDocument/2006/relationships/image" Target="../media/image172.wmf"/><Relationship Id="rId4" Type="http://schemas.openxmlformats.org/officeDocument/2006/relationships/oleObject" Target="../embeddings/oleObject184.bin"/><Relationship Id="rId3" Type="http://schemas.openxmlformats.org/officeDocument/2006/relationships/oleObject" Target="../embeddings/oleObject183.bin"/><Relationship Id="rId2" Type="http://schemas.openxmlformats.org/officeDocument/2006/relationships/image" Target="../media/image173.wmf"/><Relationship Id="rId12" Type="http://schemas.openxmlformats.org/officeDocument/2006/relationships/vmlDrawing" Target="../drawings/vmlDrawing35.vml"/><Relationship Id="rId11" Type="http://schemas.openxmlformats.org/officeDocument/2006/relationships/slideLayout" Target="../slideLayouts/slideLayout7.xml"/><Relationship Id="rId10" Type="http://schemas.openxmlformats.org/officeDocument/2006/relationships/image" Target="../media/image177.png"/><Relationship Id="rId1" Type="http://schemas.openxmlformats.org/officeDocument/2006/relationships/oleObject" Target="../embeddings/oleObject182.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190.bin"/><Relationship Id="rId8" Type="http://schemas.openxmlformats.org/officeDocument/2006/relationships/image" Target="../media/image173.wmf"/><Relationship Id="rId7" Type="http://schemas.openxmlformats.org/officeDocument/2006/relationships/oleObject" Target="../embeddings/oleObject189.bin"/><Relationship Id="rId6" Type="http://schemas.openxmlformats.org/officeDocument/2006/relationships/image" Target="../media/image180.emf"/><Relationship Id="rId5" Type="http://schemas.openxmlformats.org/officeDocument/2006/relationships/oleObject" Target="../embeddings/oleObject188.bin"/><Relationship Id="rId4" Type="http://schemas.openxmlformats.org/officeDocument/2006/relationships/image" Target="../media/image179.emf"/><Relationship Id="rId3" Type="http://schemas.openxmlformats.org/officeDocument/2006/relationships/oleObject" Target="../embeddings/oleObject187.bin"/><Relationship Id="rId2" Type="http://schemas.openxmlformats.org/officeDocument/2006/relationships/image" Target="../media/image178.emf"/><Relationship Id="rId19" Type="http://schemas.openxmlformats.org/officeDocument/2006/relationships/vmlDrawing" Target="../drawings/vmlDrawing36.vml"/><Relationship Id="rId18" Type="http://schemas.openxmlformats.org/officeDocument/2006/relationships/slideLayout" Target="../slideLayouts/slideLayout7.xml"/><Relationship Id="rId17" Type="http://schemas.openxmlformats.org/officeDocument/2006/relationships/image" Target="../media/image182.emf"/><Relationship Id="rId16" Type="http://schemas.openxmlformats.org/officeDocument/2006/relationships/oleObject" Target="../embeddings/oleObject194.bin"/><Relationship Id="rId15" Type="http://schemas.openxmlformats.org/officeDocument/2006/relationships/image" Target="../media/image174.emf"/><Relationship Id="rId14" Type="http://schemas.openxmlformats.org/officeDocument/2006/relationships/oleObject" Target="../embeddings/oleObject193.bin"/><Relationship Id="rId13" Type="http://schemas.openxmlformats.org/officeDocument/2006/relationships/image" Target="../media/image181.emf"/><Relationship Id="rId12" Type="http://schemas.openxmlformats.org/officeDocument/2006/relationships/oleObject" Target="../embeddings/oleObject192.bin"/><Relationship Id="rId11" Type="http://schemas.openxmlformats.org/officeDocument/2006/relationships/image" Target="../media/image172.wmf"/><Relationship Id="rId10" Type="http://schemas.openxmlformats.org/officeDocument/2006/relationships/oleObject" Target="../embeddings/oleObject191.bin"/><Relationship Id="rId1" Type="http://schemas.openxmlformats.org/officeDocument/2006/relationships/oleObject" Target="../embeddings/oleObject186.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199.bin"/><Relationship Id="rId8" Type="http://schemas.openxmlformats.org/officeDocument/2006/relationships/image" Target="../media/image184.emf"/><Relationship Id="rId7" Type="http://schemas.openxmlformats.org/officeDocument/2006/relationships/oleObject" Target="../embeddings/oleObject198.bin"/><Relationship Id="rId6" Type="http://schemas.openxmlformats.org/officeDocument/2006/relationships/image" Target="../media/image183.emf"/><Relationship Id="rId5" Type="http://schemas.openxmlformats.org/officeDocument/2006/relationships/oleObject" Target="../embeddings/oleObject197.bin"/><Relationship Id="rId4" Type="http://schemas.openxmlformats.org/officeDocument/2006/relationships/image" Target="../media/image182.emf"/><Relationship Id="rId3" Type="http://schemas.openxmlformats.org/officeDocument/2006/relationships/oleObject" Target="../embeddings/oleObject196.bin"/><Relationship Id="rId22" Type="http://schemas.openxmlformats.org/officeDocument/2006/relationships/vmlDrawing" Target="../drawings/vmlDrawing37.vml"/><Relationship Id="rId21" Type="http://schemas.openxmlformats.org/officeDocument/2006/relationships/slideLayout" Target="../slideLayouts/slideLayout7.xml"/><Relationship Id="rId20" Type="http://schemas.openxmlformats.org/officeDocument/2006/relationships/image" Target="../media/image172.wmf"/><Relationship Id="rId2" Type="http://schemas.openxmlformats.org/officeDocument/2006/relationships/image" Target="../media/image181.emf"/><Relationship Id="rId19" Type="http://schemas.openxmlformats.org/officeDocument/2006/relationships/oleObject" Target="../embeddings/oleObject204.bin"/><Relationship Id="rId18" Type="http://schemas.openxmlformats.org/officeDocument/2006/relationships/image" Target="../media/image189.wmf"/><Relationship Id="rId17" Type="http://schemas.openxmlformats.org/officeDocument/2006/relationships/oleObject" Target="../embeddings/oleObject203.bin"/><Relationship Id="rId16" Type="http://schemas.openxmlformats.org/officeDocument/2006/relationships/image" Target="../media/image188.emf"/><Relationship Id="rId15" Type="http://schemas.openxmlformats.org/officeDocument/2006/relationships/oleObject" Target="../embeddings/oleObject202.bin"/><Relationship Id="rId14" Type="http://schemas.openxmlformats.org/officeDocument/2006/relationships/image" Target="../media/image187.emf"/><Relationship Id="rId13" Type="http://schemas.openxmlformats.org/officeDocument/2006/relationships/oleObject" Target="../embeddings/oleObject201.bin"/><Relationship Id="rId12" Type="http://schemas.openxmlformats.org/officeDocument/2006/relationships/image" Target="../media/image186.emf"/><Relationship Id="rId11" Type="http://schemas.openxmlformats.org/officeDocument/2006/relationships/oleObject" Target="../embeddings/oleObject200.bin"/><Relationship Id="rId10" Type="http://schemas.openxmlformats.org/officeDocument/2006/relationships/image" Target="../media/image185.emf"/><Relationship Id="rId1" Type="http://schemas.openxmlformats.org/officeDocument/2006/relationships/oleObject" Target="../embeddings/oleObject195.bin"/></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38.vml"/><Relationship Id="rId5" Type="http://schemas.openxmlformats.org/officeDocument/2006/relationships/slideLayout" Target="../slideLayouts/slideLayout7.xml"/><Relationship Id="rId4" Type="http://schemas.openxmlformats.org/officeDocument/2006/relationships/image" Target="../media/image191.emf"/><Relationship Id="rId3" Type="http://schemas.openxmlformats.org/officeDocument/2006/relationships/oleObject" Target="../embeddings/oleObject206.bin"/><Relationship Id="rId2" Type="http://schemas.openxmlformats.org/officeDocument/2006/relationships/image" Target="../media/image190.emf"/><Relationship Id="rId1" Type="http://schemas.openxmlformats.org/officeDocument/2006/relationships/oleObject" Target="../embeddings/oleObject205.bin"/></Relationships>
</file>

<file path=ppt/slides/_rels/slide45.xml.rels><?xml version="1.0" encoding="UTF-8" standalone="yes"?>
<Relationships xmlns="http://schemas.openxmlformats.org/package/2006/relationships"><Relationship Id="rId9" Type="http://schemas.openxmlformats.org/officeDocument/2006/relationships/image" Target="../media/image196.png"/><Relationship Id="rId8" Type="http://schemas.openxmlformats.org/officeDocument/2006/relationships/image" Target="../media/image195.emf"/><Relationship Id="rId7" Type="http://schemas.openxmlformats.org/officeDocument/2006/relationships/oleObject" Target="../embeddings/oleObject210.bin"/><Relationship Id="rId6" Type="http://schemas.openxmlformats.org/officeDocument/2006/relationships/image" Target="../media/image194.emf"/><Relationship Id="rId5" Type="http://schemas.openxmlformats.org/officeDocument/2006/relationships/oleObject" Target="../embeddings/oleObject209.bin"/><Relationship Id="rId4" Type="http://schemas.openxmlformats.org/officeDocument/2006/relationships/image" Target="../media/image193.emf"/><Relationship Id="rId3" Type="http://schemas.openxmlformats.org/officeDocument/2006/relationships/oleObject" Target="../embeddings/oleObject208.bin"/><Relationship Id="rId2" Type="http://schemas.openxmlformats.org/officeDocument/2006/relationships/image" Target="../media/image192.emf"/><Relationship Id="rId11" Type="http://schemas.openxmlformats.org/officeDocument/2006/relationships/vmlDrawing" Target="../drawings/vmlDrawing39.vml"/><Relationship Id="rId10" Type="http://schemas.openxmlformats.org/officeDocument/2006/relationships/slideLayout" Target="../slideLayouts/slideLayout7.xml"/><Relationship Id="rId1" Type="http://schemas.openxmlformats.org/officeDocument/2006/relationships/oleObject" Target="../embeddings/oleObject207.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215.bin"/><Relationship Id="rId8" Type="http://schemas.openxmlformats.org/officeDocument/2006/relationships/image" Target="../media/image200.emf"/><Relationship Id="rId7" Type="http://schemas.openxmlformats.org/officeDocument/2006/relationships/oleObject" Target="../embeddings/oleObject214.bin"/><Relationship Id="rId6" Type="http://schemas.openxmlformats.org/officeDocument/2006/relationships/image" Target="../media/image199.emf"/><Relationship Id="rId5" Type="http://schemas.openxmlformats.org/officeDocument/2006/relationships/oleObject" Target="../embeddings/oleObject213.bin"/><Relationship Id="rId4" Type="http://schemas.openxmlformats.org/officeDocument/2006/relationships/image" Target="../media/image198.emf"/><Relationship Id="rId3" Type="http://schemas.openxmlformats.org/officeDocument/2006/relationships/oleObject" Target="../embeddings/oleObject212.bin"/><Relationship Id="rId2" Type="http://schemas.openxmlformats.org/officeDocument/2006/relationships/image" Target="../media/image197.emf"/><Relationship Id="rId18" Type="http://schemas.openxmlformats.org/officeDocument/2006/relationships/vmlDrawing" Target="../drawings/vmlDrawing40.vml"/><Relationship Id="rId17" Type="http://schemas.openxmlformats.org/officeDocument/2006/relationships/slideLayout" Target="../slideLayouts/slideLayout7.xml"/><Relationship Id="rId16" Type="http://schemas.openxmlformats.org/officeDocument/2006/relationships/image" Target="../media/image191.emf"/><Relationship Id="rId15" Type="http://schemas.openxmlformats.org/officeDocument/2006/relationships/oleObject" Target="../embeddings/oleObject218.bin"/><Relationship Id="rId14" Type="http://schemas.openxmlformats.org/officeDocument/2006/relationships/image" Target="../media/image203.wmf"/><Relationship Id="rId13" Type="http://schemas.openxmlformats.org/officeDocument/2006/relationships/oleObject" Target="../embeddings/oleObject217.bin"/><Relationship Id="rId12" Type="http://schemas.openxmlformats.org/officeDocument/2006/relationships/image" Target="../media/image202.emf"/><Relationship Id="rId11" Type="http://schemas.openxmlformats.org/officeDocument/2006/relationships/oleObject" Target="../embeddings/oleObject216.bin"/><Relationship Id="rId10" Type="http://schemas.openxmlformats.org/officeDocument/2006/relationships/image" Target="../media/image201.emf"/><Relationship Id="rId1" Type="http://schemas.openxmlformats.org/officeDocument/2006/relationships/oleObject" Target="../embeddings/oleObject211.bin"/></Relationships>
</file>

<file path=ppt/slides/_rels/slide47.xml.rels><?xml version="1.0" encoding="UTF-8" standalone="yes"?>
<Relationships xmlns="http://schemas.openxmlformats.org/package/2006/relationships"><Relationship Id="rId8" Type="http://schemas.openxmlformats.org/officeDocument/2006/relationships/vmlDrawing" Target="../drawings/vmlDrawing41.vml"/><Relationship Id="rId7" Type="http://schemas.openxmlformats.org/officeDocument/2006/relationships/slideLayout" Target="../slideLayouts/slideLayout7.xml"/><Relationship Id="rId6" Type="http://schemas.openxmlformats.org/officeDocument/2006/relationships/image" Target="../media/image206.emf"/><Relationship Id="rId5" Type="http://schemas.openxmlformats.org/officeDocument/2006/relationships/oleObject" Target="../embeddings/oleObject221.bin"/><Relationship Id="rId4" Type="http://schemas.openxmlformats.org/officeDocument/2006/relationships/image" Target="../media/image205.emf"/><Relationship Id="rId3" Type="http://schemas.openxmlformats.org/officeDocument/2006/relationships/oleObject" Target="../embeddings/oleObject220.bin"/><Relationship Id="rId2" Type="http://schemas.openxmlformats.org/officeDocument/2006/relationships/image" Target="../media/image204.emf"/><Relationship Id="rId1" Type="http://schemas.openxmlformats.org/officeDocument/2006/relationships/oleObject" Target="../embeddings/oleObject219.bin"/></Relationships>
</file>

<file path=ppt/slides/_rels/slide48.xml.rels><?xml version="1.0" encoding="UTF-8" standalone="yes"?>
<Relationships xmlns="http://schemas.openxmlformats.org/package/2006/relationships"><Relationship Id="rId8" Type="http://schemas.openxmlformats.org/officeDocument/2006/relationships/vmlDrawing" Target="../drawings/vmlDrawing42.vml"/><Relationship Id="rId7" Type="http://schemas.openxmlformats.org/officeDocument/2006/relationships/slideLayout" Target="../slideLayouts/slideLayout7.xml"/><Relationship Id="rId6" Type="http://schemas.openxmlformats.org/officeDocument/2006/relationships/image" Target="../media/image209.emf"/><Relationship Id="rId5" Type="http://schemas.openxmlformats.org/officeDocument/2006/relationships/oleObject" Target="../embeddings/oleObject224.bin"/><Relationship Id="rId4" Type="http://schemas.openxmlformats.org/officeDocument/2006/relationships/image" Target="../media/image208.emf"/><Relationship Id="rId3" Type="http://schemas.openxmlformats.org/officeDocument/2006/relationships/oleObject" Target="../embeddings/oleObject223.bin"/><Relationship Id="rId2" Type="http://schemas.openxmlformats.org/officeDocument/2006/relationships/image" Target="../media/image207.emf"/><Relationship Id="rId1" Type="http://schemas.openxmlformats.org/officeDocument/2006/relationships/oleObject" Target="../embeddings/oleObject222.bin"/></Relationships>
</file>

<file path=ppt/slides/_rels/slide49.xml.rels><?xml version="1.0" encoding="UTF-8" standalone="yes"?>
<Relationships xmlns="http://schemas.openxmlformats.org/package/2006/relationships"><Relationship Id="rId8" Type="http://schemas.openxmlformats.org/officeDocument/2006/relationships/vmlDrawing" Target="../drawings/vmlDrawing43.vml"/><Relationship Id="rId7" Type="http://schemas.openxmlformats.org/officeDocument/2006/relationships/slideLayout" Target="../slideLayouts/slideLayout7.xml"/><Relationship Id="rId6" Type="http://schemas.openxmlformats.org/officeDocument/2006/relationships/image" Target="../media/image212.emf"/><Relationship Id="rId5" Type="http://schemas.openxmlformats.org/officeDocument/2006/relationships/oleObject" Target="../embeddings/oleObject227.bin"/><Relationship Id="rId4" Type="http://schemas.openxmlformats.org/officeDocument/2006/relationships/image" Target="../media/image211.emf"/><Relationship Id="rId3" Type="http://schemas.openxmlformats.org/officeDocument/2006/relationships/oleObject" Target="../embeddings/oleObject226.bin"/><Relationship Id="rId2" Type="http://schemas.openxmlformats.org/officeDocument/2006/relationships/image" Target="../media/image210.emf"/><Relationship Id="rId1" Type="http://schemas.openxmlformats.org/officeDocument/2006/relationships/oleObject" Target="../embeddings/oleObject225.bin"/></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16.wmf"/><Relationship Id="rId7" Type="http://schemas.openxmlformats.org/officeDocument/2006/relationships/oleObject" Target="../embeddings/oleObject231.bin"/><Relationship Id="rId6" Type="http://schemas.openxmlformats.org/officeDocument/2006/relationships/image" Target="../media/image215.wmf"/><Relationship Id="rId5" Type="http://schemas.openxmlformats.org/officeDocument/2006/relationships/oleObject" Target="../embeddings/oleObject230.bin"/><Relationship Id="rId4" Type="http://schemas.openxmlformats.org/officeDocument/2006/relationships/image" Target="../media/image214.wmf"/><Relationship Id="rId3" Type="http://schemas.openxmlformats.org/officeDocument/2006/relationships/oleObject" Target="../embeddings/oleObject229.bin"/><Relationship Id="rId2" Type="http://schemas.openxmlformats.org/officeDocument/2006/relationships/image" Target="../media/image213.wmf"/><Relationship Id="rId10" Type="http://schemas.openxmlformats.org/officeDocument/2006/relationships/vmlDrawing" Target="../drawings/vmlDrawing44.vml"/><Relationship Id="rId1" Type="http://schemas.openxmlformats.org/officeDocument/2006/relationships/oleObject" Target="../embeddings/oleObject228.bin"/></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236.bin"/><Relationship Id="rId8" Type="http://schemas.openxmlformats.org/officeDocument/2006/relationships/image" Target="../media/image220.wmf"/><Relationship Id="rId7" Type="http://schemas.openxmlformats.org/officeDocument/2006/relationships/oleObject" Target="../embeddings/oleObject235.bin"/><Relationship Id="rId6" Type="http://schemas.openxmlformats.org/officeDocument/2006/relationships/image" Target="../media/image219.wmf"/><Relationship Id="rId5" Type="http://schemas.openxmlformats.org/officeDocument/2006/relationships/oleObject" Target="../embeddings/oleObject234.bin"/><Relationship Id="rId4" Type="http://schemas.openxmlformats.org/officeDocument/2006/relationships/image" Target="../media/image218.wmf"/><Relationship Id="rId3" Type="http://schemas.openxmlformats.org/officeDocument/2006/relationships/oleObject" Target="../embeddings/oleObject233.bin"/><Relationship Id="rId2" Type="http://schemas.openxmlformats.org/officeDocument/2006/relationships/image" Target="../media/image217.wmf"/><Relationship Id="rId18" Type="http://schemas.openxmlformats.org/officeDocument/2006/relationships/vmlDrawing" Target="../drawings/vmlDrawing45.vml"/><Relationship Id="rId17" Type="http://schemas.openxmlformats.org/officeDocument/2006/relationships/slideLayout" Target="../slideLayouts/slideLayout7.xml"/><Relationship Id="rId16" Type="http://schemas.openxmlformats.org/officeDocument/2006/relationships/image" Target="../media/image224.wmf"/><Relationship Id="rId15" Type="http://schemas.openxmlformats.org/officeDocument/2006/relationships/oleObject" Target="../embeddings/oleObject239.bin"/><Relationship Id="rId14" Type="http://schemas.openxmlformats.org/officeDocument/2006/relationships/image" Target="../media/image223.wmf"/><Relationship Id="rId13" Type="http://schemas.openxmlformats.org/officeDocument/2006/relationships/oleObject" Target="../embeddings/oleObject238.bin"/><Relationship Id="rId12" Type="http://schemas.openxmlformats.org/officeDocument/2006/relationships/image" Target="../media/image222.wmf"/><Relationship Id="rId11" Type="http://schemas.openxmlformats.org/officeDocument/2006/relationships/oleObject" Target="../embeddings/oleObject237.bin"/><Relationship Id="rId10" Type="http://schemas.openxmlformats.org/officeDocument/2006/relationships/image" Target="../media/image221.wmf"/><Relationship Id="rId1" Type="http://schemas.openxmlformats.org/officeDocument/2006/relationships/oleObject" Target="../embeddings/oleObject23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85800" y="1844824"/>
            <a:ext cx="7772400" cy="2952601"/>
          </a:xfrm>
        </p:spPr>
        <p:txBody>
          <a:bodyPr/>
          <a:lstStyle/>
          <a:p>
            <a:pPr eaLnBrk="1" hangingPunct="1"/>
            <a:r>
              <a:rPr lang="zh-CN" altLang="en-US" sz="8800" dirty="0">
                <a:solidFill>
                  <a:srgbClr val="0000FF"/>
                </a:solidFill>
                <a:latin typeface="华文新魏" panose="02010800040101010101" pitchFamily="2" charset="-122"/>
                <a:ea typeface="华文新魏" panose="02010800040101010101" pitchFamily="2" charset="-122"/>
              </a:rPr>
              <a:t>振动和波动</a:t>
            </a:r>
            <a:br>
              <a:rPr lang="en-US" altLang="zh-CN" sz="8800" dirty="0">
                <a:solidFill>
                  <a:srgbClr val="0000FF"/>
                </a:solidFill>
                <a:latin typeface="华文新魏" panose="02010800040101010101" pitchFamily="2" charset="-122"/>
                <a:ea typeface="华文新魏" panose="02010800040101010101" pitchFamily="2" charset="-122"/>
              </a:rPr>
            </a:br>
            <a:r>
              <a:rPr kumimoji="1" lang="zh-CN" altLang="en-US" sz="8800" b="1" kern="1200" dirty="0">
                <a:solidFill>
                  <a:srgbClr val="FF0066"/>
                </a:solidFill>
                <a:effectLst>
                  <a:outerShdw blurRad="38100" dist="38100" dir="2700000" algn="tl">
                    <a:srgbClr val="C0C0C0"/>
                  </a:outerShdw>
                </a:effectLst>
                <a:latin typeface="宋体" panose="02010600030101010101" pitchFamily="2" charset="-122"/>
                <a:ea typeface="宋体" panose="02010600030101010101" pitchFamily="2" charset="-122"/>
              </a:rPr>
              <a:t>习题课</a:t>
            </a:r>
            <a:endParaRPr lang="zh-CN" altLang="en-US" sz="8800" dirty="0">
              <a:solidFill>
                <a:srgbClr val="0000FF"/>
              </a:solidFill>
              <a:latin typeface="华文新魏" panose="02010800040101010101" pitchFamily="2" charset="-122"/>
              <a:ea typeface="华文新魏" panose="02010800040101010101" pitchFamily="2" charset="-122"/>
            </a:endParaRPr>
          </a:p>
        </p:txBody>
      </p:sp>
      <p:sp>
        <p:nvSpPr>
          <p:cNvPr id="49155" name="Text Box 7"/>
          <p:cNvSpPr txBox="1">
            <a:spLocks noChangeArrowheads="1"/>
          </p:cNvSpPr>
          <p:nvPr/>
        </p:nvSpPr>
        <p:spPr bwMode="auto">
          <a:xfrm>
            <a:off x="6588125" y="6092825"/>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2024.9.20</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p:cNvSpPr txBox="1">
            <a:spLocks noChangeArrowheads="1"/>
          </p:cNvSpPr>
          <p:nvPr/>
        </p:nvSpPr>
        <p:spPr bwMode="auto">
          <a:xfrm>
            <a:off x="1547813" y="2205038"/>
            <a:ext cx="6280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6000" b="1">
                <a:solidFill>
                  <a:srgbClr val="FF0000"/>
                </a:solidFill>
                <a:latin typeface="Times New Roman" panose="02020603050405020304" pitchFamily="18" charset="0"/>
                <a:ea typeface="华文新魏" panose="02010800040101010101" pitchFamily="2" charset="-122"/>
              </a:rPr>
              <a:t>机械振动知识要点</a:t>
            </a:r>
            <a:endParaRPr kumimoji="1" lang="zh-CN" altLang="en-US" sz="6000" b="1">
              <a:solidFill>
                <a:srgbClr val="FF0000"/>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8" name="Rectangle 4"/>
          <p:cNvSpPr>
            <a:spLocks noChangeArrowheads="1"/>
          </p:cNvSpPr>
          <p:nvPr/>
        </p:nvSpPr>
        <p:spPr bwMode="auto">
          <a:xfrm>
            <a:off x="457200" y="549275"/>
            <a:ext cx="8229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3200" b="1" dirty="0">
                <a:solidFill>
                  <a:srgbClr val="FF0066"/>
                </a:solidFill>
              </a:rPr>
              <a:t>1.</a:t>
            </a:r>
            <a:r>
              <a:rPr kumimoji="1" lang="zh-CN" altLang="en-US" sz="3200" b="1" dirty="0">
                <a:solidFill>
                  <a:srgbClr val="FF0066"/>
                </a:solidFill>
              </a:rPr>
              <a:t>掌握简谐振动的表达式和三个特征量的意义及确定方法</a:t>
            </a:r>
            <a:endParaRPr lang="zh-CN" altLang="en-US" b="1" dirty="0">
              <a:solidFill>
                <a:srgbClr val="FF0066"/>
              </a:solidFill>
            </a:endParaRPr>
          </a:p>
        </p:txBody>
      </p:sp>
      <p:sp>
        <p:nvSpPr>
          <p:cNvPr id="129031" name="Text Box 7"/>
          <p:cNvSpPr txBox="1">
            <a:spLocks noChangeArrowheads="1"/>
          </p:cNvSpPr>
          <p:nvPr/>
        </p:nvSpPr>
        <p:spPr bwMode="auto">
          <a:xfrm>
            <a:off x="971550" y="3068638"/>
            <a:ext cx="381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a:solidFill>
                  <a:srgbClr val="FF0066"/>
                </a:solidFill>
                <a:sym typeface="Symbol" panose="05050102010706020507" pitchFamily="18" charset="2"/>
              </a:rPr>
              <a:t></a:t>
            </a:r>
            <a:r>
              <a:rPr lang="zh-CN" altLang="en-US" b="1">
                <a:solidFill>
                  <a:srgbClr val="FF0066"/>
                </a:solidFill>
                <a:sym typeface="Symbol" panose="05050102010706020507" pitchFamily="18" charset="2"/>
              </a:rPr>
              <a:t>决定于系统本身的性质！</a:t>
            </a:r>
            <a:endParaRPr lang="zh-CN" altLang="en-US" b="1">
              <a:solidFill>
                <a:srgbClr val="FF0066"/>
              </a:solidFill>
              <a:sym typeface="Symbol" panose="05050102010706020507" pitchFamily="18" charset="2"/>
            </a:endParaRPr>
          </a:p>
        </p:txBody>
      </p:sp>
      <p:sp>
        <p:nvSpPr>
          <p:cNvPr id="129033" name="Text Box 9"/>
          <p:cNvSpPr txBox="1">
            <a:spLocks noChangeArrowheads="1"/>
          </p:cNvSpPr>
          <p:nvPr/>
        </p:nvSpPr>
        <p:spPr bwMode="auto">
          <a:xfrm>
            <a:off x="971550" y="3716338"/>
            <a:ext cx="417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a:solidFill>
                  <a:schemeClr val="hlink"/>
                </a:solidFill>
                <a:latin typeface="Times New Roman" panose="02020603050405020304" pitchFamily="18" charset="0"/>
                <a:sym typeface="Symbol" panose="05050102010706020507" pitchFamily="18" charset="2"/>
              </a:rPr>
              <a:t>A</a:t>
            </a:r>
            <a:r>
              <a:rPr lang="zh-CN" altLang="en-US" b="1">
                <a:solidFill>
                  <a:schemeClr val="hlink"/>
                </a:solidFill>
                <a:sym typeface="Symbol" panose="05050102010706020507" pitchFamily="18" charset="2"/>
              </a:rPr>
              <a:t>和</a:t>
            </a:r>
            <a:r>
              <a:rPr lang="zh-CN" altLang="en-US" b="1" i="1">
                <a:solidFill>
                  <a:schemeClr val="hlink"/>
                </a:solidFill>
                <a:sym typeface="Symbol" panose="05050102010706020507" pitchFamily="18" charset="2"/>
              </a:rPr>
              <a:t></a:t>
            </a:r>
            <a:r>
              <a:rPr lang="zh-CN" altLang="en-US" b="1">
                <a:solidFill>
                  <a:schemeClr val="hlink"/>
                </a:solidFill>
                <a:sym typeface="Symbol" panose="05050102010706020507" pitchFamily="18" charset="2"/>
              </a:rPr>
              <a:t>由初始条件</a:t>
            </a:r>
            <a:r>
              <a:rPr lang="en-US" altLang="zh-CN" b="1" i="1">
                <a:solidFill>
                  <a:schemeClr val="hlink"/>
                </a:solidFill>
                <a:latin typeface="Times New Roman" panose="02020603050405020304" pitchFamily="18" charset="0"/>
                <a:sym typeface="Symbol" panose="05050102010706020507" pitchFamily="18" charset="2"/>
              </a:rPr>
              <a:t>x</a:t>
            </a:r>
            <a:r>
              <a:rPr lang="en-US" altLang="zh-CN" b="1" baseline="-25000">
                <a:solidFill>
                  <a:schemeClr val="hlink"/>
                </a:solidFill>
                <a:latin typeface="Times New Roman" panose="02020603050405020304" pitchFamily="18" charset="0"/>
                <a:sym typeface="Symbol" panose="05050102010706020507" pitchFamily="18" charset="2"/>
              </a:rPr>
              <a:t>0</a:t>
            </a:r>
            <a:r>
              <a:rPr lang="en-US" altLang="zh-CN" b="1" i="1">
                <a:solidFill>
                  <a:schemeClr val="hlink"/>
                </a:solidFill>
                <a:latin typeface="Times New Roman" panose="02020603050405020304" pitchFamily="18" charset="0"/>
                <a:sym typeface="Symbol" panose="05050102010706020507" pitchFamily="18" charset="2"/>
              </a:rPr>
              <a:t>, v</a:t>
            </a:r>
            <a:r>
              <a:rPr lang="en-US" altLang="zh-CN" b="1" baseline="-25000">
                <a:solidFill>
                  <a:schemeClr val="hlink"/>
                </a:solidFill>
                <a:latin typeface="Times New Roman" panose="02020603050405020304" pitchFamily="18" charset="0"/>
                <a:sym typeface="Symbol" panose="05050102010706020507" pitchFamily="18" charset="2"/>
              </a:rPr>
              <a:t>0</a:t>
            </a:r>
            <a:r>
              <a:rPr lang="zh-CN" altLang="en-US" b="1">
                <a:solidFill>
                  <a:schemeClr val="hlink"/>
                </a:solidFill>
                <a:sym typeface="Symbol" panose="05050102010706020507" pitchFamily="18" charset="2"/>
              </a:rPr>
              <a:t>决定！</a:t>
            </a:r>
            <a:endParaRPr lang="zh-CN" altLang="en-US" b="1">
              <a:solidFill>
                <a:schemeClr val="hlink"/>
              </a:solidFill>
              <a:sym typeface="Symbol" panose="05050102010706020507" pitchFamily="18" charset="2"/>
            </a:endParaRPr>
          </a:p>
        </p:txBody>
      </p:sp>
      <p:graphicFrame>
        <p:nvGraphicFramePr>
          <p:cNvPr id="129034" name="Object 10"/>
          <p:cNvGraphicFramePr>
            <a:graphicFrameLocks noChangeAspect="1"/>
          </p:cNvGraphicFramePr>
          <p:nvPr/>
        </p:nvGraphicFramePr>
        <p:xfrm>
          <a:off x="1038225" y="4508500"/>
          <a:ext cx="2522538" cy="1311275"/>
        </p:xfrm>
        <a:graphic>
          <a:graphicData uri="http://schemas.openxmlformats.org/presentationml/2006/ole">
            <mc:AlternateContent xmlns:mc="http://schemas.openxmlformats.org/markup-compatibility/2006">
              <mc:Choice xmlns:v="urn:schemas-microsoft-com:vml" Requires="v">
                <p:oleObj spid="_x0000_s1179" name="Equation" r:id="rId1" imgW="951865" imgH="495300" progId="Equation.DSMT4">
                  <p:embed/>
                </p:oleObj>
              </mc:Choice>
              <mc:Fallback>
                <p:oleObj name="Equation" r:id="rId1" imgW="951865" imgH="495300" progId="Equation.DSMT4">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225" y="4508500"/>
                        <a:ext cx="2522538"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1"/>
          <p:cNvGrpSpPr/>
          <p:nvPr/>
        </p:nvGrpSpPr>
        <p:grpSpPr bwMode="auto">
          <a:xfrm>
            <a:off x="4356100" y="4581525"/>
            <a:ext cx="3887788" cy="2089150"/>
            <a:chOff x="2562" y="2432"/>
            <a:chExt cx="2449" cy="1316"/>
          </a:xfrm>
        </p:grpSpPr>
        <p:graphicFrame>
          <p:nvGraphicFramePr>
            <p:cNvPr id="1029" name="Object 11"/>
            <p:cNvGraphicFramePr>
              <a:graphicFrameLocks noChangeAspect="1"/>
            </p:cNvGraphicFramePr>
            <p:nvPr/>
          </p:nvGraphicFramePr>
          <p:xfrm>
            <a:off x="2608" y="2432"/>
            <a:ext cx="1441" cy="720"/>
          </p:xfrm>
          <a:graphic>
            <a:graphicData uri="http://schemas.openxmlformats.org/presentationml/2006/ole">
              <mc:AlternateContent xmlns:mc="http://schemas.openxmlformats.org/markup-compatibility/2006">
                <mc:Choice xmlns:v="urn:schemas-microsoft-com:vml" Requires="v">
                  <p:oleObj spid="_x0000_s1180" name="公式" r:id="rId3" imgW="862965" imgH="431800" progId="Equation.3">
                    <p:embed/>
                  </p:oleObj>
                </mc:Choice>
                <mc:Fallback>
                  <p:oleObj name="公式" r:id="rId3" imgW="862965" imgH="4318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8" y="2432"/>
                          <a:ext cx="1441"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8" name="Text Box 13"/>
            <p:cNvSpPr txBox="1">
              <a:spLocks noChangeArrowheads="1"/>
            </p:cNvSpPr>
            <p:nvPr/>
          </p:nvSpPr>
          <p:spPr bwMode="auto">
            <a:xfrm>
              <a:off x="2562" y="3203"/>
              <a:ext cx="15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dirty="0">
                  <a:solidFill>
                    <a:schemeClr val="hlink"/>
                  </a:solidFill>
                  <a:latin typeface="Times New Roman" panose="02020603050405020304" pitchFamily="18" charset="0"/>
                  <a:sym typeface="Symbol" panose="05050102010706020507" pitchFamily="18" charset="2"/>
                </a:rPr>
                <a:t>v</a:t>
              </a:r>
              <a:r>
                <a:rPr lang="en-US" altLang="zh-CN" b="1" baseline="-25000" dirty="0">
                  <a:solidFill>
                    <a:schemeClr val="hlink"/>
                  </a:solidFill>
                  <a:latin typeface="Times New Roman" panose="02020603050405020304" pitchFamily="18" charset="0"/>
                  <a:sym typeface="Symbol" panose="05050102010706020507" pitchFamily="18" charset="2"/>
                </a:rPr>
                <a:t>0</a:t>
              </a:r>
              <a:r>
                <a:rPr lang="zh-CN" altLang="en-US" b="1" dirty="0">
                  <a:solidFill>
                    <a:schemeClr val="hlink"/>
                  </a:solidFill>
                  <a:latin typeface="Times New Roman" panose="02020603050405020304" pitchFamily="18" charset="0"/>
                  <a:sym typeface="Symbol" panose="05050102010706020507" pitchFamily="18" charset="2"/>
                </a:rPr>
                <a:t>的正负号</a:t>
              </a:r>
              <a:endParaRPr lang="en-US" altLang="zh-CN" b="1" dirty="0">
                <a:solidFill>
                  <a:schemeClr val="hlink"/>
                </a:solidFill>
                <a:latin typeface="Times New Roman" panose="02020603050405020304" pitchFamily="18" charset="0"/>
                <a:sym typeface="Symbol" panose="05050102010706020507" pitchFamily="18" charset="2"/>
              </a:endParaRPr>
            </a:p>
          </p:txBody>
        </p:sp>
        <p:sp>
          <p:nvSpPr>
            <p:cNvPr id="1039" name="AutoShape 14"/>
            <p:cNvSpPr/>
            <p:nvPr/>
          </p:nvSpPr>
          <p:spPr bwMode="auto">
            <a:xfrm>
              <a:off x="4059" y="2704"/>
              <a:ext cx="136" cy="771"/>
            </a:xfrm>
            <a:prstGeom prst="rightBrace">
              <a:avLst>
                <a:gd name="adj1" fmla="val 47243"/>
                <a:gd name="adj2" fmla="val 50000"/>
              </a:avLst>
            </a:prstGeom>
            <a:noFill/>
            <a:ln w="25400">
              <a:solidFill>
                <a:schemeClr val="tx1"/>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1040" name="Line 15"/>
            <p:cNvSpPr>
              <a:spLocks noChangeShapeType="1"/>
            </p:cNvSpPr>
            <p:nvPr/>
          </p:nvSpPr>
          <p:spPr bwMode="auto">
            <a:xfrm>
              <a:off x="4235" y="3095"/>
              <a:ext cx="363" cy="0"/>
            </a:xfrm>
            <a:prstGeom prst="line">
              <a:avLst/>
            </a:prstGeom>
            <a:noFill/>
            <a:ln w="5715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41" name="Text Box 16"/>
            <p:cNvSpPr txBox="1">
              <a:spLocks noChangeArrowheads="1"/>
            </p:cNvSpPr>
            <p:nvPr/>
          </p:nvSpPr>
          <p:spPr bwMode="auto">
            <a:xfrm>
              <a:off x="4552" y="2910"/>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i="1">
                  <a:solidFill>
                    <a:schemeClr val="hlink"/>
                  </a:solidFill>
                  <a:sym typeface="Symbol" panose="05050102010706020507" pitchFamily="18" charset="2"/>
                </a:rPr>
                <a:t></a:t>
              </a:r>
              <a:r>
                <a:rPr lang="zh-CN" altLang="en-US" b="1">
                  <a:solidFill>
                    <a:schemeClr val="hlink"/>
                  </a:solidFill>
                  <a:latin typeface="Times New Roman" panose="02020603050405020304" pitchFamily="18" charset="0"/>
                  <a:sym typeface="Symbol" panose="05050102010706020507" pitchFamily="18" charset="2"/>
                </a:rPr>
                <a:t>值</a:t>
              </a:r>
              <a:endParaRPr lang="zh-CN" altLang="en-US" b="1">
                <a:solidFill>
                  <a:schemeClr val="hlink"/>
                </a:solidFill>
                <a:latin typeface="Times New Roman" panose="02020603050405020304" pitchFamily="18" charset="0"/>
                <a:sym typeface="Symbol" panose="05050102010706020507" pitchFamily="18" charset="2"/>
              </a:endParaRPr>
            </a:p>
          </p:txBody>
        </p:sp>
        <p:sp>
          <p:nvSpPr>
            <p:cNvPr id="1042" name="Rectangle 20"/>
            <p:cNvSpPr>
              <a:spLocks noChangeArrowheads="1"/>
            </p:cNvSpPr>
            <p:nvPr/>
          </p:nvSpPr>
          <p:spPr bwMode="auto">
            <a:xfrm>
              <a:off x="2562" y="2432"/>
              <a:ext cx="2449" cy="1316"/>
            </a:xfrm>
            <a:prstGeom prst="rect">
              <a:avLst/>
            </a:prstGeom>
            <a:noFill/>
            <a:ln w="25400">
              <a:solidFill>
                <a:schemeClr val="hlink"/>
              </a:solidFill>
              <a:miter lim="800000"/>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grpSp>
      <p:grpSp>
        <p:nvGrpSpPr>
          <p:cNvPr id="3" name="Group 25"/>
          <p:cNvGrpSpPr/>
          <p:nvPr/>
        </p:nvGrpSpPr>
        <p:grpSpPr bwMode="auto">
          <a:xfrm>
            <a:off x="2411413" y="1916113"/>
            <a:ext cx="3714750" cy="801687"/>
            <a:chOff x="1655" y="1298"/>
            <a:chExt cx="2340" cy="505"/>
          </a:xfrm>
        </p:grpSpPr>
        <p:graphicFrame>
          <p:nvGraphicFramePr>
            <p:cNvPr id="1028" name="Object 6"/>
            <p:cNvGraphicFramePr>
              <a:graphicFrameLocks noChangeAspect="1"/>
            </p:cNvGraphicFramePr>
            <p:nvPr/>
          </p:nvGraphicFramePr>
          <p:xfrm>
            <a:off x="1655" y="1344"/>
            <a:ext cx="2340" cy="435"/>
          </p:xfrm>
          <a:graphic>
            <a:graphicData uri="http://schemas.openxmlformats.org/presentationml/2006/ole">
              <mc:AlternateContent xmlns:mc="http://schemas.openxmlformats.org/markup-compatibility/2006">
                <mc:Choice xmlns:v="urn:schemas-microsoft-com:vml" Requires="v">
                  <p:oleObj spid="_x0000_s1181" name="公式" r:id="rId5" imgW="1091565" imgH="203200" progId="Equation.3">
                    <p:embed/>
                  </p:oleObj>
                </mc:Choice>
                <mc:Fallback>
                  <p:oleObj name="公式" r:id="rId5" imgW="1091565" imgH="203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5" y="1344"/>
                          <a:ext cx="2340" cy="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5" name="Oval 22"/>
            <p:cNvSpPr>
              <a:spLocks noChangeArrowheads="1"/>
            </p:cNvSpPr>
            <p:nvPr/>
          </p:nvSpPr>
          <p:spPr bwMode="auto">
            <a:xfrm>
              <a:off x="2194" y="1298"/>
              <a:ext cx="272" cy="499"/>
            </a:xfrm>
            <a:prstGeom prst="ellipse">
              <a:avLst/>
            </a:prstGeom>
            <a:noFill/>
            <a:ln w="25400">
              <a:solidFill>
                <a:schemeClr val="hlink"/>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1036" name="Oval 23"/>
            <p:cNvSpPr>
              <a:spLocks noChangeArrowheads="1"/>
            </p:cNvSpPr>
            <p:nvPr/>
          </p:nvSpPr>
          <p:spPr bwMode="auto">
            <a:xfrm>
              <a:off x="3594" y="1304"/>
              <a:ext cx="272" cy="499"/>
            </a:xfrm>
            <a:prstGeom prst="ellipse">
              <a:avLst/>
            </a:prstGeom>
            <a:noFill/>
            <a:ln w="25400">
              <a:solidFill>
                <a:schemeClr val="hlink"/>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1037" name="Oval 24"/>
            <p:cNvSpPr>
              <a:spLocks noChangeArrowheads="1"/>
            </p:cNvSpPr>
            <p:nvPr/>
          </p:nvSpPr>
          <p:spPr bwMode="auto">
            <a:xfrm>
              <a:off x="2977" y="1298"/>
              <a:ext cx="272" cy="499"/>
            </a:xfrm>
            <a:prstGeom prst="ellipse">
              <a:avLst/>
            </a:prstGeom>
            <a:noFill/>
            <a:ln w="25400">
              <a:solidFill>
                <a:srgbClr val="FF0066"/>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grpSp>
      <p:graphicFrame>
        <p:nvGraphicFramePr>
          <p:cNvPr id="129050" name="Object 26"/>
          <p:cNvGraphicFramePr>
            <a:graphicFrameLocks noChangeAspect="1"/>
          </p:cNvGraphicFramePr>
          <p:nvPr/>
        </p:nvGraphicFramePr>
        <p:xfrm>
          <a:off x="4787900" y="2852738"/>
          <a:ext cx="1079500" cy="858837"/>
        </p:xfrm>
        <a:graphic>
          <a:graphicData uri="http://schemas.openxmlformats.org/presentationml/2006/ole">
            <mc:AlternateContent xmlns:mc="http://schemas.openxmlformats.org/markup-compatibility/2006">
              <mc:Choice xmlns:v="urn:schemas-microsoft-com:vml" Requires="v">
                <p:oleObj spid="_x0000_s1182" name="公式" r:id="rId7" imgW="558800" imgH="444500" progId="Equation.3">
                  <p:embed/>
                </p:oleObj>
              </mc:Choice>
              <mc:Fallback>
                <p:oleObj name="公式" r:id="rId7" imgW="558800" imgH="444500" progId="Equation.3">
                  <p:embed/>
                  <p:pic>
                    <p:nvPicPr>
                      <p:cNvPr id="0"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7900" y="2852738"/>
                        <a:ext cx="1079500" cy="858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129031"/>
                                        </p:tgtEl>
                                        <p:attrNameLst>
                                          <p:attrName>style.visibility</p:attrName>
                                        </p:attrNameLst>
                                      </p:cBhvr>
                                      <p:to>
                                        <p:strVal val="visible"/>
                                      </p:to>
                                    </p:set>
                                    <p:anim calcmode="discrete" valueType="clr">
                                      <p:cBhvr override="childStyle">
                                        <p:cTn id="12" dur="80"/>
                                        <p:tgtEl>
                                          <p:spTgt spid="129031"/>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129031"/>
                                        </p:tgtEl>
                                        <p:attrNameLst>
                                          <p:attrName>fillcolor</p:attrName>
                                        </p:attrNameLst>
                                      </p:cBhvr>
                                      <p:tavLst>
                                        <p:tav tm="0">
                                          <p:val>
                                            <p:clrVal>
                                              <a:schemeClr val="accent2"/>
                                            </p:clrVal>
                                          </p:val>
                                        </p:tav>
                                        <p:tav tm="50000">
                                          <p:val>
                                            <p:clrVal>
                                              <a:schemeClr val="hlink"/>
                                            </p:clrVal>
                                          </p:val>
                                        </p:tav>
                                      </p:tavLst>
                                    </p:anim>
                                    <p:set>
                                      <p:cBhvr>
                                        <p:cTn id="14" dur="80"/>
                                        <p:tgtEl>
                                          <p:spTgt spid="129031"/>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129050"/>
                                        </p:tgtEl>
                                        <p:attrNameLst>
                                          <p:attrName>style.visibility</p:attrName>
                                        </p:attrNameLst>
                                      </p:cBhvr>
                                      <p:to>
                                        <p:strVal val="visible"/>
                                      </p:to>
                                    </p:set>
                                    <p:animEffect transition="in" filter="box(in)">
                                      <p:cBhvr>
                                        <p:cTn id="19" dur="500"/>
                                        <p:tgtEl>
                                          <p:spTgt spid="129050"/>
                                        </p:tgtEl>
                                      </p:cBhvr>
                                    </p:animEffec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grpId="0" nodeType="clickEffect">
                                  <p:stCondLst>
                                    <p:cond delay="0"/>
                                  </p:stCondLst>
                                  <p:iterate type="lt">
                                    <p:tmPct val="50000"/>
                                  </p:iterate>
                                  <p:childTnLst>
                                    <p:set>
                                      <p:cBhvr>
                                        <p:cTn id="23" dur="1" fill="hold">
                                          <p:stCondLst>
                                            <p:cond delay="0"/>
                                          </p:stCondLst>
                                        </p:cTn>
                                        <p:tgtEl>
                                          <p:spTgt spid="129033"/>
                                        </p:tgtEl>
                                        <p:attrNameLst>
                                          <p:attrName>style.visibility</p:attrName>
                                        </p:attrNameLst>
                                      </p:cBhvr>
                                      <p:to>
                                        <p:strVal val="visible"/>
                                      </p:to>
                                    </p:set>
                                    <p:anim calcmode="discrete" valueType="clr">
                                      <p:cBhvr override="childStyle">
                                        <p:cTn id="24" dur="80"/>
                                        <p:tgtEl>
                                          <p:spTgt spid="129033"/>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129033"/>
                                        </p:tgtEl>
                                        <p:attrNameLst>
                                          <p:attrName>fillcolor</p:attrName>
                                        </p:attrNameLst>
                                      </p:cBhvr>
                                      <p:tavLst>
                                        <p:tav tm="0">
                                          <p:val>
                                            <p:clrVal>
                                              <a:schemeClr val="accent2"/>
                                            </p:clrVal>
                                          </p:val>
                                        </p:tav>
                                        <p:tav tm="50000">
                                          <p:val>
                                            <p:clrVal>
                                              <a:schemeClr val="hlink"/>
                                            </p:clrVal>
                                          </p:val>
                                        </p:tav>
                                      </p:tavLst>
                                    </p:anim>
                                    <p:set>
                                      <p:cBhvr>
                                        <p:cTn id="26" dur="80"/>
                                        <p:tgtEl>
                                          <p:spTgt spid="129033"/>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29034"/>
                                        </p:tgtEl>
                                        <p:attrNameLst>
                                          <p:attrName>style.visibility</p:attrName>
                                        </p:attrNameLst>
                                      </p:cBhvr>
                                      <p:to>
                                        <p:strVal val="visible"/>
                                      </p:to>
                                    </p:set>
                                    <p:animEffect transition="in" filter="blinds(horizontal)">
                                      <p:cBhvr>
                                        <p:cTn id="31" dur="500"/>
                                        <p:tgtEl>
                                          <p:spTgt spid="129034"/>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blinds(horizontal)">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31" grpId="0"/>
      <p:bldP spid="1290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Text Box 4"/>
          <p:cNvSpPr txBox="1">
            <a:spLocks noChangeArrowheads="1"/>
          </p:cNvSpPr>
          <p:nvPr/>
        </p:nvSpPr>
        <p:spPr bwMode="auto">
          <a:xfrm>
            <a:off x="455613" y="549275"/>
            <a:ext cx="8437562"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solidFill>
                  <a:srgbClr val="FF0066"/>
                </a:solidFill>
              </a:rPr>
              <a:t>2. </a:t>
            </a:r>
            <a:r>
              <a:rPr lang="zh-CN" altLang="en-US" sz="3200" b="1">
                <a:solidFill>
                  <a:srgbClr val="FF0066"/>
                </a:solidFill>
              </a:rPr>
              <a:t>掌握简谐振动的动力学特征，并能判定简谐振动，能根据已知条件列出运动的微分方程，并求出简谐振动的周期</a:t>
            </a:r>
            <a:endParaRPr lang="zh-CN" altLang="en-US" sz="3200" b="1">
              <a:solidFill>
                <a:srgbClr val="FF0066"/>
              </a:solidFill>
            </a:endParaRPr>
          </a:p>
        </p:txBody>
      </p:sp>
      <p:sp>
        <p:nvSpPr>
          <p:cNvPr id="134149" name="Text Box 5"/>
          <p:cNvSpPr txBox="1">
            <a:spLocks noChangeArrowheads="1"/>
          </p:cNvSpPr>
          <p:nvPr/>
        </p:nvSpPr>
        <p:spPr bwMode="blackWhite">
          <a:xfrm>
            <a:off x="469900" y="2420938"/>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latin typeface="Times New Roman" panose="02020603050405020304" pitchFamily="18" charset="0"/>
              </a:rPr>
              <a:t>(1). </a:t>
            </a:r>
            <a:r>
              <a:rPr kumimoji="1" lang="zh-CN" altLang="en-US" b="1">
                <a:latin typeface="Times New Roman" panose="02020603050405020304" pitchFamily="18" charset="0"/>
              </a:rPr>
              <a:t>动力学判据</a:t>
            </a:r>
            <a:r>
              <a:rPr kumimoji="1" lang="en-US" altLang="zh-CN" b="1">
                <a:latin typeface="Times New Roman" panose="02020603050405020304" pitchFamily="18" charset="0"/>
              </a:rPr>
              <a:t>:                                    </a:t>
            </a:r>
            <a:endParaRPr kumimoji="1" lang="en-US" altLang="zh-CN" b="1">
              <a:latin typeface="Times New Roman" panose="02020603050405020304" pitchFamily="18" charset="0"/>
            </a:endParaRPr>
          </a:p>
        </p:txBody>
      </p:sp>
      <p:graphicFrame>
        <p:nvGraphicFramePr>
          <p:cNvPr id="134150" name="Object 6"/>
          <p:cNvGraphicFramePr>
            <a:graphicFrameLocks noChangeAspect="1"/>
          </p:cNvGraphicFramePr>
          <p:nvPr/>
        </p:nvGraphicFramePr>
        <p:xfrm>
          <a:off x="3010693" y="2403475"/>
          <a:ext cx="2481263" cy="492125"/>
        </p:xfrm>
        <a:graphic>
          <a:graphicData uri="http://schemas.openxmlformats.org/presentationml/2006/ole">
            <mc:AlternateContent xmlns:mc="http://schemas.openxmlformats.org/markup-compatibility/2006">
              <mc:Choice xmlns:v="urn:schemas-microsoft-com:vml" Requires="v">
                <p:oleObj spid="_x0000_s2200" name="Equation" r:id="rId1" imgW="21336000" imgH="4267200" progId="Equation.DSMT4">
                  <p:embed/>
                </p:oleObj>
              </mc:Choice>
              <mc:Fallback>
                <p:oleObj name="Equation" r:id="rId1" imgW="21336000" imgH="4267200" progId="Equation.DSMT4">
                  <p:embed/>
                  <p:pic>
                    <p:nvPicPr>
                      <p:cNvPr id="0" name="Object 6"/>
                      <p:cNvPicPr>
                        <a:picLocks noChangeAspect="1" noChangeArrowheads="1"/>
                      </p:cNvPicPr>
                      <p:nvPr/>
                    </p:nvPicPr>
                    <p:blipFill>
                      <a:blip r:embed="rId2"/>
                      <a:srcRect/>
                      <a:stretch>
                        <a:fillRect/>
                      </a:stretch>
                    </p:blipFill>
                    <p:spPr bwMode="blackWhite">
                      <a:xfrm>
                        <a:off x="3010693" y="2403475"/>
                        <a:ext cx="2481263"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51" name="Text Box 7"/>
          <p:cNvSpPr txBox="1">
            <a:spLocks noChangeArrowheads="1"/>
          </p:cNvSpPr>
          <p:nvPr/>
        </p:nvSpPr>
        <p:spPr bwMode="blackWhite">
          <a:xfrm>
            <a:off x="504825" y="5113338"/>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latin typeface="Times New Roman" panose="02020603050405020304" pitchFamily="18" charset="0"/>
              </a:rPr>
              <a:t>(3). </a:t>
            </a:r>
            <a:r>
              <a:rPr kumimoji="1" lang="zh-CN" altLang="en-US" b="1">
                <a:latin typeface="Times New Roman" panose="02020603050405020304" pitchFamily="18" charset="0"/>
              </a:rPr>
              <a:t>运动学判据</a:t>
            </a:r>
            <a:r>
              <a:rPr kumimoji="1" lang="en-US" altLang="zh-CN" b="1">
                <a:latin typeface="Times New Roman" panose="02020603050405020304" pitchFamily="18" charset="0"/>
              </a:rPr>
              <a:t>:  </a:t>
            </a:r>
            <a:endParaRPr kumimoji="1" lang="en-US" altLang="zh-CN" b="1">
              <a:latin typeface="Times New Roman" panose="02020603050405020304" pitchFamily="18" charset="0"/>
            </a:endParaRPr>
          </a:p>
        </p:txBody>
      </p:sp>
      <p:graphicFrame>
        <p:nvGraphicFramePr>
          <p:cNvPr id="134152" name="Object 8"/>
          <p:cNvGraphicFramePr>
            <a:graphicFrameLocks noChangeAspect="1"/>
          </p:cNvGraphicFramePr>
          <p:nvPr/>
        </p:nvGraphicFramePr>
        <p:xfrm>
          <a:off x="3011016" y="5014913"/>
          <a:ext cx="3505200" cy="655637"/>
        </p:xfrm>
        <a:graphic>
          <a:graphicData uri="http://schemas.openxmlformats.org/presentationml/2006/ole">
            <mc:AlternateContent xmlns:mc="http://schemas.openxmlformats.org/markup-compatibility/2006">
              <mc:Choice xmlns:v="urn:schemas-microsoft-com:vml" Requires="v">
                <p:oleObj spid="_x0000_s2201" name="Equation" r:id="rId3" imgW="1594485" imgH="300990" progId="Equation.DSMT4">
                  <p:embed/>
                </p:oleObj>
              </mc:Choice>
              <mc:Fallback>
                <p:oleObj name="Equation" r:id="rId3" imgW="1594485" imgH="30099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White">
                      <a:xfrm>
                        <a:off x="3011016" y="5014913"/>
                        <a:ext cx="3505200" cy="655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54" name="Object 10"/>
          <p:cNvGraphicFramePr>
            <a:graphicFrameLocks noChangeAspect="1"/>
          </p:cNvGraphicFramePr>
          <p:nvPr/>
        </p:nvGraphicFramePr>
        <p:xfrm>
          <a:off x="6238876" y="2166937"/>
          <a:ext cx="1905000" cy="873125"/>
        </p:xfrm>
        <a:graphic>
          <a:graphicData uri="http://schemas.openxmlformats.org/presentationml/2006/ole">
            <mc:AlternateContent xmlns:mc="http://schemas.openxmlformats.org/markup-compatibility/2006">
              <mc:Choice xmlns:v="urn:schemas-microsoft-com:vml" Requires="v">
                <p:oleObj spid="_x0000_s2202" name="Equation" r:id="rId5" imgW="1070610" imgH="490855" progId="Equation.DSMT4">
                  <p:embed/>
                </p:oleObj>
              </mc:Choice>
              <mc:Fallback>
                <p:oleObj name="Equation" r:id="rId5" imgW="1070610" imgH="490855"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White">
                      <a:xfrm>
                        <a:off x="6238876" y="2166937"/>
                        <a:ext cx="1905000" cy="873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55" name="Text Box 11"/>
          <p:cNvSpPr txBox="1">
            <a:spLocks noChangeArrowheads="1"/>
          </p:cNvSpPr>
          <p:nvPr/>
        </p:nvSpPr>
        <p:spPr bwMode="blackWhite">
          <a:xfrm>
            <a:off x="468313" y="3368675"/>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latin typeface="Times New Roman" panose="02020603050405020304" pitchFamily="18" charset="0"/>
              </a:rPr>
              <a:t>(2). </a:t>
            </a:r>
            <a:r>
              <a:rPr kumimoji="1" lang="zh-CN" altLang="en-US" b="1">
                <a:latin typeface="Times New Roman" panose="02020603050405020304" pitchFamily="18" charset="0"/>
              </a:rPr>
              <a:t>能量判据：  </a:t>
            </a:r>
            <a:endParaRPr kumimoji="1" lang="zh-CN" altLang="en-US" b="1">
              <a:latin typeface="Times New Roman" panose="02020603050405020304" pitchFamily="18" charset="0"/>
            </a:endParaRPr>
          </a:p>
        </p:txBody>
      </p:sp>
      <p:sp>
        <p:nvSpPr>
          <p:cNvPr id="134156" name="Text Box 12"/>
          <p:cNvSpPr txBox="1">
            <a:spLocks noChangeArrowheads="1"/>
          </p:cNvSpPr>
          <p:nvPr/>
        </p:nvSpPr>
        <p:spPr bwMode="auto">
          <a:xfrm>
            <a:off x="2601913" y="3368675"/>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0000"/>
                </a:solidFill>
                <a:latin typeface="Times New Roman" panose="02020603050405020304" pitchFamily="18" charset="0"/>
              </a:rPr>
              <a:t>振动系统机械能守恒</a:t>
            </a:r>
            <a:endParaRPr kumimoji="1" lang="zh-CN" altLang="en-US" b="1">
              <a:solidFill>
                <a:srgbClr val="FF0000"/>
              </a:solidFill>
              <a:latin typeface="Times New Roman" panose="02020603050405020304" pitchFamily="18" charset="0"/>
            </a:endParaRPr>
          </a:p>
        </p:txBody>
      </p:sp>
      <p:graphicFrame>
        <p:nvGraphicFramePr>
          <p:cNvPr id="134157" name="Object 13"/>
          <p:cNvGraphicFramePr>
            <a:graphicFrameLocks noChangeAspect="1"/>
          </p:cNvGraphicFramePr>
          <p:nvPr/>
        </p:nvGraphicFramePr>
        <p:xfrm>
          <a:off x="2841625" y="3933825"/>
          <a:ext cx="2819400" cy="801688"/>
        </p:xfrm>
        <a:graphic>
          <a:graphicData uri="http://schemas.openxmlformats.org/presentationml/2006/ole">
            <mc:AlternateContent xmlns:mc="http://schemas.openxmlformats.org/markup-compatibility/2006">
              <mc:Choice xmlns:v="urn:schemas-microsoft-com:vml" Requires="v">
                <p:oleObj spid="_x0000_s2203" name="公式" r:id="rId7" imgW="1616710" imgH="457200" progId="Equation.3">
                  <p:embed/>
                </p:oleObj>
              </mc:Choice>
              <mc:Fallback>
                <p:oleObj name="公式" r:id="rId7" imgW="1616710" imgH="4572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1625" y="3933825"/>
                        <a:ext cx="2819400" cy="801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58" name="Rectangle 14"/>
          <p:cNvSpPr>
            <a:spLocks noChangeArrowheads="1"/>
          </p:cNvSpPr>
          <p:nvPr/>
        </p:nvSpPr>
        <p:spPr bwMode="auto">
          <a:xfrm>
            <a:off x="1000124" y="2214563"/>
            <a:ext cx="7532315" cy="854075"/>
          </a:xfrm>
          <a:prstGeom prst="rect">
            <a:avLst/>
          </a:prstGeom>
          <a:noFill/>
          <a:ln w="25400">
            <a:solidFill>
              <a:srgbClr val="0000FF"/>
            </a:solidFill>
            <a:miter lim="800000"/>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4149"/>
                                        </p:tgtEl>
                                        <p:attrNameLst>
                                          <p:attrName>style.visibility</p:attrName>
                                        </p:attrNameLst>
                                      </p:cBhvr>
                                      <p:to>
                                        <p:strVal val="visible"/>
                                      </p:to>
                                    </p:set>
                                    <p:animEffect transition="in" filter="wipe(left)">
                                      <p:cBhvr>
                                        <p:cTn id="7" dur="500"/>
                                        <p:tgtEl>
                                          <p:spTgt spid="1341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4150"/>
                                        </p:tgtEl>
                                        <p:attrNameLst>
                                          <p:attrName>style.visibility</p:attrName>
                                        </p:attrNameLst>
                                      </p:cBhvr>
                                      <p:to>
                                        <p:strVal val="visible"/>
                                      </p:to>
                                    </p:set>
                                    <p:animEffect transition="in" filter="wipe(left)">
                                      <p:cBhvr>
                                        <p:cTn id="12" dur="500"/>
                                        <p:tgtEl>
                                          <p:spTgt spid="1341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4154"/>
                                        </p:tgtEl>
                                        <p:attrNameLst>
                                          <p:attrName>style.visibility</p:attrName>
                                        </p:attrNameLst>
                                      </p:cBhvr>
                                      <p:to>
                                        <p:strVal val="visible"/>
                                      </p:to>
                                    </p:set>
                                    <p:animEffect transition="in" filter="wipe(left)">
                                      <p:cBhvr>
                                        <p:cTn id="17" dur="500"/>
                                        <p:tgtEl>
                                          <p:spTgt spid="1341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4155"/>
                                        </p:tgtEl>
                                        <p:attrNameLst>
                                          <p:attrName>style.visibility</p:attrName>
                                        </p:attrNameLst>
                                      </p:cBhvr>
                                      <p:to>
                                        <p:strVal val="visible"/>
                                      </p:to>
                                    </p:set>
                                    <p:animEffect transition="in" filter="wipe(left)">
                                      <p:cBhvr>
                                        <p:cTn id="22" dur="500"/>
                                        <p:tgtEl>
                                          <p:spTgt spid="13415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4156">
                                            <p:txEl>
                                              <p:pRg st="0" end="0"/>
                                            </p:txEl>
                                          </p:spTgt>
                                        </p:tgtEl>
                                        <p:attrNameLst>
                                          <p:attrName>style.visibility</p:attrName>
                                        </p:attrNameLst>
                                      </p:cBhvr>
                                      <p:to>
                                        <p:strVal val="visible"/>
                                      </p:to>
                                    </p:set>
                                    <p:animEffect transition="in" filter="wipe(left)">
                                      <p:cBhvr>
                                        <p:cTn id="27" dur="500"/>
                                        <p:tgtEl>
                                          <p:spTgt spid="13415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4157"/>
                                        </p:tgtEl>
                                        <p:attrNameLst>
                                          <p:attrName>style.visibility</p:attrName>
                                        </p:attrNameLst>
                                      </p:cBhvr>
                                      <p:to>
                                        <p:strVal val="visible"/>
                                      </p:to>
                                    </p:set>
                                    <p:animEffect transition="in" filter="wipe(left)">
                                      <p:cBhvr>
                                        <p:cTn id="32" dur="500"/>
                                        <p:tgtEl>
                                          <p:spTgt spid="13415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4151"/>
                                        </p:tgtEl>
                                        <p:attrNameLst>
                                          <p:attrName>style.visibility</p:attrName>
                                        </p:attrNameLst>
                                      </p:cBhvr>
                                      <p:to>
                                        <p:strVal val="visible"/>
                                      </p:to>
                                    </p:set>
                                    <p:animEffect transition="in" filter="wipe(left)">
                                      <p:cBhvr>
                                        <p:cTn id="37" dur="500"/>
                                        <p:tgtEl>
                                          <p:spTgt spid="13415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4152"/>
                                        </p:tgtEl>
                                        <p:attrNameLst>
                                          <p:attrName>style.visibility</p:attrName>
                                        </p:attrNameLst>
                                      </p:cBhvr>
                                      <p:to>
                                        <p:strVal val="visible"/>
                                      </p:to>
                                    </p:set>
                                    <p:animEffect transition="in" filter="wipe(left)">
                                      <p:cBhvr>
                                        <p:cTn id="42" dur="500"/>
                                        <p:tgtEl>
                                          <p:spTgt spid="13415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4158"/>
                                        </p:tgtEl>
                                        <p:attrNameLst>
                                          <p:attrName>style.visibility</p:attrName>
                                        </p:attrNameLst>
                                      </p:cBhvr>
                                      <p:to>
                                        <p:strVal val="visible"/>
                                      </p:to>
                                    </p:set>
                                    <p:animEffect transition="in" filter="blinds(horizontal)">
                                      <p:cBhvr>
                                        <p:cTn id="47" dur="500"/>
                                        <p:tgtEl>
                                          <p:spTgt spid="134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9" grpId="0"/>
      <p:bldP spid="134151" grpId="0"/>
      <p:bldP spid="134155" grpId="0"/>
      <p:bldP spid="134156" grpId="0" autoUpdateAnimBg="0" build="p"/>
      <p:bldP spid="13415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Rectangle 4"/>
          <p:cNvSpPr>
            <a:spLocks noChangeArrowheads="1"/>
          </p:cNvSpPr>
          <p:nvPr/>
        </p:nvSpPr>
        <p:spPr bwMode="auto">
          <a:xfrm>
            <a:off x="457200" y="5492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3200" b="1">
                <a:solidFill>
                  <a:srgbClr val="FF0066"/>
                </a:solidFill>
              </a:rPr>
              <a:t>3. </a:t>
            </a:r>
            <a:r>
              <a:rPr kumimoji="1" lang="zh-CN" altLang="en-US" sz="3200" b="1">
                <a:solidFill>
                  <a:srgbClr val="FF0066"/>
                </a:solidFill>
              </a:rPr>
              <a:t>掌握简谐振动的能量特征</a:t>
            </a:r>
            <a:endParaRPr lang="zh-CN" altLang="en-US" sz="3200" b="1">
              <a:solidFill>
                <a:srgbClr val="FF0066"/>
              </a:solidFill>
            </a:endParaRPr>
          </a:p>
          <a:p>
            <a:pPr eaLnBrk="1" hangingPunct="1">
              <a:spcBef>
                <a:spcPct val="20000"/>
              </a:spcBef>
            </a:pPr>
            <a:endParaRPr lang="en-US" altLang="zh-CN" b="1">
              <a:solidFill>
                <a:srgbClr val="FF0066"/>
              </a:solidFill>
            </a:endParaRPr>
          </a:p>
        </p:txBody>
      </p:sp>
      <p:sp>
        <p:nvSpPr>
          <p:cNvPr id="135178" name="Text Box 10"/>
          <p:cNvSpPr txBox="1">
            <a:spLocks noChangeArrowheads="1"/>
          </p:cNvSpPr>
          <p:nvPr/>
        </p:nvSpPr>
        <p:spPr bwMode="blackWhite">
          <a:xfrm>
            <a:off x="971550" y="1700213"/>
            <a:ext cx="2667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3200" b="1">
                <a:solidFill>
                  <a:srgbClr val="FF0000"/>
                </a:solidFill>
                <a:latin typeface="Times New Roman" panose="02020603050405020304" pitchFamily="18" charset="0"/>
              </a:rPr>
              <a:t>总的机械能：  </a:t>
            </a:r>
            <a:endParaRPr kumimoji="1" lang="zh-CN" altLang="en-US" sz="3200" b="1">
              <a:solidFill>
                <a:srgbClr val="FF0000"/>
              </a:solidFill>
              <a:latin typeface="Times New Roman" panose="02020603050405020304" pitchFamily="18" charset="0"/>
            </a:endParaRPr>
          </a:p>
        </p:txBody>
      </p:sp>
      <p:graphicFrame>
        <p:nvGraphicFramePr>
          <p:cNvPr id="135179" name="Object 11"/>
          <p:cNvGraphicFramePr>
            <a:graphicFrameLocks noChangeAspect="1"/>
          </p:cNvGraphicFramePr>
          <p:nvPr/>
        </p:nvGraphicFramePr>
        <p:xfrm>
          <a:off x="1763713" y="2781300"/>
          <a:ext cx="5156200" cy="1023938"/>
        </p:xfrm>
        <a:graphic>
          <a:graphicData uri="http://schemas.openxmlformats.org/presentationml/2006/ole">
            <mc:AlternateContent xmlns:mc="http://schemas.openxmlformats.org/markup-compatibility/2006">
              <mc:Choice xmlns:v="urn:schemas-microsoft-com:vml" Requires="v">
                <p:oleObj spid="_x0000_s3181" name="Equation" r:id="rId1" imgW="2308225" imgH="457200" progId="Equation.DSMT4">
                  <p:embed/>
                </p:oleObj>
              </mc:Choice>
              <mc:Fallback>
                <p:oleObj name="Equation" r:id="rId1" imgW="2308225" imgH="457200" progId="Equation.DSMT4">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763713" y="2781300"/>
                        <a:ext cx="5156200" cy="1023938"/>
                      </a:xfrm>
                      <a:prstGeom prst="rect">
                        <a:avLst/>
                      </a:prstGeom>
                      <a:noFill/>
                      <a:ln w="2857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7" name="Object 5"/>
          <p:cNvGraphicFramePr>
            <a:graphicFrameLocks noChangeAspect="1"/>
          </p:cNvGraphicFramePr>
          <p:nvPr/>
        </p:nvGraphicFramePr>
        <p:xfrm>
          <a:off x="2411413" y="5300663"/>
          <a:ext cx="4300537" cy="873125"/>
        </p:xfrm>
        <a:graphic>
          <a:graphicData uri="http://schemas.openxmlformats.org/presentationml/2006/ole">
            <mc:AlternateContent xmlns:mc="http://schemas.openxmlformats.org/markup-compatibility/2006">
              <mc:Choice xmlns:v="urn:schemas-microsoft-com:vml" Requires="v">
                <p:oleObj spid="_x0000_s3182" name="Equation" r:id="rId3" imgW="1955800" imgH="393700" progId="Equation.DSMT4">
                  <p:embed/>
                </p:oleObj>
              </mc:Choice>
              <mc:Fallback>
                <p:oleObj name="Equation" r:id="rId3" imgW="1955800" imgH="3937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5300663"/>
                        <a:ext cx="4300537" cy="873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8" name="Object 6"/>
          <p:cNvGraphicFramePr>
            <a:graphicFrameLocks noChangeAspect="1"/>
          </p:cNvGraphicFramePr>
          <p:nvPr/>
        </p:nvGraphicFramePr>
        <p:xfrm>
          <a:off x="2411413" y="4221163"/>
          <a:ext cx="4295775" cy="858837"/>
        </p:xfrm>
        <a:graphic>
          <a:graphicData uri="http://schemas.openxmlformats.org/presentationml/2006/ole">
            <mc:AlternateContent xmlns:mc="http://schemas.openxmlformats.org/markup-compatibility/2006">
              <mc:Choice xmlns:v="urn:schemas-microsoft-com:vml" Requires="v">
                <p:oleObj spid="_x0000_s3183" name="Equation" r:id="rId5" imgW="1981200" imgH="393700" progId="Equation.DSMT4">
                  <p:embed/>
                </p:oleObj>
              </mc:Choice>
              <mc:Fallback>
                <p:oleObj name="Equation" r:id="rId5" imgW="1981200" imgH="3937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4221163"/>
                        <a:ext cx="4295775" cy="858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178"/>
                                        </p:tgtEl>
                                        <p:attrNameLst>
                                          <p:attrName>style.visibility</p:attrName>
                                        </p:attrNameLst>
                                      </p:cBhvr>
                                      <p:to>
                                        <p:strVal val="visible"/>
                                      </p:to>
                                    </p:set>
                                    <p:animEffect transition="in" filter="wipe(left)">
                                      <p:cBhvr>
                                        <p:cTn id="7" dur="500"/>
                                        <p:tgtEl>
                                          <p:spTgt spid="1351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5179"/>
                                        </p:tgtEl>
                                        <p:attrNameLst>
                                          <p:attrName>style.visibility</p:attrName>
                                        </p:attrNameLst>
                                      </p:cBhvr>
                                      <p:to>
                                        <p:strVal val="visible"/>
                                      </p:to>
                                    </p:set>
                                    <p:animEffect transition="in" filter="wipe(left)">
                                      <p:cBhvr>
                                        <p:cTn id="12" dur="500"/>
                                        <p:tgtEl>
                                          <p:spTgt spid="13517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 calcmode="lin" valueType="num">
                                      <p:cBhvr additive="base">
                                        <p:cTn id="17" dur="500" fill="hold"/>
                                        <p:tgtEl>
                                          <p:spTgt spid="3078"/>
                                        </p:tgtEl>
                                        <p:attrNameLst>
                                          <p:attrName>ppt_x</p:attrName>
                                        </p:attrNameLst>
                                      </p:cBhvr>
                                      <p:tavLst>
                                        <p:tav tm="0">
                                          <p:val>
                                            <p:strVal val="#ppt_x"/>
                                          </p:val>
                                        </p:tav>
                                        <p:tav tm="100000">
                                          <p:val>
                                            <p:strVal val="#ppt_x"/>
                                          </p:val>
                                        </p:tav>
                                      </p:tavLst>
                                    </p:anim>
                                    <p:anim calcmode="lin" valueType="num">
                                      <p:cBhvr additive="base">
                                        <p:cTn id="18" dur="500" fill="hold"/>
                                        <p:tgtEl>
                                          <p:spTgt spid="307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077"/>
                                        </p:tgtEl>
                                        <p:attrNameLst>
                                          <p:attrName>style.visibility</p:attrName>
                                        </p:attrNameLst>
                                      </p:cBhvr>
                                      <p:to>
                                        <p:strVal val="visible"/>
                                      </p:to>
                                    </p:set>
                                    <p:anim calcmode="lin" valueType="num">
                                      <p:cBhvr additive="base">
                                        <p:cTn id="23" dur="500" fill="hold"/>
                                        <p:tgtEl>
                                          <p:spTgt spid="3077"/>
                                        </p:tgtEl>
                                        <p:attrNameLst>
                                          <p:attrName>ppt_x</p:attrName>
                                        </p:attrNameLst>
                                      </p:cBhvr>
                                      <p:tavLst>
                                        <p:tav tm="0">
                                          <p:val>
                                            <p:strVal val="#ppt_x"/>
                                          </p:val>
                                        </p:tav>
                                        <p:tav tm="100000">
                                          <p:val>
                                            <p:strVal val="#ppt_x"/>
                                          </p:val>
                                        </p:tav>
                                      </p:tavLst>
                                    </p:anim>
                                    <p:anim calcmode="lin" valueType="num">
                                      <p:cBhvr additive="base">
                                        <p:cTn id="24" dur="500" fill="hold"/>
                                        <p:tgtEl>
                                          <p:spTgt spid="30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6" name="Rectangle 4"/>
          <p:cNvSpPr>
            <a:spLocks noChangeArrowheads="1"/>
          </p:cNvSpPr>
          <p:nvPr/>
        </p:nvSpPr>
        <p:spPr bwMode="auto">
          <a:xfrm>
            <a:off x="468313" y="18891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3200" b="1">
                <a:solidFill>
                  <a:srgbClr val="FF0066"/>
                </a:solidFill>
              </a:rPr>
              <a:t>4. </a:t>
            </a:r>
            <a:r>
              <a:rPr kumimoji="1" lang="zh-CN" altLang="en-US" sz="3200" b="1">
                <a:solidFill>
                  <a:srgbClr val="FF0066"/>
                </a:solidFill>
              </a:rPr>
              <a:t>掌握简谐振动的合成规律</a:t>
            </a:r>
            <a:r>
              <a:rPr kumimoji="1" lang="en-US" altLang="zh-CN" sz="3200" b="1">
                <a:solidFill>
                  <a:srgbClr val="FF0066"/>
                </a:solidFill>
              </a:rPr>
              <a:t>:</a:t>
            </a:r>
            <a:endParaRPr kumimoji="1" lang="en-US" altLang="zh-CN" sz="3200" b="1">
              <a:solidFill>
                <a:srgbClr val="FF0066"/>
              </a:solidFill>
            </a:endParaRPr>
          </a:p>
          <a:p>
            <a:pPr eaLnBrk="1" hangingPunct="1">
              <a:spcBef>
                <a:spcPct val="20000"/>
              </a:spcBef>
            </a:pPr>
            <a:r>
              <a:rPr lang="en-US" altLang="zh-CN" sz="3200" b="1">
                <a:solidFill>
                  <a:schemeClr val="hlink"/>
                </a:solidFill>
              </a:rPr>
              <a:t>1)</a:t>
            </a:r>
            <a:r>
              <a:rPr lang="zh-CN" altLang="en-US" sz="3200" b="1">
                <a:solidFill>
                  <a:schemeClr val="hlink"/>
                </a:solidFill>
              </a:rPr>
              <a:t>同方向、同频率简谐振动的合成</a:t>
            </a:r>
            <a:endParaRPr lang="zh-CN" altLang="en-US" sz="3200" b="1">
              <a:solidFill>
                <a:srgbClr val="FF0066"/>
              </a:solidFill>
            </a:endParaRPr>
          </a:p>
          <a:p>
            <a:pPr eaLnBrk="1" hangingPunct="1">
              <a:spcBef>
                <a:spcPct val="20000"/>
              </a:spcBef>
            </a:pPr>
            <a:endParaRPr lang="en-US" altLang="zh-CN" b="1">
              <a:solidFill>
                <a:srgbClr val="FF0066"/>
              </a:solidFill>
            </a:endParaRPr>
          </a:p>
        </p:txBody>
      </p:sp>
      <p:graphicFrame>
        <p:nvGraphicFramePr>
          <p:cNvPr id="136197" name="Object 5"/>
          <p:cNvGraphicFramePr>
            <a:graphicFrameLocks noChangeAspect="1"/>
          </p:cNvGraphicFramePr>
          <p:nvPr/>
        </p:nvGraphicFramePr>
        <p:xfrm>
          <a:off x="684213" y="1574800"/>
          <a:ext cx="5040312" cy="630238"/>
        </p:xfrm>
        <a:graphic>
          <a:graphicData uri="http://schemas.openxmlformats.org/presentationml/2006/ole">
            <mc:AlternateContent xmlns:mc="http://schemas.openxmlformats.org/markup-compatibility/2006">
              <mc:Choice xmlns:v="urn:schemas-microsoft-com:vml" Requires="v">
                <p:oleObj spid="_x0000_s4751" name="公式" r:id="rId1" imgW="2018665" imgH="256540" progId="Equation.3">
                  <p:embed/>
                </p:oleObj>
              </mc:Choice>
              <mc:Fallback>
                <p:oleObj name="公式" r:id="rId1" imgW="2018665" imgH="25654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574800"/>
                        <a:ext cx="5040312" cy="630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198" name="Object 6"/>
          <p:cNvGraphicFramePr>
            <a:graphicFrameLocks noChangeAspect="1"/>
          </p:cNvGraphicFramePr>
          <p:nvPr/>
        </p:nvGraphicFramePr>
        <p:xfrm>
          <a:off x="539750" y="2503488"/>
          <a:ext cx="5133975" cy="638175"/>
        </p:xfrm>
        <a:graphic>
          <a:graphicData uri="http://schemas.openxmlformats.org/presentationml/2006/ole">
            <mc:AlternateContent xmlns:mc="http://schemas.openxmlformats.org/markup-compatibility/2006">
              <mc:Choice xmlns:v="urn:schemas-microsoft-com:vml" Requires="v">
                <p:oleObj spid="_x0000_s4752" name="公式" r:id="rId3" imgW="2620645" imgH="323215" progId="Equation.3">
                  <p:embed/>
                </p:oleObj>
              </mc:Choice>
              <mc:Fallback>
                <p:oleObj name="公式" r:id="rId3" imgW="2620645" imgH="323215"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503488"/>
                        <a:ext cx="5133975"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199" name="Object 7"/>
          <p:cNvGraphicFramePr>
            <a:graphicFrameLocks noChangeAspect="1"/>
          </p:cNvGraphicFramePr>
          <p:nvPr/>
        </p:nvGraphicFramePr>
        <p:xfrm>
          <a:off x="755650" y="3371850"/>
          <a:ext cx="4079875" cy="993775"/>
        </p:xfrm>
        <a:graphic>
          <a:graphicData uri="http://schemas.openxmlformats.org/presentationml/2006/ole">
            <mc:AlternateContent xmlns:mc="http://schemas.openxmlformats.org/markup-compatibility/2006">
              <mc:Choice xmlns:v="urn:schemas-microsoft-com:vml" Requires="v">
                <p:oleObj spid="_x0000_s4753" name="公式" r:id="rId5" imgW="2063115" imgH="501650" progId="Equation.3">
                  <p:embed/>
                </p:oleObj>
              </mc:Choice>
              <mc:Fallback>
                <p:oleObj name="公式" r:id="rId5" imgW="2063115" imgH="50165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3371850"/>
                        <a:ext cx="4079875"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8"/>
          <p:cNvGrpSpPr/>
          <p:nvPr/>
        </p:nvGrpSpPr>
        <p:grpSpPr bwMode="auto">
          <a:xfrm>
            <a:off x="900113" y="4783138"/>
            <a:ext cx="7724775" cy="1684337"/>
            <a:chOff x="567" y="2745"/>
            <a:chExt cx="4866" cy="1061"/>
          </a:xfrm>
        </p:grpSpPr>
        <p:graphicFrame>
          <p:nvGraphicFramePr>
            <p:cNvPr id="4110" name="Object 9"/>
            <p:cNvGraphicFramePr>
              <a:graphicFrameLocks noChangeAspect="1"/>
            </p:cNvGraphicFramePr>
            <p:nvPr/>
          </p:nvGraphicFramePr>
          <p:xfrm>
            <a:off x="712" y="2759"/>
            <a:ext cx="1614" cy="320"/>
          </p:xfrm>
          <a:graphic>
            <a:graphicData uri="http://schemas.openxmlformats.org/presentationml/2006/ole">
              <mc:AlternateContent xmlns:mc="http://schemas.openxmlformats.org/markup-compatibility/2006">
                <mc:Choice xmlns:v="urn:schemas-microsoft-com:vml" Requires="v">
                  <p:oleObj spid="_x0000_s4754" name="公式" r:id="rId7" imgW="1282700" imgH="256540" progId="Equation.3">
                    <p:embed/>
                  </p:oleObj>
                </mc:Choice>
                <mc:Fallback>
                  <p:oleObj name="公式" r:id="rId7" imgW="1282700" imgH="25654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2" y="2759"/>
                          <a:ext cx="161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1" name="Object 10"/>
            <p:cNvGraphicFramePr>
              <a:graphicFrameLocks noChangeAspect="1"/>
            </p:cNvGraphicFramePr>
            <p:nvPr/>
          </p:nvGraphicFramePr>
          <p:xfrm>
            <a:off x="703" y="3158"/>
            <a:ext cx="1776" cy="270"/>
          </p:xfrm>
          <a:graphic>
            <a:graphicData uri="http://schemas.openxmlformats.org/presentationml/2006/ole">
              <mc:AlternateContent xmlns:mc="http://schemas.openxmlformats.org/markup-compatibility/2006">
                <mc:Choice xmlns:v="urn:schemas-microsoft-com:vml" Requires="v">
                  <p:oleObj spid="_x0000_s4755" name="公式" r:id="rId9" imgW="1661795" imgH="256540" progId="Equation.3">
                    <p:embed/>
                  </p:oleObj>
                </mc:Choice>
                <mc:Fallback>
                  <p:oleObj name="公式" r:id="rId9" imgW="1661795" imgH="25654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3" y="3158"/>
                          <a:ext cx="1776" cy="270"/>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2" name="Object 11"/>
            <p:cNvGraphicFramePr>
              <a:graphicFrameLocks noChangeAspect="1"/>
            </p:cNvGraphicFramePr>
            <p:nvPr/>
          </p:nvGraphicFramePr>
          <p:xfrm>
            <a:off x="2713" y="3467"/>
            <a:ext cx="1807" cy="339"/>
          </p:xfrm>
          <a:graphic>
            <a:graphicData uri="http://schemas.openxmlformats.org/presentationml/2006/ole">
              <mc:AlternateContent xmlns:mc="http://schemas.openxmlformats.org/markup-compatibility/2006">
                <mc:Choice xmlns:v="urn:schemas-microsoft-com:vml" Requires="v">
                  <p:oleObj spid="_x0000_s4756" name="Equation" r:id="rId11" imgW="1572260" imgH="300990" progId="Equation.3">
                    <p:embed/>
                  </p:oleObj>
                </mc:Choice>
                <mc:Fallback>
                  <p:oleObj name="Equation" r:id="rId11" imgW="1572260" imgH="30099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13" y="3467"/>
                          <a:ext cx="1807"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3" name="Object 12"/>
            <p:cNvGraphicFramePr>
              <a:graphicFrameLocks noChangeAspect="1"/>
            </p:cNvGraphicFramePr>
            <p:nvPr/>
          </p:nvGraphicFramePr>
          <p:xfrm>
            <a:off x="2744" y="2745"/>
            <a:ext cx="1134" cy="315"/>
          </p:xfrm>
          <a:graphic>
            <a:graphicData uri="http://schemas.openxmlformats.org/presentationml/2006/ole">
              <mc:AlternateContent xmlns:mc="http://schemas.openxmlformats.org/markup-compatibility/2006">
                <mc:Choice xmlns:v="urn:schemas-microsoft-com:vml" Requires="v">
                  <p:oleObj spid="_x0000_s4757" name="公式" r:id="rId13" imgW="902970" imgH="256540" progId="Equation.3">
                    <p:embed/>
                  </p:oleObj>
                </mc:Choice>
                <mc:Fallback>
                  <p:oleObj name="公式" r:id="rId13" imgW="902970" imgH="25654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44" y="2745"/>
                          <a:ext cx="113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4" name="Object 13"/>
            <p:cNvGraphicFramePr>
              <a:graphicFrameLocks noChangeAspect="1"/>
            </p:cNvGraphicFramePr>
            <p:nvPr/>
          </p:nvGraphicFramePr>
          <p:xfrm>
            <a:off x="2699" y="3113"/>
            <a:ext cx="1483" cy="314"/>
          </p:xfrm>
          <a:graphic>
            <a:graphicData uri="http://schemas.openxmlformats.org/presentationml/2006/ole">
              <mc:AlternateContent xmlns:mc="http://schemas.openxmlformats.org/markup-compatibility/2006">
                <mc:Choice xmlns:v="urn:schemas-microsoft-com:vml" Requires="v">
                  <p:oleObj spid="_x0000_s4758" name="公式" r:id="rId15" imgW="970280" imgH="278765" progId="Equation.3">
                    <p:embed/>
                  </p:oleObj>
                </mc:Choice>
                <mc:Fallback>
                  <p:oleObj name="公式" r:id="rId15" imgW="970280" imgH="278765"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99" y="3113"/>
                          <a:ext cx="1483" cy="314"/>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5" name="Object 14"/>
            <p:cNvGraphicFramePr>
              <a:graphicFrameLocks noChangeAspect="1"/>
            </p:cNvGraphicFramePr>
            <p:nvPr/>
          </p:nvGraphicFramePr>
          <p:xfrm>
            <a:off x="720" y="3475"/>
            <a:ext cx="1570" cy="310"/>
          </p:xfrm>
          <a:graphic>
            <a:graphicData uri="http://schemas.openxmlformats.org/presentationml/2006/ole">
              <mc:AlternateContent xmlns:mc="http://schemas.openxmlformats.org/markup-compatibility/2006">
                <mc:Choice xmlns:v="urn:schemas-microsoft-com:vml" Requires="v">
                  <p:oleObj spid="_x0000_s4759" name="公式" r:id="rId17" imgW="1282700" imgH="256540" progId="Equation.3">
                    <p:embed/>
                  </p:oleObj>
                </mc:Choice>
                <mc:Fallback>
                  <p:oleObj name="公式" r:id="rId17" imgW="1282700" imgH="256540" progId="Equation.3">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0" y="3475"/>
                          <a:ext cx="1570" cy="310"/>
                        </a:xfrm>
                        <a:prstGeom prst="rect">
                          <a:avLst/>
                        </a:prstGeom>
                        <a:noFill/>
                        <a:ln>
                          <a:noFill/>
                        </a:ln>
                        <a:effectLst/>
                        <a:extLst>
                          <a:ext uri="{909E8E84-426E-40DD-AFC4-6F175D3DCCD1}">
                            <a14:hiddenFill xmlns:a14="http://schemas.microsoft.com/office/drawing/2010/main">
                              <a:solidFill>
                                <a:srgbClr val="4D4D4D"/>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36" name="Text Box 15"/>
            <p:cNvSpPr txBox="1">
              <a:spLocks noChangeArrowheads="1"/>
            </p:cNvSpPr>
            <p:nvPr/>
          </p:nvSpPr>
          <p:spPr bwMode="auto">
            <a:xfrm>
              <a:off x="4377" y="2750"/>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latin typeface="黑体" panose="02010609060101010101" pitchFamily="49" charset="-122"/>
                  <a:ea typeface="黑体" panose="02010609060101010101" pitchFamily="49" charset="-122"/>
                </a:rPr>
                <a:t>( </a:t>
              </a:r>
              <a:r>
                <a:rPr kumimoji="1" lang="zh-CN" altLang="en-US" b="1">
                  <a:latin typeface="黑体" panose="02010609060101010101" pitchFamily="49" charset="-122"/>
                  <a:ea typeface="黑体" panose="02010609060101010101" pitchFamily="49" charset="-122"/>
                </a:rPr>
                <a:t>同相 </a:t>
              </a:r>
              <a:r>
                <a:rPr kumimoji="1" lang="en-US" altLang="zh-CN" b="1">
                  <a:latin typeface="黑体" panose="02010609060101010101" pitchFamily="49" charset="-122"/>
                  <a:ea typeface="黑体" panose="02010609060101010101" pitchFamily="49" charset="-122"/>
                </a:rPr>
                <a:t>)</a:t>
              </a:r>
              <a:endParaRPr kumimoji="1" lang="en-US" altLang="zh-CN" b="1">
                <a:latin typeface="黑体" panose="02010609060101010101" pitchFamily="49" charset="-122"/>
                <a:ea typeface="黑体" panose="02010609060101010101" pitchFamily="49" charset="-122"/>
              </a:endParaRPr>
            </a:p>
          </p:txBody>
        </p:sp>
        <p:sp>
          <p:nvSpPr>
            <p:cNvPr id="4137" name="Text Box 16"/>
            <p:cNvSpPr txBox="1">
              <a:spLocks noChangeArrowheads="1"/>
            </p:cNvSpPr>
            <p:nvPr/>
          </p:nvSpPr>
          <p:spPr bwMode="auto">
            <a:xfrm>
              <a:off x="4377" y="3113"/>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latin typeface="黑体" panose="02010609060101010101" pitchFamily="49" charset="-122"/>
                  <a:ea typeface="黑体" panose="02010609060101010101" pitchFamily="49" charset="-122"/>
                </a:rPr>
                <a:t>( </a:t>
              </a:r>
              <a:r>
                <a:rPr kumimoji="1" lang="zh-CN" altLang="en-US" b="1">
                  <a:latin typeface="黑体" panose="02010609060101010101" pitchFamily="49" charset="-122"/>
                  <a:ea typeface="黑体" panose="02010609060101010101" pitchFamily="49" charset="-122"/>
                </a:rPr>
                <a:t>反相 </a:t>
              </a:r>
              <a:r>
                <a:rPr kumimoji="1" lang="en-US" altLang="zh-CN" b="1">
                  <a:latin typeface="黑体" panose="02010609060101010101" pitchFamily="49" charset="-122"/>
                  <a:ea typeface="黑体" panose="02010609060101010101" pitchFamily="49" charset="-122"/>
                </a:rPr>
                <a:t>)</a:t>
              </a:r>
              <a:endParaRPr kumimoji="1" lang="en-US" altLang="zh-CN" b="1">
                <a:latin typeface="黑体" panose="02010609060101010101" pitchFamily="49" charset="-122"/>
                <a:ea typeface="黑体" panose="02010609060101010101" pitchFamily="49" charset="-122"/>
              </a:endParaRPr>
            </a:p>
          </p:txBody>
        </p:sp>
        <p:sp>
          <p:nvSpPr>
            <p:cNvPr id="4138" name="AutoShape 17"/>
            <p:cNvSpPr/>
            <p:nvPr/>
          </p:nvSpPr>
          <p:spPr bwMode="auto">
            <a:xfrm>
              <a:off x="567" y="2886"/>
              <a:ext cx="136" cy="816"/>
            </a:xfrm>
            <a:prstGeom prst="leftBrace">
              <a:avLst>
                <a:gd name="adj1" fmla="val 50000"/>
                <a:gd name="adj2" fmla="val 50000"/>
              </a:avLst>
            </a:prstGeom>
            <a:noFill/>
            <a:ln w="25400">
              <a:solidFill>
                <a:schemeClr val="tx1"/>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grpSp>
      <p:grpSp>
        <p:nvGrpSpPr>
          <p:cNvPr id="3" name="组合 15"/>
          <p:cNvGrpSpPr/>
          <p:nvPr/>
        </p:nvGrpSpPr>
        <p:grpSpPr bwMode="auto">
          <a:xfrm>
            <a:off x="5486400" y="1295400"/>
            <a:ext cx="3429000" cy="2735263"/>
            <a:chOff x="5486400" y="1295400"/>
            <a:chExt cx="3429000" cy="2735263"/>
          </a:xfrm>
        </p:grpSpPr>
        <p:sp>
          <p:nvSpPr>
            <p:cNvPr id="4119" name="Line 4"/>
            <p:cNvSpPr>
              <a:spLocks noChangeShapeType="1"/>
            </p:cNvSpPr>
            <p:nvPr/>
          </p:nvSpPr>
          <p:spPr bwMode="auto">
            <a:xfrm>
              <a:off x="5486400" y="3581400"/>
              <a:ext cx="33528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0" name="Line 5"/>
            <p:cNvSpPr>
              <a:spLocks noChangeShapeType="1"/>
            </p:cNvSpPr>
            <p:nvPr/>
          </p:nvSpPr>
          <p:spPr bwMode="auto">
            <a:xfrm flipV="1">
              <a:off x="6781800" y="2971800"/>
              <a:ext cx="1066800" cy="609600"/>
            </a:xfrm>
            <a:prstGeom prst="line">
              <a:avLst/>
            </a:prstGeom>
            <a:noFill/>
            <a:ln w="28575">
              <a:solidFill>
                <a:schemeClr val="tx1"/>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1" name="Line 6"/>
            <p:cNvSpPr>
              <a:spLocks noChangeShapeType="1"/>
            </p:cNvSpPr>
            <p:nvPr/>
          </p:nvSpPr>
          <p:spPr bwMode="auto">
            <a:xfrm flipV="1">
              <a:off x="6781800" y="1828800"/>
              <a:ext cx="1447800" cy="1752600"/>
            </a:xfrm>
            <a:prstGeom prst="line">
              <a:avLst/>
            </a:prstGeom>
            <a:noFill/>
            <a:ln w="38100">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2" name="Line 7"/>
            <p:cNvSpPr>
              <a:spLocks noChangeShapeType="1"/>
            </p:cNvSpPr>
            <p:nvPr/>
          </p:nvSpPr>
          <p:spPr bwMode="auto">
            <a:xfrm flipV="1">
              <a:off x="6781800" y="2438400"/>
              <a:ext cx="457200" cy="1143000"/>
            </a:xfrm>
            <a:prstGeom prst="line">
              <a:avLst/>
            </a:prstGeom>
            <a:noFill/>
            <a:ln w="28575">
              <a:solidFill>
                <a:schemeClr val="tx1"/>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3" name="Line 8"/>
            <p:cNvSpPr>
              <a:spLocks noChangeShapeType="1"/>
            </p:cNvSpPr>
            <p:nvPr/>
          </p:nvSpPr>
          <p:spPr bwMode="auto">
            <a:xfrm flipV="1">
              <a:off x="7239000" y="1828800"/>
              <a:ext cx="990600" cy="609600"/>
            </a:xfrm>
            <a:prstGeom prst="line">
              <a:avLst/>
            </a:prstGeom>
            <a:noFill/>
            <a:ln w="28575"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4" name="Line 9"/>
            <p:cNvSpPr>
              <a:spLocks noChangeShapeType="1"/>
            </p:cNvSpPr>
            <p:nvPr/>
          </p:nvSpPr>
          <p:spPr bwMode="auto">
            <a:xfrm flipV="1">
              <a:off x="7848600" y="1828800"/>
              <a:ext cx="381000" cy="1143000"/>
            </a:xfrm>
            <a:prstGeom prst="line">
              <a:avLst/>
            </a:prstGeom>
            <a:noFill/>
            <a:ln w="28575"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5" name="Text Box 10"/>
            <p:cNvSpPr txBox="1">
              <a:spLocks noChangeArrowheads="1"/>
            </p:cNvSpPr>
            <p:nvPr/>
          </p:nvSpPr>
          <p:spPr bwMode="auto">
            <a:xfrm>
              <a:off x="8305800" y="3581400"/>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sz="1600"/>
            </a:p>
          </p:txBody>
        </p:sp>
        <p:sp>
          <p:nvSpPr>
            <p:cNvPr id="4126" name="Text Box 11"/>
            <p:cNvSpPr txBox="1">
              <a:spLocks noChangeArrowheads="1"/>
            </p:cNvSpPr>
            <p:nvPr/>
          </p:nvSpPr>
          <p:spPr bwMode="auto">
            <a:xfrm>
              <a:off x="8458200" y="2514600"/>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sz="1600" b="1"/>
            </a:p>
          </p:txBody>
        </p:sp>
        <p:graphicFrame>
          <p:nvGraphicFramePr>
            <p:cNvPr id="4101" name="Object 16"/>
            <p:cNvGraphicFramePr>
              <a:graphicFrameLocks noChangeAspect="1"/>
            </p:cNvGraphicFramePr>
            <p:nvPr/>
          </p:nvGraphicFramePr>
          <p:xfrm>
            <a:off x="7837488" y="2743200"/>
            <a:ext cx="392112" cy="533400"/>
          </p:xfrm>
          <a:graphic>
            <a:graphicData uri="http://schemas.openxmlformats.org/presentationml/2006/ole">
              <mc:AlternateContent xmlns:mc="http://schemas.openxmlformats.org/markup-compatibility/2006">
                <mc:Choice xmlns:v="urn:schemas-microsoft-com:vml" Requires="v">
                  <p:oleObj spid="_x0000_s4760" name="公式" r:id="rId19" imgW="212090" imgH="278765" progId="Equation.3">
                    <p:embed/>
                  </p:oleObj>
                </mc:Choice>
                <mc:Fallback>
                  <p:oleObj name="公式" r:id="rId19" imgW="212090" imgH="278765" progId="Equation.3">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837488" y="2743200"/>
                          <a:ext cx="392112"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2" name="Object 17"/>
            <p:cNvGraphicFramePr>
              <a:graphicFrameLocks noChangeAspect="1"/>
            </p:cNvGraphicFramePr>
            <p:nvPr/>
          </p:nvGraphicFramePr>
          <p:xfrm>
            <a:off x="6553200" y="2209800"/>
            <a:ext cx="396875" cy="500063"/>
          </p:xfrm>
          <a:graphic>
            <a:graphicData uri="http://schemas.openxmlformats.org/presentationml/2006/ole">
              <mc:AlternateContent xmlns:mc="http://schemas.openxmlformats.org/markup-compatibility/2006">
                <mc:Choice xmlns:v="urn:schemas-microsoft-com:vml" Requires="v">
                  <p:oleObj spid="_x0000_s4761" name="公式" r:id="rId21" imgW="222885" imgH="278765" progId="Equation.3">
                    <p:embed/>
                  </p:oleObj>
                </mc:Choice>
                <mc:Fallback>
                  <p:oleObj name="公式" r:id="rId21" imgW="222885" imgH="278765" progId="Equation.3">
                    <p:embed/>
                    <p:pic>
                      <p:nvPicPr>
                        <p:cNvPr id="0" name="Object 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553200" y="2209800"/>
                          <a:ext cx="396875"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3" name="Object 18"/>
            <p:cNvGraphicFramePr>
              <a:graphicFrameLocks noChangeAspect="1"/>
            </p:cNvGraphicFramePr>
            <p:nvPr/>
          </p:nvGraphicFramePr>
          <p:xfrm>
            <a:off x="8153400" y="1295400"/>
            <a:ext cx="360363" cy="482600"/>
          </p:xfrm>
          <a:graphic>
            <a:graphicData uri="http://schemas.openxmlformats.org/presentationml/2006/ole">
              <mc:AlternateContent xmlns:mc="http://schemas.openxmlformats.org/markup-compatibility/2006">
                <mc:Choice xmlns:v="urn:schemas-microsoft-com:vml" Requires="v">
                  <p:oleObj spid="_x0000_s4762" name="公式" r:id="rId23" imgW="178435" imgH="234315" progId="Equation.3">
                    <p:embed/>
                  </p:oleObj>
                </mc:Choice>
                <mc:Fallback>
                  <p:oleObj name="公式" r:id="rId23" imgW="178435" imgH="234315" progId="Equation.3">
                    <p:embed/>
                    <p:pic>
                      <p:nvPicPr>
                        <p:cNvPr id="0" name="Object 1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153400" y="1295400"/>
                          <a:ext cx="360363"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27" name="Freeform 16"/>
            <p:cNvSpPr/>
            <p:nvPr/>
          </p:nvSpPr>
          <p:spPr bwMode="auto">
            <a:xfrm>
              <a:off x="6858000" y="3352800"/>
              <a:ext cx="165100" cy="228600"/>
            </a:xfrm>
            <a:custGeom>
              <a:avLst/>
              <a:gdLst>
                <a:gd name="T0" fmla="*/ 0 w 56"/>
                <a:gd name="T1" fmla="*/ 0 h 144"/>
                <a:gd name="T2" fmla="*/ 417213667 w 56"/>
                <a:gd name="T3" fmla="*/ 120967498 h 144"/>
                <a:gd name="T4" fmla="*/ 417213667 w 56"/>
                <a:gd name="T5" fmla="*/ 362902445 h 144"/>
                <a:gd name="T6" fmla="*/ 0 60000 65536"/>
                <a:gd name="T7" fmla="*/ 0 60000 65536"/>
                <a:gd name="T8" fmla="*/ 0 60000 65536"/>
                <a:gd name="T9" fmla="*/ 0 w 56"/>
                <a:gd name="T10" fmla="*/ 0 h 144"/>
                <a:gd name="T11" fmla="*/ 56 w 56"/>
                <a:gd name="T12" fmla="*/ 144 h 144"/>
              </a:gdLst>
              <a:ahLst/>
              <a:cxnLst>
                <a:cxn ang="T6">
                  <a:pos x="T0" y="T1"/>
                </a:cxn>
                <a:cxn ang="T7">
                  <a:pos x="T2" y="T3"/>
                </a:cxn>
                <a:cxn ang="T8">
                  <a:pos x="T4" y="T5"/>
                </a:cxn>
              </a:cxnLst>
              <a:rect l="T9" t="T10" r="T11" b="T12"/>
              <a:pathLst>
                <a:path w="56" h="144">
                  <a:moveTo>
                    <a:pt x="0" y="0"/>
                  </a:moveTo>
                  <a:cubicBezTo>
                    <a:pt x="20" y="12"/>
                    <a:pt x="40" y="24"/>
                    <a:pt x="48" y="48"/>
                  </a:cubicBezTo>
                  <a:cubicBezTo>
                    <a:pt x="56" y="72"/>
                    <a:pt x="52" y="108"/>
                    <a:pt x="48" y="144"/>
                  </a:cubicBezTo>
                </a:path>
              </a:pathLst>
            </a:custGeom>
            <a:noFill/>
            <a:ln w="38100" cap="flat" cmpd="sng">
              <a:solidFill>
                <a:schemeClr val="tx1"/>
              </a:solidFill>
              <a:prstDash val="solid"/>
              <a:round/>
              <a:headEnd type="none" w="sm" len="sm"/>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4104" name="Object 19"/>
            <p:cNvGraphicFramePr>
              <a:graphicFrameLocks noChangeAspect="1"/>
            </p:cNvGraphicFramePr>
            <p:nvPr/>
          </p:nvGraphicFramePr>
          <p:xfrm>
            <a:off x="7366000" y="3175000"/>
            <a:ext cx="327025" cy="431800"/>
          </p:xfrm>
          <a:graphic>
            <a:graphicData uri="http://schemas.openxmlformats.org/presentationml/2006/ole">
              <mc:AlternateContent xmlns:mc="http://schemas.openxmlformats.org/markup-compatibility/2006">
                <mc:Choice xmlns:v="urn:schemas-microsoft-com:vml" Requires="v">
                  <p:oleObj spid="_x0000_s4763" name="Equation" r:id="rId25" imgW="189865" imgH="256540" progId="Equation.3">
                    <p:embed/>
                  </p:oleObj>
                </mc:Choice>
                <mc:Fallback>
                  <p:oleObj name="Equation" r:id="rId25" imgW="189865" imgH="256540" progId="Equation.3">
                    <p:embed/>
                    <p:pic>
                      <p:nvPicPr>
                        <p:cNvPr id="0" name="Object 1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366000" y="3175000"/>
                          <a:ext cx="3270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5" name="Object 20"/>
            <p:cNvGraphicFramePr>
              <a:graphicFrameLocks noChangeAspect="1"/>
            </p:cNvGraphicFramePr>
            <p:nvPr/>
          </p:nvGraphicFramePr>
          <p:xfrm>
            <a:off x="6432550" y="2752725"/>
            <a:ext cx="317500" cy="360363"/>
          </p:xfrm>
          <a:graphic>
            <a:graphicData uri="http://schemas.openxmlformats.org/presentationml/2006/ole">
              <mc:AlternateContent xmlns:mc="http://schemas.openxmlformats.org/markup-compatibility/2006">
                <mc:Choice xmlns:v="urn:schemas-microsoft-com:vml" Requires="v">
                  <p:oleObj spid="_x0000_s4764" name="Equation" r:id="rId27" imgW="222885" imgH="256540" progId="Equation.3">
                    <p:embed/>
                  </p:oleObj>
                </mc:Choice>
                <mc:Fallback>
                  <p:oleObj name="Equation" r:id="rId27" imgW="222885" imgH="256540" progId="Equation.3">
                    <p:embed/>
                    <p:pic>
                      <p:nvPicPr>
                        <p:cNvPr id="0" name="Object 2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432550" y="2752725"/>
                          <a:ext cx="317500"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28" name="Rectangle 19"/>
            <p:cNvSpPr>
              <a:spLocks noChangeArrowheads="1"/>
            </p:cNvSpPr>
            <p:nvPr/>
          </p:nvSpPr>
          <p:spPr bwMode="auto">
            <a:xfrm>
              <a:off x="6546850" y="3565525"/>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i="1"/>
                <a:t>O</a:t>
              </a:r>
              <a:endParaRPr lang="en-US" altLang="zh-CN" sz="2000" b="1"/>
            </a:p>
          </p:txBody>
        </p:sp>
        <p:sp>
          <p:nvSpPr>
            <p:cNvPr id="4129" name="Line 20"/>
            <p:cNvSpPr>
              <a:spLocks noChangeShapeType="1"/>
            </p:cNvSpPr>
            <p:nvPr/>
          </p:nvSpPr>
          <p:spPr bwMode="auto">
            <a:xfrm>
              <a:off x="7239000" y="2514600"/>
              <a:ext cx="0" cy="1066800"/>
            </a:xfrm>
            <a:prstGeom prst="line">
              <a:avLst/>
            </a:prstGeom>
            <a:noFill/>
            <a:ln w="22225">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30" name="Line 21"/>
            <p:cNvSpPr>
              <a:spLocks noChangeShapeType="1"/>
            </p:cNvSpPr>
            <p:nvPr/>
          </p:nvSpPr>
          <p:spPr bwMode="auto">
            <a:xfrm>
              <a:off x="7848600" y="2971800"/>
              <a:ext cx="0" cy="609600"/>
            </a:xfrm>
            <a:prstGeom prst="line">
              <a:avLst/>
            </a:prstGeom>
            <a:noFill/>
            <a:ln w="22225">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106" name="Object 21"/>
            <p:cNvGraphicFramePr>
              <a:graphicFrameLocks noChangeAspect="1"/>
            </p:cNvGraphicFramePr>
            <p:nvPr/>
          </p:nvGraphicFramePr>
          <p:xfrm>
            <a:off x="7620000" y="3505200"/>
            <a:ext cx="344488" cy="488950"/>
          </p:xfrm>
          <a:graphic>
            <a:graphicData uri="http://schemas.openxmlformats.org/presentationml/2006/ole">
              <mc:AlternateContent xmlns:mc="http://schemas.openxmlformats.org/markup-compatibility/2006">
                <mc:Choice xmlns:v="urn:schemas-microsoft-com:vml" Requires="v">
                  <p:oleObj spid="_x0000_s4765" name="公式" r:id="rId29" imgW="178435" imgH="256540" progId="Equation.3">
                    <p:embed/>
                  </p:oleObj>
                </mc:Choice>
                <mc:Fallback>
                  <p:oleObj name="公式" r:id="rId29" imgW="178435" imgH="256540" progId="Equation.3">
                    <p:embed/>
                    <p:pic>
                      <p:nvPicPr>
                        <p:cNvPr id="0" name="Object 2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620000" y="3505200"/>
                          <a:ext cx="34448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7" name="Object 22"/>
            <p:cNvGraphicFramePr>
              <a:graphicFrameLocks noChangeAspect="1"/>
            </p:cNvGraphicFramePr>
            <p:nvPr/>
          </p:nvGraphicFramePr>
          <p:xfrm>
            <a:off x="7086600" y="3505200"/>
            <a:ext cx="373063" cy="488950"/>
          </p:xfrm>
          <a:graphic>
            <a:graphicData uri="http://schemas.openxmlformats.org/presentationml/2006/ole">
              <mc:AlternateContent xmlns:mc="http://schemas.openxmlformats.org/markup-compatibility/2006">
                <mc:Choice xmlns:v="urn:schemas-microsoft-com:vml" Requires="v">
                  <p:oleObj spid="_x0000_s4766" name="公式" r:id="rId31" imgW="189865" imgH="256540" progId="Equation.3">
                    <p:embed/>
                  </p:oleObj>
                </mc:Choice>
                <mc:Fallback>
                  <p:oleObj name="公式" r:id="rId31" imgW="189865" imgH="256540" progId="Equation.3">
                    <p:embed/>
                    <p:pic>
                      <p:nvPicPr>
                        <p:cNvPr id="0" name="Object 2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086600" y="3505200"/>
                          <a:ext cx="373063"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31" name="Freeform 28"/>
            <p:cNvSpPr/>
            <p:nvPr/>
          </p:nvSpPr>
          <p:spPr bwMode="auto">
            <a:xfrm>
              <a:off x="7239000" y="3352800"/>
              <a:ext cx="76200" cy="228600"/>
            </a:xfrm>
            <a:custGeom>
              <a:avLst/>
              <a:gdLst>
                <a:gd name="T0" fmla="*/ 0 w 24"/>
                <a:gd name="T1" fmla="*/ 0 h 96"/>
                <a:gd name="T2" fmla="*/ 181451242 w 24"/>
                <a:gd name="T3" fmla="*/ 340221134 h 96"/>
                <a:gd name="T4" fmla="*/ 241935022 w 24"/>
                <a:gd name="T5" fmla="*/ 544353726 h 96"/>
                <a:gd name="T6" fmla="*/ 0 60000 65536"/>
                <a:gd name="T7" fmla="*/ 0 60000 65536"/>
                <a:gd name="T8" fmla="*/ 0 60000 65536"/>
                <a:gd name="T9" fmla="*/ 0 w 24"/>
                <a:gd name="T10" fmla="*/ 0 h 96"/>
                <a:gd name="T11" fmla="*/ 24 w 24"/>
                <a:gd name="T12" fmla="*/ 96 h 96"/>
              </a:gdLst>
              <a:ahLst/>
              <a:cxnLst>
                <a:cxn ang="T6">
                  <a:pos x="T0" y="T1"/>
                </a:cxn>
                <a:cxn ang="T7">
                  <a:pos x="T2" y="T3"/>
                </a:cxn>
                <a:cxn ang="T8">
                  <a:pos x="T4" y="T5"/>
                </a:cxn>
              </a:cxnLst>
              <a:rect l="T9" t="T10" r="T11" b="T12"/>
              <a:pathLst>
                <a:path w="24" h="96">
                  <a:moveTo>
                    <a:pt x="0" y="0"/>
                  </a:moveTo>
                  <a:cubicBezTo>
                    <a:pt x="9" y="36"/>
                    <a:pt x="3" y="16"/>
                    <a:pt x="18" y="60"/>
                  </a:cubicBezTo>
                  <a:cubicBezTo>
                    <a:pt x="22" y="72"/>
                    <a:pt x="24" y="96"/>
                    <a:pt x="24" y="96"/>
                  </a:cubicBez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32" name="Freeform 29"/>
            <p:cNvSpPr/>
            <p:nvPr/>
          </p:nvSpPr>
          <p:spPr bwMode="auto">
            <a:xfrm>
              <a:off x="7067550" y="3276600"/>
              <a:ext cx="85725" cy="304800"/>
            </a:xfrm>
            <a:custGeom>
              <a:avLst/>
              <a:gdLst>
                <a:gd name="T0" fmla="*/ 0 w 60"/>
                <a:gd name="T1" fmla="*/ 0 h 234"/>
                <a:gd name="T2" fmla="*/ 73487760 w 60"/>
                <a:gd name="T3" fmla="*/ 111980145 h 234"/>
                <a:gd name="T4" fmla="*/ 110232365 w 60"/>
                <a:gd name="T5" fmla="*/ 213780754 h 234"/>
                <a:gd name="T6" fmla="*/ 122479607 w 60"/>
                <a:gd name="T7" fmla="*/ 397021598 h 234"/>
                <a:gd name="T8" fmla="*/ 0 60000 65536"/>
                <a:gd name="T9" fmla="*/ 0 60000 65536"/>
                <a:gd name="T10" fmla="*/ 0 60000 65536"/>
                <a:gd name="T11" fmla="*/ 0 60000 65536"/>
                <a:gd name="T12" fmla="*/ 0 w 60"/>
                <a:gd name="T13" fmla="*/ 0 h 234"/>
                <a:gd name="T14" fmla="*/ 60 w 60"/>
                <a:gd name="T15" fmla="*/ 234 h 234"/>
              </a:gdLst>
              <a:ahLst/>
              <a:cxnLst>
                <a:cxn ang="T8">
                  <a:pos x="T0" y="T1"/>
                </a:cxn>
                <a:cxn ang="T9">
                  <a:pos x="T2" y="T3"/>
                </a:cxn>
                <a:cxn ang="T10">
                  <a:pos x="T4" y="T5"/>
                </a:cxn>
                <a:cxn ang="T11">
                  <a:pos x="T6" y="T7"/>
                </a:cxn>
              </a:cxnLst>
              <a:rect l="T12" t="T13" r="T14" b="T15"/>
              <a:pathLst>
                <a:path w="60" h="234">
                  <a:moveTo>
                    <a:pt x="0" y="0"/>
                  </a:moveTo>
                  <a:cubicBezTo>
                    <a:pt x="11" y="34"/>
                    <a:pt x="9" y="48"/>
                    <a:pt x="36" y="66"/>
                  </a:cubicBezTo>
                  <a:cubicBezTo>
                    <a:pt x="51" y="110"/>
                    <a:pt x="45" y="90"/>
                    <a:pt x="54" y="126"/>
                  </a:cubicBezTo>
                  <a:cubicBezTo>
                    <a:pt x="56" y="162"/>
                    <a:pt x="60" y="234"/>
                    <a:pt x="60" y="234"/>
                  </a:cubicBezTo>
                </a:path>
              </a:pathLst>
            </a:custGeom>
            <a:noFill/>
            <a:ln w="28575"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4108" name="Object 23"/>
            <p:cNvGraphicFramePr>
              <a:graphicFrameLocks noChangeAspect="1"/>
            </p:cNvGraphicFramePr>
            <p:nvPr/>
          </p:nvGraphicFramePr>
          <p:xfrm>
            <a:off x="7165975" y="2968625"/>
            <a:ext cx="322263" cy="385763"/>
          </p:xfrm>
          <a:graphic>
            <a:graphicData uri="http://schemas.openxmlformats.org/presentationml/2006/ole">
              <mc:AlternateContent xmlns:mc="http://schemas.openxmlformats.org/markup-compatibility/2006">
                <mc:Choice xmlns:v="urn:schemas-microsoft-com:vml" Requires="v">
                  <p:oleObj spid="_x0000_s4767" name="Equation" r:id="rId33" imgW="167005" imgH="189865" progId="Equation.3">
                    <p:embed/>
                  </p:oleObj>
                </mc:Choice>
                <mc:Fallback>
                  <p:oleObj name="Equation" r:id="rId33" imgW="167005" imgH="189865" progId="Equation.3">
                    <p:embed/>
                    <p:pic>
                      <p:nvPicPr>
                        <p:cNvPr id="0" name="Object 23"/>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165975" y="2968625"/>
                          <a:ext cx="322263"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33" name="Line 31"/>
            <p:cNvSpPr>
              <a:spLocks noChangeShapeType="1"/>
            </p:cNvSpPr>
            <p:nvPr/>
          </p:nvSpPr>
          <p:spPr bwMode="auto">
            <a:xfrm>
              <a:off x="6780213" y="3046413"/>
              <a:ext cx="230187" cy="3810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34" name="Line 32"/>
            <p:cNvSpPr>
              <a:spLocks noChangeShapeType="1"/>
            </p:cNvSpPr>
            <p:nvPr/>
          </p:nvSpPr>
          <p:spPr bwMode="auto">
            <a:xfrm>
              <a:off x="8239125" y="1828800"/>
              <a:ext cx="0" cy="1752600"/>
            </a:xfrm>
            <a:prstGeom prst="line">
              <a:avLst/>
            </a:prstGeom>
            <a:noFill/>
            <a:ln w="28575"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109" name="Object 24"/>
            <p:cNvGraphicFramePr>
              <a:graphicFrameLocks noChangeAspect="1"/>
            </p:cNvGraphicFramePr>
            <p:nvPr/>
          </p:nvGraphicFramePr>
          <p:xfrm>
            <a:off x="8053388" y="3581400"/>
            <a:ext cx="404812" cy="449263"/>
          </p:xfrm>
          <a:graphic>
            <a:graphicData uri="http://schemas.openxmlformats.org/presentationml/2006/ole">
              <mc:AlternateContent xmlns:mc="http://schemas.openxmlformats.org/markup-compatibility/2006">
                <mc:Choice xmlns:v="urn:schemas-microsoft-com:vml" Requires="v">
                  <p:oleObj spid="_x0000_s4768" name="公式" r:id="rId35" imgW="144780" imgH="167005" progId="Equation.3">
                    <p:embed/>
                  </p:oleObj>
                </mc:Choice>
                <mc:Fallback>
                  <p:oleObj name="公式" r:id="rId35" imgW="144780" imgH="167005" progId="Equation.3">
                    <p:embed/>
                    <p:pic>
                      <p:nvPicPr>
                        <p:cNvPr id="0" name="Object 24"/>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8053388" y="3581400"/>
                          <a:ext cx="404812" cy="44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35" name="Line 36"/>
            <p:cNvSpPr>
              <a:spLocks noChangeShapeType="1"/>
            </p:cNvSpPr>
            <p:nvPr/>
          </p:nvSpPr>
          <p:spPr bwMode="auto">
            <a:xfrm>
              <a:off x="7848600" y="2971800"/>
              <a:ext cx="381000" cy="0"/>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6197"/>
                                        </p:tgtEl>
                                        <p:attrNameLst>
                                          <p:attrName>style.visibility</p:attrName>
                                        </p:attrNameLst>
                                      </p:cBhvr>
                                      <p:to>
                                        <p:strVal val="visible"/>
                                      </p:to>
                                    </p:set>
                                    <p:animEffect transition="in" filter="wipe(left)">
                                      <p:cBhvr>
                                        <p:cTn id="7" dur="500"/>
                                        <p:tgtEl>
                                          <p:spTgt spid="13619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6198"/>
                                        </p:tgtEl>
                                        <p:attrNameLst>
                                          <p:attrName>style.visibility</p:attrName>
                                        </p:attrNameLst>
                                      </p:cBhvr>
                                      <p:to>
                                        <p:strVal val="visible"/>
                                      </p:to>
                                    </p:set>
                                    <p:animEffect transition="in" filter="wipe(left)">
                                      <p:cBhvr>
                                        <p:cTn id="17" dur="500"/>
                                        <p:tgtEl>
                                          <p:spTgt spid="1361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6199"/>
                                        </p:tgtEl>
                                        <p:attrNameLst>
                                          <p:attrName>style.visibility</p:attrName>
                                        </p:attrNameLst>
                                      </p:cBhvr>
                                      <p:to>
                                        <p:strVal val="visible"/>
                                      </p:to>
                                    </p:set>
                                    <p:animEffect transition="in" filter="wipe(left)">
                                      <p:cBhvr>
                                        <p:cTn id="22" dur="500"/>
                                        <p:tgtEl>
                                          <p:spTgt spid="136199"/>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checkerboard(across)">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Text Box 4"/>
          <p:cNvSpPr txBox="1">
            <a:spLocks noChangeArrowheads="1"/>
          </p:cNvSpPr>
          <p:nvPr/>
        </p:nvSpPr>
        <p:spPr bwMode="auto">
          <a:xfrm>
            <a:off x="228600" y="185738"/>
            <a:ext cx="8915400" cy="579437"/>
          </a:xfrm>
          <a:prstGeom prst="rect">
            <a:avLst/>
          </a:prstGeom>
          <a:noFill/>
          <a:ln w="28575">
            <a:noFill/>
            <a:miter lim="800000"/>
          </a:ln>
        </p:spPr>
        <p:txBody>
          <a:bodyPr>
            <a:spAutoFit/>
          </a:bodyPr>
          <a:lstStyle/>
          <a:p>
            <a:pPr marL="609600" indent="-609600">
              <a:spcBef>
                <a:spcPct val="20000"/>
              </a:spcBef>
              <a:defRPr/>
            </a:pPr>
            <a:r>
              <a:rPr lang="en-US" altLang="zh-CN" sz="3200" b="1" dirty="0">
                <a:solidFill>
                  <a:schemeClr val="accent2">
                    <a:lumMod val="50000"/>
                  </a:schemeClr>
                </a:solidFill>
                <a:latin typeface="Times New Roman" panose="02020603050405020304" pitchFamily="18" charset="0"/>
                <a:ea typeface="黑体" panose="02010609060101010101" pitchFamily="49" charset="-122"/>
              </a:rPr>
              <a:t>2)</a:t>
            </a:r>
            <a:r>
              <a:rPr lang="zh-CN" altLang="en-US" sz="3200" b="1" dirty="0">
                <a:solidFill>
                  <a:schemeClr val="hlink"/>
                </a:solidFill>
                <a:latin typeface="Arial" panose="020B0604020202020204" pitchFamily="34" charset="0"/>
              </a:rPr>
              <a:t>同方向不同频率的简谐运动的合成</a:t>
            </a:r>
            <a:endParaRPr lang="zh-CN" altLang="en-US" sz="3200" b="1" dirty="0">
              <a:solidFill>
                <a:schemeClr val="hlink"/>
              </a:solidFill>
              <a:latin typeface="Arial" panose="020B0604020202020204" pitchFamily="34" charset="0"/>
            </a:endParaRPr>
          </a:p>
        </p:txBody>
      </p:sp>
      <p:grpSp>
        <p:nvGrpSpPr>
          <p:cNvPr id="2" name="组合 73"/>
          <p:cNvGrpSpPr/>
          <p:nvPr/>
        </p:nvGrpSpPr>
        <p:grpSpPr bwMode="auto">
          <a:xfrm>
            <a:off x="755650" y="2060575"/>
            <a:ext cx="7704138" cy="2663825"/>
            <a:chOff x="827584" y="3789040"/>
            <a:chExt cx="7704856" cy="2664296"/>
          </a:xfrm>
        </p:grpSpPr>
        <p:sp>
          <p:nvSpPr>
            <p:cNvPr id="5130" name="Text Box 7"/>
            <p:cNvSpPr txBox="1">
              <a:spLocks noChangeArrowheads="1"/>
            </p:cNvSpPr>
            <p:nvPr/>
          </p:nvSpPr>
          <p:spPr bwMode="auto">
            <a:xfrm>
              <a:off x="827584" y="4221087"/>
              <a:ext cx="1440160" cy="576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kumimoji="1" lang="zh-CN" altLang="en-US" b="1">
                  <a:solidFill>
                    <a:srgbClr val="FF0066"/>
                  </a:solidFill>
                  <a:latin typeface="Times New Roman" panose="02020603050405020304" pitchFamily="18" charset="0"/>
                </a:rPr>
                <a:t>拍现象</a:t>
              </a:r>
              <a:endParaRPr kumimoji="1" lang="zh-CN" altLang="en-US" b="1">
                <a:latin typeface="Times New Roman" panose="02020603050405020304" pitchFamily="18" charset="0"/>
              </a:endParaRPr>
            </a:p>
          </p:txBody>
        </p:sp>
        <p:grpSp>
          <p:nvGrpSpPr>
            <p:cNvPr id="5131" name="Group 73"/>
            <p:cNvGrpSpPr/>
            <p:nvPr/>
          </p:nvGrpSpPr>
          <p:grpSpPr bwMode="auto">
            <a:xfrm>
              <a:off x="2483768" y="3789040"/>
              <a:ext cx="6048672" cy="2664296"/>
              <a:chOff x="521" y="1639"/>
              <a:chExt cx="4655" cy="1536"/>
            </a:xfrm>
          </p:grpSpPr>
          <p:grpSp>
            <p:nvGrpSpPr>
              <p:cNvPr id="5132" name="Group 74"/>
              <p:cNvGrpSpPr/>
              <p:nvPr/>
            </p:nvGrpSpPr>
            <p:grpSpPr bwMode="auto">
              <a:xfrm>
                <a:off x="762" y="1639"/>
                <a:ext cx="4188" cy="1536"/>
                <a:chOff x="763" y="1657"/>
                <a:chExt cx="4188" cy="1536"/>
              </a:xfrm>
            </p:grpSpPr>
            <p:sp>
              <p:nvSpPr>
                <p:cNvPr id="5134" name="Line 75"/>
                <p:cNvSpPr>
                  <a:spLocks noChangeShapeType="1"/>
                </p:cNvSpPr>
                <p:nvPr/>
              </p:nvSpPr>
              <p:spPr bwMode="auto">
                <a:xfrm>
                  <a:off x="763" y="2460"/>
                  <a:ext cx="4188" cy="3"/>
                </a:xfrm>
                <a:prstGeom prst="line">
                  <a:avLst/>
                </a:prstGeom>
                <a:noFill/>
                <a:ln w="38100">
                  <a:solidFill>
                    <a:srgbClr val="66FF3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35" name="Line 76"/>
                <p:cNvSpPr>
                  <a:spLocks noChangeShapeType="1"/>
                </p:cNvSpPr>
                <p:nvPr/>
              </p:nvSpPr>
              <p:spPr bwMode="auto">
                <a:xfrm flipV="1">
                  <a:off x="828" y="1657"/>
                  <a:ext cx="0" cy="1536"/>
                </a:xfrm>
                <a:prstGeom prst="line">
                  <a:avLst/>
                </a:prstGeom>
                <a:noFill/>
                <a:ln w="38100">
                  <a:solidFill>
                    <a:srgbClr val="66FF3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136" name="Group 77"/>
                <p:cNvGrpSpPr/>
                <p:nvPr/>
              </p:nvGrpSpPr>
              <p:grpSpPr bwMode="auto">
                <a:xfrm>
                  <a:off x="856" y="1781"/>
                  <a:ext cx="1295" cy="1337"/>
                  <a:chOff x="912" y="2928"/>
                  <a:chExt cx="1344" cy="1296"/>
                </a:xfrm>
              </p:grpSpPr>
              <p:grpSp>
                <p:nvGrpSpPr>
                  <p:cNvPr id="5175" name="Group 78"/>
                  <p:cNvGrpSpPr/>
                  <p:nvPr/>
                </p:nvGrpSpPr>
                <p:grpSpPr bwMode="auto">
                  <a:xfrm>
                    <a:off x="912" y="2928"/>
                    <a:ext cx="240" cy="1296"/>
                    <a:chOff x="2880" y="2112"/>
                    <a:chExt cx="2304" cy="2016"/>
                  </a:xfrm>
                </p:grpSpPr>
                <p:sp>
                  <p:nvSpPr>
                    <p:cNvPr id="5191" name="Freeform 79"/>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92" name="Freeform 80"/>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76" name="Group 81"/>
                  <p:cNvGrpSpPr/>
                  <p:nvPr/>
                </p:nvGrpSpPr>
                <p:grpSpPr bwMode="auto">
                  <a:xfrm>
                    <a:off x="1152" y="2969"/>
                    <a:ext cx="288" cy="1207"/>
                    <a:chOff x="2880" y="2112"/>
                    <a:chExt cx="2304" cy="2016"/>
                  </a:xfrm>
                </p:grpSpPr>
                <p:sp>
                  <p:nvSpPr>
                    <p:cNvPr id="5189" name="Freeform 82"/>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90" name="Freeform 83"/>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77" name="Group 84"/>
                  <p:cNvGrpSpPr/>
                  <p:nvPr/>
                </p:nvGrpSpPr>
                <p:grpSpPr bwMode="auto">
                  <a:xfrm>
                    <a:off x="1440" y="3024"/>
                    <a:ext cx="240" cy="1104"/>
                    <a:chOff x="2880" y="2112"/>
                    <a:chExt cx="2304" cy="2016"/>
                  </a:xfrm>
                </p:grpSpPr>
                <p:sp>
                  <p:nvSpPr>
                    <p:cNvPr id="5187" name="Freeform 85"/>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88" name="Freeform 86"/>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78" name="Group 87"/>
                  <p:cNvGrpSpPr/>
                  <p:nvPr/>
                </p:nvGrpSpPr>
                <p:grpSpPr bwMode="auto">
                  <a:xfrm>
                    <a:off x="1680" y="3120"/>
                    <a:ext cx="240" cy="871"/>
                    <a:chOff x="2880" y="2112"/>
                    <a:chExt cx="2304" cy="2016"/>
                  </a:xfrm>
                </p:grpSpPr>
                <p:sp>
                  <p:nvSpPr>
                    <p:cNvPr id="5185" name="Freeform 88"/>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86" name="Freeform 89"/>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79" name="Group 90"/>
                  <p:cNvGrpSpPr/>
                  <p:nvPr/>
                </p:nvGrpSpPr>
                <p:grpSpPr bwMode="auto">
                  <a:xfrm>
                    <a:off x="1920" y="3264"/>
                    <a:ext cx="192" cy="528"/>
                    <a:chOff x="2880" y="2112"/>
                    <a:chExt cx="2304" cy="2016"/>
                  </a:xfrm>
                </p:grpSpPr>
                <p:sp>
                  <p:nvSpPr>
                    <p:cNvPr id="5183" name="Freeform 91"/>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84" name="Freeform 92"/>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80" name="Group 93"/>
                  <p:cNvGrpSpPr/>
                  <p:nvPr/>
                </p:nvGrpSpPr>
                <p:grpSpPr bwMode="auto">
                  <a:xfrm>
                    <a:off x="2112" y="3408"/>
                    <a:ext cx="144" cy="240"/>
                    <a:chOff x="2880" y="2112"/>
                    <a:chExt cx="2304" cy="2016"/>
                  </a:xfrm>
                </p:grpSpPr>
                <p:sp>
                  <p:nvSpPr>
                    <p:cNvPr id="5181" name="Freeform 94"/>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82" name="Freeform 95"/>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grpSp>
              <p:nvGrpSpPr>
                <p:cNvPr id="5137" name="Group 96"/>
                <p:cNvGrpSpPr/>
                <p:nvPr/>
              </p:nvGrpSpPr>
              <p:grpSpPr bwMode="auto">
                <a:xfrm flipH="1" flipV="1">
                  <a:off x="2151" y="1781"/>
                  <a:ext cx="1342" cy="1337"/>
                  <a:chOff x="912" y="2928"/>
                  <a:chExt cx="1344" cy="1296"/>
                </a:xfrm>
              </p:grpSpPr>
              <p:grpSp>
                <p:nvGrpSpPr>
                  <p:cNvPr id="5157" name="Group 97"/>
                  <p:cNvGrpSpPr/>
                  <p:nvPr/>
                </p:nvGrpSpPr>
                <p:grpSpPr bwMode="auto">
                  <a:xfrm>
                    <a:off x="912" y="2928"/>
                    <a:ext cx="240" cy="1296"/>
                    <a:chOff x="2880" y="2112"/>
                    <a:chExt cx="2304" cy="2016"/>
                  </a:xfrm>
                </p:grpSpPr>
                <p:sp>
                  <p:nvSpPr>
                    <p:cNvPr id="5173" name="Freeform 98"/>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74" name="Freeform 99"/>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58" name="Group 100"/>
                  <p:cNvGrpSpPr/>
                  <p:nvPr/>
                </p:nvGrpSpPr>
                <p:grpSpPr bwMode="auto">
                  <a:xfrm>
                    <a:off x="1152" y="2969"/>
                    <a:ext cx="288" cy="1207"/>
                    <a:chOff x="2880" y="2112"/>
                    <a:chExt cx="2304" cy="2016"/>
                  </a:xfrm>
                </p:grpSpPr>
                <p:sp>
                  <p:nvSpPr>
                    <p:cNvPr id="5171" name="Freeform 101"/>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72" name="Freeform 102"/>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59" name="Group 103"/>
                  <p:cNvGrpSpPr/>
                  <p:nvPr/>
                </p:nvGrpSpPr>
                <p:grpSpPr bwMode="auto">
                  <a:xfrm>
                    <a:off x="1440" y="3024"/>
                    <a:ext cx="240" cy="1104"/>
                    <a:chOff x="2880" y="2112"/>
                    <a:chExt cx="2304" cy="2016"/>
                  </a:xfrm>
                </p:grpSpPr>
                <p:sp>
                  <p:nvSpPr>
                    <p:cNvPr id="5169" name="Freeform 104"/>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70" name="Freeform 105"/>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60" name="Group 106"/>
                  <p:cNvGrpSpPr/>
                  <p:nvPr/>
                </p:nvGrpSpPr>
                <p:grpSpPr bwMode="auto">
                  <a:xfrm>
                    <a:off x="1680" y="3120"/>
                    <a:ext cx="240" cy="871"/>
                    <a:chOff x="2880" y="2112"/>
                    <a:chExt cx="2304" cy="2016"/>
                  </a:xfrm>
                </p:grpSpPr>
                <p:sp>
                  <p:nvSpPr>
                    <p:cNvPr id="5167" name="Freeform 107"/>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68" name="Freeform 108"/>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61" name="Group 109"/>
                  <p:cNvGrpSpPr/>
                  <p:nvPr/>
                </p:nvGrpSpPr>
                <p:grpSpPr bwMode="auto">
                  <a:xfrm>
                    <a:off x="1920" y="3264"/>
                    <a:ext cx="192" cy="528"/>
                    <a:chOff x="2880" y="2112"/>
                    <a:chExt cx="2304" cy="2016"/>
                  </a:xfrm>
                </p:grpSpPr>
                <p:sp>
                  <p:nvSpPr>
                    <p:cNvPr id="5165" name="Freeform 110"/>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66" name="Freeform 111"/>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62" name="Group 112"/>
                  <p:cNvGrpSpPr/>
                  <p:nvPr/>
                </p:nvGrpSpPr>
                <p:grpSpPr bwMode="auto">
                  <a:xfrm>
                    <a:off x="2112" y="3408"/>
                    <a:ext cx="144" cy="240"/>
                    <a:chOff x="2880" y="2112"/>
                    <a:chExt cx="2304" cy="2016"/>
                  </a:xfrm>
                </p:grpSpPr>
                <p:sp>
                  <p:nvSpPr>
                    <p:cNvPr id="5163" name="Freeform 113"/>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64" name="Freeform 114"/>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grpSp>
              <p:nvGrpSpPr>
                <p:cNvPr id="5138" name="Group 115"/>
                <p:cNvGrpSpPr/>
                <p:nvPr/>
              </p:nvGrpSpPr>
              <p:grpSpPr bwMode="auto">
                <a:xfrm>
                  <a:off x="3495" y="1797"/>
                  <a:ext cx="1249" cy="1337"/>
                  <a:chOff x="912" y="2928"/>
                  <a:chExt cx="1344" cy="1296"/>
                </a:xfrm>
              </p:grpSpPr>
              <p:grpSp>
                <p:nvGrpSpPr>
                  <p:cNvPr id="5139" name="Group 116"/>
                  <p:cNvGrpSpPr/>
                  <p:nvPr/>
                </p:nvGrpSpPr>
                <p:grpSpPr bwMode="auto">
                  <a:xfrm>
                    <a:off x="912" y="2928"/>
                    <a:ext cx="240" cy="1296"/>
                    <a:chOff x="2880" y="2112"/>
                    <a:chExt cx="2304" cy="2016"/>
                  </a:xfrm>
                </p:grpSpPr>
                <p:sp>
                  <p:nvSpPr>
                    <p:cNvPr id="5155" name="Freeform 117"/>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56" name="Freeform 118"/>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40" name="Group 119"/>
                  <p:cNvGrpSpPr/>
                  <p:nvPr/>
                </p:nvGrpSpPr>
                <p:grpSpPr bwMode="auto">
                  <a:xfrm>
                    <a:off x="1152" y="2969"/>
                    <a:ext cx="288" cy="1207"/>
                    <a:chOff x="2880" y="2112"/>
                    <a:chExt cx="2304" cy="2016"/>
                  </a:xfrm>
                </p:grpSpPr>
                <p:sp>
                  <p:nvSpPr>
                    <p:cNvPr id="5153" name="Freeform 120"/>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54" name="Freeform 121"/>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41" name="Group 122"/>
                  <p:cNvGrpSpPr/>
                  <p:nvPr/>
                </p:nvGrpSpPr>
                <p:grpSpPr bwMode="auto">
                  <a:xfrm>
                    <a:off x="1440" y="3024"/>
                    <a:ext cx="240" cy="1104"/>
                    <a:chOff x="2880" y="2112"/>
                    <a:chExt cx="2304" cy="2016"/>
                  </a:xfrm>
                </p:grpSpPr>
                <p:sp>
                  <p:nvSpPr>
                    <p:cNvPr id="5151" name="Freeform 123"/>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52" name="Freeform 124"/>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42" name="Group 125"/>
                  <p:cNvGrpSpPr/>
                  <p:nvPr/>
                </p:nvGrpSpPr>
                <p:grpSpPr bwMode="auto">
                  <a:xfrm>
                    <a:off x="1680" y="3120"/>
                    <a:ext cx="240" cy="871"/>
                    <a:chOff x="2880" y="2112"/>
                    <a:chExt cx="2304" cy="2016"/>
                  </a:xfrm>
                </p:grpSpPr>
                <p:sp>
                  <p:nvSpPr>
                    <p:cNvPr id="5149" name="Freeform 126"/>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50" name="Freeform 127"/>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43" name="Group 128"/>
                  <p:cNvGrpSpPr/>
                  <p:nvPr/>
                </p:nvGrpSpPr>
                <p:grpSpPr bwMode="auto">
                  <a:xfrm>
                    <a:off x="1920" y="3264"/>
                    <a:ext cx="192" cy="528"/>
                    <a:chOff x="2880" y="2112"/>
                    <a:chExt cx="2304" cy="2016"/>
                  </a:xfrm>
                </p:grpSpPr>
                <p:sp>
                  <p:nvSpPr>
                    <p:cNvPr id="5147" name="Freeform 129"/>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48" name="Freeform 130"/>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44" name="Group 131"/>
                  <p:cNvGrpSpPr/>
                  <p:nvPr/>
                </p:nvGrpSpPr>
                <p:grpSpPr bwMode="auto">
                  <a:xfrm>
                    <a:off x="2112" y="3408"/>
                    <a:ext cx="144" cy="240"/>
                    <a:chOff x="2880" y="2112"/>
                    <a:chExt cx="2304" cy="2016"/>
                  </a:xfrm>
                </p:grpSpPr>
                <p:sp>
                  <p:nvSpPr>
                    <p:cNvPr id="5145" name="Freeform 132"/>
                    <p:cNvSpPr/>
                    <p:nvPr/>
                  </p:nvSpPr>
                  <p:spPr bwMode="auto">
                    <a:xfrm>
                      <a:off x="2880" y="2112"/>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46" name="Freeform 133"/>
                    <p:cNvSpPr/>
                    <p:nvPr/>
                  </p:nvSpPr>
                  <p:spPr bwMode="auto">
                    <a:xfrm flipV="1">
                      <a:off x="4032" y="3120"/>
                      <a:ext cx="1152" cy="1008"/>
                    </a:xfrm>
                    <a:custGeom>
                      <a:avLst/>
                      <a:gdLst>
                        <a:gd name="T0" fmla="*/ 0 w 1152"/>
                        <a:gd name="T1" fmla="*/ 1008 h 1008"/>
                        <a:gd name="T2" fmla="*/ 192 w 1152"/>
                        <a:gd name="T3" fmla="*/ 528 h 1008"/>
                        <a:gd name="T4" fmla="*/ 384 w 1152"/>
                        <a:gd name="T5" fmla="*/ 144 h 1008"/>
                        <a:gd name="T6" fmla="*/ 576 w 1152"/>
                        <a:gd name="T7" fmla="*/ 0 h 1008"/>
                        <a:gd name="T8" fmla="*/ 768 w 1152"/>
                        <a:gd name="T9" fmla="*/ 144 h 1008"/>
                        <a:gd name="T10" fmla="*/ 960 w 1152"/>
                        <a:gd name="T11" fmla="*/ 528 h 1008"/>
                        <a:gd name="T12" fmla="*/ 1152 w 1152"/>
                        <a:gd name="T13" fmla="*/ 1008 h 1008"/>
                        <a:gd name="T14" fmla="*/ 0 60000 65536"/>
                        <a:gd name="T15" fmla="*/ 0 60000 65536"/>
                        <a:gd name="T16" fmla="*/ 0 60000 65536"/>
                        <a:gd name="T17" fmla="*/ 0 60000 65536"/>
                        <a:gd name="T18" fmla="*/ 0 60000 65536"/>
                        <a:gd name="T19" fmla="*/ 0 60000 65536"/>
                        <a:gd name="T20" fmla="*/ 0 60000 65536"/>
                        <a:gd name="T21" fmla="*/ 0 w 1152"/>
                        <a:gd name="T22" fmla="*/ 0 h 1008"/>
                        <a:gd name="T23" fmla="*/ 1152 w 1152"/>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mpd="sng">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grpSp>
          <p:graphicFrame>
            <p:nvGraphicFramePr>
              <p:cNvPr id="5124" name="Object 8"/>
              <p:cNvGraphicFramePr>
                <a:graphicFrameLocks noChangeAspect="1"/>
              </p:cNvGraphicFramePr>
              <p:nvPr/>
            </p:nvGraphicFramePr>
            <p:xfrm>
              <a:off x="521" y="1661"/>
              <a:ext cx="258" cy="272"/>
            </p:xfrm>
            <a:graphic>
              <a:graphicData uri="http://schemas.openxmlformats.org/presentationml/2006/ole">
                <mc:AlternateContent xmlns:mc="http://schemas.openxmlformats.org/markup-compatibility/2006">
                  <mc:Choice xmlns:v="urn:schemas-microsoft-com:vml" Requires="v">
                    <p:oleObj spid="_x0000_s5295" name="公式" r:id="rId1" imgW="144780" imgH="167005" progId="Equation.3">
                      <p:embed/>
                    </p:oleObj>
                  </mc:Choice>
                  <mc:Fallback>
                    <p:oleObj name="公式" r:id="rId1" imgW="144780" imgH="167005"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 y="1661"/>
                            <a:ext cx="258"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33" name="Text Box 135"/>
              <p:cNvSpPr txBox="1">
                <a:spLocks noChangeArrowheads="1"/>
              </p:cNvSpPr>
              <p:nvPr/>
            </p:nvSpPr>
            <p:spPr bwMode="auto">
              <a:xfrm>
                <a:off x="4878" y="2114"/>
                <a:ext cx="298"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b="1" i="1">
                    <a:latin typeface="Times New Roman" panose="02020603050405020304" pitchFamily="18" charset="0"/>
                  </a:rPr>
                  <a:t>t</a:t>
                </a:r>
                <a:endParaRPr kumimoji="1" lang="en-US" altLang="zh-CN" sz="3200" b="1" i="1">
                  <a:latin typeface="Times New Roman" panose="02020603050405020304" pitchFamily="18" charset="0"/>
                </a:endParaRPr>
              </a:p>
            </p:txBody>
          </p:sp>
        </p:grpSp>
        <p:graphicFrame>
          <p:nvGraphicFramePr>
            <p:cNvPr id="5123" name="Object 7"/>
            <p:cNvGraphicFramePr>
              <a:graphicFrameLocks noChangeAspect="1"/>
            </p:cNvGraphicFramePr>
            <p:nvPr/>
          </p:nvGraphicFramePr>
          <p:xfrm>
            <a:off x="827584" y="5157192"/>
            <a:ext cx="1414594" cy="670586"/>
          </p:xfrm>
          <a:graphic>
            <a:graphicData uri="http://schemas.openxmlformats.org/presentationml/2006/ole">
              <mc:AlternateContent xmlns:mc="http://schemas.openxmlformats.org/markup-compatibility/2006">
                <mc:Choice xmlns:v="urn:schemas-microsoft-com:vml" Requires="v">
                  <p:oleObj spid="_x0000_s5296" name="Equation" r:id="rId3" imgW="713740" imgH="323215" progId="Equation.DSMT4">
                    <p:embed/>
                  </p:oleObj>
                </mc:Choice>
                <mc:Fallback>
                  <p:oleObj name="Equation" r:id="rId3" imgW="713740" imgH="323215"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Gray">
                        <a:xfrm>
                          <a:off x="827584" y="5157192"/>
                          <a:ext cx="1414594" cy="6705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6" name="组合 76"/>
          <p:cNvGrpSpPr/>
          <p:nvPr/>
        </p:nvGrpSpPr>
        <p:grpSpPr bwMode="auto">
          <a:xfrm>
            <a:off x="395288" y="908050"/>
            <a:ext cx="8280400" cy="1052513"/>
            <a:chOff x="395536" y="908720"/>
            <a:chExt cx="8280920" cy="1052596"/>
          </a:xfrm>
        </p:grpSpPr>
        <p:sp>
          <p:nvSpPr>
            <p:cNvPr id="5128" name="Text Box 34"/>
            <p:cNvSpPr txBox="1">
              <a:spLocks noChangeArrowheads="1"/>
            </p:cNvSpPr>
            <p:nvPr/>
          </p:nvSpPr>
          <p:spPr bwMode="blackWhite">
            <a:xfrm>
              <a:off x="1259632" y="908720"/>
              <a:ext cx="7416824"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lang="zh-CN" altLang="en-US" b="1"/>
                <a:t>频率都较大而</a:t>
              </a:r>
              <a:r>
                <a:rPr lang="zh-CN" altLang="en-US" b="1">
                  <a:solidFill>
                    <a:srgbClr val="FF0000"/>
                  </a:solidFill>
                </a:rPr>
                <a:t>频率之差很小</a:t>
              </a:r>
              <a:r>
                <a:rPr lang="zh-CN" altLang="en-US" b="1"/>
                <a:t>的两个同方向简谐振动合成时所产生的这种合振幅时而加强时而减弱的现象</a:t>
              </a:r>
              <a:endParaRPr lang="zh-CN" altLang="en-US" b="1"/>
            </a:p>
          </p:txBody>
        </p:sp>
        <p:sp>
          <p:nvSpPr>
            <p:cNvPr id="76" name="Text Box 7"/>
            <p:cNvSpPr txBox="1">
              <a:spLocks noChangeArrowheads="1"/>
            </p:cNvSpPr>
            <p:nvPr/>
          </p:nvSpPr>
          <p:spPr bwMode="auto">
            <a:xfrm>
              <a:off x="395536" y="908720"/>
              <a:ext cx="720770" cy="731896"/>
            </a:xfrm>
            <a:prstGeom prst="rect">
              <a:avLst/>
            </a:prstGeom>
            <a:noFill/>
            <a:ln w="28575">
              <a:noFill/>
              <a:miter lim="800000"/>
            </a:ln>
          </p:spPr>
          <p:txBody>
            <a:bodyPr>
              <a:spAutoFit/>
            </a:bodyPr>
            <a:lstStyle/>
            <a:p>
              <a:pPr>
                <a:lnSpc>
                  <a:spcPct val="130000"/>
                </a:lnSpc>
                <a:spcBef>
                  <a:spcPct val="50000"/>
                </a:spcBef>
                <a:defRPr/>
              </a:pPr>
              <a:r>
                <a:rPr kumimoji="1" lang="zh-CN" altLang="en-US" sz="3200" b="1" dirty="0">
                  <a:solidFill>
                    <a:schemeClr val="accent2">
                      <a:lumMod val="50000"/>
                    </a:schemeClr>
                  </a:solidFill>
                  <a:latin typeface="Times New Roman" panose="02020603050405020304" pitchFamily="18" charset="0"/>
                </a:rPr>
                <a:t>拍：</a:t>
              </a:r>
              <a:endParaRPr kumimoji="1" lang="zh-CN" altLang="en-US" sz="3200" b="1" dirty="0">
                <a:solidFill>
                  <a:schemeClr val="accent2">
                    <a:lumMod val="50000"/>
                  </a:schemeClr>
                </a:solidFill>
                <a:latin typeface="Times New Roman" panose="02020603050405020304" pitchFamily="18" charset="0"/>
              </a:endParaRPr>
            </a:p>
          </p:txBody>
        </p:sp>
      </p:grpSp>
      <p:graphicFrame>
        <p:nvGraphicFramePr>
          <p:cNvPr id="78" name="Object 9"/>
          <p:cNvGraphicFramePr>
            <a:graphicFrameLocks noChangeAspect="1"/>
          </p:cNvGraphicFramePr>
          <p:nvPr/>
        </p:nvGraphicFramePr>
        <p:xfrm>
          <a:off x="684213" y="4797425"/>
          <a:ext cx="7775575" cy="1727200"/>
        </p:xfrm>
        <a:graphic>
          <a:graphicData uri="http://schemas.openxmlformats.org/presentationml/2006/ole">
            <mc:AlternateContent xmlns:mc="http://schemas.openxmlformats.org/markup-compatibility/2006">
              <mc:Choice xmlns:v="urn:schemas-microsoft-com:vml" Requires="v">
                <p:oleObj spid="_x0000_s5297" name="Equation" r:id="rId5" imgW="2971800" imgH="660400" progId="Equation.3">
                  <p:embed/>
                </p:oleObj>
              </mc:Choice>
              <mc:Fallback>
                <p:oleObj name="Equation" r:id="rId5" imgW="2971800" imgH="6604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4797425"/>
                        <a:ext cx="7775575" cy="172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xit" presetSubtype="10" fill="hold" nodeType="clickEffect">
                                  <p:stCondLst>
                                    <p:cond delay="0"/>
                                  </p:stCondLst>
                                  <p:childTnLst>
                                    <p:animEffect transition="out" filter="blinds(horizontal)">
                                      <p:cBhvr>
                                        <p:cTn id="18" dur="500"/>
                                        <p:tgtEl>
                                          <p:spTgt spid="78"/>
                                        </p:tgtEl>
                                      </p:cBhvr>
                                    </p:animEffect>
                                    <p:set>
                                      <p:cBhvr>
                                        <p:cTn id="19" dur="1" fill="hold">
                                          <p:stCondLst>
                                            <p:cond delay="499"/>
                                          </p:stCondLst>
                                        </p:cTn>
                                        <p:tgtEl>
                                          <p:spTgt spid="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8"/>
          <p:cNvGrpSpPr/>
          <p:nvPr/>
        </p:nvGrpSpPr>
        <p:grpSpPr bwMode="auto">
          <a:xfrm>
            <a:off x="5508625" y="1958975"/>
            <a:ext cx="3240088" cy="1685925"/>
            <a:chOff x="863600" y="2060575"/>
            <a:chExt cx="3240088" cy="1685925"/>
          </a:xfrm>
        </p:grpSpPr>
        <p:sp>
          <p:nvSpPr>
            <p:cNvPr id="6158" name="Text Box 6"/>
            <p:cNvSpPr txBox="1">
              <a:spLocks noChangeArrowheads="1"/>
            </p:cNvSpPr>
            <p:nvPr/>
          </p:nvSpPr>
          <p:spPr bwMode="auto">
            <a:xfrm>
              <a:off x="1079500" y="2924175"/>
              <a:ext cx="30241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b="1">
                  <a:solidFill>
                    <a:srgbClr val="0000FF"/>
                  </a:solidFill>
                  <a:latin typeface="Times New Roman" panose="02020603050405020304" pitchFamily="18" charset="0"/>
                  <a:ea typeface="楷体_GB2312" panose="02010609030101010101" pitchFamily="49" charset="-122"/>
                </a:rPr>
                <a:t>合成轨迹为稳定的闭合曲线</a:t>
              </a:r>
              <a:r>
                <a:rPr kumimoji="1" lang="en-US" altLang="zh-CN" b="1">
                  <a:solidFill>
                    <a:srgbClr val="FF0000"/>
                  </a:solidFill>
                  <a:latin typeface="Times New Roman" panose="02020603050405020304" pitchFamily="18" charset="0"/>
                  <a:ea typeface="楷体_GB2312" panose="02010609030101010101" pitchFamily="49" charset="-122"/>
                </a:rPr>
                <a:t>—</a:t>
              </a:r>
              <a:r>
                <a:rPr kumimoji="1" lang="zh-CN" altLang="en-US" b="1">
                  <a:solidFill>
                    <a:srgbClr val="FF0000"/>
                  </a:solidFill>
                  <a:latin typeface="Times New Roman" panose="02020603050405020304" pitchFamily="18" charset="0"/>
                  <a:ea typeface="楷体_GB2312" panose="02010609030101010101" pitchFamily="49" charset="-122"/>
                </a:rPr>
                <a:t>李萨如图</a:t>
              </a:r>
              <a:endParaRPr kumimoji="1" lang="zh-CN" altLang="en-US" b="1">
                <a:solidFill>
                  <a:srgbClr val="FF0000"/>
                </a:solidFill>
                <a:latin typeface="Times New Roman" panose="02020603050405020304" pitchFamily="18" charset="0"/>
                <a:ea typeface="楷体_GB2312" panose="02010609030101010101" pitchFamily="49" charset="-122"/>
              </a:endParaRPr>
            </a:p>
          </p:txBody>
        </p:sp>
        <p:sp>
          <p:nvSpPr>
            <p:cNvPr id="6159" name="Rectangle 22"/>
            <p:cNvSpPr>
              <a:spLocks noChangeArrowheads="1"/>
            </p:cNvSpPr>
            <p:nvPr/>
          </p:nvSpPr>
          <p:spPr bwMode="auto">
            <a:xfrm>
              <a:off x="863600" y="2060575"/>
              <a:ext cx="17287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solidFill>
                    <a:srgbClr val="0000FF"/>
                  </a:solidFill>
                  <a:latin typeface="Times New Roman" panose="02020603050405020304" pitchFamily="18" charset="0"/>
                </a:rPr>
                <a:t>若两频率成简单整数比</a:t>
              </a:r>
              <a:endParaRPr kumimoji="1" lang="zh-CN" altLang="en-US" b="1">
                <a:solidFill>
                  <a:srgbClr val="0000FF"/>
                </a:solidFill>
                <a:latin typeface="Times New Roman" panose="02020603050405020304" pitchFamily="18" charset="0"/>
              </a:endParaRPr>
            </a:p>
          </p:txBody>
        </p:sp>
        <p:graphicFrame>
          <p:nvGraphicFramePr>
            <p:cNvPr id="6154" name="Object 3"/>
            <p:cNvGraphicFramePr>
              <a:graphicFrameLocks noChangeAspect="1"/>
            </p:cNvGraphicFramePr>
            <p:nvPr/>
          </p:nvGraphicFramePr>
          <p:xfrm>
            <a:off x="2794000" y="2060575"/>
            <a:ext cx="1165225" cy="811213"/>
          </p:xfrm>
          <a:graphic>
            <a:graphicData uri="http://schemas.openxmlformats.org/presentationml/2006/ole">
              <mc:AlternateContent xmlns:mc="http://schemas.openxmlformats.org/markup-compatibility/2006">
                <mc:Choice xmlns:v="urn:schemas-microsoft-com:vml" Requires="v">
                  <p:oleObj spid="_x0000_s6466" name="公式" r:id="rId1" imgW="591185" imgH="412750" progId="Equation.3">
                    <p:embed/>
                  </p:oleObj>
                </mc:Choice>
                <mc:Fallback>
                  <p:oleObj name="公式" r:id="rId1" imgW="591185" imgH="41275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4000" y="2060575"/>
                          <a:ext cx="1165225"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3" name="Object 11"/>
          <p:cNvGraphicFramePr>
            <a:graphicFrameLocks noChangeAspect="1"/>
          </p:cNvGraphicFramePr>
          <p:nvPr/>
        </p:nvGraphicFramePr>
        <p:xfrm>
          <a:off x="0" y="2420938"/>
          <a:ext cx="5040313" cy="1106487"/>
        </p:xfrm>
        <a:graphic>
          <a:graphicData uri="http://schemas.openxmlformats.org/presentationml/2006/ole">
            <mc:AlternateContent xmlns:mc="http://schemas.openxmlformats.org/markup-compatibility/2006">
              <mc:Choice xmlns:v="urn:schemas-microsoft-com:vml" Requires="v">
                <p:oleObj spid="_x0000_s6467" name="Equation" r:id="rId3" imgW="2442210" imgH="535305" progId="Equation.DSMT4">
                  <p:embed/>
                </p:oleObj>
              </mc:Choice>
              <mc:Fallback>
                <p:oleObj name="Equation" r:id="rId3" imgW="2442210" imgH="535305"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Gray">
                      <a:xfrm>
                        <a:off x="0" y="2420938"/>
                        <a:ext cx="5040313" cy="110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12"/>
          <p:cNvGraphicFramePr>
            <a:graphicFrameLocks noChangeAspect="1"/>
          </p:cNvGraphicFramePr>
          <p:nvPr/>
        </p:nvGraphicFramePr>
        <p:xfrm>
          <a:off x="539750" y="1916113"/>
          <a:ext cx="2808288" cy="539750"/>
        </p:xfrm>
        <a:graphic>
          <a:graphicData uri="http://schemas.openxmlformats.org/presentationml/2006/ole">
            <mc:AlternateContent xmlns:mc="http://schemas.openxmlformats.org/markup-compatibility/2006">
              <mc:Choice xmlns:v="urn:schemas-microsoft-com:vml" Requires="v">
                <p:oleObj spid="_x0000_s6468" name="Equation" r:id="rId5" imgW="1393825" imgH="267335" progId="Equation.DSMT4">
                  <p:embed/>
                </p:oleObj>
              </mc:Choice>
              <mc:Fallback>
                <p:oleObj name="Equation" r:id="rId5" imgW="1393825" imgH="267335"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Gray">
                      <a:xfrm>
                        <a:off x="539750" y="1916113"/>
                        <a:ext cx="2808288"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 name="Text Box 72"/>
          <p:cNvSpPr txBox="1">
            <a:spLocks noChangeArrowheads="1"/>
          </p:cNvSpPr>
          <p:nvPr/>
        </p:nvSpPr>
        <p:spPr bwMode="auto">
          <a:xfrm>
            <a:off x="0" y="0"/>
            <a:ext cx="8153400" cy="579438"/>
          </a:xfrm>
          <a:prstGeom prst="rect">
            <a:avLst/>
          </a:prstGeom>
          <a:noFill/>
          <a:ln w="28575">
            <a:noFill/>
            <a:miter lim="800000"/>
          </a:ln>
        </p:spPr>
        <p:txBody>
          <a:bodyPr>
            <a:spAutoFit/>
          </a:bodyPr>
          <a:lstStyle/>
          <a:p>
            <a:pPr>
              <a:spcBef>
                <a:spcPct val="50000"/>
              </a:spcBef>
              <a:defRPr/>
            </a:pPr>
            <a:r>
              <a:rPr kumimoji="1" lang="en-US" altLang="zh-CN" sz="3200" b="1" dirty="0">
                <a:solidFill>
                  <a:schemeClr val="accent2">
                    <a:lumMod val="50000"/>
                  </a:schemeClr>
                </a:solidFill>
                <a:latin typeface="Times New Roman" panose="02020603050405020304" pitchFamily="18" charset="0"/>
              </a:rPr>
              <a:t>3</a:t>
            </a:r>
            <a:r>
              <a:rPr kumimoji="1" lang="zh-CN" altLang="en-US" sz="3200" b="1" dirty="0">
                <a:solidFill>
                  <a:schemeClr val="accent2">
                    <a:lumMod val="50000"/>
                  </a:schemeClr>
                </a:solidFill>
                <a:latin typeface="Times New Roman" panose="02020603050405020304" pitchFamily="18" charset="0"/>
              </a:rPr>
              <a:t>）相互垂直的简谐运动的合成    </a:t>
            </a:r>
            <a:endParaRPr kumimoji="1" lang="zh-CN" altLang="en-US" sz="3200" b="1" dirty="0">
              <a:solidFill>
                <a:schemeClr val="accent2">
                  <a:lumMod val="50000"/>
                </a:schemeClr>
              </a:solidFill>
              <a:latin typeface="Times New Roman" panose="02020603050405020304" pitchFamily="18" charset="0"/>
            </a:endParaRPr>
          </a:p>
        </p:txBody>
      </p:sp>
      <p:graphicFrame>
        <p:nvGraphicFramePr>
          <p:cNvPr id="67599" name="Object 15"/>
          <p:cNvGraphicFramePr>
            <a:graphicFrameLocks noChangeAspect="1"/>
          </p:cNvGraphicFramePr>
          <p:nvPr/>
        </p:nvGraphicFramePr>
        <p:xfrm>
          <a:off x="468313" y="549275"/>
          <a:ext cx="3135312" cy="576263"/>
        </p:xfrm>
        <a:graphic>
          <a:graphicData uri="http://schemas.openxmlformats.org/presentationml/2006/ole">
            <mc:AlternateContent xmlns:mc="http://schemas.openxmlformats.org/markup-compatibility/2006">
              <mc:Choice xmlns:v="urn:schemas-microsoft-com:vml" Requires="v">
                <p:oleObj spid="_x0000_s6469" name="Equation" r:id="rId7" imgW="1244600" imgH="228600" progId="Equation.3">
                  <p:embed/>
                </p:oleObj>
              </mc:Choice>
              <mc:Fallback>
                <p:oleObj name="Equation" r:id="rId7" imgW="1244600" imgH="2286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313" y="549275"/>
                        <a:ext cx="3135312"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600" name="Object 16"/>
          <p:cNvGraphicFramePr>
            <a:graphicFrameLocks noChangeAspect="1"/>
          </p:cNvGraphicFramePr>
          <p:nvPr/>
        </p:nvGraphicFramePr>
        <p:xfrm>
          <a:off x="4211638" y="549275"/>
          <a:ext cx="3263900" cy="576263"/>
        </p:xfrm>
        <a:graphic>
          <a:graphicData uri="http://schemas.openxmlformats.org/presentationml/2006/ole">
            <mc:AlternateContent xmlns:mc="http://schemas.openxmlformats.org/markup-compatibility/2006">
              <mc:Choice xmlns:v="urn:schemas-microsoft-com:vml" Requires="v">
                <p:oleObj spid="_x0000_s6470" name="Equation" r:id="rId9" imgW="1295400" imgH="228600" progId="Equation.3">
                  <p:embed/>
                </p:oleObj>
              </mc:Choice>
              <mc:Fallback>
                <p:oleObj name="Equation" r:id="rId9" imgW="1295400" imgH="228600"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11638" y="549275"/>
                        <a:ext cx="326390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17"/>
          <p:cNvGraphicFramePr>
            <a:graphicFrameLocks noChangeAspect="1"/>
          </p:cNvGraphicFramePr>
          <p:nvPr/>
        </p:nvGraphicFramePr>
        <p:xfrm>
          <a:off x="1116013" y="1174750"/>
          <a:ext cx="1536700" cy="669925"/>
        </p:xfrm>
        <a:graphic>
          <a:graphicData uri="http://schemas.openxmlformats.org/presentationml/2006/ole">
            <mc:AlternateContent xmlns:mc="http://schemas.openxmlformats.org/markup-compatibility/2006">
              <mc:Choice xmlns:v="urn:schemas-microsoft-com:vml" Requires="v">
                <p:oleObj spid="_x0000_s6471" name="Equation" r:id="rId11" imgW="494665" imgH="215900" progId="Equation.3">
                  <p:embed/>
                </p:oleObj>
              </mc:Choice>
              <mc:Fallback>
                <p:oleObj name="Equation" r:id="rId11" imgW="494665" imgH="21590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6013" y="1174750"/>
                        <a:ext cx="1536700" cy="669925"/>
                      </a:xfrm>
                      <a:prstGeom prst="rect">
                        <a:avLst/>
                      </a:prstGeom>
                      <a:gradFill rotWithShape="1">
                        <a:gsLst>
                          <a:gs pos="0">
                            <a:schemeClr val="bg1"/>
                          </a:gs>
                          <a:gs pos="50000">
                            <a:srgbClr val="AF67FF">
                              <a:alpha val="53000"/>
                            </a:srgbClr>
                          </a:gs>
                          <a:gs pos="100000">
                            <a:schemeClr val="bg1"/>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2" name="Object 18"/>
          <p:cNvGraphicFramePr>
            <a:graphicFrameLocks noChangeAspect="1"/>
          </p:cNvGraphicFramePr>
          <p:nvPr/>
        </p:nvGraphicFramePr>
        <p:xfrm>
          <a:off x="6227763" y="1196975"/>
          <a:ext cx="1535112" cy="669925"/>
        </p:xfrm>
        <a:graphic>
          <a:graphicData uri="http://schemas.openxmlformats.org/presentationml/2006/ole">
            <mc:AlternateContent xmlns:mc="http://schemas.openxmlformats.org/markup-compatibility/2006">
              <mc:Choice xmlns:v="urn:schemas-microsoft-com:vml" Requires="v">
                <p:oleObj spid="_x0000_s6472" name="Equation" r:id="rId13" imgW="494665" imgH="215900" progId="Equation.3">
                  <p:embed/>
                </p:oleObj>
              </mc:Choice>
              <mc:Fallback>
                <p:oleObj name="Equation" r:id="rId13" imgW="494665" imgH="215900"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27763" y="1196975"/>
                        <a:ext cx="1535112" cy="669925"/>
                      </a:xfrm>
                      <a:prstGeom prst="rect">
                        <a:avLst/>
                      </a:prstGeom>
                      <a:gradFill rotWithShape="1">
                        <a:gsLst>
                          <a:gs pos="0">
                            <a:srgbClr val="FFFFFF"/>
                          </a:gs>
                          <a:gs pos="50000">
                            <a:schemeClr val="folHlink">
                              <a:alpha val="48000"/>
                            </a:schemeClr>
                          </a:gs>
                          <a:gs pos="100000">
                            <a:srgbClr val="FFFF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任意多边形 31"/>
          <p:cNvSpPr/>
          <p:nvPr/>
        </p:nvSpPr>
        <p:spPr bwMode="auto">
          <a:xfrm>
            <a:off x="3203575" y="1166813"/>
            <a:ext cx="2363788" cy="6149975"/>
          </a:xfrm>
          <a:custGeom>
            <a:avLst/>
            <a:gdLst>
              <a:gd name="T0" fmla="*/ 295171 w 2363410"/>
              <a:gd name="T1" fmla="*/ 0 h 6149218"/>
              <a:gd name="T2" fmla="*/ 324205 w 2363410"/>
              <a:gd name="T3" fmla="*/ 1320964 h 6149218"/>
              <a:gd name="T4" fmla="*/ 295171 w 2363410"/>
              <a:gd name="T5" fmla="*/ 1262899 h 6149218"/>
              <a:gd name="T6" fmla="*/ 2095231 w 2363410"/>
              <a:gd name="T7" fmla="*/ 1553221 h 6149218"/>
              <a:gd name="T8" fmla="*/ 1906515 w 2363410"/>
              <a:gd name="T9" fmla="*/ 1974187 h 6149218"/>
              <a:gd name="T10" fmla="*/ 948419 w 2363410"/>
              <a:gd name="T11" fmla="*/ 2119346 h 6149218"/>
              <a:gd name="T12" fmla="*/ 991968 w 2363410"/>
              <a:gd name="T13" fmla="*/ 2424183 h 6149218"/>
              <a:gd name="T14" fmla="*/ 1021002 w 2363410"/>
              <a:gd name="T15" fmla="*/ 5675785 h 6149218"/>
              <a:gd name="T16" fmla="*/ 991968 w 2363410"/>
              <a:gd name="T17" fmla="*/ 5269335 h 61492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63410"/>
              <a:gd name="T28" fmla="*/ 0 h 6149218"/>
              <a:gd name="T29" fmla="*/ 2363410 w 2363410"/>
              <a:gd name="T30" fmla="*/ 6149218 h 61492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63410" h="6149218">
                <a:moveTo>
                  <a:pt x="295124" y="0"/>
                </a:moveTo>
                <a:cubicBezTo>
                  <a:pt x="309638" y="555171"/>
                  <a:pt x="324153" y="1110343"/>
                  <a:pt x="324153" y="1320800"/>
                </a:cubicBezTo>
                <a:cubicBezTo>
                  <a:pt x="324153" y="1531257"/>
                  <a:pt x="0" y="1224037"/>
                  <a:pt x="295124" y="1262742"/>
                </a:cubicBezTo>
                <a:cubicBezTo>
                  <a:pt x="590248" y="1301447"/>
                  <a:pt x="1826382" y="1434495"/>
                  <a:pt x="2094896" y="1553028"/>
                </a:cubicBezTo>
                <a:cubicBezTo>
                  <a:pt x="2363410" y="1671561"/>
                  <a:pt x="2097315" y="1879599"/>
                  <a:pt x="1906210" y="1973942"/>
                </a:cubicBezTo>
                <a:cubicBezTo>
                  <a:pt x="1715105" y="2068285"/>
                  <a:pt x="1100667" y="2044094"/>
                  <a:pt x="948267" y="2119085"/>
                </a:cubicBezTo>
                <a:cubicBezTo>
                  <a:pt x="795867" y="2194076"/>
                  <a:pt x="979715" y="1831218"/>
                  <a:pt x="991810" y="2423885"/>
                </a:cubicBezTo>
                <a:cubicBezTo>
                  <a:pt x="1003905" y="3016552"/>
                  <a:pt x="1020839" y="5200952"/>
                  <a:pt x="1020839" y="5675085"/>
                </a:cubicBezTo>
                <a:cubicBezTo>
                  <a:pt x="1020839" y="6149218"/>
                  <a:pt x="1006324" y="5708951"/>
                  <a:pt x="991810" y="5268685"/>
                </a:cubicBezTo>
              </a:path>
            </a:pathLst>
          </a:custGeom>
          <a:noFill/>
          <a:ln w="47625" cap="flat" cmpd="sng" algn="ctr">
            <a:solidFill>
              <a:srgbClr val="7030A0">
                <a:alpha val="50195"/>
              </a:srgbClr>
            </a:solidFill>
            <a:prstDash val="solid"/>
            <a:round/>
            <a:headEnd type="none" w="med" len="med"/>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ontrols>
      <mc:AlternateContent xmlns:mc="http://schemas.openxmlformats.org/markup-compatibility/2006">
        <mc:Choice xmlns:v="urn:schemas-microsoft-com:vml" Requires="v">
          <p:control spid="6473" name="" r:id="rId15" imgW="4824412" imgH="3025775"/>
        </mc:Choice>
        <mc:Fallback>
          <p:control name="" r:id="rId15" imgW="4824412" imgH="3025775">
            <p:pic>
              <p:nvPicPr>
                <p:cNvPr id="0" name="Host Control  6472"/>
                <p:cNvPicPr preferRelativeResize="0">
                  <a:picLocks noChangeArrowheads="1" noChangeShapeType="1"/>
                </p:cNvPicPr>
                <p:nvPr/>
              </p:nvPicPr>
              <p:blipFill>
                <a:blip r:embed="rId16"/>
                <a:srcRect/>
                <a:stretch>
                  <a:fillRect/>
                </a:stretch>
              </p:blipFill>
              <p:spPr bwMode="auto">
                <a:xfrm>
                  <a:off x="4319588" y="3832225"/>
                  <a:ext cx="4824412" cy="3025775"/>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6474" name="" r:id="rId17" imgW="3600450" imgH="3168650"/>
        </mc:Choice>
        <mc:Fallback>
          <p:control name="" r:id="rId17" imgW="3600450" imgH="3168650">
            <p:pic>
              <p:nvPicPr>
                <p:cNvPr id="0" name="Host Control  6473"/>
                <p:cNvPicPr preferRelativeResize="0">
                  <a:picLocks noChangeArrowheads="1" noChangeShapeType="1"/>
                </p:cNvPicPr>
                <p:nvPr/>
              </p:nvPicPr>
              <p:blipFill>
                <a:blip r:embed="rId18"/>
                <a:srcRect/>
                <a:stretch>
                  <a:fillRect/>
                </a:stretch>
              </p:blipFill>
              <p:spPr bwMode="auto">
                <a:xfrm>
                  <a:off x="395288" y="3500438"/>
                  <a:ext cx="3600450" cy="316865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599"/>
                                        </p:tgtEl>
                                        <p:attrNameLst>
                                          <p:attrName>style.visibility</p:attrName>
                                        </p:attrNameLst>
                                      </p:cBhvr>
                                      <p:to>
                                        <p:strVal val="visible"/>
                                      </p:to>
                                    </p:set>
                                    <p:animEffect transition="in" filter="fade">
                                      <p:cBhvr>
                                        <p:cTn id="7" dur="500"/>
                                        <p:tgtEl>
                                          <p:spTgt spid="675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7600"/>
                                        </p:tgtEl>
                                        <p:attrNameLst>
                                          <p:attrName>style.visibility</p:attrName>
                                        </p:attrNameLst>
                                      </p:cBhvr>
                                      <p:to>
                                        <p:strVal val="visible"/>
                                      </p:to>
                                    </p:set>
                                    <p:animEffect transition="in" filter="fade">
                                      <p:cBhvr>
                                        <p:cTn id="12" dur="500"/>
                                        <p:tgtEl>
                                          <p:spTgt spid="6760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ox(in)">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box(in)">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20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67602"/>
                                        </p:tgtEl>
                                        <p:attrNameLst>
                                          <p:attrName>style.visibility</p:attrName>
                                        </p:attrNameLst>
                                      </p:cBhvr>
                                      <p:to>
                                        <p:strVal val="visible"/>
                                      </p:to>
                                    </p:set>
                                    <p:animEffect transition="in" filter="box(in)">
                                      <p:cBhvr>
                                        <p:cTn id="36" dur="500"/>
                                        <p:tgtEl>
                                          <p:spTgt spid="67602"/>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blinds(horizontal)">
                                      <p:cBhvr>
                                        <p:cTn id="4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ChangeArrowheads="1"/>
          </p:cNvSpPr>
          <p:nvPr/>
        </p:nvSpPr>
        <p:spPr bwMode="auto">
          <a:xfrm>
            <a:off x="0" y="0"/>
            <a:ext cx="24844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33CC"/>
                </a:solidFill>
                <a:latin typeface="宋体" panose="02010600030101010101" pitchFamily="2" charset="-122"/>
              </a:rPr>
              <a:t>阻尼振动</a:t>
            </a:r>
            <a:r>
              <a:rPr lang="en-US" altLang="zh-CN" sz="3200" b="1" dirty="0">
                <a:solidFill>
                  <a:srgbClr val="0033CC"/>
                </a:solidFill>
                <a:latin typeface="宋体" panose="02010600030101010101" pitchFamily="2" charset="-122"/>
              </a:rPr>
              <a:t>*</a:t>
            </a:r>
            <a:endParaRPr lang="zh-CN" altLang="en-US" sz="3200" b="1" dirty="0">
              <a:solidFill>
                <a:srgbClr val="0033CC"/>
              </a:solidFill>
              <a:latin typeface="宋体" panose="02010600030101010101" pitchFamily="2" charset="-122"/>
            </a:endParaRPr>
          </a:p>
        </p:txBody>
      </p:sp>
      <p:sp>
        <p:nvSpPr>
          <p:cNvPr id="53253" name="Rectangle 5"/>
          <p:cNvSpPr>
            <a:spLocks noChangeArrowheads="1"/>
          </p:cNvSpPr>
          <p:nvPr/>
        </p:nvSpPr>
        <p:spPr bwMode="auto">
          <a:xfrm>
            <a:off x="0" y="765175"/>
            <a:ext cx="3744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Times New Roman" panose="02020603050405020304" pitchFamily="18" charset="0"/>
              </a:rPr>
              <a:t>考虑与速率成正比的阻力      </a:t>
            </a:r>
            <a:endParaRPr kumimoji="1" lang="zh-CN" altLang="en-US">
              <a:latin typeface="Times New Roman" panose="02020603050405020304" pitchFamily="18" charset="0"/>
            </a:endParaRPr>
          </a:p>
        </p:txBody>
      </p:sp>
      <p:graphicFrame>
        <p:nvGraphicFramePr>
          <p:cNvPr id="53255" name="Object 2"/>
          <p:cNvGraphicFramePr>
            <a:graphicFrameLocks noChangeAspect="1"/>
          </p:cNvGraphicFramePr>
          <p:nvPr/>
        </p:nvGraphicFramePr>
        <p:xfrm>
          <a:off x="4284663" y="620713"/>
          <a:ext cx="2705100" cy="708025"/>
        </p:xfrm>
        <a:graphic>
          <a:graphicData uri="http://schemas.openxmlformats.org/presentationml/2006/ole">
            <mc:AlternateContent xmlns:mc="http://schemas.openxmlformats.org/markup-compatibility/2006">
              <mc:Choice xmlns:v="urn:schemas-microsoft-com:vml" Requires="v">
                <p:oleObj spid="_x0000_s7534" name="公式" r:id="rId1" imgW="1180465" imgH="330200" progId="Equation.3">
                  <p:embed/>
                </p:oleObj>
              </mc:Choice>
              <mc:Fallback>
                <p:oleObj name="公式" r:id="rId1" imgW="1180465" imgH="3302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4663" y="620713"/>
                        <a:ext cx="2705100"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7" name="Object 3"/>
          <p:cNvGraphicFramePr>
            <a:graphicFrameLocks noChangeAspect="1"/>
          </p:cNvGraphicFramePr>
          <p:nvPr/>
        </p:nvGraphicFramePr>
        <p:xfrm>
          <a:off x="2987675" y="4221163"/>
          <a:ext cx="1119188" cy="555625"/>
        </p:xfrm>
        <a:graphic>
          <a:graphicData uri="http://schemas.openxmlformats.org/presentationml/2006/ole">
            <mc:AlternateContent xmlns:mc="http://schemas.openxmlformats.org/markup-compatibility/2006">
              <mc:Choice xmlns:v="urn:schemas-microsoft-com:vml" Requires="v">
                <p:oleObj spid="_x0000_s7535" name="Equation" r:id="rId3" imgW="613410" imgH="300990" progId="Equation.DSMT4">
                  <p:embed/>
                </p:oleObj>
              </mc:Choice>
              <mc:Fallback>
                <p:oleObj name="Equation" r:id="rId3" imgW="613410" imgH="30099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4221163"/>
                        <a:ext cx="1119188" cy="5556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8" name="Object 4"/>
          <p:cNvGraphicFramePr>
            <a:graphicFrameLocks noChangeAspect="1"/>
          </p:cNvGraphicFramePr>
          <p:nvPr/>
        </p:nvGraphicFramePr>
        <p:xfrm>
          <a:off x="3779838" y="2208213"/>
          <a:ext cx="1152525" cy="573087"/>
        </p:xfrm>
        <a:graphic>
          <a:graphicData uri="http://schemas.openxmlformats.org/presentationml/2006/ole">
            <mc:AlternateContent xmlns:mc="http://schemas.openxmlformats.org/markup-compatibility/2006">
              <mc:Choice xmlns:v="urn:schemas-microsoft-com:vml" Requires="v">
                <p:oleObj spid="_x0000_s7536" name="Equation" r:id="rId5" imgW="613410" imgH="300990" progId="Equation.DSMT4">
                  <p:embed/>
                </p:oleObj>
              </mc:Choice>
              <mc:Fallback>
                <p:oleObj name="Equation" r:id="rId5" imgW="613410" imgH="30099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838" y="2208213"/>
                        <a:ext cx="1152525" cy="5730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9" name="Object 5"/>
          <p:cNvGraphicFramePr>
            <a:graphicFrameLocks noChangeAspect="1"/>
          </p:cNvGraphicFramePr>
          <p:nvPr/>
        </p:nvGraphicFramePr>
        <p:xfrm>
          <a:off x="3217863" y="1709738"/>
          <a:ext cx="1138237" cy="566737"/>
        </p:xfrm>
        <a:graphic>
          <a:graphicData uri="http://schemas.openxmlformats.org/presentationml/2006/ole">
            <mc:AlternateContent xmlns:mc="http://schemas.openxmlformats.org/markup-compatibility/2006">
              <mc:Choice xmlns:v="urn:schemas-microsoft-com:vml" Requires="v">
                <p:oleObj spid="_x0000_s7537" name="Equation" r:id="rId7" imgW="613410" imgH="300990" progId="Equation.DSMT4">
                  <p:embed/>
                </p:oleObj>
              </mc:Choice>
              <mc:Fallback>
                <p:oleObj name="Equation" r:id="rId7" imgW="613410" imgH="30099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17863" y="1709738"/>
                        <a:ext cx="1138237" cy="56673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42"/>
          <p:cNvGrpSpPr/>
          <p:nvPr/>
        </p:nvGrpSpPr>
        <p:grpSpPr bwMode="auto">
          <a:xfrm>
            <a:off x="323850" y="1412875"/>
            <a:ext cx="3733800" cy="3265488"/>
            <a:chOff x="295" y="1933"/>
            <a:chExt cx="2352" cy="2057"/>
          </a:xfrm>
        </p:grpSpPr>
        <p:grpSp>
          <p:nvGrpSpPr>
            <p:cNvPr id="7193" name="Group 19"/>
            <p:cNvGrpSpPr/>
            <p:nvPr/>
          </p:nvGrpSpPr>
          <p:grpSpPr bwMode="auto">
            <a:xfrm>
              <a:off x="568" y="2205"/>
              <a:ext cx="1956" cy="816"/>
              <a:chOff x="3576" y="1752"/>
              <a:chExt cx="1956" cy="816"/>
            </a:xfrm>
          </p:grpSpPr>
          <p:sp>
            <p:nvSpPr>
              <p:cNvPr id="7208" name="Arc 20"/>
              <p:cNvSpPr/>
              <p:nvPr/>
            </p:nvSpPr>
            <p:spPr bwMode="auto">
              <a:xfrm flipH="1" flipV="1">
                <a:off x="3576" y="1752"/>
                <a:ext cx="1908" cy="816"/>
              </a:xfrm>
              <a:custGeom>
                <a:avLst/>
                <a:gdLst>
                  <a:gd name="T0" fmla="*/ 0 w 21600"/>
                  <a:gd name="T1" fmla="*/ 0 h 21600"/>
                  <a:gd name="T2" fmla="*/ 169 w 21600"/>
                  <a:gd name="T3" fmla="*/ 31 h 21600"/>
                  <a:gd name="T4" fmla="*/ 0 w 21600"/>
                  <a:gd name="T5" fmla="*/ 3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09" name="Text Box 21"/>
              <p:cNvSpPr txBox="1">
                <a:spLocks noChangeArrowheads="1"/>
              </p:cNvSpPr>
              <p:nvPr/>
            </p:nvSpPr>
            <p:spPr bwMode="auto">
              <a:xfrm>
                <a:off x="4812" y="1980"/>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00FF"/>
                    </a:solidFill>
                    <a:latin typeface="Times New Roman" panose="02020603050405020304" pitchFamily="18" charset="0"/>
                    <a:ea typeface="楷体_GB2312" panose="02010609030101010101" pitchFamily="49" charset="-122"/>
                  </a:rPr>
                  <a:t>过阻尼</a:t>
                </a:r>
                <a:endParaRPr kumimoji="1" lang="zh-CN" altLang="en-US" b="1">
                  <a:solidFill>
                    <a:srgbClr val="FF00FF"/>
                  </a:solidFill>
                  <a:latin typeface="Times New Roman" panose="02020603050405020304" pitchFamily="18" charset="0"/>
                  <a:ea typeface="楷体_GB2312" panose="02010609030101010101" pitchFamily="49" charset="-122"/>
                </a:endParaRPr>
              </a:p>
            </p:txBody>
          </p:sp>
          <p:sp>
            <p:nvSpPr>
              <p:cNvPr id="7210" name="Line 22"/>
              <p:cNvSpPr>
                <a:spLocks noChangeShapeType="1"/>
              </p:cNvSpPr>
              <p:nvPr/>
            </p:nvSpPr>
            <p:spPr bwMode="auto">
              <a:xfrm flipV="1">
                <a:off x="4476" y="2220"/>
                <a:ext cx="336"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194" name="Group 23"/>
            <p:cNvGrpSpPr/>
            <p:nvPr/>
          </p:nvGrpSpPr>
          <p:grpSpPr bwMode="auto">
            <a:xfrm>
              <a:off x="567" y="2114"/>
              <a:ext cx="1860" cy="1008"/>
              <a:chOff x="3576" y="1644"/>
              <a:chExt cx="1860" cy="1008"/>
            </a:xfrm>
          </p:grpSpPr>
          <p:sp>
            <p:nvSpPr>
              <p:cNvPr id="7205" name="Arc 24"/>
              <p:cNvSpPr/>
              <p:nvPr/>
            </p:nvSpPr>
            <p:spPr bwMode="auto">
              <a:xfrm flipH="1" flipV="1">
                <a:off x="3576" y="1776"/>
                <a:ext cx="816" cy="876"/>
              </a:xfrm>
              <a:custGeom>
                <a:avLst/>
                <a:gdLst>
                  <a:gd name="T0" fmla="*/ 0 w 21600"/>
                  <a:gd name="T1" fmla="*/ 0 h 21600"/>
                  <a:gd name="T2" fmla="*/ 31 w 21600"/>
                  <a:gd name="T3" fmla="*/ 36 h 21600"/>
                  <a:gd name="T4" fmla="*/ 0 w 21600"/>
                  <a:gd name="T5" fmla="*/ 3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33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06" name="Text Box 25"/>
              <p:cNvSpPr txBox="1">
                <a:spLocks noChangeArrowheads="1"/>
              </p:cNvSpPr>
              <p:nvPr/>
            </p:nvSpPr>
            <p:spPr bwMode="auto">
              <a:xfrm>
                <a:off x="4236" y="1644"/>
                <a:ext cx="1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3300"/>
                    </a:solidFill>
                    <a:latin typeface="Times New Roman" panose="02020603050405020304" pitchFamily="18" charset="0"/>
                    <a:ea typeface="楷体_GB2312" panose="02010609030101010101" pitchFamily="49" charset="-122"/>
                  </a:rPr>
                  <a:t>临界阻尼</a:t>
                </a:r>
                <a:endParaRPr kumimoji="1" lang="zh-CN" altLang="en-US" b="1">
                  <a:solidFill>
                    <a:srgbClr val="FF3300"/>
                  </a:solidFill>
                  <a:latin typeface="Times New Roman" panose="02020603050405020304" pitchFamily="18" charset="0"/>
                  <a:ea typeface="楷体_GB2312" panose="02010609030101010101" pitchFamily="49" charset="-122"/>
                </a:endParaRPr>
              </a:p>
            </p:txBody>
          </p:sp>
          <p:sp>
            <p:nvSpPr>
              <p:cNvPr id="7207" name="Line 26"/>
              <p:cNvSpPr>
                <a:spLocks noChangeShapeType="1"/>
              </p:cNvSpPr>
              <p:nvPr/>
            </p:nvSpPr>
            <p:spPr bwMode="auto">
              <a:xfrm flipV="1">
                <a:off x="3804" y="1884"/>
                <a:ext cx="480" cy="4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195" name="Group 27"/>
            <p:cNvGrpSpPr/>
            <p:nvPr/>
          </p:nvGrpSpPr>
          <p:grpSpPr bwMode="auto">
            <a:xfrm>
              <a:off x="295" y="1933"/>
              <a:ext cx="2352" cy="2028"/>
              <a:chOff x="113" y="1522"/>
              <a:chExt cx="2352" cy="2028"/>
            </a:xfrm>
          </p:grpSpPr>
          <p:sp>
            <p:nvSpPr>
              <p:cNvPr id="7199" name="Line 28"/>
              <p:cNvSpPr>
                <a:spLocks noChangeShapeType="1"/>
              </p:cNvSpPr>
              <p:nvPr/>
            </p:nvSpPr>
            <p:spPr bwMode="auto">
              <a:xfrm>
                <a:off x="209" y="2722"/>
                <a:ext cx="2160" cy="0"/>
              </a:xfrm>
              <a:prstGeom prst="line">
                <a:avLst/>
              </a:prstGeom>
              <a:noFill/>
              <a:ln w="19050">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0" name="Line 29"/>
              <p:cNvSpPr>
                <a:spLocks noChangeShapeType="1"/>
              </p:cNvSpPr>
              <p:nvPr/>
            </p:nvSpPr>
            <p:spPr bwMode="auto">
              <a:xfrm flipV="1">
                <a:off x="382" y="1582"/>
                <a:ext cx="0" cy="1968"/>
              </a:xfrm>
              <a:prstGeom prst="line">
                <a:avLst/>
              </a:prstGeom>
              <a:noFill/>
              <a:ln w="19050">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1" name="Text Box 30"/>
              <p:cNvSpPr txBox="1">
                <a:spLocks noChangeArrowheads="1"/>
              </p:cNvSpPr>
              <p:nvPr/>
            </p:nvSpPr>
            <p:spPr bwMode="auto">
              <a:xfrm>
                <a:off x="113" y="1522"/>
                <a:ext cx="2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i="1">
                    <a:latin typeface="Times New Roman" panose="02020603050405020304" pitchFamily="18" charset="0"/>
                  </a:rPr>
                  <a:t>x</a:t>
                </a:r>
                <a:endParaRPr kumimoji="1" lang="en-US" altLang="zh-CN" sz="2800" b="1" i="1">
                  <a:latin typeface="Times New Roman" panose="02020603050405020304" pitchFamily="18" charset="0"/>
                </a:endParaRPr>
              </a:p>
            </p:txBody>
          </p:sp>
          <p:sp>
            <p:nvSpPr>
              <p:cNvPr id="7202" name="Text Box 31"/>
              <p:cNvSpPr txBox="1">
                <a:spLocks noChangeArrowheads="1"/>
              </p:cNvSpPr>
              <p:nvPr/>
            </p:nvSpPr>
            <p:spPr bwMode="auto">
              <a:xfrm>
                <a:off x="2225" y="2722"/>
                <a:ext cx="2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i="1">
                    <a:latin typeface="Times New Roman" panose="02020603050405020304" pitchFamily="18" charset="0"/>
                  </a:rPr>
                  <a:t>t</a:t>
                </a:r>
                <a:endParaRPr kumimoji="1" lang="en-US" altLang="zh-CN" sz="2800" b="1" i="1">
                  <a:latin typeface="Times New Roman" panose="02020603050405020304" pitchFamily="18" charset="0"/>
                </a:endParaRPr>
              </a:p>
            </p:txBody>
          </p:sp>
          <p:sp>
            <p:nvSpPr>
              <p:cNvPr id="7203" name="Text Box 32"/>
              <p:cNvSpPr txBox="1">
                <a:spLocks noChangeArrowheads="1"/>
              </p:cNvSpPr>
              <p:nvPr/>
            </p:nvSpPr>
            <p:spPr bwMode="auto">
              <a:xfrm>
                <a:off x="185" y="2674"/>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rPr>
                  <a:t>0</a:t>
                </a:r>
                <a:endParaRPr kumimoji="1" lang="en-US" altLang="zh-CN" sz="2800" b="1">
                  <a:latin typeface="Times New Roman" panose="02020603050405020304" pitchFamily="18" charset="0"/>
                </a:endParaRPr>
              </a:p>
            </p:txBody>
          </p:sp>
          <p:sp>
            <p:nvSpPr>
              <p:cNvPr id="7204" name="Freeform 33"/>
              <p:cNvSpPr/>
              <p:nvPr/>
            </p:nvSpPr>
            <p:spPr bwMode="auto">
              <a:xfrm>
                <a:off x="385" y="2024"/>
                <a:ext cx="1605" cy="1221"/>
              </a:xfrm>
              <a:custGeom>
                <a:avLst/>
                <a:gdLst>
                  <a:gd name="T0" fmla="*/ 0 w 1605"/>
                  <a:gd name="T1" fmla="*/ 0 h 1221"/>
                  <a:gd name="T2" fmla="*/ 250 w 1605"/>
                  <a:gd name="T3" fmla="*/ 1168 h 1221"/>
                  <a:gd name="T4" fmla="*/ 400 w 1605"/>
                  <a:gd name="T5" fmla="*/ 317 h 1221"/>
                  <a:gd name="T6" fmla="*/ 590 w 1605"/>
                  <a:gd name="T7" fmla="*/ 985 h 1221"/>
                  <a:gd name="T8" fmla="*/ 754 w 1605"/>
                  <a:gd name="T9" fmla="*/ 494 h 1221"/>
                  <a:gd name="T10" fmla="*/ 930 w 1605"/>
                  <a:gd name="T11" fmla="*/ 854 h 1221"/>
                  <a:gd name="T12" fmla="*/ 1107 w 1605"/>
                  <a:gd name="T13" fmla="*/ 566 h 1221"/>
                  <a:gd name="T14" fmla="*/ 1284 w 1605"/>
                  <a:gd name="T15" fmla="*/ 775 h 1221"/>
                  <a:gd name="T16" fmla="*/ 1461 w 1605"/>
                  <a:gd name="T17" fmla="*/ 631 h 1221"/>
                  <a:gd name="T18" fmla="*/ 1605 w 1605"/>
                  <a:gd name="T19" fmla="*/ 736 h 12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05"/>
                  <a:gd name="T31" fmla="*/ 0 h 1221"/>
                  <a:gd name="T32" fmla="*/ 1605 w 1605"/>
                  <a:gd name="T33" fmla="*/ 1221 h 12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05" h="1221">
                    <a:moveTo>
                      <a:pt x="0" y="0"/>
                    </a:moveTo>
                    <a:cubicBezTo>
                      <a:pt x="91" y="557"/>
                      <a:pt x="183" y="1115"/>
                      <a:pt x="250" y="1168"/>
                    </a:cubicBezTo>
                    <a:cubicBezTo>
                      <a:pt x="317" y="1221"/>
                      <a:pt x="343" y="347"/>
                      <a:pt x="400" y="317"/>
                    </a:cubicBezTo>
                    <a:cubicBezTo>
                      <a:pt x="457" y="287"/>
                      <a:pt x="531" y="956"/>
                      <a:pt x="590" y="985"/>
                    </a:cubicBezTo>
                    <a:cubicBezTo>
                      <a:pt x="649" y="1014"/>
                      <a:pt x="697" y="516"/>
                      <a:pt x="754" y="494"/>
                    </a:cubicBezTo>
                    <a:cubicBezTo>
                      <a:pt x="811" y="472"/>
                      <a:pt x="871" y="842"/>
                      <a:pt x="930" y="854"/>
                    </a:cubicBezTo>
                    <a:cubicBezTo>
                      <a:pt x="989" y="866"/>
                      <a:pt x="1048" y="579"/>
                      <a:pt x="1107" y="566"/>
                    </a:cubicBezTo>
                    <a:cubicBezTo>
                      <a:pt x="1166" y="553"/>
                      <a:pt x="1225" y="764"/>
                      <a:pt x="1284" y="775"/>
                    </a:cubicBezTo>
                    <a:cubicBezTo>
                      <a:pt x="1343" y="786"/>
                      <a:pt x="1408" y="637"/>
                      <a:pt x="1461" y="631"/>
                    </a:cubicBezTo>
                    <a:cubicBezTo>
                      <a:pt x="1514" y="625"/>
                      <a:pt x="1581" y="718"/>
                      <a:pt x="1605" y="736"/>
                    </a:cubicBezTo>
                  </a:path>
                </a:pathLst>
              </a:custGeom>
              <a:noFill/>
              <a:ln w="25400" cap="flat" cmpd="sng">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196" name="Group 34"/>
            <p:cNvGrpSpPr/>
            <p:nvPr/>
          </p:nvGrpSpPr>
          <p:grpSpPr bwMode="auto">
            <a:xfrm>
              <a:off x="1157" y="3429"/>
              <a:ext cx="811" cy="561"/>
              <a:chOff x="1020" y="2341"/>
              <a:chExt cx="811" cy="561"/>
            </a:xfrm>
          </p:grpSpPr>
          <p:sp>
            <p:nvSpPr>
              <p:cNvPr id="7197" name="Text Box 35"/>
              <p:cNvSpPr txBox="1">
                <a:spLocks noChangeArrowheads="1"/>
              </p:cNvSpPr>
              <p:nvPr/>
            </p:nvSpPr>
            <p:spPr bwMode="auto">
              <a:xfrm>
                <a:off x="1111" y="2614"/>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0000FF"/>
                    </a:solidFill>
                    <a:latin typeface="Times New Roman" panose="02020603050405020304" pitchFamily="18" charset="0"/>
                    <a:ea typeface="楷体_GB2312" panose="02010609030101010101" pitchFamily="49" charset="-122"/>
                  </a:rPr>
                  <a:t>欠阻尼</a:t>
                </a:r>
                <a:endParaRPr kumimoji="1" lang="zh-CN" altLang="en-US" b="1">
                  <a:solidFill>
                    <a:srgbClr val="0000FF"/>
                  </a:solidFill>
                  <a:latin typeface="Times New Roman" panose="02020603050405020304" pitchFamily="18" charset="0"/>
                  <a:ea typeface="楷体_GB2312" panose="02010609030101010101" pitchFamily="49" charset="-122"/>
                </a:endParaRPr>
              </a:p>
            </p:txBody>
          </p:sp>
          <p:sp>
            <p:nvSpPr>
              <p:cNvPr id="7198" name="Line 36"/>
              <p:cNvSpPr>
                <a:spLocks noChangeShapeType="1"/>
              </p:cNvSpPr>
              <p:nvPr/>
            </p:nvSpPr>
            <p:spPr bwMode="auto">
              <a:xfrm>
                <a:off x="1020" y="2341"/>
                <a:ext cx="182" cy="318"/>
              </a:xfrm>
              <a:prstGeom prst="line">
                <a:avLst/>
              </a:prstGeom>
              <a:noFill/>
              <a:ln w="158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53286" name="Rectangle 38"/>
          <p:cNvSpPr>
            <a:spLocks noChangeArrowheads="1"/>
          </p:cNvSpPr>
          <p:nvPr/>
        </p:nvSpPr>
        <p:spPr bwMode="auto">
          <a:xfrm>
            <a:off x="0" y="5013325"/>
            <a:ext cx="21955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rPr>
              <a:t>受迫振动</a:t>
            </a:r>
            <a:r>
              <a:rPr lang="en-US" altLang="zh-CN" sz="3200" b="1" dirty="0">
                <a:solidFill>
                  <a:srgbClr val="0000FF"/>
                </a:solidFill>
              </a:rPr>
              <a:t>*</a:t>
            </a:r>
            <a:endParaRPr lang="zh-CN" altLang="en-US" sz="3200" b="1" dirty="0">
              <a:solidFill>
                <a:srgbClr val="0000FF"/>
              </a:solidFill>
            </a:endParaRPr>
          </a:p>
        </p:txBody>
      </p:sp>
      <p:graphicFrame>
        <p:nvGraphicFramePr>
          <p:cNvPr id="53287" name="Object 6"/>
          <p:cNvGraphicFramePr>
            <a:graphicFrameLocks noChangeAspect="1"/>
          </p:cNvGraphicFramePr>
          <p:nvPr/>
        </p:nvGraphicFramePr>
        <p:xfrm>
          <a:off x="468313" y="5949950"/>
          <a:ext cx="5159375" cy="530225"/>
        </p:xfrm>
        <a:graphic>
          <a:graphicData uri="http://schemas.openxmlformats.org/presentationml/2006/ole">
            <mc:AlternateContent xmlns:mc="http://schemas.openxmlformats.org/markup-compatibility/2006">
              <mc:Choice xmlns:v="urn:schemas-microsoft-com:vml" Requires="v">
                <p:oleObj spid="_x0000_s7538" name="Equation" r:id="rId9" imgW="2731770" imgH="278765" progId="Equation.DSMT4">
                  <p:embed/>
                </p:oleObj>
              </mc:Choice>
              <mc:Fallback>
                <p:oleObj name="Equation" r:id="rId9" imgW="2731770" imgH="278765"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8313" y="5949950"/>
                        <a:ext cx="5159375"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91" name="Rectangle 43"/>
          <p:cNvSpPr>
            <a:spLocks noChangeArrowheads="1"/>
          </p:cNvSpPr>
          <p:nvPr/>
        </p:nvSpPr>
        <p:spPr bwMode="auto">
          <a:xfrm>
            <a:off x="7079456" y="5225921"/>
            <a:ext cx="984244" cy="492443"/>
          </a:xfrm>
          <a:prstGeom prst="rect">
            <a:avLst/>
          </a:prstGeom>
          <a:solidFill>
            <a:srgbClr val="FFFF00"/>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highlight>
                  <a:srgbClr val="FFFF00"/>
                </a:highlight>
              </a:rPr>
              <a:t>共振</a:t>
            </a:r>
            <a:r>
              <a:rPr lang="en-US" altLang="zh-CN" sz="3200" b="1" dirty="0">
                <a:solidFill>
                  <a:srgbClr val="0000FF"/>
                </a:solidFill>
                <a:highlight>
                  <a:srgbClr val="FFFF00"/>
                </a:highlight>
              </a:rPr>
              <a:t>*</a:t>
            </a:r>
            <a:endParaRPr lang="zh-CN" altLang="en-US" sz="3200" b="1" dirty="0">
              <a:solidFill>
                <a:srgbClr val="0000FF"/>
              </a:solidFill>
              <a:highlight>
                <a:srgbClr val="FFFF00"/>
              </a:highlight>
            </a:endParaRPr>
          </a:p>
        </p:txBody>
      </p:sp>
      <p:graphicFrame>
        <p:nvGraphicFramePr>
          <p:cNvPr id="53294" name="Object 7"/>
          <p:cNvGraphicFramePr>
            <a:graphicFrameLocks noChangeAspect="1"/>
          </p:cNvGraphicFramePr>
          <p:nvPr/>
        </p:nvGraphicFramePr>
        <p:xfrm>
          <a:off x="5580063" y="2060575"/>
          <a:ext cx="2998787" cy="530225"/>
        </p:xfrm>
        <a:graphic>
          <a:graphicData uri="http://schemas.openxmlformats.org/presentationml/2006/ole">
            <mc:AlternateContent xmlns:mc="http://schemas.openxmlformats.org/markup-compatibility/2006">
              <mc:Choice xmlns:v="urn:schemas-microsoft-com:vml" Requires="v">
                <p:oleObj spid="_x0000_s7539" name="Equation" r:id="rId11" imgW="1594485" imgH="278765" progId="Equation.DSMT4">
                  <p:embed/>
                </p:oleObj>
              </mc:Choice>
              <mc:Fallback>
                <p:oleObj name="Equation" r:id="rId11" imgW="1594485" imgH="278765"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80063" y="2060575"/>
                        <a:ext cx="2998787"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95" name="Object 8"/>
          <p:cNvGraphicFramePr>
            <a:graphicFrameLocks noChangeAspect="1"/>
          </p:cNvGraphicFramePr>
          <p:nvPr/>
        </p:nvGraphicFramePr>
        <p:xfrm>
          <a:off x="6011863" y="2781300"/>
          <a:ext cx="1400175" cy="530225"/>
        </p:xfrm>
        <a:graphic>
          <a:graphicData uri="http://schemas.openxmlformats.org/presentationml/2006/ole">
            <mc:AlternateContent xmlns:mc="http://schemas.openxmlformats.org/markup-compatibility/2006">
              <mc:Choice xmlns:v="urn:schemas-microsoft-com:vml" Requires="v">
                <p:oleObj spid="_x0000_s7540" name="Equation" r:id="rId13" imgW="747395" imgH="278765" progId="Equation.DSMT4">
                  <p:embed/>
                </p:oleObj>
              </mc:Choice>
              <mc:Fallback>
                <p:oleObj name="Equation" r:id="rId13" imgW="747395" imgH="278765"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11863" y="2781300"/>
                        <a:ext cx="1400175"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96" name="Object 9"/>
          <p:cNvGraphicFramePr>
            <a:graphicFrameLocks noChangeAspect="1"/>
          </p:cNvGraphicFramePr>
          <p:nvPr/>
        </p:nvGraphicFramePr>
        <p:xfrm>
          <a:off x="4643438" y="3284538"/>
          <a:ext cx="4170362" cy="976312"/>
        </p:xfrm>
        <a:graphic>
          <a:graphicData uri="http://schemas.openxmlformats.org/presentationml/2006/ole">
            <mc:AlternateContent xmlns:mc="http://schemas.openxmlformats.org/markup-compatibility/2006">
              <mc:Choice xmlns:v="urn:schemas-microsoft-com:vml" Requires="v">
                <p:oleObj spid="_x0000_s7541" name="Equation" r:id="rId15" imgW="2219325" imgH="523875" progId="Equation.DSMT4">
                  <p:embed/>
                </p:oleObj>
              </mc:Choice>
              <mc:Fallback>
                <p:oleObj name="Equation" r:id="rId15" imgW="2219325" imgH="523875"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43438" y="3284538"/>
                        <a:ext cx="4170362" cy="976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98" name="Line 50"/>
          <p:cNvSpPr>
            <a:spLocks noChangeShapeType="1"/>
          </p:cNvSpPr>
          <p:nvPr/>
        </p:nvSpPr>
        <p:spPr bwMode="auto">
          <a:xfrm flipV="1">
            <a:off x="4067175" y="1916113"/>
            <a:ext cx="1512888" cy="2233612"/>
          </a:xfrm>
          <a:prstGeom prst="line">
            <a:avLst/>
          </a:prstGeom>
          <a:noFill/>
          <a:ln w="15875">
            <a:solidFill>
              <a:srgbClr val="0000FF"/>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53299" name="Line 51"/>
          <p:cNvSpPr>
            <a:spLocks noChangeShapeType="1"/>
          </p:cNvSpPr>
          <p:nvPr/>
        </p:nvSpPr>
        <p:spPr bwMode="auto">
          <a:xfrm flipV="1">
            <a:off x="4356100" y="4365625"/>
            <a:ext cx="4464050" cy="144463"/>
          </a:xfrm>
          <a:prstGeom prst="line">
            <a:avLst/>
          </a:prstGeom>
          <a:noFill/>
          <a:ln w="15875">
            <a:solidFill>
              <a:srgbClr val="0000FF"/>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53300" name="Line 52"/>
          <p:cNvSpPr>
            <a:spLocks noChangeShapeType="1"/>
          </p:cNvSpPr>
          <p:nvPr/>
        </p:nvSpPr>
        <p:spPr bwMode="auto">
          <a:xfrm flipV="1">
            <a:off x="8893175" y="1916113"/>
            <a:ext cx="0" cy="2449512"/>
          </a:xfrm>
          <a:prstGeom prst="line">
            <a:avLst/>
          </a:prstGeom>
          <a:noFill/>
          <a:ln w="15875">
            <a:solidFill>
              <a:srgbClr val="0000FF"/>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53301" name="Line 53"/>
          <p:cNvSpPr>
            <a:spLocks noChangeShapeType="1"/>
          </p:cNvSpPr>
          <p:nvPr/>
        </p:nvSpPr>
        <p:spPr bwMode="auto">
          <a:xfrm flipV="1">
            <a:off x="5580063" y="1844675"/>
            <a:ext cx="3313112" cy="73025"/>
          </a:xfrm>
          <a:prstGeom prst="line">
            <a:avLst/>
          </a:prstGeom>
          <a:noFill/>
          <a:ln w="15875">
            <a:solidFill>
              <a:srgbClr val="0000FF"/>
            </a:solidFill>
            <a:prstDash val="dashDot"/>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3302" name="Object 10"/>
          <p:cNvGraphicFramePr>
            <a:graphicFrameLocks noChangeAspect="1"/>
          </p:cNvGraphicFramePr>
          <p:nvPr/>
        </p:nvGraphicFramePr>
        <p:xfrm>
          <a:off x="2051050" y="4941888"/>
          <a:ext cx="4129088" cy="792162"/>
        </p:xfrm>
        <a:graphic>
          <a:graphicData uri="http://schemas.openxmlformats.org/presentationml/2006/ole">
            <mc:AlternateContent xmlns:mc="http://schemas.openxmlformats.org/markup-compatibility/2006">
              <mc:Choice xmlns:v="urn:schemas-microsoft-com:vml" Requires="v">
                <p:oleObj spid="_x0000_s7542" name="Equation" r:id="rId17" imgW="1803400" imgH="419100" progId="Equation.DSMT4">
                  <p:embed/>
                </p:oleObj>
              </mc:Choice>
              <mc:Fallback>
                <p:oleObj name="Equation" r:id="rId17" imgW="1803400" imgH="419100"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51050" y="4941888"/>
                        <a:ext cx="4129088"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303" name="Rectangle 55"/>
          <p:cNvSpPr>
            <a:spLocks noChangeArrowheads="1"/>
          </p:cNvSpPr>
          <p:nvPr/>
        </p:nvSpPr>
        <p:spPr bwMode="auto">
          <a:xfrm>
            <a:off x="4716463" y="4941888"/>
            <a:ext cx="1584325" cy="792162"/>
          </a:xfrm>
          <a:prstGeom prst="rect">
            <a:avLst/>
          </a:prstGeom>
          <a:noFill/>
          <a:ln w="19050">
            <a:solidFill>
              <a:srgbClr val="FF0000"/>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3304" name="Rectangle 56"/>
          <p:cNvSpPr>
            <a:spLocks noChangeArrowheads="1"/>
          </p:cNvSpPr>
          <p:nvPr/>
        </p:nvSpPr>
        <p:spPr bwMode="auto">
          <a:xfrm>
            <a:off x="6084888" y="549275"/>
            <a:ext cx="1008062" cy="792163"/>
          </a:xfrm>
          <a:prstGeom prst="rect">
            <a:avLst/>
          </a:prstGeom>
          <a:noFill/>
          <a:ln w="19050">
            <a:solidFill>
              <a:srgbClr val="FF0000"/>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3"/>
                                        </p:tgtEl>
                                        <p:attrNameLst>
                                          <p:attrName>style.visibility</p:attrName>
                                        </p:attrNameLst>
                                      </p:cBhvr>
                                      <p:to>
                                        <p:strVal val="visible"/>
                                      </p:to>
                                    </p:set>
                                    <p:anim calcmode="lin" valueType="num">
                                      <p:cBhvr additive="base">
                                        <p:cTn id="7" dur="500" fill="hold"/>
                                        <p:tgtEl>
                                          <p:spTgt spid="53253"/>
                                        </p:tgtEl>
                                        <p:attrNameLst>
                                          <p:attrName>ppt_x</p:attrName>
                                        </p:attrNameLst>
                                      </p:cBhvr>
                                      <p:tavLst>
                                        <p:tav tm="0">
                                          <p:val>
                                            <p:strVal val="#ppt_x"/>
                                          </p:val>
                                        </p:tav>
                                        <p:tav tm="100000">
                                          <p:val>
                                            <p:strVal val="#ppt_x"/>
                                          </p:val>
                                        </p:tav>
                                      </p:tavLst>
                                    </p:anim>
                                    <p:anim calcmode="lin" valueType="num">
                                      <p:cBhvr additive="base">
                                        <p:cTn id="8" dur="500" fill="hold"/>
                                        <p:tgtEl>
                                          <p:spTgt spid="5325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3255"/>
                                        </p:tgtEl>
                                        <p:attrNameLst>
                                          <p:attrName>style.visibility</p:attrName>
                                        </p:attrNameLst>
                                      </p:cBhvr>
                                      <p:to>
                                        <p:strVal val="visible"/>
                                      </p:to>
                                    </p:set>
                                    <p:anim calcmode="lin" valueType="num">
                                      <p:cBhvr additive="base">
                                        <p:cTn id="11" dur="500" fill="hold"/>
                                        <p:tgtEl>
                                          <p:spTgt spid="53255"/>
                                        </p:tgtEl>
                                        <p:attrNameLst>
                                          <p:attrName>ppt_x</p:attrName>
                                        </p:attrNameLst>
                                      </p:cBhvr>
                                      <p:tavLst>
                                        <p:tav tm="0">
                                          <p:val>
                                            <p:strVal val="#ppt_x"/>
                                          </p:val>
                                        </p:tav>
                                        <p:tav tm="100000">
                                          <p:val>
                                            <p:strVal val="#ppt_x"/>
                                          </p:val>
                                        </p:tav>
                                      </p:tavLst>
                                    </p:anim>
                                    <p:anim calcmode="lin" valueType="num">
                                      <p:cBhvr additive="base">
                                        <p:cTn id="12" dur="500" fill="hold"/>
                                        <p:tgtEl>
                                          <p:spTgt spid="5325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3304"/>
                                        </p:tgtEl>
                                        <p:attrNameLst>
                                          <p:attrName>style.visibility</p:attrName>
                                        </p:attrNameLst>
                                      </p:cBhvr>
                                      <p:to>
                                        <p:strVal val="visible"/>
                                      </p:to>
                                    </p:set>
                                    <p:anim calcmode="lin" valueType="num">
                                      <p:cBhvr additive="base">
                                        <p:cTn id="15" dur="500" fill="hold"/>
                                        <p:tgtEl>
                                          <p:spTgt spid="53304"/>
                                        </p:tgtEl>
                                        <p:attrNameLst>
                                          <p:attrName>ppt_x</p:attrName>
                                        </p:attrNameLst>
                                      </p:cBhvr>
                                      <p:tavLst>
                                        <p:tav tm="0">
                                          <p:val>
                                            <p:strVal val="#ppt_x"/>
                                          </p:val>
                                        </p:tav>
                                        <p:tav tm="100000">
                                          <p:val>
                                            <p:strVal val="#ppt_x"/>
                                          </p:val>
                                        </p:tav>
                                      </p:tavLst>
                                    </p:anim>
                                    <p:anim calcmode="lin" valueType="num">
                                      <p:cBhvr additive="base">
                                        <p:cTn id="16" dur="500" fill="hold"/>
                                        <p:tgtEl>
                                          <p:spTgt spid="5330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3294"/>
                                        </p:tgtEl>
                                        <p:attrNameLst>
                                          <p:attrName>style.visibility</p:attrName>
                                        </p:attrNameLst>
                                      </p:cBhvr>
                                      <p:to>
                                        <p:strVal val="visible"/>
                                      </p:to>
                                    </p:set>
                                    <p:anim calcmode="lin" valueType="num">
                                      <p:cBhvr additive="base">
                                        <p:cTn id="21" dur="500" fill="hold"/>
                                        <p:tgtEl>
                                          <p:spTgt spid="53294"/>
                                        </p:tgtEl>
                                        <p:attrNameLst>
                                          <p:attrName>ppt_x</p:attrName>
                                        </p:attrNameLst>
                                      </p:cBhvr>
                                      <p:tavLst>
                                        <p:tav tm="0">
                                          <p:val>
                                            <p:strVal val="#ppt_x"/>
                                          </p:val>
                                        </p:tav>
                                        <p:tav tm="100000">
                                          <p:val>
                                            <p:strVal val="#ppt_x"/>
                                          </p:val>
                                        </p:tav>
                                      </p:tavLst>
                                    </p:anim>
                                    <p:anim calcmode="lin" valueType="num">
                                      <p:cBhvr additive="base">
                                        <p:cTn id="22" dur="500" fill="hold"/>
                                        <p:tgtEl>
                                          <p:spTgt spid="53294"/>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3295"/>
                                        </p:tgtEl>
                                        <p:attrNameLst>
                                          <p:attrName>style.visibility</p:attrName>
                                        </p:attrNameLst>
                                      </p:cBhvr>
                                      <p:to>
                                        <p:strVal val="visible"/>
                                      </p:to>
                                    </p:set>
                                    <p:anim calcmode="lin" valueType="num">
                                      <p:cBhvr additive="base">
                                        <p:cTn id="25" dur="500" fill="hold"/>
                                        <p:tgtEl>
                                          <p:spTgt spid="53295"/>
                                        </p:tgtEl>
                                        <p:attrNameLst>
                                          <p:attrName>ppt_x</p:attrName>
                                        </p:attrNameLst>
                                      </p:cBhvr>
                                      <p:tavLst>
                                        <p:tav tm="0">
                                          <p:val>
                                            <p:strVal val="#ppt_x"/>
                                          </p:val>
                                        </p:tav>
                                        <p:tav tm="100000">
                                          <p:val>
                                            <p:strVal val="#ppt_x"/>
                                          </p:val>
                                        </p:tav>
                                      </p:tavLst>
                                    </p:anim>
                                    <p:anim calcmode="lin" valueType="num">
                                      <p:cBhvr additive="base">
                                        <p:cTn id="26" dur="500" fill="hold"/>
                                        <p:tgtEl>
                                          <p:spTgt spid="53295"/>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3296"/>
                                        </p:tgtEl>
                                        <p:attrNameLst>
                                          <p:attrName>style.visibility</p:attrName>
                                        </p:attrNameLst>
                                      </p:cBhvr>
                                      <p:to>
                                        <p:strVal val="visible"/>
                                      </p:to>
                                    </p:set>
                                    <p:anim calcmode="lin" valueType="num">
                                      <p:cBhvr additive="base">
                                        <p:cTn id="29" dur="500" fill="hold"/>
                                        <p:tgtEl>
                                          <p:spTgt spid="53296"/>
                                        </p:tgtEl>
                                        <p:attrNameLst>
                                          <p:attrName>ppt_x</p:attrName>
                                        </p:attrNameLst>
                                      </p:cBhvr>
                                      <p:tavLst>
                                        <p:tav tm="0">
                                          <p:val>
                                            <p:strVal val="#ppt_x"/>
                                          </p:val>
                                        </p:tav>
                                        <p:tav tm="100000">
                                          <p:val>
                                            <p:strVal val="#ppt_x"/>
                                          </p:val>
                                        </p:tav>
                                      </p:tavLst>
                                    </p:anim>
                                    <p:anim calcmode="lin" valueType="num">
                                      <p:cBhvr additive="base">
                                        <p:cTn id="30" dur="500" fill="hold"/>
                                        <p:tgtEl>
                                          <p:spTgt spid="53296"/>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3298"/>
                                        </p:tgtEl>
                                        <p:attrNameLst>
                                          <p:attrName>style.visibility</p:attrName>
                                        </p:attrNameLst>
                                      </p:cBhvr>
                                      <p:to>
                                        <p:strVal val="visible"/>
                                      </p:to>
                                    </p:set>
                                    <p:anim calcmode="lin" valueType="num">
                                      <p:cBhvr additive="base">
                                        <p:cTn id="33" dur="500" fill="hold"/>
                                        <p:tgtEl>
                                          <p:spTgt spid="53298"/>
                                        </p:tgtEl>
                                        <p:attrNameLst>
                                          <p:attrName>ppt_x</p:attrName>
                                        </p:attrNameLst>
                                      </p:cBhvr>
                                      <p:tavLst>
                                        <p:tav tm="0">
                                          <p:val>
                                            <p:strVal val="#ppt_x"/>
                                          </p:val>
                                        </p:tav>
                                        <p:tav tm="100000">
                                          <p:val>
                                            <p:strVal val="#ppt_x"/>
                                          </p:val>
                                        </p:tav>
                                      </p:tavLst>
                                    </p:anim>
                                    <p:anim calcmode="lin" valueType="num">
                                      <p:cBhvr additive="base">
                                        <p:cTn id="34" dur="500" fill="hold"/>
                                        <p:tgtEl>
                                          <p:spTgt spid="53298"/>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3299"/>
                                        </p:tgtEl>
                                        <p:attrNameLst>
                                          <p:attrName>style.visibility</p:attrName>
                                        </p:attrNameLst>
                                      </p:cBhvr>
                                      <p:to>
                                        <p:strVal val="visible"/>
                                      </p:to>
                                    </p:set>
                                    <p:anim calcmode="lin" valueType="num">
                                      <p:cBhvr additive="base">
                                        <p:cTn id="37" dur="500" fill="hold"/>
                                        <p:tgtEl>
                                          <p:spTgt spid="53299"/>
                                        </p:tgtEl>
                                        <p:attrNameLst>
                                          <p:attrName>ppt_x</p:attrName>
                                        </p:attrNameLst>
                                      </p:cBhvr>
                                      <p:tavLst>
                                        <p:tav tm="0">
                                          <p:val>
                                            <p:strVal val="#ppt_x"/>
                                          </p:val>
                                        </p:tav>
                                        <p:tav tm="100000">
                                          <p:val>
                                            <p:strVal val="#ppt_x"/>
                                          </p:val>
                                        </p:tav>
                                      </p:tavLst>
                                    </p:anim>
                                    <p:anim calcmode="lin" valueType="num">
                                      <p:cBhvr additive="base">
                                        <p:cTn id="38" dur="500" fill="hold"/>
                                        <p:tgtEl>
                                          <p:spTgt spid="53299"/>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3300"/>
                                        </p:tgtEl>
                                        <p:attrNameLst>
                                          <p:attrName>style.visibility</p:attrName>
                                        </p:attrNameLst>
                                      </p:cBhvr>
                                      <p:to>
                                        <p:strVal val="visible"/>
                                      </p:to>
                                    </p:set>
                                    <p:anim calcmode="lin" valueType="num">
                                      <p:cBhvr additive="base">
                                        <p:cTn id="41" dur="500" fill="hold"/>
                                        <p:tgtEl>
                                          <p:spTgt spid="53300"/>
                                        </p:tgtEl>
                                        <p:attrNameLst>
                                          <p:attrName>ppt_x</p:attrName>
                                        </p:attrNameLst>
                                      </p:cBhvr>
                                      <p:tavLst>
                                        <p:tav tm="0">
                                          <p:val>
                                            <p:strVal val="#ppt_x"/>
                                          </p:val>
                                        </p:tav>
                                        <p:tav tm="100000">
                                          <p:val>
                                            <p:strVal val="#ppt_x"/>
                                          </p:val>
                                        </p:tav>
                                      </p:tavLst>
                                    </p:anim>
                                    <p:anim calcmode="lin" valueType="num">
                                      <p:cBhvr additive="base">
                                        <p:cTn id="42" dur="500" fill="hold"/>
                                        <p:tgtEl>
                                          <p:spTgt spid="53300"/>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3301"/>
                                        </p:tgtEl>
                                        <p:attrNameLst>
                                          <p:attrName>style.visibility</p:attrName>
                                        </p:attrNameLst>
                                      </p:cBhvr>
                                      <p:to>
                                        <p:strVal val="visible"/>
                                      </p:to>
                                    </p:set>
                                    <p:anim calcmode="lin" valueType="num">
                                      <p:cBhvr additive="base">
                                        <p:cTn id="45" dur="500" fill="hold"/>
                                        <p:tgtEl>
                                          <p:spTgt spid="53301"/>
                                        </p:tgtEl>
                                        <p:attrNameLst>
                                          <p:attrName>ppt_x</p:attrName>
                                        </p:attrNameLst>
                                      </p:cBhvr>
                                      <p:tavLst>
                                        <p:tav tm="0">
                                          <p:val>
                                            <p:strVal val="#ppt_x"/>
                                          </p:val>
                                        </p:tav>
                                        <p:tav tm="100000">
                                          <p:val>
                                            <p:strVal val="#ppt_x"/>
                                          </p:val>
                                        </p:tav>
                                      </p:tavLst>
                                    </p:anim>
                                    <p:anim calcmode="lin" valueType="num">
                                      <p:cBhvr additive="base">
                                        <p:cTn id="46" dur="500" fill="hold"/>
                                        <p:tgtEl>
                                          <p:spTgt spid="5330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53257"/>
                                        </p:tgtEl>
                                        <p:attrNameLst>
                                          <p:attrName>style.visibility</p:attrName>
                                        </p:attrNameLst>
                                      </p:cBhvr>
                                      <p:to>
                                        <p:strVal val="visible"/>
                                      </p:to>
                                    </p:set>
                                    <p:anim calcmode="lin" valueType="num">
                                      <p:cBhvr additive="base">
                                        <p:cTn id="51" dur="500" fill="hold"/>
                                        <p:tgtEl>
                                          <p:spTgt spid="53257"/>
                                        </p:tgtEl>
                                        <p:attrNameLst>
                                          <p:attrName>ppt_x</p:attrName>
                                        </p:attrNameLst>
                                      </p:cBhvr>
                                      <p:tavLst>
                                        <p:tav tm="0">
                                          <p:val>
                                            <p:strVal val="#ppt_x"/>
                                          </p:val>
                                        </p:tav>
                                        <p:tav tm="100000">
                                          <p:val>
                                            <p:strVal val="#ppt_x"/>
                                          </p:val>
                                        </p:tav>
                                      </p:tavLst>
                                    </p:anim>
                                    <p:anim calcmode="lin" valueType="num">
                                      <p:cBhvr additive="base">
                                        <p:cTn id="52" dur="500" fill="hold"/>
                                        <p:tgtEl>
                                          <p:spTgt spid="5325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53258"/>
                                        </p:tgtEl>
                                        <p:attrNameLst>
                                          <p:attrName>style.visibility</p:attrName>
                                        </p:attrNameLst>
                                      </p:cBhvr>
                                      <p:to>
                                        <p:strVal val="visible"/>
                                      </p:to>
                                    </p:set>
                                    <p:anim calcmode="lin" valueType="num">
                                      <p:cBhvr additive="base">
                                        <p:cTn id="55" dur="500" fill="hold"/>
                                        <p:tgtEl>
                                          <p:spTgt spid="53258"/>
                                        </p:tgtEl>
                                        <p:attrNameLst>
                                          <p:attrName>ppt_x</p:attrName>
                                        </p:attrNameLst>
                                      </p:cBhvr>
                                      <p:tavLst>
                                        <p:tav tm="0">
                                          <p:val>
                                            <p:strVal val="#ppt_x"/>
                                          </p:val>
                                        </p:tav>
                                        <p:tav tm="100000">
                                          <p:val>
                                            <p:strVal val="#ppt_x"/>
                                          </p:val>
                                        </p:tav>
                                      </p:tavLst>
                                    </p:anim>
                                    <p:anim calcmode="lin" valueType="num">
                                      <p:cBhvr additive="base">
                                        <p:cTn id="56" dur="500" fill="hold"/>
                                        <p:tgtEl>
                                          <p:spTgt spid="53258"/>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53259"/>
                                        </p:tgtEl>
                                        <p:attrNameLst>
                                          <p:attrName>style.visibility</p:attrName>
                                        </p:attrNameLst>
                                      </p:cBhvr>
                                      <p:to>
                                        <p:strVal val="visible"/>
                                      </p:to>
                                    </p:set>
                                    <p:anim calcmode="lin" valueType="num">
                                      <p:cBhvr additive="base">
                                        <p:cTn id="59" dur="500" fill="hold"/>
                                        <p:tgtEl>
                                          <p:spTgt spid="53259"/>
                                        </p:tgtEl>
                                        <p:attrNameLst>
                                          <p:attrName>ppt_x</p:attrName>
                                        </p:attrNameLst>
                                      </p:cBhvr>
                                      <p:tavLst>
                                        <p:tav tm="0">
                                          <p:val>
                                            <p:strVal val="#ppt_x"/>
                                          </p:val>
                                        </p:tav>
                                        <p:tav tm="100000">
                                          <p:val>
                                            <p:strVal val="#ppt_x"/>
                                          </p:val>
                                        </p:tav>
                                      </p:tavLst>
                                    </p:anim>
                                    <p:anim calcmode="lin" valueType="num">
                                      <p:cBhvr additive="base">
                                        <p:cTn id="60" dur="500" fill="hold"/>
                                        <p:tgtEl>
                                          <p:spTgt spid="53259"/>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2"/>
                                        </p:tgtEl>
                                        <p:attrNameLst>
                                          <p:attrName>style.visibility</p:attrName>
                                        </p:attrNameLst>
                                      </p:cBhvr>
                                      <p:to>
                                        <p:strVal val="visible"/>
                                      </p:to>
                                    </p:set>
                                    <p:anim calcmode="lin" valueType="num">
                                      <p:cBhvr additive="base">
                                        <p:cTn id="63" dur="500" fill="hold"/>
                                        <p:tgtEl>
                                          <p:spTgt spid="2"/>
                                        </p:tgtEl>
                                        <p:attrNameLst>
                                          <p:attrName>ppt_x</p:attrName>
                                        </p:attrNameLst>
                                      </p:cBhvr>
                                      <p:tavLst>
                                        <p:tav tm="0">
                                          <p:val>
                                            <p:strVal val="#ppt_x"/>
                                          </p:val>
                                        </p:tav>
                                        <p:tav tm="100000">
                                          <p:val>
                                            <p:strVal val="#ppt_x"/>
                                          </p:val>
                                        </p:tav>
                                      </p:tavLst>
                                    </p:anim>
                                    <p:anim calcmode="lin" valueType="num">
                                      <p:cBhvr additive="base">
                                        <p:cTn id="6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53286"/>
                                        </p:tgtEl>
                                        <p:attrNameLst>
                                          <p:attrName>style.visibility</p:attrName>
                                        </p:attrNameLst>
                                      </p:cBhvr>
                                      <p:to>
                                        <p:strVal val="visible"/>
                                      </p:to>
                                    </p:set>
                                    <p:anim calcmode="lin" valueType="num">
                                      <p:cBhvr additive="base">
                                        <p:cTn id="69" dur="500" fill="hold"/>
                                        <p:tgtEl>
                                          <p:spTgt spid="53286"/>
                                        </p:tgtEl>
                                        <p:attrNameLst>
                                          <p:attrName>ppt_x</p:attrName>
                                        </p:attrNameLst>
                                      </p:cBhvr>
                                      <p:tavLst>
                                        <p:tav tm="0">
                                          <p:val>
                                            <p:strVal val="#ppt_x"/>
                                          </p:val>
                                        </p:tav>
                                        <p:tav tm="100000">
                                          <p:val>
                                            <p:strVal val="#ppt_x"/>
                                          </p:val>
                                        </p:tav>
                                      </p:tavLst>
                                    </p:anim>
                                    <p:anim calcmode="lin" valueType="num">
                                      <p:cBhvr additive="base">
                                        <p:cTn id="70" dur="500" fill="hold"/>
                                        <p:tgtEl>
                                          <p:spTgt spid="53286"/>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53302"/>
                                        </p:tgtEl>
                                        <p:attrNameLst>
                                          <p:attrName>style.visibility</p:attrName>
                                        </p:attrNameLst>
                                      </p:cBhvr>
                                      <p:to>
                                        <p:strVal val="visible"/>
                                      </p:to>
                                    </p:set>
                                    <p:anim calcmode="lin" valueType="num">
                                      <p:cBhvr additive="base">
                                        <p:cTn id="75" dur="500" fill="hold"/>
                                        <p:tgtEl>
                                          <p:spTgt spid="53302"/>
                                        </p:tgtEl>
                                        <p:attrNameLst>
                                          <p:attrName>ppt_x</p:attrName>
                                        </p:attrNameLst>
                                      </p:cBhvr>
                                      <p:tavLst>
                                        <p:tav tm="0">
                                          <p:val>
                                            <p:strVal val="#ppt_x"/>
                                          </p:val>
                                        </p:tav>
                                        <p:tav tm="100000">
                                          <p:val>
                                            <p:strVal val="#ppt_x"/>
                                          </p:val>
                                        </p:tav>
                                      </p:tavLst>
                                    </p:anim>
                                    <p:anim calcmode="lin" valueType="num">
                                      <p:cBhvr additive="base">
                                        <p:cTn id="76" dur="500" fill="hold"/>
                                        <p:tgtEl>
                                          <p:spTgt spid="53302"/>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53303"/>
                                        </p:tgtEl>
                                        <p:attrNameLst>
                                          <p:attrName>style.visibility</p:attrName>
                                        </p:attrNameLst>
                                      </p:cBhvr>
                                      <p:to>
                                        <p:strVal val="visible"/>
                                      </p:to>
                                    </p:set>
                                    <p:anim calcmode="lin" valueType="num">
                                      <p:cBhvr additive="base">
                                        <p:cTn id="79" dur="500" fill="hold"/>
                                        <p:tgtEl>
                                          <p:spTgt spid="53303"/>
                                        </p:tgtEl>
                                        <p:attrNameLst>
                                          <p:attrName>ppt_x</p:attrName>
                                        </p:attrNameLst>
                                      </p:cBhvr>
                                      <p:tavLst>
                                        <p:tav tm="0">
                                          <p:val>
                                            <p:strVal val="#ppt_x"/>
                                          </p:val>
                                        </p:tav>
                                        <p:tav tm="100000">
                                          <p:val>
                                            <p:strVal val="#ppt_x"/>
                                          </p:val>
                                        </p:tav>
                                      </p:tavLst>
                                    </p:anim>
                                    <p:anim calcmode="lin" valueType="num">
                                      <p:cBhvr additive="base">
                                        <p:cTn id="80" dur="500" fill="hold"/>
                                        <p:tgtEl>
                                          <p:spTgt spid="53303"/>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53287"/>
                                        </p:tgtEl>
                                        <p:attrNameLst>
                                          <p:attrName>style.visibility</p:attrName>
                                        </p:attrNameLst>
                                      </p:cBhvr>
                                      <p:to>
                                        <p:strVal val="visible"/>
                                      </p:to>
                                    </p:set>
                                    <p:anim calcmode="lin" valueType="num">
                                      <p:cBhvr additive="base">
                                        <p:cTn id="85" dur="500" fill="hold"/>
                                        <p:tgtEl>
                                          <p:spTgt spid="53287"/>
                                        </p:tgtEl>
                                        <p:attrNameLst>
                                          <p:attrName>ppt_x</p:attrName>
                                        </p:attrNameLst>
                                      </p:cBhvr>
                                      <p:tavLst>
                                        <p:tav tm="0">
                                          <p:val>
                                            <p:strVal val="#ppt_x"/>
                                          </p:val>
                                        </p:tav>
                                        <p:tav tm="100000">
                                          <p:val>
                                            <p:strVal val="#ppt_x"/>
                                          </p:val>
                                        </p:tav>
                                      </p:tavLst>
                                    </p:anim>
                                    <p:anim calcmode="lin" valueType="num">
                                      <p:cBhvr additive="base">
                                        <p:cTn id="86" dur="500" fill="hold"/>
                                        <p:tgtEl>
                                          <p:spTgt spid="53287"/>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53291"/>
                                        </p:tgtEl>
                                        <p:attrNameLst>
                                          <p:attrName>style.visibility</p:attrName>
                                        </p:attrNameLst>
                                      </p:cBhvr>
                                      <p:to>
                                        <p:strVal val="visible"/>
                                      </p:to>
                                    </p:set>
                                    <p:anim calcmode="lin" valueType="num">
                                      <p:cBhvr additive="base">
                                        <p:cTn id="91" dur="500" fill="hold"/>
                                        <p:tgtEl>
                                          <p:spTgt spid="53291"/>
                                        </p:tgtEl>
                                        <p:attrNameLst>
                                          <p:attrName>ppt_x</p:attrName>
                                        </p:attrNameLst>
                                      </p:cBhvr>
                                      <p:tavLst>
                                        <p:tav tm="0">
                                          <p:val>
                                            <p:strVal val="#ppt_x"/>
                                          </p:val>
                                        </p:tav>
                                        <p:tav tm="100000">
                                          <p:val>
                                            <p:strVal val="#ppt_x"/>
                                          </p:val>
                                        </p:tav>
                                      </p:tavLst>
                                    </p:anim>
                                    <p:anim calcmode="lin" valueType="num">
                                      <p:cBhvr additive="base">
                                        <p:cTn id="92" dur="500" fill="hold"/>
                                        <p:tgtEl>
                                          <p:spTgt spid="532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p:bldP spid="53286" grpId="0"/>
      <p:bldP spid="53291" grpId="0" animBg="1"/>
      <p:bldP spid="53303" grpId="0" animBg="1"/>
      <p:bldP spid="5330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2"/>
          <p:cNvSpPr txBox="1">
            <a:spLocks noChangeArrowheads="1"/>
          </p:cNvSpPr>
          <p:nvPr/>
        </p:nvSpPr>
        <p:spPr bwMode="auto">
          <a:xfrm>
            <a:off x="685800" y="381000"/>
            <a:ext cx="5400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00CC"/>
                </a:solidFill>
                <a:ea typeface="楷体_GB2312" panose="02010609030101010101" pitchFamily="49" charset="-122"/>
              </a:rPr>
              <a:t>本章基本题型：</a:t>
            </a:r>
            <a:endParaRPr lang="zh-CN" altLang="en-US" sz="2800" b="1">
              <a:solidFill>
                <a:srgbClr val="0000CC"/>
              </a:solidFill>
              <a:ea typeface="楷体_GB2312" panose="02010609030101010101" pitchFamily="49" charset="-122"/>
            </a:endParaRPr>
          </a:p>
        </p:txBody>
      </p:sp>
      <p:sp>
        <p:nvSpPr>
          <p:cNvPr id="133123" name="Text Box 3"/>
          <p:cNvSpPr txBox="1">
            <a:spLocks noChangeArrowheads="1"/>
          </p:cNvSpPr>
          <p:nvPr/>
        </p:nvSpPr>
        <p:spPr bwMode="auto">
          <a:xfrm>
            <a:off x="685800" y="1062038"/>
            <a:ext cx="5399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t>1</a:t>
            </a:r>
            <a:r>
              <a:rPr lang="zh-CN" altLang="en-US" sz="2800" b="1"/>
              <a:t>、已知振动方程，求特征参量</a:t>
            </a:r>
            <a:endParaRPr lang="zh-CN" altLang="en-US" sz="2800" b="1"/>
          </a:p>
        </p:txBody>
      </p:sp>
      <p:sp>
        <p:nvSpPr>
          <p:cNvPr id="133124" name="Text Box 4"/>
          <p:cNvSpPr txBox="1">
            <a:spLocks noChangeArrowheads="1"/>
          </p:cNvSpPr>
          <p:nvPr/>
        </p:nvSpPr>
        <p:spPr bwMode="auto">
          <a:xfrm>
            <a:off x="685800" y="2492375"/>
            <a:ext cx="7773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t>2</a:t>
            </a:r>
            <a:r>
              <a:rPr lang="zh-CN" altLang="en-US" sz="2800" b="1"/>
              <a:t>、已知条件（或者振动曲线），建立振动方程</a:t>
            </a:r>
            <a:endParaRPr lang="zh-CN" altLang="en-US" sz="2800" b="1"/>
          </a:p>
        </p:txBody>
      </p:sp>
      <p:sp>
        <p:nvSpPr>
          <p:cNvPr id="133125" name="Text Box 5"/>
          <p:cNvSpPr txBox="1">
            <a:spLocks noChangeArrowheads="1"/>
          </p:cNvSpPr>
          <p:nvPr/>
        </p:nvSpPr>
        <p:spPr bwMode="auto">
          <a:xfrm>
            <a:off x="685800" y="3357563"/>
            <a:ext cx="7989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t>3</a:t>
            </a:r>
            <a:r>
              <a:rPr lang="zh-CN" altLang="en-US" sz="2800" b="1"/>
              <a:t>、证明、判断一个物体的振动是否是简谐振动</a:t>
            </a:r>
            <a:endParaRPr lang="zh-CN" altLang="en-US" sz="2800" b="1"/>
          </a:p>
        </p:txBody>
      </p:sp>
      <p:sp>
        <p:nvSpPr>
          <p:cNvPr id="133126" name="Text Box 6"/>
          <p:cNvSpPr txBox="1">
            <a:spLocks noChangeArrowheads="1"/>
          </p:cNvSpPr>
          <p:nvPr/>
        </p:nvSpPr>
        <p:spPr bwMode="auto">
          <a:xfrm>
            <a:off x="684213" y="5014913"/>
            <a:ext cx="3600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t>4</a:t>
            </a:r>
            <a:r>
              <a:rPr lang="zh-CN" altLang="en-US" sz="2800" b="1"/>
              <a:t>、简谐振动的合成</a:t>
            </a:r>
            <a:r>
              <a:rPr lang="en-US" altLang="zh-CN" sz="2800" b="1"/>
              <a:t>:</a:t>
            </a:r>
            <a:endParaRPr lang="en-US" altLang="zh-CN" sz="2800" b="1"/>
          </a:p>
        </p:txBody>
      </p:sp>
      <p:sp>
        <p:nvSpPr>
          <p:cNvPr id="133127" name="Text Box 7"/>
          <p:cNvSpPr txBox="1">
            <a:spLocks noChangeArrowheads="1"/>
          </p:cNvSpPr>
          <p:nvPr/>
        </p:nvSpPr>
        <p:spPr bwMode="blackWhite">
          <a:xfrm>
            <a:off x="1189038" y="4149725"/>
            <a:ext cx="67675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0000FF"/>
                </a:solidFill>
                <a:latin typeface="Times New Roman" panose="02020603050405020304" pitchFamily="18" charset="0"/>
              </a:rPr>
              <a:t>动力学判据</a:t>
            </a:r>
            <a:r>
              <a:rPr kumimoji="1" lang="zh-CN" altLang="en-US" sz="2800" b="1">
                <a:latin typeface="Times New Roman" panose="02020603050405020304" pitchFamily="18" charset="0"/>
              </a:rPr>
              <a:t>；</a:t>
            </a:r>
            <a:r>
              <a:rPr kumimoji="1" lang="zh-CN" altLang="en-US" sz="2800" b="1">
                <a:solidFill>
                  <a:srgbClr val="FF0066"/>
                </a:solidFill>
              </a:rPr>
              <a:t>能量判据；</a:t>
            </a:r>
            <a:r>
              <a:rPr kumimoji="1" lang="zh-CN" altLang="en-US" sz="2800" b="1">
                <a:latin typeface="Times New Roman" panose="02020603050405020304" pitchFamily="18" charset="0"/>
              </a:rPr>
              <a:t>运动学判据</a:t>
            </a:r>
            <a:endParaRPr kumimoji="1" lang="zh-CN" altLang="en-US" sz="2800" b="1">
              <a:latin typeface="Times New Roman" panose="02020603050405020304" pitchFamily="18" charset="0"/>
            </a:endParaRPr>
          </a:p>
        </p:txBody>
      </p:sp>
      <p:sp>
        <p:nvSpPr>
          <p:cNvPr id="133136" name="Rectangle 16"/>
          <p:cNvSpPr>
            <a:spLocks noChangeArrowheads="1"/>
          </p:cNvSpPr>
          <p:nvPr/>
        </p:nvSpPr>
        <p:spPr bwMode="auto">
          <a:xfrm>
            <a:off x="3773488" y="5013325"/>
            <a:ext cx="4543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FF0000"/>
                </a:solidFill>
              </a:rPr>
              <a:t>  </a:t>
            </a:r>
            <a:r>
              <a:rPr lang="zh-CN" altLang="en-US" sz="2800" b="1">
                <a:solidFill>
                  <a:srgbClr val="FF0066"/>
                </a:solidFill>
              </a:rPr>
              <a:t>解析法、</a:t>
            </a:r>
            <a:r>
              <a:rPr lang="zh-CN" altLang="en-US" sz="2800" b="1">
                <a:solidFill>
                  <a:srgbClr val="0000FF"/>
                </a:solidFill>
              </a:rPr>
              <a:t>旋转矢量法</a:t>
            </a:r>
            <a:endParaRPr lang="zh-CN" altLang="en-US" sz="2800" b="1">
              <a:solidFill>
                <a:srgbClr val="0000FF"/>
              </a:solidFill>
            </a:endParaRPr>
          </a:p>
        </p:txBody>
      </p:sp>
      <p:sp>
        <p:nvSpPr>
          <p:cNvPr id="133137" name="Text Box 17"/>
          <p:cNvSpPr txBox="1">
            <a:spLocks noChangeArrowheads="1"/>
          </p:cNvSpPr>
          <p:nvPr/>
        </p:nvSpPr>
        <p:spPr bwMode="auto">
          <a:xfrm>
            <a:off x="1692275" y="1700213"/>
            <a:ext cx="6048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FF0066"/>
                </a:solidFill>
              </a:rPr>
              <a:t>（振幅、周期、频率、初相位）</a:t>
            </a:r>
            <a:endParaRPr lang="zh-CN" altLang="en-US" sz="2800" b="1">
              <a:solidFill>
                <a:srgbClr val="FF006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23"/>
                                        </p:tgtEl>
                                        <p:attrNameLst>
                                          <p:attrName>style.visibility</p:attrName>
                                        </p:attrNameLst>
                                      </p:cBhvr>
                                      <p:to>
                                        <p:strVal val="visible"/>
                                      </p:to>
                                    </p:set>
                                    <p:animEffect transition="in" filter="blinds(horizontal)">
                                      <p:cBhvr>
                                        <p:cTn id="7" dur="500"/>
                                        <p:tgtEl>
                                          <p:spTgt spid="1331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37"/>
                                        </p:tgtEl>
                                        <p:attrNameLst>
                                          <p:attrName>style.visibility</p:attrName>
                                        </p:attrNameLst>
                                      </p:cBhvr>
                                      <p:to>
                                        <p:strVal val="visible"/>
                                      </p:to>
                                    </p:set>
                                    <p:animEffect transition="in" filter="wipe(left)">
                                      <p:cBhvr>
                                        <p:cTn id="12" dur="500"/>
                                        <p:tgtEl>
                                          <p:spTgt spid="13313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24"/>
                                        </p:tgtEl>
                                        <p:attrNameLst>
                                          <p:attrName>style.visibility</p:attrName>
                                        </p:attrNameLst>
                                      </p:cBhvr>
                                      <p:to>
                                        <p:strVal val="visible"/>
                                      </p:to>
                                    </p:set>
                                    <p:animEffect transition="in" filter="blinds(horizontal)">
                                      <p:cBhvr>
                                        <p:cTn id="17" dur="500"/>
                                        <p:tgtEl>
                                          <p:spTgt spid="13312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3125">
                                            <p:txEl>
                                              <p:pRg st="0" end="0"/>
                                            </p:txEl>
                                          </p:spTgt>
                                        </p:tgtEl>
                                        <p:attrNameLst>
                                          <p:attrName>style.visibility</p:attrName>
                                        </p:attrNameLst>
                                      </p:cBhvr>
                                      <p:to>
                                        <p:strVal val="visible"/>
                                      </p:to>
                                    </p:set>
                                    <p:animEffect transition="in" filter="blinds(horizontal)">
                                      <p:cBhvr>
                                        <p:cTn id="22" dur="500"/>
                                        <p:tgtEl>
                                          <p:spTgt spid="13312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3127"/>
                                        </p:tgtEl>
                                        <p:attrNameLst>
                                          <p:attrName>style.visibility</p:attrName>
                                        </p:attrNameLst>
                                      </p:cBhvr>
                                      <p:to>
                                        <p:strVal val="visible"/>
                                      </p:to>
                                    </p:set>
                                    <p:animEffect transition="in" filter="wipe(left)">
                                      <p:cBhvr>
                                        <p:cTn id="27" dur="500"/>
                                        <p:tgtEl>
                                          <p:spTgt spid="13312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3126"/>
                                        </p:tgtEl>
                                        <p:attrNameLst>
                                          <p:attrName>style.visibility</p:attrName>
                                        </p:attrNameLst>
                                      </p:cBhvr>
                                      <p:to>
                                        <p:strVal val="visible"/>
                                      </p:to>
                                    </p:set>
                                    <p:animEffect transition="in" filter="blinds(horizontal)">
                                      <p:cBhvr>
                                        <p:cTn id="32" dur="500"/>
                                        <p:tgtEl>
                                          <p:spTgt spid="1331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3136"/>
                                        </p:tgtEl>
                                        <p:attrNameLst>
                                          <p:attrName>style.visibility</p:attrName>
                                        </p:attrNameLst>
                                      </p:cBhvr>
                                      <p:to>
                                        <p:strVal val="visible"/>
                                      </p:to>
                                    </p:set>
                                    <p:animEffect transition="in" filter="wipe(left)">
                                      <p:cBhvr>
                                        <p:cTn id="37" dur="500"/>
                                        <p:tgtEl>
                                          <p:spTgt spid="133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p:bldP spid="133124" grpId="0"/>
      <p:bldP spid="133126" grpId="0"/>
      <p:bldP spid="133127" grpId="0"/>
      <p:bldP spid="133136" grpId="0"/>
      <p:bldP spid="1331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2"/>
          <p:cNvSpPr txBox="1">
            <a:spLocks noChangeArrowheads="1"/>
          </p:cNvSpPr>
          <p:nvPr/>
        </p:nvSpPr>
        <p:spPr bwMode="auto">
          <a:xfrm>
            <a:off x="250825" y="333375"/>
            <a:ext cx="858837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rgbClr val="FF0066"/>
                </a:solidFill>
                <a:latin typeface="Times New Roman" panose="02020603050405020304" pitchFamily="18" charset="0"/>
                <a:ea typeface="楷体_GB2312" panose="02010609030101010101" pitchFamily="49" charset="-122"/>
              </a:rPr>
              <a:t>例１</a:t>
            </a:r>
            <a:r>
              <a:rPr kumimoji="1" lang="zh-CN" altLang="en-US" sz="2800" b="1" dirty="0">
                <a:latin typeface="Times New Roman" panose="02020603050405020304" pitchFamily="18" charset="0"/>
                <a:ea typeface="楷体_GB2312" panose="02010609030101010101" pitchFamily="49" charset="-122"/>
              </a:rPr>
              <a:t> 一质量为</a:t>
            </a:r>
            <a:r>
              <a:rPr kumimoji="1" lang="en-US" altLang="zh-CN" sz="2800" b="1" i="1" dirty="0">
                <a:latin typeface="Times New Roman" panose="02020603050405020304" pitchFamily="18" charset="0"/>
                <a:ea typeface="楷体_GB2312" panose="02010609030101010101" pitchFamily="49" charset="-122"/>
              </a:rPr>
              <a:t>m</a:t>
            </a:r>
            <a:r>
              <a:rPr kumimoji="1" lang="en-US" altLang="zh-CN" sz="2800" b="1" dirty="0">
                <a:latin typeface="Times New Roman" panose="02020603050405020304" pitchFamily="18" charset="0"/>
                <a:ea typeface="楷体_GB2312" panose="02010609030101010101" pitchFamily="49" charset="-122"/>
              </a:rPr>
              <a:t> = 10 g</a:t>
            </a:r>
            <a:r>
              <a:rPr kumimoji="1" lang="zh-CN" altLang="en-US" sz="2800" b="1" dirty="0">
                <a:latin typeface="Times New Roman" panose="02020603050405020304" pitchFamily="18" charset="0"/>
                <a:ea typeface="楷体_GB2312" panose="02010609030101010101" pitchFamily="49" charset="-122"/>
              </a:rPr>
              <a:t>的物体作简谐振动，振幅为</a:t>
            </a:r>
            <a:r>
              <a:rPr kumimoji="1" lang="en-US" altLang="zh-CN" sz="2800" b="1" i="1" dirty="0">
                <a:latin typeface="Times New Roman" panose="02020603050405020304" pitchFamily="18" charset="0"/>
                <a:ea typeface="楷体_GB2312" panose="02010609030101010101" pitchFamily="49" charset="-122"/>
              </a:rPr>
              <a:t>A</a:t>
            </a:r>
            <a:r>
              <a:rPr kumimoji="1" lang="en-US" altLang="zh-CN" sz="2800" b="1" dirty="0">
                <a:latin typeface="Times New Roman" panose="02020603050405020304" pitchFamily="18" charset="0"/>
                <a:ea typeface="楷体_GB2312" panose="02010609030101010101" pitchFamily="49" charset="-122"/>
              </a:rPr>
              <a:t> = 10 cm ,</a:t>
            </a:r>
            <a:r>
              <a:rPr kumimoji="1" lang="zh-CN" altLang="en-US" sz="2800" b="1" dirty="0">
                <a:latin typeface="Times New Roman" panose="02020603050405020304" pitchFamily="18" charset="0"/>
                <a:ea typeface="楷体_GB2312" panose="02010609030101010101" pitchFamily="49" charset="-122"/>
              </a:rPr>
              <a:t>周期</a:t>
            </a:r>
            <a:r>
              <a:rPr kumimoji="1" lang="en-US" altLang="zh-CN" sz="2800" b="1" i="1" dirty="0">
                <a:latin typeface="Times New Roman" panose="02020603050405020304" pitchFamily="18" charset="0"/>
                <a:ea typeface="楷体_GB2312" panose="02010609030101010101" pitchFamily="49" charset="-122"/>
              </a:rPr>
              <a:t>T</a:t>
            </a:r>
            <a:r>
              <a:rPr kumimoji="1" lang="en-US" altLang="zh-CN" sz="2800" b="1" dirty="0">
                <a:latin typeface="Times New Roman" panose="02020603050405020304" pitchFamily="18" charset="0"/>
                <a:ea typeface="楷体_GB2312" panose="02010609030101010101" pitchFamily="49" charset="-122"/>
              </a:rPr>
              <a:t> = 2.0 s</a:t>
            </a:r>
            <a:r>
              <a:rPr kumimoji="1" lang="zh-CN" altLang="en-US" sz="2800" b="1" dirty="0">
                <a:latin typeface="Times New Roman" panose="02020603050405020304" pitchFamily="18" charset="0"/>
                <a:ea typeface="楷体_GB2312" panose="02010609030101010101" pitchFamily="49" charset="-122"/>
              </a:rPr>
              <a:t>。若</a:t>
            </a:r>
            <a:r>
              <a:rPr kumimoji="1" lang="en-US" altLang="zh-CN" sz="2800" b="1" i="1" dirty="0">
                <a:latin typeface="Times New Roman" panose="02020603050405020304" pitchFamily="18" charset="0"/>
                <a:ea typeface="楷体_GB2312" panose="02010609030101010101" pitchFamily="49" charset="-122"/>
              </a:rPr>
              <a:t>t</a:t>
            </a:r>
            <a:r>
              <a:rPr kumimoji="1" lang="en-US" altLang="zh-CN" sz="2800" b="1" dirty="0">
                <a:latin typeface="Times New Roman" panose="02020603050405020304" pitchFamily="18" charset="0"/>
                <a:ea typeface="楷体_GB2312" panose="02010609030101010101" pitchFamily="49" charset="-122"/>
              </a:rPr>
              <a:t> = 0</a:t>
            </a:r>
            <a:r>
              <a:rPr kumimoji="1" lang="zh-CN" altLang="en-US" sz="2800" b="1" dirty="0">
                <a:latin typeface="Times New Roman" panose="02020603050405020304" pitchFamily="18" charset="0"/>
                <a:ea typeface="楷体_GB2312" panose="02010609030101010101" pitchFamily="49" charset="-122"/>
              </a:rPr>
              <a:t>时，位移</a:t>
            </a:r>
            <a:r>
              <a:rPr kumimoji="1" lang="en-US" altLang="zh-CN" sz="2800" b="1" i="1" dirty="0">
                <a:latin typeface="Times New Roman" panose="02020603050405020304" pitchFamily="18" charset="0"/>
                <a:ea typeface="楷体_GB2312" panose="02010609030101010101" pitchFamily="49" charset="-122"/>
              </a:rPr>
              <a:t>x</a:t>
            </a:r>
            <a:r>
              <a:rPr kumimoji="1" lang="en-US" altLang="zh-CN" sz="2800" b="1" baseline="-25000" dirty="0">
                <a:latin typeface="Times New Roman" panose="02020603050405020304" pitchFamily="18" charset="0"/>
                <a:ea typeface="楷体_GB2312" panose="02010609030101010101" pitchFamily="49" charset="-122"/>
              </a:rPr>
              <a:t>0</a:t>
            </a:r>
            <a:r>
              <a:rPr kumimoji="1" lang="en-US" altLang="zh-CN" sz="2800" b="1" dirty="0">
                <a:latin typeface="Times New Roman" panose="02020603050405020304" pitchFamily="18" charset="0"/>
                <a:ea typeface="楷体_GB2312" panose="02010609030101010101" pitchFamily="49" charset="-122"/>
              </a:rPr>
              <a:t>= - 5.0 cm</a:t>
            </a:r>
            <a:r>
              <a:rPr kumimoji="1" lang="zh-CN" altLang="en-US" sz="2800" b="1" dirty="0">
                <a:latin typeface="Times New Roman" panose="02020603050405020304" pitchFamily="18" charset="0"/>
                <a:ea typeface="楷体_GB2312" panose="02010609030101010101" pitchFamily="49" charset="-122"/>
              </a:rPr>
              <a:t>，且物体向负</a:t>
            </a:r>
            <a:r>
              <a:rPr kumimoji="1" lang="en-US" altLang="zh-CN" sz="2800" b="1" i="1" dirty="0">
                <a:latin typeface="Times New Roman" panose="02020603050405020304" pitchFamily="18" charset="0"/>
                <a:ea typeface="楷体_GB2312" panose="02010609030101010101" pitchFamily="49" charset="-122"/>
              </a:rPr>
              <a:t>x</a:t>
            </a:r>
            <a:r>
              <a:rPr kumimoji="1" lang="zh-CN" altLang="en-US" sz="2800" b="1" dirty="0">
                <a:latin typeface="Times New Roman" panose="02020603050405020304" pitchFamily="18" charset="0"/>
                <a:ea typeface="楷体_GB2312" panose="02010609030101010101" pitchFamily="49" charset="-122"/>
              </a:rPr>
              <a:t>方向运动，</a:t>
            </a:r>
            <a:endParaRPr kumimoji="1" lang="zh-CN" altLang="en-US" sz="2800" b="1" dirty="0">
              <a:latin typeface="Times New Roman" panose="02020603050405020304" pitchFamily="18" charset="0"/>
              <a:ea typeface="楷体_GB2312" panose="02010609030101010101" pitchFamily="49" charset="-122"/>
            </a:endParaRPr>
          </a:p>
        </p:txBody>
      </p:sp>
      <p:sp>
        <p:nvSpPr>
          <p:cNvPr id="137219" name="Text Box 3"/>
          <p:cNvSpPr txBox="1">
            <a:spLocks noChangeArrowheads="1"/>
          </p:cNvSpPr>
          <p:nvPr/>
        </p:nvSpPr>
        <p:spPr bwMode="auto">
          <a:xfrm>
            <a:off x="304800" y="1600200"/>
            <a:ext cx="8351838"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latin typeface="Times New Roman" panose="02020603050405020304" pitchFamily="18" charset="0"/>
                <a:ea typeface="楷体_GB2312" panose="02010609030101010101" pitchFamily="49" charset="-122"/>
              </a:rPr>
              <a:t>试求：</a:t>
            </a:r>
            <a:endParaRPr kumimoji="1" lang="zh-CN" altLang="en-US" sz="2800" b="1" dirty="0">
              <a:latin typeface="Times New Roman" panose="02020603050405020304" pitchFamily="18" charset="0"/>
              <a:ea typeface="楷体_GB2312" panose="02010609030101010101" pitchFamily="49" charset="-122"/>
            </a:endParaRPr>
          </a:p>
          <a:p>
            <a:pPr eaLnBrk="1" hangingPunct="1"/>
            <a:r>
              <a:rPr kumimoji="1" lang="zh-CN" altLang="en-US" sz="2800" b="1" dirty="0">
                <a:latin typeface="Times New Roman" panose="02020603050405020304" pitchFamily="18" charset="0"/>
                <a:ea typeface="楷体_GB2312" panose="02010609030101010101" pitchFamily="49" charset="-122"/>
              </a:rPr>
              <a:t>（</a:t>
            </a:r>
            <a:r>
              <a:rPr kumimoji="1" lang="en-US" altLang="zh-CN" sz="2800" b="1" dirty="0">
                <a:latin typeface="Times New Roman" panose="02020603050405020304" pitchFamily="18" charset="0"/>
                <a:ea typeface="楷体_GB2312" panose="02010609030101010101" pitchFamily="49" charset="-122"/>
              </a:rPr>
              <a:t>1</a:t>
            </a:r>
            <a:r>
              <a:rPr kumimoji="1" lang="zh-CN" altLang="en-US" sz="2800" b="1" dirty="0">
                <a:latin typeface="Times New Roman" panose="02020603050405020304" pitchFamily="18" charset="0"/>
                <a:ea typeface="楷体_GB2312" panose="02010609030101010101" pitchFamily="49" charset="-122"/>
              </a:rPr>
              <a:t>）</a:t>
            </a:r>
            <a:r>
              <a:rPr kumimoji="1" lang="en-US" altLang="zh-CN" sz="2800" b="1" i="1" dirty="0">
                <a:latin typeface="Times New Roman" panose="02020603050405020304" pitchFamily="18" charset="0"/>
                <a:ea typeface="楷体_GB2312" panose="02010609030101010101" pitchFamily="49" charset="-122"/>
              </a:rPr>
              <a:t>t </a:t>
            </a:r>
            <a:r>
              <a:rPr kumimoji="1" lang="en-US" altLang="zh-CN" sz="2800" b="1" dirty="0">
                <a:latin typeface="Times New Roman" panose="02020603050405020304" pitchFamily="18" charset="0"/>
                <a:ea typeface="楷体_GB2312" panose="02010609030101010101" pitchFamily="49" charset="-122"/>
              </a:rPr>
              <a:t>= 0.5 s</a:t>
            </a:r>
            <a:r>
              <a:rPr kumimoji="1" lang="zh-CN" altLang="en-US" sz="2800" b="1" dirty="0">
                <a:latin typeface="Times New Roman" panose="02020603050405020304" pitchFamily="18" charset="0"/>
                <a:ea typeface="楷体_GB2312" panose="02010609030101010101" pitchFamily="49" charset="-122"/>
              </a:rPr>
              <a:t>时物体的位移；</a:t>
            </a:r>
            <a:endParaRPr kumimoji="1" lang="zh-CN" altLang="en-US" sz="2800" b="1" dirty="0">
              <a:latin typeface="Times New Roman" panose="02020603050405020304" pitchFamily="18" charset="0"/>
              <a:ea typeface="楷体_GB2312" panose="02010609030101010101" pitchFamily="49" charset="-122"/>
            </a:endParaRPr>
          </a:p>
          <a:p>
            <a:pPr eaLnBrk="1" hangingPunct="1"/>
            <a:r>
              <a:rPr kumimoji="1" lang="zh-CN" altLang="en-US" sz="2800" b="1" dirty="0">
                <a:latin typeface="Times New Roman" panose="02020603050405020304" pitchFamily="18" charset="0"/>
                <a:ea typeface="楷体_GB2312" panose="02010609030101010101" pitchFamily="49" charset="-122"/>
              </a:rPr>
              <a:t>（</a:t>
            </a:r>
            <a:r>
              <a:rPr kumimoji="1" lang="en-US" altLang="zh-CN" sz="2800" b="1" dirty="0">
                <a:latin typeface="Times New Roman" panose="02020603050405020304" pitchFamily="18" charset="0"/>
                <a:ea typeface="楷体_GB2312" panose="02010609030101010101" pitchFamily="49" charset="-122"/>
              </a:rPr>
              <a:t>2</a:t>
            </a:r>
            <a:r>
              <a:rPr kumimoji="1" lang="zh-CN" altLang="en-US" sz="2800" b="1" dirty="0">
                <a:latin typeface="Times New Roman" panose="02020603050405020304" pitchFamily="18" charset="0"/>
                <a:ea typeface="楷体_GB2312" panose="02010609030101010101" pitchFamily="49" charset="-122"/>
              </a:rPr>
              <a:t>）</a:t>
            </a:r>
            <a:r>
              <a:rPr kumimoji="1" lang="en-US" altLang="zh-CN" sz="2800" b="1" i="1" dirty="0">
                <a:latin typeface="Times New Roman" panose="02020603050405020304" pitchFamily="18" charset="0"/>
                <a:ea typeface="楷体_GB2312" panose="02010609030101010101" pitchFamily="49" charset="-122"/>
              </a:rPr>
              <a:t>t</a:t>
            </a:r>
            <a:r>
              <a:rPr kumimoji="1" lang="en-US" altLang="zh-CN" sz="2800" b="1" dirty="0">
                <a:latin typeface="Times New Roman" panose="02020603050405020304" pitchFamily="18" charset="0"/>
                <a:ea typeface="楷体_GB2312" panose="02010609030101010101" pitchFamily="49" charset="-122"/>
              </a:rPr>
              <a:t> = 0.5 s</a:t>
            </a:r>
            <a:r>
              <a:rPr kumimoji="1" lang="zh-CN" altLang="en-US" sz="2800" b="1" dirty="0">
                <a:latin typeface="Times New Roman" panose="02020603050405020304" pitchFamily="18" charset="0"/>
                <a:ea typeface="楷体_GB2312" panose="02010609030101010101" pitchFamily="49" charset="-122"/>
              </a:rPr>
              <a:t>时物体的</a:t>
            </a:r>
            <a:r>
              <a:rPr kumimoji="1" lang="zh-CN" altLang="en-US" sz="2800" b="1" dirty="0">
                <a:highlight>
                  <a:srgbClr val="FFFF00"/>
                </a:highlight>
                <a:latin typeface="Times New Roman" panose="02020603050405020304" pitchFamily="18" charset="0"/>
                <a:ea typeface="楷体_GB2312" panose="02010609030101010101" pitchFamily="49" charset="-122"/>
              </a:rPr>
              <a:t>受力情况</a:t>
            </a:r>
            <a:r>
              <a:rPr kumimoji="1" lang="zh-CN" altLang="en-US" sz="2800" b="1" dirty="0">
                <a:latin typeface="Times New Roman" panose="02020603050405020304" pitchFamily="18" charset="0"/>
                <a:ea typeface="楷体_GB2312" panose="02010609030101010101" pitchFamily="49" charset="-122"/>
              </a:rPr>
              <a:t>；</a:t>
            </a:r>
            <a:endParaRPr kumimoji="1" lang="zh-CN" altLang="en-US" sz="2800" b="1" dirty="0">
              <a:latin typeface="Times New Roman" panose="02020603050405020304" pitchFamily="18" charset="0"/>
              <a:ea typeface="楷体_GB2312" panose="02010609030101010101" pitchFamily="49" charset="-122"/>
            </a:endParaRPr>
          </a:p>
          <a:p>
            <a:pPr eaLnBrk="1" hangingPunct="1"/>
            <a:r>
              <a:rPr kumimoji="1" lang="zh-CN" altLang="en-US" sz="2800" b="1" dirty="0">
                <a:latin typeface="Times New Roman" panose="02020603050405020304" pitchFamily="18" charset="0"/>
                <a:ea typeface="楷体_GB2312" panose="02010609030101010101" pitchFamily="49" charset="-122"/>
              </a:rPr>
              <a:t>（</a:t>
            </a:r>
            <a:r>
              <a:rPr kumimoji="1" lang="en-US" altLang="zh-CN" sz="2800" b="1" dirty="0">
                <a:latin typeface="Times New Roman" panose="02020603050405020304" pitchFamily="18" charset="0"/>
                <a:ea typeface="楷体_GB2312" panose="02010609030101010101" pitchFamily="49" charset="-122"/>
              </a:rPr>
              <a:t>3</a:t>
            </a:r>
            <a:r>
              <a:rPr kumimoji="1" lang="zh-CN" altLang="en-US" sz="2800" b="1" dirty="0">
                <a:latin typeface="Times New Roman" panose="02020603050405020304" pitchFamily="18" charset="0"/>
                <a:ea typeface="楷体_GB2312" panose="02010609030101010101" pitchFamily="49" charset="-122"/>
              </a:rPr>
              <a:t>）从计时开始，第一次到达</a:t>
            </a:r>
            <a:r>
              <a:rPr kumimoji="1" lang="en-US" altLang="zh-CN" sz="2800" b="1" i="1" dirty="0">
                <a:latin typeface="Times New Roman" panose="02020603050405020304" pitchFamily="18" charset="0"/>
                <a:ea typeface="楷体_GB2312" panose="02010609030101010101" pitchFamily="49" charset="-122"/>
              </a:rPr>
              <a:t>x</a:t>
            </a:r>
            <a:r>
              <a:rPr kumimoji="1" lang="en-US" altLang="zh-CN" sz="2800" b="1" dirty="0">
                <a:latin typeface="Times New Roman" panose="02020603050405020304" pitchFamily="18" charset="0"/>
                <a:ea typeface="楷体_GB2312" panose="02010609030101010101" pitchFamily="49" charset="-122"/>
              </a:rPr>
              <a:t> = 5.0 cm</a:t>
            </a:r>
            <a:r>
              <a:rPr kumimoji="1" lang="zh-CN" altLang="en-US" sz="2800" b="1" dirty="0">
                <a:latin typeface="Times New Roman" panose="02020603050405020304" pitchFamily="18" charset="0"/>
                <a:ea typeface="楷体_GB2312" panose="02010609030101010101" pitchFamily="49" charset="-122"/>
              </a:rPr>
              <a:t>所需时间；</a:t>
            </a:r>
            <a:endParaRPr kumimoji="1" lang="zh-CN" altLang="en-US" sz="2800" b="1" dirty="0">
              <a:latin typeface="Times New Roman" panose="02020603050405020304" pitchFamily="18" charset="0"/>
              <a:ea typeface="楷体_GB2312" panose="02010609030101010101" pitchFamily="49" charset="-122"/>
            </a:endParaRPr>
          </a:p>
          <a:p>
            <a:pPr eaLnBrk="1" hangingPunct="1"/>
            <a:r>
              <a:rPr kumimoji="1" lang="zh-CN" altLang="en-US" sz="2800" b="1" dirty="0">
                <a:latin typeface="Times New Roman" panose="02020603050405020304" pitchFamily="18" charset="0"/>
                <a:ea typeface="楷体_GB2312" panose="02010609030101010101" pitchFamily="49" charset="-122"/>
              </a:rPr>
              <a:t>（</a:t>
            </a:r>
            <a:r>
              <a:rPr kumimoji="1" lang="en-US" altLang="zh-CN" sz="2800" b="1" dirty="0">
                <a:latin typeface="Times New Roman" panose="02020603050405020304" pitchFamily="18" charset="0"/>
                <a:ea typeface="楷体_GB2312" panose="02010609030101010101" pitchFamily="49" charset="-122"/>
              </a:rPr>
              <a:t>4</a:t>
            </a:r>
            <a:r>
              <a:rPr kumimoji="1" lang="zh-CN" altLang="en-US" sz="2800" b="1" dirty="0">
                <a:latin typeface="Times New Roman" panose="02020603050405020304" pitchFamily="18" charset="0"/>
                <a:ea typeface="楷体_GB2312" panose="02010609030101010101" pitchFamily="49" charset="-122"/>
              </a:rPr>
              <a:t>）连续两次到达</a:t>
            </a:r>
            <a:r>
              <a:rPr kumimoji="1" lang="en-US" altLang="zh-CN" sz="2800" b="1" i="1" dirty="0">
                <a:latin typeface="Times New Roman" panose="02020603050405020304" pitchFamily="18" charset="0"/>
                <a:ea typeface="楷体_GB2312" panose="02010609030101010101" pitchFamily="49" charset="-122"/>
              </a:rPr>
              <a:t>x</a:t>
            </a:r>
            <a:r>
              <a:rPr kumimoji="1" lang="en-US" altLang="zh-CN" sz="2800" b="1" dirty="0">
                <a:latin typeface="Times New Roman" panose="02020603050405020304" pitchFamily="18" charset="0"/>
                <a:ea typeface="楷体_GB2312" panose="02010609030101010101" pitchFamily="49" charset="-122"/>
              </a:rPr>
              <a:t> = 5.0 cm</a:t>
            </a:r>
            <a:r>
              <a:rPr kumimoji="1" lang="zh-CN" altLang="en-US" sz="2800" b="1" dirty="0">
                <a:latin typeface="Times New Roman" panose="02020603050405020304" pitchFamily="18" charset="0"/>
                <a:ea typeface="楷体_GB2312" panose="02010609030101010101" pitchFamily="49" charset="-122"/>
              </a:rPr>
              <a:t>处的时间间隔。</a:t>
            </a:r>
            <a:endParaRPr kumimoji="1" lang="zh-CN" altLang="en-US" sz="2800" b="1" dirty="0">
              <a:latin typeface="Times New Roman" panose="02020603050405020304" pitchFamily="18" charset="0"/>
              <a:ea typeface="楷体_GB2312" panose="02010609030101010101" pitchFamily="49" charset="-122"/>
            </a:endParaRPr>
          </a:p>
          <a:p>
            <a:pPr eaLnBrk="1" hangingPunct="1"/>
            <a:endParaRPr kumimoji="1" lang="en-US" altLang="zh-CN" sz="2800" b="1" dirty="0">
              <a:solidFill>
                <a:srgbClr val="0000FF"/>
              </a:solidFill>
              <a:latin typeface="Times New Roman" panose="02020603050405020304" pitchFamily="18" charset="0"/>
              <a:ea typeface="楷体_GB2312" panose="02010609030101010101" pitchFamily="49" charset="-122"/>
            </a:endParaRPr>
          </a:p>
        </p:txBody>
      </p:sp>
      <p:sp useBgFill="1">
        <p:nvSpPr>
          <p:cNvPr id="137220" name="Rectangle 4"/>
          <p:cNvSpPr>
            <a:spLocks noChangeArrowheads="1"/>
          </p:cNvSpPr>
          <p:nvPr/>
        </p:nvSpPr>
        <p:spPr bwMode="auto">
          <a:xfrm>
            <a:off x="304800" y="4114800"/>
            <a:ext cx="1344613"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7620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7620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7620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7620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kumimoji="1" lang="en-US" altLang="zh-CN" b="1">
                <a:solidFill>
                  <a:srgbClr val="FF0000"/>
                </a:solidFill>
                <a:latin typeface="宋体" panose="02010600030101010101" pitchFamily="2" charset="-122"/>
              </a:rPr>
              <a:t>【</a:t>
            </a:r>
            <a:r>
              <a:rPr kumimoji="1" lang="zh-CN" altLang="en-US" b="1">
                <a:solidFill>
                  <a:srgbClr val="FF0000"/>
                </a:solidFill>
                <a:latin typeface="Times New Roman" panose="02020603050405020304" pitchFamily="18" charset="0"/>
              </a:rPr>
              <a:t>解</a:t>
            </a:r>
            <a:r>
              <a:rPr kumimoji="1" lang="en-US" altLang="zh-CN" b="1">
                <a:solidFill>
                  <a:srgbClr val="FF0000"/>
                </a:solidFill>
                <a:latin typeface="宋体" panose="02010600030101010101" pitchFamily="2" charset="-122"/>
              </a:rPr>
              <a:t>】</a:t>
            </a:r>
            <a:endParaRPr kumimoji="1" lang="en-US" altLang="zh-CN" b="1">
              <a:solidFill>
                <a:srgbClr val="FF0000"/>
              </a:solidFill>
              <a:latin typeface="宋体" panose="02010600030101010101" pitchFamily="2" charset="-122"/>
            </a:endParaRPr>
          </a:p>
        </p:txBody>
      </p:sp>
      <p:graphicFrame>
        <p:nvGraphicFramePr>
          <p:cNvPr id="137221" name="Object 5"/>
          <p:cNvGraphicFramePr>
            <a:graphicFrameLocks noChangeAspect="1"/>
          </p:cNvGraphicFramePr>
          <p:nvPr/>
        </p:nvGraphicFramePr>
        <p:xfrm>
          <a:off x="6324600" y="4114800"/>
          <a:ext cx="1522413" cy="442913"/>
        </p:xfrm>
        <a:graphic>
          <a:graphicData uri="http://schemas.openxmlformats.org/presentationml/2006/ole">
            <mc:AlternateContent xmlns:mc="http://schemas.openxmlformats.org/markup-compatibility/2006">
              <mc:Choice xmlns:v="urn:schemas-microsoft-com:vml" Requires="v">
                <p:oleObj spid="_x0000_s8307" name="Equation" r:id="rId1" imgW="14935200" imgH="4267200" progId="Equation.DSMT4">
                  <p:embed/>
                </p:oleObj>
              </mc:Choice>
              <mc:Fallback>
                <p:oleObj name="Equation" r:id="rId1" imgW="14935200" imgH="4267200" progId="Equation.DSMT4">
                  <p:embed/>
                  <p:pic>
                    <p:nvPicPr>
                      <p:cNvPr id="0" name="Object 5"/>
                      <p:cNvPicPr>
                        <a:picLocks noChangeAspect="1" noChangeArrowheads="1"/>
                      </p:cNvPicPr>
                      <p:nvPr/>
                    </p:nvPicPr>
                    <p:blipFill>
                      <a:blip r:embed="rId2"/>
                      <a:srcRect/>
                      <a:stretch>
                        <a:fillRect/>
                      </a:stretch>
                    </p:blipFill>
                    <p:spPr bwMode="auto">
                      <a:xfrm>
                        <a:off x="6324600" y="4114800"/>
                        <a:ext cx="1522413"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7222" name="Object 6"/>
          <p:cNvGraphicFramePr>
            <a:graphicFrameLocks noChangeAspect="1"/>
          </p:cNvGraphicFramePr>
          <p:nvPr/>
        </p:nvGraphicFramePr>
        <p:xfrm>
          <a:off x="2220913" y="4665663"/>
          <a:ext cx="3559175" cy="608012"/>
        </p:xfrm>
        <a:graphic>
          <a:graphicData uri="http://schemas.openxmlformats.org/presentationml/2006/ole">
            <mc:AlternateContent xmlns:mc="http://schemas.openxmlformats.org/markup-compatibility/2006">
              <mc:Choice xmlns:v="urn:schemas-microsoft-com:vml" Requires="v">
                <p:oleObj spid="_x0000_s8308" name="Equation" r:id="rId3" imgW="1282700" imgH="215900" progId="Equation.DSMT4">
                  <p:embed/>
                </p:oleObj>
              </mc:Choice>
              <mc:Fallback>
                <p:oleObj name="Equation" r:id="rId3" imgW="1282700" imgH="2159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0913" y="4665663"/>
                        <a:ext cx="3559175" cy="608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7223" name="Rectangle 7"/>
          <p:cNvSpPr>
            <a:spLocks noChangeArrowheads="1"/>
          </p:cNvSpPr>
          <p:nvPr/>
        </p:nvSpPr>
        <p:spPr bwMode="auto">
          <a:xfrm>
            <a:off x="1371600" y="4068763"/>
            <a:ext cx="500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宋体" panose="02010600030101010101" pitchFamily="2" charset="-122"/>
                <a:cs typeface="Times New Roman" panose="02020603050405020304" pitchFamily="18" charset="0"/>
              </a:rPr>
              <a:t>（</a:t>
            </a:r>
            <a:r>
              <a:rPr lang="en-US" altLang="zh-CN" b="1">
                <a:latin typeface="宋体" panose="02010600030101010101" pitchFamily="2" charset="-122"/>
                <a:cs typeface="Times New Roman" panose="02020603050405020304" pitchFamily="18" charset="0"/>
              </a:rPr>
              <a:t>1</a:t>
            </a:r>
            <a:r>
              <a:rPr lang="zh-CN" altLang="en-US" b="1">
                <a:latin typeface="宋体" panose="02010600030101010101" pitchFamily="2" charset="-122"/>
                <a:cs typeface="Times New Roman" panose="02020603050405020304" pitchFamily="18" charset="0"/>
              </a:rPr>
              <a:t>）由已知可得简谐振动的振幅</a:t>
            </a:r>
            <a:endParaRPr lang="zh-CN" altLang="en-US" b="1">
              <a:latin typeface="宋体" panose="02010600030101010101" pitchFamily="2" charset="-122"/>
            </a:endParaRPr>
          </a:p>
        </p:txBody>
      </p:sp>
      <p:sp>
        <p:nvSpPr>
          <p:cNvPr id="137224" name="Rectangle 8"/>
          <p:cNvSpPr>
            <a:spLocks noChangeArrowheads="1"/>
          </p:cNvSpPr>
          <p:nvPr/>
        </p:nvSpPr>
        <p:spPr bwMode="auto">
          <a:xfrm>
            <a:off x="990600" y="4754563"/>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Times New Roman" panose="02020603050405020304" pitchFamily="18" charset="0"/>
                <a:cs typeface="Times New Roman" panose="02020603050405020304" pitchFamily="18" charset="0"/>
              </a:rPr>
              <a:t>角频率</a:t>
            </a:r>
            <a:endParaRPr lang="zh-CN" altLang="en-US" b="1"/>
          </a:p>
        </p:txBody>
      </p:sp>
      <p:sp>
        <p:nvSpPr>
          <p:cNvPr id="137225" name="Rectangle 9"/>
          <p:cNvSpPr>
            <a:spLocks noChangeArrowheads="1"/>
          </p:cNvSpPr>
          <p:nvPr/>
        </p:nvSpPr>
        <p:spPr bwMode="auto">
          <a:xfrm>
            <a:off x="949325" y="5564188"/>
            <a:ext cx="2479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Times New Roman" panose="02020603050405020304" pitchFamily="18" charset="0"/>
                <a:cs typeface="Times New Roman" panose="02020603050405020304" pitchFamily="18" charset="0"/>
              </a:rPr>
              <a:t>振动表达式为</a:t>
            </a:r>
            <a:r>
              <a:rPr lang="zh-CN" altLang="en-US">
                <a:latin typeface="Times New Roman" panose="02020603050405020304" pitchFamily="18" charset="0"/>
                <a:cs typeface="Times New Roman" panose="02020603050405020304" pitchFamily="18" charset="0"/>
              </a:rPr>
              <a:t>      </a:t>
            </a:r>
            <a:endParaRPr lang="zh-CN" altLang="en-US"/>
          </a:p>
        </p:txBody>
      </p:sp>
      <p:graphicFrame>
        <p:nvGraphicFramePr>
          <p:cNvPr id="137226" name="Object 10"/>
          <p:cNvGraphicFramePr>
            <a:graphicFrameLocks noChangeAspect="1"/>
          </p:cNvGraphicFramePr>
          <p:nvPr/>
        </p:nvGraphicFramePr>
        <p:xfrm>
          <a:off x="3481388" y="5411788"/>
          <a:ext cx="3475037" cy="754062"/>
        </p:xfrm>
        <a:graphic>
          <a:graphicData uri="http://schemas.openxmlformats.org/presentationml/2006/ole">
            <mc:AlternateContent xmlns:mc="http://schemas.openxmlformats.org/markup-compatibility/2006">
              <mc:Choice xmlns:v="urn:schemas-microsoft-com:vml" Requires="v">
                <p:oleObj spid="_x0000_s8309" name="Equation" r:id="rId5" imgW="28346400" imgH="6096000" progId="Equation.DSMT4">
                  <p:embed/>
                </p:oleObj>
              </mc:Choice>
              <mc:Fallback>
                <p:oleObj name="Equation" r:id="rId5" imgW="28346400" imgH="6096000" progId="Equation.DSMT4">
                  <p:embed/>
                  <p:pic>
                    <p:nvPicPr>
                      <p:cNvPr id="0" name="Object 10"/>
                      <p:cNvPicPr>
                        <a:picLocks noChangeAspect="1" noChangeArrowheads="1"/>
                      </p:cNvPicPr>
                      <p:nvPr/>
                    </p:nvPicPr>
                    <p:blipFill>
                      <a:blip r:embed="rId6"/>
                      <a:srcRect/>
                      <a:stretch>
                        <a:fillRect/>
                      </a:stretch>
                    </p:blipFill>
                    <p:spPr bwMode="auto">
                      <a:xfrm>
                        <a:off x="3481388" y="5411788"/>
                        <a:ext cx="3475037" cy="754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3" name="Rectangle 11"/>
          <p:cNvSpPr>
            <a:spLocks noChangeArrowheads="1"/>
          </p:cNvSpPr>
          <p:nvPr/>
        </p:nvSpPr>
        <p:spPr bwMode="auto">
          <a:xfrm>
            <a:off x="3873500" y="3557588"/>
            <a:ext cx="215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000">
                <a:latin typeface="Times New Roman" panose="02020603050405020304" pitchFamily="18" charset="0"/>
                <a:cs typeface="Times New Roman" panose="02020603050405020304" pitchFamily="18" charset="0"/>
              </a:rPr>
              <a:t> </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20"/>
                                        </p:tgtEl>
                                        <p:attrNameLst>
                                          <p:attrName>style.visibility</p:attrName>
                                        </p:attrNameLst>
                                      </p:cBhvr>
                                      <p:to>
                                        <p:strVal val="visible"/>
                                      </p:to>
                                    </p:set>
                                    <p:animEffect transition="in" filter="wipe(left)">
                                      <p:cBhvr>
                                        <p:cTn id="7" dur="500"/>
                                        <p:tgtEl>
                                          <p:spTgt spid="1372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23"/>
                                        </p:tgtEl>
                                        <p:attrNameLst>
                                          <p:attrName>style.visibility</p:attrName>
                                        </p:attrNameLst>
                                      </p:cBhvr>
                                      <p:to>
                                        <p:strVal val="visible"/>
                                      </p:to>
                                    </p:set>
                                    <p:animEffect transition="in" filter="wipe(left)">
                                      <p:cBhvr>
                                        <p:cTn id="12" dur="500"/>
                                        <p:tgtEl>
                                          <p:spTgt spid="1372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7221"/>
                                        </p:tgtEl>
                                        <p:attrNameLst>
                                          <p:attrName>style.visibility</p:attrName>
                                        </p:attrNameLst>
                                      </p:cBhvr>
                                      <p:to>
                                        <p:strVal val="visible"/>
                                      </p:to>
                                    </p:set>
                                    <p:animEffect transition="in" filter="wipe(left)">
                                      <p:cBhvr>
                                        <p:cTn id="17" dur="500"/>
                                        <p:tgtEl>
                                          <p:spTgt spid="1372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7224"/>
                                        </p:tgtEl>
                                        <p:attrNameLst>
                                          <p:attrName>style.visibility</p:attrName>
                                        </p:attrNameLst>
                                      </p:cBhvr>
                                      <p:to>
                                        <p:strVal val="visible"/>
                                      </p:to>
                                    </p:set>
                                    <p:animEffect transition="in" filter="wipe(left)">
                                      <p:cBhvr>
                                        <p:cTn id="22" dur="500"/>
                                        <p:tgtEl>
                                          <p:spTgt spid="1372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7222"/>
                                        </p:tgtEl>
                                        <p:attrNameLst>
                                          <p:attrName>style.visibility</p:attrName>
                                        </p:attrNameLst>
                                      </p:cBhvr>
                                      <p:to>
                                        <p:strVal val="visible"/>
                                      </p:to>
                                    </p:set>
                                    <p:animEffect transition="in" filter="wipe(left)">
                                      <p:cBhvr>
                                        <p:cTn id="27" dur="500"/>
                                        <p:tgtEl>
                                          <p:spTgt spid="1372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7225"/>
                                        </p:tgtEl>
                                        <p:attrNameLst>
                                          <p:attrName>style.visibility</p:attrName>
                                        </p:attrNameLst>
                                      </p:cBhvr>
                                      <p:to>
                                        <p:strVal val="visible"/>
                                      </p:to>
                                    </p:set>
                                    <p:animEffect transition="in" filter="wipe(left)">
                                      <p:cBhvr>
                                        <p:cTn id="32" dur="500"/>
                                        <p:tgtEl>
                                          <p:spTgt spid="1372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7226"/>
                                        </p:tgtEl>
                                        <p:attrNameLst>
                                          <p:attrName>style.visibility</p:attrName>
                                        </p:attrNameLst>
                                      </p:cBhvr>
                                      <p:to>
                                        <p:strVal val="visible"/>
                                      </p:to>
                                    </p:set>
                                    <p:animEffect transition="in" filter="wipe(left)">
                                      <p:cBhvr>
                                        <p:cTn id="37" dur="500"/>
                                        <p:tgtEl>
                                          <p:spTgt spid="137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0" grpId="0" animBg="1"/>
      <p:bldP spid="137223" grpId="0"/>
      <p:bldP spid="137224" grpId="0"/>
      <p:bldP spid="1372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8242" name="Object 2"/>
          <p:cNvGraphicFramePr>
            <a:graphicFrameLocks noChangeAspect="1"/>
          </p:cNvGraphicFramePr>
          <p:nvPr/>
        </p:nvGraphicFramePr>
        <p:xfrm>
          <a:off x="474663" y="457200"/>
          <a:ext cx="1049337" cy="463550"/>
        </p:xfrm>
        <a:graphic>
          <a:graphicData uri="http://schemas.openxmlformats.org/presentationml/2006/ole">
            <mc:AlternateContent xmlns:mc="http://schemas.openxmlformats.org/markup-compatibility/2006">
              <mc:Choice xmlns:v="urn:schemas-microsoft-com:vml" Requires="v">
                <p:oleObj spid="_x0000_s9593" name="Equation" r:id="rId1" imgW="444500" imgH="190500" progId="Equation.DSMT4">
                  <p:embed/>
                </p:oleObj>
              </mc:Choice>
              <mc:Fallback>
                <p:oleObj name="Equation" r:id="rId1" imgW="444500" imgH="1905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663" y="457200"/>
                        <a:ext cx="1049337"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8243" name="Object 3"/>
          <p:cNvGraphicFramePr>
            <a:graphicFrameLocks noChangeAspect="1"/>
          </p:cNvGraphicFramePr>
          <p:nvPr/>
        </p:nvGraphicFramePr>
        <p:xfrm>
          <a:off x="2006600" y="442913"/>
          <a:ext cx="3057525" cy="538162"/>
        </p:xfrm>
        <a:graphic>
          <a:graphicData uri="http://schemas.openxmlformats.org/presentationml/2006/ole">
            <mc:AlternateContent xmlns:mc="http://schemas.openxmlformats.org/markup-compatibility/2006">
              <mc:Choice xmlns:v="urn:schemas-microsoft-com:vml" Requires="v">
                <p:oleObj spid="_x0000_s9594" name="Equation" r:id="rId3" imgW="31089600" imgH="5486400" progId="Equation.DSMT4">
                  <p:embed/>
                </p:oleObj>
              </mc:Choice>
              <mc:Fallback>
                <p:oleObj name="Equation" r:id="rId3" imgW="31089600" imgH="5486400" progId="Equation.DSMT4">
                  <p:embed/>
                  <p:pic>
                    <p:nvPicPr>
                      <p:cNvPr id="0" name="Object 3"/>
                      <p:cNvPicPr>
                        <a:picLocks noChangeAspect="1" noChangeArrowheads="1"/>
                      </p:cNvPicPr>
                      <p:nvPr/>
                    </p:nvPicPr>
                    <p:blipFill>
                      <a:blip r:embed="rId4"/>
                      <a:srcRect/>
                      <a:stretch>
                        <a:fillRect/>
                      </a:stretch>
                    </p:blipFill>
                    <p:spPr bwMode="auto">
                      <a:xfrm>
                        <a:off x="2006600" y="442913"/>
                        <a:ext cx="3057525" cy="53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8244" name="Object 4"/>
          <p:cNvGraphicFramePr>
            <a:graphicFrameLocks noChangeAspect="1"/>
          </p:cNvGraphicFramePr>
          <p:nvPr/>
        </p:nvGraphicFramePr>
        <p:xfrm>
          <a:off x="2792413" y="936625"/>
          <a:ext cx="890587" cy="446088"/>
        </p:xfrm>
        <a:graphic>
          <a:graphicData uri="http://schemas.openxmlformats.org/presentationml/2006/ole">
            <mc:AlternateContent xmlns:mc="http://schemas.openxmlformats.org/markup-compatibility/2006">
              <mc:Choice xmlns:v="urn:schemas-microsoft-com:vml" Requires="v">
                <p:oleObj spid="_x0000_s9595" name="Equation" r:id="rId5" imgW="8534400" imgH="4267200" progId="Equation.DSMT4">
                  <p:embed/>
                </p:oleObj>
              </mc:Choice>
              <mc:Fallback>
                <p:oleObj name="Equation" r:id="rId5" imgW="8534400" imgH="4267200" progId="Equation.DSMT4">
                  <p:embed/>
                  <p:pic>
                    <p:nvPicPr>
                      <p:cNvPr id="0" name="Object 4"/>
                      <p:cNvPicPr>
                        <a:picLocks noChangeAspect="1" noChangeArrowheads="1"/>
                      </p:cNvPicPr>
                      <p:nvPr/>
                    </p:nvPicPr>
                    <p:blipFill>
                      <a:blip r:embed="rId6"/>
                      <a:srcRect/>
                      <a:stretch>
                        <a:fillRect/>
                      </a:stretch>
                    </p:blipFill>
                    <p:spPr bwMode="auto">
                      <a:xfrm>
                        <a:off x="2792413" y="936625"/>
                        <a:ext cx="890587" cy="446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8" name="Rectangle 5"/>
          <p:cNvSpPr>
            <a:spLocks noChangeArrowheads="1"/>
          </p:cNvSpPr>
          <p:nvPr/>
        </p:nvSpPr>
        <p:spPr bwMode="auto">
          <a:xfrm>
            <a:off x="0" y="2865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Group 6"/>
          <p:cNvGrpSpPr/>
          <p:nvPr/>
        </p:nvGrpSpPr>
        <p:grpSpPr bwMode="auto">
          <a:xfrm>
            <a:off x="5791200" y="1219200"/>
            <a:ext cx="3041650" cy="2057400"/>
            <a:chOff x="3408" y="1872"/>
            <a:chExt cx="1916" cy="1296"/>
          </a:xfrm>
        </p:grpSpPr>
        <p:grpSp>
          <p:nvGrpSpPr>
            <p:cNvPr id="9246" name="Group 7"/>
            <p:cNvGrpSpPr/>
            <p:nvPr/>
          </p:nvGrpSpPr>
          <p:grpSpPr bwMode="auto">
            <a:xfrm>
              <a:off x="3408" y="1872"/>
              <a:ext cx="1916" cy="1296"/>
              <a:chOff x="3408" y="1872"/>
              <a:chExt cx="1916" cy="1296"/>
            </a:xfrm>
          </p:grpSpPr>
          <p:sp>
            <p:nvSpPr>
              <p:cNvPr id="9249" name="Oval 8"/>
              <p:cNvSpPr>
                <a:spLocks noChangeArrowheads="1"/>
              </p:cNvSpPr>
              <p:nvPr/>
            </p:nvSpPr>
            <p:spPr bwMode="auto">
              <a:xfrm>
                <a:off x="3552" y="1872"/>
                <a:ext cx="1344" cy="1296"/>
              </a:xfrm>
              <a:prstGeom prst="ellipse">
                <a:avLst/>
              </a:prstGeom>
              <a:solidFill>
                <a:schemeClr val="accent1"/>
              </a:solidFill>
              <a:ln w="9525">
                <a:solidFill>
                  <a:schemeClr val="tx1"/>
                </a:solidFill>
                <a:prstDash val="lgDash"/>
                <a:round/>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50" name="Line 9"/>
              <p:cNvSpPr>
                <a:spLocks noChangeShapeType="1"/>
              </p:cNvSpPr>
              <p:nvPr/>
            </p:nvSpPr>
            <p:spPr bwMode="auto">
              <a:xfrm>
                <a:off x="3408" y="2544"/>
                <a:ext cx="172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227" name="Object 10"/>
              <p:cNvGraphicFramePr>
                <a:graphicFrameLocks noChangeAspect="1"/>
              </p:cNvGraphicFramePr>
              <p:nvPr/>
            </p:nvGraphicFramePr>
            <p:xfrm>
              <a:off x="4896" y="2016"/>
              <a:ext cx="192" cy="176"/>
            </p:xfrm>
            <a:graphic>
              <a:graphicData uri="http://schemas.openxmlformats.org/presentationml/2006/ole">
                <mc:AlternateContent xmlns:mc="http://schemas.openxmlformats.org/markup-compatibility/2006">
                  <mc:Choice xmlns:v="urn:schemas-microsoft-com:vml" Requires="v">
                    <p:oleObj spid="_x0000_s9596" name="Equation" r:id="rId7" imgW="152400" imgH="139700" progId="Equation.DSMT4">
                      <p:embed/>
                    </p:oleObj>
                  </mc:Choice>
                  <mc:Fallback>
                    <p:oleObj name="Equation" r:id="rId7" imgW="152400" imgH="1397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96" y="2016"/>
                            <a:ext cx="19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51" name="Text Box 11"/>
              <p:cNvSpPr txBox="1">
                <a:spLocks noChangeArrowheads="1"/>
              </p:cNvSpPr>
              <p:nvPr/>
            </p:nvSpPr>
            <p:spPr bwMode="auto">
              <a:xfrm>
                <a:off x="5136" y="244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b="1" i="1">
                    <a:latin typeface="Times New Roman" panose="02020603050405020304" pitchFamily="18" charset="0"/>
                  </a:rPr>
                  <a:t>x</a:t>
                </a:r>
                <a:endParaRPr lang="en-US" altLang="zh-CN" sz="1800" b="1" i="1">
                  <a:latin typeface="Times New Roman" panose="02020603050405020304" pitchFamily="18" charset="0"/>
                </a:endParaRPr>
              </a:p>
            </p:txBody>
          </p:sp>
          <p:sp>
            <p:nvSpPr>
              <p:cNvPr id="9252" name="Text Box 12"/>
              <p:cNvSpPr txBox="1">
                <a:spLocks noChangeArrowheads="1"/>
              </p:cNvSpPr>
              <p:nvPr/>
            </p:nvSpPr>
            <p:spPr bwMode="auto">
              <a:xfrm>
                <a:off x="4848" y="2544"/>
                <a:ext cx="2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b="1" i="1" dirty="0">
                    <a:latin typeface="Times New Roman" panose="02020603050405020304" pitchFamily="18" charset="0"/>
                  </a:rPr>
                  <a:t>10</a:t>
                </a:r>
                <a:endParaRPr lang="en-US" altLang="zh-CN" sz="1800" b="1" i="1" dirty="0">
                  <a:latin typeface="Times New Roman" panose="02020603050405020304" pitchFamily="18" charset="0"/>
                </a:endParaRPr>
              </a:p>
            </p:txBody>
          </p:sp>
        </p:grpSp>
        <p:sp>
          <p:nvSpPr>
            <p:cNvPr id="9247" name="Line 13"/>
            <p:cNvSpPr>
              <a:spLocks noChangeShapeType="1"/>
            </p:cNvSpPr>
            <p:nvPr/>
          </p:nvSpPr>
          <p:spPr bwMode="auto">
            <a:xfrm flipH="1" flipV="1">
              <a:off x="4896" y="2160"/>
              <a:ext cx="48" cy="9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8" name="Text Box 14"/>
            <p:cNvSpPr txBox="1">
              <a:spLocks noChangeArrowheads="1"/>
            </p:cNvSpPr>
            <p:nvPr/>
          </p:nvSpPr>
          <p:spPr bwMode="auto">
            <a:xfrm>
              <a:off x="4176" y="2544"/>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a:t>O</a:t>
              </a:r>
              <a:endParaRPr lang="en-US" altLang="zh-CN" sz="1800"/>
            </a:p>
          </p:txBody>
        </p:sp>
      </p:grpSp>
      <p:sp>
        <p:nvSpPr>
          <p:cNvPr id="138255" name="Line 15"/>
          <p:cNvSpPr>
            <a:spLocks noChangeShapeType="1"/>
          </p:cNvSpPr>
          <p:nvPr/>
        </p:nvSpPr>
        <p:spPr bwMode="auto">
          <a:xfrm flipV="1">
            <a:off x="6443663" y="1447800"/>
            <a:ext cx="33337" cy="1620838"/>
          </a:xfrm>
          <a:prstGeom prst="line">
            <a:avLst/>
          </a:prstGeom>
          <a:noFill/>
          <a:ln w="9525">
            <a:solidFill>
              <a:schemeClr val="tx1"/>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138256" name="Line 16"/>
          <p:cNvSpPr>
            <a:spLocks noChangeShapeType="1"/>
          </p:cNvSpPr>
          <p:nvPr/>
        </p:nvSpPr>
        <p:spPr bwMode="auto">
          <a:xfrm flipH="1" flipV="1">
            <a:off x="6477000" y="1371600"/>
            <a:ext cx="609600" cy="914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257" name="Text Box 17"/>
          <p:cNvSpPr txBox="1">
            <a:spLocks noChangeArrowheads="1"/>
          </p:cNvSpPr>
          <p:nvPr/>
        </p:nvSpPr>
        <p:spPr bwMode="auto">
          <a:xfrm>
            <a:off x="6172200" y="2286000"/>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b="1" i="1" dirty="0">
                <a:latin typeface="Times New Roman" panose="02020603050405020304" pitchFamily="18" charset="0"/>
              </a:rPr>
              <a:t>-5</a:t>
            </a:r>
            <a:endParaRPr lang="en-US" altLang="zh-CN" sz="1800" b="1" i="1" dirty="0">
              <a:latin typeface="Times New Roman" panose="02020603050405020304" pitchFamily="18" charset="0"/>
            </a:endParaRPr>
          </a:p>
        </p:txBody>
      </p:sp>
      <p:graphicFrame>
        <p:nvGraphicFramePr>
          <p:cNvPr id="138258" name="Object 18"/>
          <p:cNvGraphicFramePr>
            <a:graphicFrameLocks noGrp="1" noChangeAspect="1"/>
          </p:cNvGraphicFramePr>
          <p:nvPr>
            <p:ph sz="half" idx="2"/>
          </p:nvPr>
        </p:nvGraphicFramePr>
        <p:xfrm>
          <a:off x="5791200" y="990600"/>
          <a:ext cx="685800" cy="384175"/>
        </p:xfrm>
        <a:graphic>
          <a:graphicData uri="http://schemas.openxmlformats.org/presentationml/2006/ole">
            <mc:AlternateContent xmlns:mc="http://schemas.openxmlformats.org/markup-compatibility/2006">
              <mc:Choice xmlns:v="urn:schemas-microsoft-com:vml" Requires="v">
                <p:oleObj spid="_x0000_s9597" name="Equation" r:id="rId9" imgW="316865" imgH="177800" progId="Equation.DSMT4">
                  <p:embed/>
                </p:oleObj>
              </mc:Choice>
              <mc:Fallback>
                <p:oleObj name="Equation" r:id="rId9" imgW="316865" imgH="177800" progId="Equation.DSMT4">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1200" y="990600"/>
                        <a:ext cx="68580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259" name="Arc 19"/>
          <p:cNvSpPr/>
          <p:nvPr/>
        </p:nvSpPr>
        <p:spPr bwMode="auto">
          <a:xfrm>
            <a:off x="7010400" y="2133600"/>
            <a:ext cx="228600" cy="1524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38260" name="Object 20"/>
          <p:cNvGraphicFramePr>
            <a:graphicFrameLocks noChangeAspect="1"/>
          </p:cNvGraphicFramePr>
          <p:nvPr/>
        </p:nvGraphicFramePr>
        <p:xfrm>
          <a:off x="3132138" y="1412875"/>
          <a:ext cx="1676400" cy="600075"/>
        </p:xfrm>
        <a:graphic>
          <a:graphicData uri="http://schemas.openxmlformats.org/presentationml/2006/ole">
            <mc:AlternateContent xmlns:mc="http://schemas.openxmlformats.org/markup-compatibility/2006">
              <mc:Choice xmlns:v="urn:schemas-microsoft-com:vml" Requires="v">
                <p:oleObj spid="_x0000_s9598" name="Equation" r:id="rId11" imgW="747395" imgH="267335" progId="Equation.DSMT4">
                  <p:embed/>
                </p:oleObj>
              </mc:Choice>
              <mc:Fallback>
                <p:oleObj name="Equation" r:id="rId11" imgW="747395" imgH="267335" progId="Equation.DSMT4">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2138" y="1412875"/>
                        <a:ext cx="1676400" cy="60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4" name="Rectangle 21"/>
          <p:cNvSpPr>
            <a:spLocks noChangeArrowheads="1"/>
          </p:cNvSpPr>
          <p:nvPr/>
        </p:nvSpPr>
        <p:spPr bwMode="auto">
          <a:xfrm>
            <a:off x="0" y="3413125"/>
            <a:ext cx="2540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000">
                <a:latin typeface="Times New Roman" panose="02020603050405020304" pitchFamily="18" charset="0"/>
                <a:cs typeface="Times New Roman" panose="02020603050405020304" pitchFamily="18" charset="0"/>
              </a:rPr>
              <a:t> </a:t>
            </a:r>
            <a:r>
              <a:rPr lang="en-US" altLang="zh-CN" sz="1100"/>
              <a:t> </a:t>
            </a:r>
            <a:endParaRPr lang="en-US" altLang="zh-CN" sz="1800"/>
          </a:p>
        </p:txBody>
      </p:sp>
      <p:sp>
        <p:nvSpPr>
          <p:cNvPr id="138262" name="Rectangle 22"/>
          <p:cNvSpPr>
            <a:spLocks noChangeArrowheads="1"/>
          </p:cNvSpPr>
          <p:nvPr/>
        </p:nvSpPr>
        <p:spPr bwMode="auto">
          <a:xfrm>
            <a:off x="328613" y="1524000"/>
            <a:ext cx="2719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由旋转矢量法可得</a:t>
            </a:r>
            <a:r>
              <a:rPr lang="zh-CN" altLang="en-US">
                <a:solidFill>
                  <a:srgbClr val="FF0000"/>
                </a:solidFill>
              </a:rPr>
              <a:t> </a:t>
            </a:r>
            <a:endParaRPr lang="zh-CN" altLang="en-US">
              <a:solidFill>
                <a:srgbClr val="FF0000"/>
              </a:solidFill>
            </a:endParaRPr>
          </a:p>
        </p:txBody>
      </p:sp>
      <p:sp>
        <p:nvSpPr>
          <p:cNvPr id="138263" name="Rectangle 23"/>
          <p:cNvSpPr>
            <a:spLocks noChangeArrowheads="1"/>
          </p:cNvSpPr>
          <p:nvPr/>
        </p:nvSpPr>
        <p:spPr bwMode="auto">
          <a:xfrm>
            <a:off x="304800" y="20574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t>振动方程</a:t>
            </a:r>
            <a:r>
              <a:rPr lang="zh-CN" altLang="en-US" sz="1800"/>
              <a:t>  </a:t>
            </a:r>
            <a:endParaRPr lang="zh-CN" altLang="en-US" sz="1800"/>
          </a:p>
        </p:txBody>
      </p:sp>
      <p:graphicFrame>
        <p:nvGraphicFramePr>
          <p:cNvPr id="138264" name="Object 24"/>
          <p:cNvGraphicFramePr>
            <a:graphicFrameLocks noChangeAspect="1"/>
          </p:cNvGraphicFramePr>
          <p:nvPr/>
        </p:nvGraphicFramePr>
        <p:xfrm>
          <a:off x="1738313" y="1989138"/>
          <a:ext cx="3260725" cy="628650"/>
        </p:xfrm>
        <a:graphic>
          <a:graphicData uri="http://schemas.openxmlformats.org/presentationml/2006/ole">
            <mc:AlternateContent xmlns:mc="http://schemas.openxmlformats.org/markup-compatibility/2006">
              <mc:Choice xmlns:v="urn:schemas-microsoft-com:vml" Requires="v">
                <p:oleObj spid="_x0000_s9599" name="Equation" r:id="rId13" imgW="32004000" imgH="6096000" progId="Equation.DSMT4">
                  <p:embed/>
                </p:oleObj>
              </mc:Choice>
              <mc:Fallback>
                <p:oleObj name="Equation" r:id="rId13" imgW="32004000" imgH="6096000" progId="Equation.DSMT4">
                  <p:embed/>
                  <p:pic>
                    <p:nvPicPr>
                      <p:cNvPr id="0" name="Object 24"/>
                      <p:cNvPicPr>
                        <a:picLocks noChangeAspect="1" noChangeArrowheads="1"/>
                      </p:cNvPicPr>
                      <p:nvPr/>
                    </p:nvPicPr>
                    <p:blipFill>
                      <a:blip r:embed="rId14"/>
                      <a:srcRect/>
                      <a:stretch>
                        <a:fillRect/>
                      </a:stretch>
                    </p:blipFill>
                    <p:spPr bwMode="auto">
                      <a:xfrm>
                        <a:off x="1738313" y="1989138"/>
                        <a:ext cx="3260725"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7" name="Rectangle 2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38" name="Rectangle 26"/>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8268" name="Rectangle 28"/>
          <p:cNvSpPr>
            <a:spLocks noChangeArrowheads="1"/>
          </p:cNvSpPr>
          <p:nvPr/>
        </p:nvSpPr>
        <p:spPr bwMode="auto">
          <a:xfrm>
            <a:off x="684213" y="2827338"/>
            <a:ext cx="3459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i="1">
                <a:solidFill>
                  <a:srgbClr val="FF0000"/>
                </a:solidFill>
                <a:latin typeface="Times New Roman" panose="02020603050405020304" pitchFamily="18" charset="0"/>
              </a:rPr>
              <a:t>t</a:t>
            </a:r>
            <a:r>
              <a:rPr lang="en-US" altLang="zh-CN" b="1">
                <a:solidFill>
                  <a:srgbClr val="FF0000"/>
                </a:solidFill>
                <a:latin typeface="Times New Roman" panose="02020603050405020304" pitchFamily="18" charset="0"/>
              </a:rPr>
              <a:t>=0.5s</a:t>
            </a:r>
            <a:r>
              <a:rPr lang="zh-CN" altLang="en-US" b="1">
                <a:solidFill>
                  <a:srgbClr val="FF0000"/>
                </a:solidFill>
              </a:rPr>
              <a:t>时物体的位移</a:t>
            </a:r>
            <a:r>
              <a:rPr lang="en-US" altLang="zh-CN" b="1">
                <a:solidFill>
                  <a:srgbClr val="FF0000"/>
                </a:solidFill>
              </a:rPr>
              <a:t>?</a:t>
            </a:r>
            <a:r>
              <a:rPr lang="en-US" altLang="zh-CN">
                <a:solidFill>
                  <a:srgbClr val="FF0000"/>
                </a:solidFill>
              </a:rPr>
              <a:t> </a:t>
            </a:r>
            <a:endParaRPr lang="en-US" altLang="zh-CN">
              <a:solidFill>
                <a:srgbClr val="FF0000"/>
              </a:solidFill>
            </a:endParaRPr>
          </a:p>
        </p:txBody>
      </p:sp>
      <p:sp>
        <p:nvSpPr>
          <p:cNvPr id="9240" name="Rectangle 29"/>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38270" name="Object 30"/>
          <p:cNvGraphicFramePr>
            <a:graphicFrameLocks noChangeAspect="1"/>
          </p:cNvGraphicFramePr>
          <p:nvPr/>
        </p:nvGraphicFramePr>
        <p:xfrm>
          <a:off x="427038" y="3429000"/>
          <a:ext cx="8135937" cy="619125"/>
        </p:xfrm>
        <a:graphic>
          <a:graphicData uri="http://schemas.openxmlformats.org/presentationml/2006/ole">
            <mc:AlternateContent xmlns:mc="http://schemas.openxmlformats.org/markup-compatibility/2006">
              <mc:Choice xmlns:v="urn:schemas-microsoft-com:vml" Requires="v">
                <p:oleObj spid="_x0000_s9600" name="Equation" r:id="rId15" imgW="80772000" imgH="6096000" progId="Equation.DSMT4">
                  <p:embed/>
                </p:oleObj>
              </mc:Choice>
              <mc:Fallback>
                <p:oleObj name="Equation" r:id="rId15" imgW="80772000" imgH="6096000" progId="Equation.DSMT4">
                  <p:embed/>
                  <p:pic>
                    <p:nvPicPr>
                      <p:cNvPr id="0" name="Object 30"/>
                      <p:cNvPicPr>
                        <a:picLocks noChangeAspect="1" noChangeArrowheads="1"/>
                      </p:cNvPicPr>
                      <p:nvPr/>
                    </p:nvPicPr>
                    <p:blipFill>
                      <a:blip r:embed="rId16"/>
                      <a:srcRect/>
                      <a:stretch>
                        <a:fillRect/>
                      </a:stretch>
                    </p:blipFill>
                    <p:spPr bwMode="auto">
                      <a:xfrm>
                        <a:off x="427038" y="3429000"/>
                        <a:ext cx="8135937"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8271" name="Rectangle 31"/>
          <p:cNvSpPr>
            <a:spLocks noChangeArrowheads="1"/>
          </p:cNvSpPr>
          <p:nvPr/>
        </p:nvSpPr>
        <p:spPr bwMode="auto">
          <a:xfrm>
            <a:off x="568325" y="4200525"/>
            <a:ext cx="6740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latin typeface="Times New Roman" panose="02020603050405020304" pitchFamily="18" charset="0"/>
              </a:rPr>
              <a:t>（</a:t>
            </a:r>
            <a:r>
              <a:rPr lang="en-US" altLang="zh-CN" b="1">
                <a:solidFill>
                  <a:srgbClr val="FF0000"/>
                </a:solidFill>
                <a:latin typeface="Times New Roman" panose="02020603050405020304" pitchFamily="18" charset="0"/>
              </a:rPr>
              <a:t>2</a:t>
            </a:r>
            <a:r>
              <a:rPr lang="zh-CN" altLang="en-US" b="1">
                <a:solidFill>
                  <a:srgbClr val="FF0000"/>
                </a:solidFill>
                <a:latin typeface="Times New Roman" panose="02020603050405020304" pitchFamily="18" charset="0"/>
              </a:rPr>
              <a:t>） </a:t>
            </a:r>
            <a:r>
              <a:rPr lang="en-US" altLang="zh-CN" b="1" i="1">
                <a:solidFill>
                  <a:srgbClr val="FF0000"/>
                </a:solidFill>
                <a:latin typeface="Times New Roman" panose="02020603050405020304" pitchFamily="18" charset="0"/>
              </a:rPr>
              <a:t>t</a:t>
            </a:r>
            <a:r>
              <a:rPr lang="en-US" altLang="zh-CN" b="1">
                <a:solidFill>
                  <a:srgbClr val="FF0000"/>
                </a:solidFill>
                <a:latin typeface="Times New Roman" panose="02020603050405020304" pitchFamily="18" charset="0"/>
              </a:rPr>
              <a:t> = 0.5 s</a:t>
            </a:r>
            <a:r>
              <a:rPr lang="zh-CN" altLang="en-US" b="1">
                <a:solidFill>
                  <a:srgbClr val="FF0000"/>
                </a:solidFill>
              </a:rPr>
              <a:t>时物体受到的恢复力</a:t>
            </a:r>
            <a:r>
              <a:rPr lang="en-US" altLang="zh-CN" b="1">
                <a:solidFill>
                  <a:srgbClr val="FF0000"/>
                </a:solidFill>
              </a:rPr>
              <a:t>?</a:t>
            </a:r>
            <a:r>
              <a:rPr lang="en-US" altLang="zh-CN" b="1"/>
              <a:t>  </a:t>
            </a:r>
            <a:r>
              <a:rPr lang="zh-CN" altLang="en-US" b="1">
                <a:latin typeface="Times New Roman" panose="02020603050405020304" pitchFamily="18" charset="0"/>
              </a:rPr>
              <a:t>由（</a:t>
            </a:r>
            <a:r>
              <a:rPr lang="en-US" altLang="zh-CN" b="1">
                <a:latin typeface="Times New Roman" panose="02020603050405020304" pitchFamily="18" charset="0"/>
              </a:rPr>
              <a:t>1</a:t>
            </a:r>
            <a:r>
              <a:rPr lang="zh-CN" altLang="en-US" b="1">
                <a:latin typeface="Times New Roman" panose="02020603050405020304" pitchFamily="18" charset="0"/>
              </a:rPr>
              <a:t>）得</a:t>
            </a:r>
            <a:r>
              <a:rPr lang="zh-CN" altLang="en-US">
                <a:latin typeface="Times New Roman" panose="02020603050405020304" pitchFamily="18" charset="0"/>
              </a:rPr>
              <a:t>  </a:t>
            </a:r>
            <a:endParaRPr lang="zh-CN" altLang="en-US">
              <a:latin typeface="Times New Roman" panose="02020603050405020304" pitchFamily="18" charset="0"/>
            </a:endParaRPr>
          </a:p>
        </p:txBody>
      </p:sp>
      <p:graphicFrame>
        <p:nvGraphicFramePr>
          <p:cNvPr id="138275" name="Object 35"/>
          <p:cNvGraphicFramePr>
            <a:graphicFrameLocks noChangeAspect="1"/>
          </p:cNvGraphicFramePr>
          <p:nvPr/>
        </p:nvGraphicFramePr>
        <p:xfrm>
          <a:off x="1042988" y="5734050"/>
          <a:ext cx="3124200" cy="460375"/>
        </p:xfrm>
        <a:graphic>
          <a:graphicData uri="http://schemas.openxmlformats.org/presentationml/2006/ole">
            <mc:AlternateContent xmlns:mc="http://schemas.openxmlformats.org/markup-compatibility/2006">
              <mc:Choice xmlns:v="urn:schemas-microsoft-com:vml" Requires="v">
                <p:oleObj spid="_x0000_s9601" name="Equation" r:id="rId17" imgW="1231265" imgH="177800" progId="Equation.DSMT4">
                  <p:embed/>
                </p:oleObj>
              </mc:Choice>
              <mc:Fallback>
                <p:oleObj name="Equation" r:id="rId17" imgW="1231265" imgH="177800" progId="Equation.DSMT4">
                  <p:embed/>
                  <p:pic>
                    <p:nvPicPr>
                      <p:cNvPr id="0" name="Object 3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42988" y="5734050"/>
                        <a:ext cx="31242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37"/>
          <p:cNvGrpSpPr/>
          <p:nvPr/>
        </p:nvGrpSpPr>
        <p:grpSpPr bwMode="auto">
          <a:xfrm>
            <a:off x="1042988" y="4868863"/>
            <a:ext cx="5661025" cy="573087"/>
            <a:chOff x="657" y="3067"/>
            <a:chExt cx="3566" cy="361"/>
          </a:xfrm>
        </p:grpSpPr>
        <p:graphicFrame>
          <p:nvGraphicFramePr>
            <p:cNvPr id="9226" name="Object 33"/>
            <p:cNvGraphicFramePr>
              <a:graphicFrameLocks noChangeAspect="1"/>
            </p:cNvGraphicFramePr>
            <p:nvPr/>
          </p:nvGraphicFramePr>
          <p:xfrm>
            <a:off x="657" y="3067"/>
            <a:ext cx="2880" cy="358"/>
          </p:xfrm>
          <a:graphic>
            <a:graphicData uri="http://schemas.openxmlformats.org/presentationml/2006/ole">
              <mc:AlternateContent xmlns:mc="http://schemas.openxmlformats.org/markup-compatibility/2006">
                <mc:Choice xmlns:v="urn:schemas-microsoft-com:vml" Requires="v">
                  <p:oleObj spid="_x0000_s9602" name="Equation" r:id="rId19" imgW="1612900" imgH="203200" progId="Equation.DSMT4">
                    <p:embed/>
                  </p:oleObj>
                </mc:Choice>
                <mc:Fallback>
                  <p:oleObj name="Equation" r:id="rId19" imgW="1612900" imgH="203200" progId="Equation.DSMT4">
                    <p:embed/>
                    <p:pic>
                      <p:nvPicPr>
                        <p:cNvPr id="0" name="Object 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7" y="3067"/>
                          <a:ext cx="2880" cy="3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5" name="Text Box 36"/>
            <p:cNvSpPr txBox="1">
              <a:spLocks noChangeArrowheads="1"/>
            </p:cNvSpPr>
            <p:nvPr/>
          </p:nvSpPr>
          <p:spPr bwMode="auto">
            <a:xfrm>
              <a:off x="3491" y="3101"/>
              <a:ext cx="7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latin typeface="Times New Roman" panose="02020603050405020304" pitchFamily="18" charset="0"/>
                </a:rPr>
                <a:t>N/m</a:t>
              </a:r>
              <a:endParaRPr lang="en-US" altLang="zh-CN" sz="280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8242"/>
                                        </p:tgtEl>
                                        <p:attrNameLst>
                                          <p:attrName>style.visibility</p:attrName>
                                        </p:attrNameLst>
                                      </p:cBhvr>
                                      <p:to>
                                        <p:strVal val="visible"/>
                                      </p:to>
                                    </p:set>
                                    <p:animEffect transition="in" filter="wipe(left)">
                                      <p:cBhvr>
                                        <p:cTn id="7" dur="500"/>
                                        <p:tgtEl>
                                          <p:spTgt spid="1382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8243"/>
                                        </p:tgtEl>
                                        <p:attrNameLst>
                                          <p:attrName>style.visibility</p:attrName>
                                        </p:attrNameLst>
                                      </p:cBhvr>
                                      <p:to>
                                        <p:strVal val="visible"/>
                                      </p:to>
                                    </p:set>
                                    <p:animEffect transition="in" filter="wipe(left)">
                                      <p:cBhvr>
                                        <p:cTn id="12" dur="500"/>
                                        <p:tgtEl>
                                          <p:spTgt spid="1382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8244"/>
                                        </p:tgtEl>
                                        <p:attrNameLst>
                                          <p:attrName>style.visibility</p:attrName>
                                        </p:attrNameLst>
                                      </p:cBhvr>
                                      <p:to>
                                        <p:strVal val="visible"/>
                                      </p:to>
                                    </p:set>
                                    <p:animEffect transition="in" filter="wipe(left)">
                                      <p:cBhvr>
                                        <p:cTn id="17" dur="500"/>
                                        <p:tgtEl>
                                          <p:spTgt spid="1382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8257"/>
                                        </p:tgtEl>
                                        <p:attrNameLst>
                                          <p:attrName>style.visibility</p:attrName>
                                        </p:attrNameLst>
                                      </p:cBhvr>
                                      <p:to>
                                        <p:strVal val="visible"/>
                                      </p:to>
                                    </p:set>
                                    <p:animEffect transition="in" filter="wipe(left)">
                                      <p:cBhvr>
                                        <p:cTn id="27" dur="500"/>
                                        <p:tgtEl>
                                          <p:spTgt spid="13825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38255"/>
                                        </p:tgtEl>
                                        <p:attrNameLst>
                                          <p:attrName>style.visibility</p:attrName>
                                        </p:attrNameLst>
                                      </p:cBhvr>
                                      <p:to>
                                        <p:strVal val="visible"/>
                                      </p:to>
                                    </p:set>
                                    <p:animEffect transition="in" filter="wipe(down)">
                                      <p:cBhvr>
                                        <p:cTn id="32" dur="500"/>
                                        <p:tgtEl>
                                          <p:spTgt spid="13825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38256"/>
                                        </p:tgtEl>
                                        <p:attrNameLst>
                                          <p:attrName>style.visibility</p:attrName>
                                        </p:attrNameLst>
                                      </p:cBhvr>
                                      <p:to>
                                        <p:strVal val="visible"/>
                                      </p:to>
                                    </p:set>
                                    <p:animEffect transition="in" filter="wipe(down)">
                                      <p:cBhvr>
                                        <p:cTn id="37" dur="500"/>
                                        <p:tgtEl>
                                          <p:spTgt spid="13825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8258"/>
                                        </p:tgtEl>
                                        <p:attrNameLst>
                                          <p:attrName>style.visibility</p:attrName>
                                        </p:attrNameLst>
                                      </p:cBhvr>
                                      <p:to>
                                        <p:strVal val="visible"/>
                                      </p:to>
                                    </p:set>
                                    <p:animEffect transition="in" filter="wipe(left)">
                                      <p:cBhvr>
                                        <p:cTn id="42" dur="500"/>
                                        <p:tgtEl>
                                          <p:spTgt spid="13825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38259"/>
                                        </p:tgtEl>
                                        <p:attrNameLst>
                                          <p:attrName>style.visibility</p:attrName>
                                        </p:attrNameLst>
                                      </p:cBhvr>
                                      <p:to>
                                        <p:strVal val="visible"/>
                                      </p:to>
                                    </p:set>
                                    <p:animEffect transition="in" filter="wipe(down)">
                                      <p:cBhvr>
                                        <p:cTn id="47" dur="500"/>
                                        <p:tgtEl>
                                          <p:spTgt spid="13825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8262"/>
                                        </p:tgtEl>
                                        <p:attrNameLst>
                                          <p:attrName>style.visibility</p:attrName>
                                        </p:attrNameLst>
                                      </p:cBhvr>
                                      <p:to>
                                        <p:strVal val="visible"/>
                                      </p:to>
                                    </p:set>
                                    <p:animEffect transition="in" filter="wipe(left)">
                                      <p:cBhvr>
                                        <p:cTn id="52" dur="500"/>
                                        <p:tgtEl>
                                          <p:spTgt spid="13826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38260"/>
                                        </p:tgtEl>
                                        <p:attrNameLst>
                                          <p:attrName>style.visibility</p:attrName>
                                        </p:attrNameLst>
                                      </p:cBhvr>
                                      <p:to>
                                        <p:strVal val="visible"/>
                                      </p:to>
                                    </p:set>
                                    <p:animEffect transition="in" filter="wipe(left)">
                                      <p:cBhvr>
                                        <p:cTn id="57" dur="500"/>
                                        <p:tgtEl>
                                          <p:spTgt spid="13826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8263"/>
                                        </p:tgtEl>
                                        <p:attrNameLst>
                                          <p:attrName>style.visibility</p:attrName>
                                        </p:attrNameLst>
                                      </p:cBhvr>
                                      <p:to>
                                        <p:strVal val="visible"/>
                                      </p:to>
                                    </p:set>
                                    <p:animEffect transition="in" filter="wipe(left)">
                                      <p:cBhvr>
                                        <p:cTn id="62" dur="500"/>
                                        <p:tgtEl>
                                          <p:spTgt spid="13826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38264"/>
                                        </p:tgtEl>
                                        <p:attrNameLst>
                                          <p:attrName>style.visibility</p:attrName>
                                        </p:attrNameLst>
                                      </p:cBhvr>
                                      <p:to>
                                        <p:strVal val="visible"/>
                                      </p:to>
                                    </p:set>
                                    <p:animEffect transition="in" filter="wipe(left)">
                                      <p:cBhvr>
                                        <p:cTn id="67" dur="500"/>
                                        <p:tgtEl>
                                          <p:spTgt spid="13826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38268"/>
                                        </p:tgtEl>
                                        <p:attrNameLst>
                                          <p:attrName>style.visibility</p:attrName>
                                        </p:attrNameLst>
                                      </p:cBhvr>
                                      <p:to>
                                        <p:strVal val="visible"/>
                                      </p:to>
                                    </p:set>
                                    <p:animEffect transition="in" filter="wipe(left)">
                                      <p:cBhvr>
                                        <p:cTn id="72" dur="500"/>
                                        <p:tgtEl>
                                          <p:spTgt spid="13826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38270"/>
                                        </p:tgtEl>
                                        <p:attrNameLst>
                                          <p:attrName>style.visibility</p:attrName>
                                        </p:attrNameLst>
                                      </p:cBhvr>
                                      <p:to>
                                        <p:strVal val="visible"/>
                                      </p:to>
                                    </p:set>
                                    <p:animEffect transition="in" filter="wipe(left)">
                                      <p:cBhvr>
                                        <p:cTn id="77" dur="500"/>
                                        <p:tgtEl>
                                          <p:spTgt spid="13827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38271"/>
                                        </p:tgtEl>
                                        <p:attrNameLst>
                                          <p:attrName>style.visibility</p:attrName>
                                        </p:attrNameLst>
                                      </p:cBhvr>
                                      <p:to>
                                        <p:strVal val="visible"/>
                                      </p:to>
                                    </p:set>
                                    <p:animEffect transition="in" filter="wipe(left)">
                                      <p:cBhvr>
                                        <p:cTn id="82" dur="500"/>
                                        <p:tgtEl>
                                          <p:spTgt spid="138271"/>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4"/>
                                        </p:tgtEl>
                                        <p:attrNameLst>
                                          <p:attrName>style.visibility</p:attrName>
                                        </p:attrNameLst>
                                      </p:cBhvr>
                                      <p:to>
                                        <p:strVal val="visible"/>
                                      </p:to>
                                    </p:set>
                                    <p:animEffect transition="in" filter="blinds(horizontal)">
                                      <p:cBhvr>
                                        <p:cTn id="87" dur="500"/>
                                        <p:tgtEl>
                                          <p:spTgt spid="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38275"/>
                                        </p:tgtEl>
                                        <p:attrNameLst>
                                          <p:attrName>style.visibility</p:attrName>
                                        </p:attrNameLst>
                                      </p:cBhvr>
                                      <p:to>
                                        <p:strVal val="visible"/>
                                      </p:to>
                                    </p:set>
                                    <p:animEffect transition="in" filter="wipe(left)">
                                      <p:cBhvr>
                                        <p:cTn id="92" dur="500"/>
                                        <p:tgtEl>
                                          <p:spTgt spid="138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57" grpId="0"/>
      <p:bldP spid="138262" grpId="0"/>
      <p:bldP spid="138263" grpId="0"/>
      <p:bldP spid="138268" grpId="0"/>
      <p:bldP spid="13827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304800" y="228600"/>
            <a:ext cx="7696200" cy="1143000"/>
          </a:xfrm>
          <a:solidFill>
            <a:srgbClr val="FFFF99"/>
          </a:solidFill>
        </p:spPr>
        <p:txBody>
          <a:bodyPr/>
          <a:lstStyle/>
          <a:p>
            <a:pPr algn="l" eaLnBrk="1" hangingPunct="1"/>
            <a:r>
              <a:rPr kumimoji="1" lang="zh-CN" altLang="en-US" sz="2400" b="1">
                <a:solidFill>
                  <a:srgbClr val="0000FF"/>
                </a:solidFill>
              </a:rPr>
              <a:t>（</a:t>
            </a:r>
            <a:r>
              <a:rPr kumimoji="1" lang="en-US" altLang="zh-CN" sz="2400" b="1">
                <a:solidFill>
                  <a:srgbClr val="0000FF"/>
                </a:solidFill>
              </a:rPr>
              <a:t>3</a:t>
            </a:r>
            <a:r>
              <a:rPr kumimoji="1" lang="zh-CN" altLang="en-US" sz="2400" b="1">
                <a:solidFill>
                  <a:srgbClr val="0000FF"/>
                </a:solidFill>
              </a:rPr>
              <a:t>）从计时开始，第一次到达</a:t>
            </a:r>
            <a:r>
              <a:rPr kumimoji="1" lang="en-US" altLang="zh-CN" sz="2400" b="1" i="1">
                <a:solidFill>
                  <a:srgbClr val="0000FF"/>
                </a:solidFill>
                <a:latin typeface="Times New Roman" panose="02020603050405020304" pitchFamily="18" charset="0"/>
              </a:rPr>
              <a:t>x</a:t>
            </a:r>
            <a:r>
              <a:rPr kumimoji="1" lang="en-US" altLang="zh-CN" sz="2400" b="1">
                <a:solidFill>
                  <a:srgbClr val="0000FF"/>
                </a:solidFill>
                <a:latin typeface="Times New Roman" panose="02020603050405020304" pitchFamily="18" charset="0"/>
              </a:rPr>
              <a:t> = 5.0 cm</a:t>
            </a:r>
            <a:r>
              <a:rPr kumimoji="1" lang="zh-CN" altLang="en-US" sz="2400" b="1">
                <a:solidFill>
                  <a:srgbClr val="0000FF"/>
                </a:solidFill>
              </a:rPr>
              <a:t>所需时间；</a:t>
            </a:r>
            <a:br>
              <a:rPr kumimoji="1" lang="zh-CN" altLang="en-US" sz="2400" b="1">
                <a:solidFill>
                  <a:srgbClr val="0000FF"/>
                </a:solidFill>
              </a:rPr>
            </a:br>
            <a:r>
              <a:rPr kumimoji="1" lang="zh-CN" altLang="en-US" sz="2400" b="1">
                <a:solidFill>
                  <a:srgbClr val="0000FF"/>
                </a:solidFill>
              </a:rPr>
              <a:t>（</a:t>
            </a:r>
            <a:r>
              <a:rPr kumimoji="1" lang="en-US" altLang="zh-CN" sz="2400" b="1">
                <a:solidFill>
                  <a:srgbClr val="0000FF"/>
                </a:solidFill>
              </a:rPr>
              <a:t>4</a:t>
            </a:r>
            <a:r>
              <a:rPr kumimoji="1" lang="zh-CN" altLang="en-US" sz="2400" b="1">
                <a:solidFill>
                  <a:srgbClr val="0000FF"/>
                </a:solidFill>
              </a:rPr>
              <a:t>）连续两次到达</a:t>
            </a:r>
            <a:r>
              <a:rPr kumimoji="1" lang="en-US" altLang="zh-CN" sz="2400" b="1" i="1">
                <a:solidFill>
                  <a:srgbClr val="0000FF"/>
                </a:solidFill>
                <a:latin typeface="Times New Roman" panose="02020603050405020304" pitchFamily="18" charset="0"/>
              </a:rPr>
              <a:t>x</a:t>
            </a:r>
            <a:r>
              <a:rPr kumimoji="1" lang="en-US" altLang="zh-CN" sz="2400" b="1">
                <a:solidFill>
                  <a:srgbClr val="0000FF"/>
                </a:solidFill>
                <a:latin typeface="Times New Roman" panose="02020603050405020304" pitchFamily="18" charset="0"/>
              </a:rPr>
              <a:t> = 5.0 cm</a:t>
            </a:r>
            <a:r>
              <a:rPr kumimoji="1" lang="zh-CN" altLang="en-US" sz="2400" b="1">
                <a:solidFill>
                  <a:srgbClr val="0000FF"/>
                </a:solidFill>
              </a:rPr>
              <a:t>处的时间间隔。</a:t>
            </a:r>
            <a:endParaRPr kumimoji="1" lang="zh-CN" altLang="en-US" b="1">
              <a:solidFill>
                <a:srgbClr val="0000FF"/>
              </a:solidFill>
            </a:endParaRPr>
          </a:p>
        </p:txBody>
      </p:sp>
      <p:grpSp>
        <p:nvGrpSpPr>
          <p:cNvPr id="10249" name="Group 3"/>
          <p:cNvGrpSpPr/>
          <p:nvPr/>
        </p:nvGrpSpPr>
        <p:grpSpPr bwMode="auto">
          <a:xfrm>
            <a:off x="5867400" y="2590800"/>
            <a:ext cx="3041650" cy="2057400"/>
            <a:chOff x="3408" y="1872"/>
            <a:chExt cx="1916" cy="1296"/>
          </a:xfrm>
        </p:grpSpPr>
        <p:grpSp>
          <p:nvGrpSpPr>
            <p:cNvPr id="10264" name="Group 4"/>
            <p:cNvGrpSpPr/>
            <p:nvPr/>
          </p:nvGrpSpPr>
          <p:grpSpPr bwMode="auto">
            <a:xfrm>
              <a:off x="3408" y="1872"/>
              <a:ext cx="1916" cy="1296"/>
              <a:chOff x="3408" y="1872"/>
              <a:chExt cx="1916" cy="1296"/>
            </a:xfrm>
          </p:grpSpPr>
          <p:sp>
            <p:nvSpPr>
              <p:cNvPr id="10267" name="Oval 5"/>
              <p:cNvSpPr>
                <a:spLocks noChangeArrowheads="1"/>
              </p:cNvSpPr>
              <p:nvPr/>
            </p:nvSpPr>
            <p:spPr bwMode="auto">
              <a:xfrm>
                <a:off x="3552" y="1872"/>
                <a:ext cx="1344" cy="1296"/>
              </a:xfrm>
              <a:prstGeom prst="ellipse">
                <a:avLst/>
              </a:prstGeom>
              <a:solidFill>
                <a:schemeClr val="accent1"/>
              </a:solidFill>
              <a:ln w="9525">
                <a:solidFill>
                  <a:schemeClr val="tx1"/>
                </a:solidFill>
                <a:prstDash val="lgDash"/>
                <a:round/>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68" name="Line 6"/>
              <p:cNvSpPr>
                <a:spLocks noChangeShapeType="1"/>
              </p:cNvSpPr>
              <p:nvPr/>
            </p:nvSpPr>
            <p:spPr bwMode="auto">
              <a:xfrm>
                <a:off x="3408" y="2544"/>
                <a:ext cx="172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0247" name="Object 7"/>
              <p:cNvGraphicFramePr>
                <a:graphicFrameLocks noChangeAspect="1"/>
              </p:cNvGraphicFramePr>
              <p:nvPr/>
            </p:nvGraphicFramePr>
            <p:xfrm>
              <a:off x="4896" y="2016"/>
              <a:ext cx="192" cy="176"/>
            </p:xfrm>
            <a:graphic>
              <a:graphicData uri="http://schemas.openxmlformats.org/presentationml/2006/ole">
                <mc:AlternateContent xmlns:mc="http://schemas.openxmlformats.org/markup-compatibility/2006">
                  <mc:Choice xmlns:v="urn:schemas-microsoft-com:vml" Requires="v">
                    <p:oleObj spid="_x0000_s10475" name="Equation" r:id="rId1" imgW="152400" imgH="139700" progId="Equation.DSMT4">
                      <p:embed/>
                    </p:oleObj>
                  </mc:Choice>
                  <mc:Fallback>
                    <p:oleObj name="Equation" r:id="rId1" imgW="152400" imgH="139700" progId="Equation.DSMT4">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6" y="2016"/>
                            <a:ext cx="19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69" name="Text Box 8"/>
              <p:cNvSpPr txBox="1">
                <a:spLocks noChangeArrowheads="1"/>
              </p:cNvSpPr>
              <p:nvPr/>
            </p:nvSpPr>
            <p:spPr bwMode="auto">
              <a:xfrm>
                <a:off x="5136" y="244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b="1" i="1">
                    <a:latin typeface="Times New Roman" panose="02020603050405020304" pitchFamily="18" charset="0"/>
                  </a:rPr>
                  <a:t>x</a:t>
                </a:r>
                <a:endParaRPr lang="en-US" altLang="zh-CN" sz="1800" b="1" i="1">
                  <a:latin typeface="Times New Roman" panose="02020603050405020304" pitchFamily="18" charset="0"/>
                </a:endParaRPr>
              </a:p>
            </p:txBody>
          </p:sp>
          <p:sp>
            <p:nvSpPr>
              <p:cNvPr id="10270" name="Text Box 9"/>
              <p:cNvSpPr txBox="1">
                <a:spLocks noChangeArrowheads="1"/>
              </p:cNvSpPr>
              <p:nvPr/>
            </p:nvSpPr>
            <p:spPr bwMode="auto">
              <a:xfrm>
                <a:off x="4848" y="2544"/>
                <a:ext cx="2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b="1" i="1" dirty="0">
                    <a:latin typeface="Times New Roman" panose="02020603050405020304" pitchFamily="18" charset="0"/>
                  </a:rPr>
                  <a:t>10</a:t>
                </a:r>
                <a:endParaRPr lang="en-US" altLang="zh-CN" sz="1800" b="1" i="1" dirty="0">
                  <a:latin typeface="Times New Roman" panose="02020603050405020304" pitchFamily="18" charset="0"/>
                </a:endParaRPr>
              </a:p>
            </p:txBody>
          </p:sp>
        </p:grpSp>
        <p:sp>
          <p:nvSpPr>
            <p:cNvPr id="10265" name="Line 10"/>
            <p:cNvSpPr>
              <a:spLocks noChangeShapeType="1"/>
            </p:cNvSpPr>
            <p:nvPr/>
          </p:nvSpPr>
          <p:spPr bwMode="auto">
            <a:xfrm flipH="1" flipV="1">
              <a:off x="4896" y="2160"/>
              <a:ext cx="48" cy="9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66" name="Text Box 11"/>
            <p:cNvSpPr txBox="1">
              <a:spLocks noChangeArrowheads="1"/>
            </p:cNvSpPr>
            <p:nvPr/>
          </p:nvSpPr>
          <p:spPr bwMode="auto">
            <a:xfrm>
              <a:off x="4176" y="2544"/>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a:t>O</a:t>
              </a:r>
              <a:endParaRPr lang="en-US" altLang="zh-CN" sz="1800"/>
            </a:p>
          </p:txBody>
        </p:sp>
      </p:grpSp>
      <p:sp>
        <p:nvSpPr>
          <p:cNvPr id="10250" name="Line 12"/>
          <p:cNvSpPr>
            <a:spLocks noChangeShapeType="1"/>
          </p:cNvSpPr>
          <p:nvPr/>
        </p:nvSpPr>
        <p:spPr bwMode="auto">
          <a:xfrm flipV="1">
            <a:off x="6553200" y="2819400"/>
            <a:ext cx="0" cy="838200"/>
          </a:xfrm>
          <a:prstGeom prst="line">
            <a:avLst/>
          </a:prstGeom>
          <a:noFill/>
          <a:ln w="9525">
            <a:solidFill>
              <a:schemeClr val="tx1"/>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10251" name="Line 13"/>
          <p:cNvSpPr>
            <a:spLocks noChangeShapeType="1"/>
          </p:cNvSpPr>
          <p:nvPr/>
        </p:nvSpPr>
        <p:spPr bwMode="auto">
          <a:xfrm flipH="1" flipV="1">
            <a:off x="6553200" y="2743200"/>
            <a:ext cx="609600" cy="914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2" name="Text Box 14"/>
          <p:cNvSpPr txBox="1">
            <a:spLocks noChangeArrowheads="1"/>
          </p:cNvSpPr>
          <p:nvPr/>
        </p:nvSpPr>
        <p:spPr bwMode="auto">
          <a:xfrm>
            <a:off x="6248400" y="3657600"/>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b="1" i="1" dirty="0">
                <a:latin typeface="Times New Roman" panose="02020603050405020304" pitchFamily="18" charset="0"/>
              </a:rPr>
              <a:t>-5</a:t>
            </a:r>
            <a:endParaRPr lang="en-US" altLang="zh-CN" sz="1800" b="1" i="1" dirty="0">
              <a:latin typeface="Times New Roman" panose="02020603050405020304" pitchFamily="18" charset="0"/>
            </a:endParaRPr>
          </a:p>
        </p:txBody>
      </p:sp>
      <p:graphicFrame>
        <p:nvGraphicFramePr>
          <p:cNvPr id="10242" name="Object 15"/>
          <p:cNvGraphicFramePr>
            <a:graphicFrameLocks noChangeAspect="1"/>
          </p:cNvGraphicFramePr>
          <p:nvPr/>
        </p:nvGraphicFramePr>
        <p:xfrm>
          <a:off x="5867400" y="2362200"/>
          <a:ext cx="685800" cy="384175"/>
        </p:xfrm>
        <a:graphic>
          <a:graphicData uri="http://schemas.openxmlformats.org/presentationml/2006/ole">
            <mc:AlternateContent xmlns:mc="http://schemas.openxmlformats.org/markup-compatibility/2006">
              <mc:Choice xmlns:v="urn:schemas-microsoft-com:vml" Requires="v">
                <p:oleObj spid="_x0000_s10476" name="Equation" r:id="rId3" imgW="316865" imgH="177800" progId="Equation.DSMT4">
                  <p:embed/>
                </p:oleObj>
              </mc:Choice>
              <mc:Fallback>
                <p:oleObj name="Equation" r:id="rId3" imgW="316865" imgH="177800" progId="Equation.DSMT4">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2362200"/>
                        <a:ext cx="6858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3" name="Arc 16"/>
          <p:cNvSpPr/>
          <p:nvPr/>
        </p:nvSpPr>
        <p:spPr bwMode="auto">
          <a:xfrm>
            <a:off x="7086600" y="3505200"/>
            <a:ext cx="228600" cy="1524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9281" name="Line 17"/>
          <p:cNvSpPr>
            <a:spLocks noChangeShapeType="1"/>
          </p:cNvSpPr>
          <p:nvPr/>
        </p:nvSpPr>
        <p:spPr bwMode="auto">
          <a:xfrm>
            <a:off x="7162800" y="3657600"/>
            <a:ext cx="609600" cy="838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282" name="Freeform 18"/>
          <p:cNvSpPr/>
          <p:nvPr/>
        </p:nvSpPr>
        <p:spPr bwMode="auto">
          <a:xfrm>
            <a:off x="7046913" y="3563938"/>
            <a:ext cx="222250" cy="214312"/>
          </a:xfrm>
          <a:custGeom>
            <a:avLst/>
            <a:gdLst>
              <a:gd name="T0" fmla="*/ 2147483647 w 140"/>
              <a:gd name="T1" fmla="*/ 2147483647 h 135"/>
              <a:gd name="T2" fmla="*/ 2147483647 w 140"/>
              <a:gd name="T3" fmla="*/ 0 h 135"/>
              <a:gd name="T4" fmla="*/ 2147483647 w 140"/>
              <a:gd name="T5" fmla="*/ 2147483647 h 135"/>
              <a:gd name="T6" fmla="*/ 2147483647 w 140"/>
              <a:gd name="T7" fmla="*/ 2147483647 h 135"/>
              <a:gd name="T8" fmla="*/ 2147483647 w 140"/>
              <a:gd name="T9" fmla="*/ 2147483647 h 135"/>
              <a:gd name="T10" fmla="*/ 0 60000 65536"/>
              <a:gd name="T11" fmla="*/ 0 60000 65536"/>
              <a:gd name="T12" fmla="*/ 0 60000 65536"/>
              <a:gd name="T13" fmla="*/ 0 60000 65536"/>
              <a:gd name="T14" fmla="*/ 0 60000 65536"/>
              <a:gd name="T15" fmla="*/ 0 w 140"/>
              <a:gd name="T16" fmla="*/ 0 h 135"/>
              <a:gd name="T17" fmla="*/ 140 w 140"/>
              <a:gd name="T18" fmla="*/ 135 h 135"/>
            </a:gdLst>
            <a:ahLst/>
            <a:cxnLst>
              <a:cxn ang="T10">
                <a:pos x="T0" y="T1"/>
              </a:cxn>
              <a:cxn ang="T11">
                <a:pos x="T2" y="T3"/>
              </a:cxn>
              <a:cxn ang="T12">
                <a:pos x="T4" y="T5"/>
              </a:cxn>
              <a:cxn ang="T13">
                <a:pos x="T6" y="T7"/>
              </a:cxn>
              <a:cxn ang="T14">
                <a:pos x="T8" y="T9"/>
              </a:cxn>
            </a:cxnLst>
            <a:rect l="T15" t="T16" r="T17" b="T18"/>
            <a:pathLst>
              <a:path w="140" h="135">
                <a:moveTo>
                  <a:pt x="126" y="64"/>
                </a:moveTo>
                <a:cubicBezTo>
                  <a:pt x="140" y="19"/>
                  <a:pt x="126" y="25"/>
                  <a:pt x="89" y="0"/>
                </a:cubicBezTo>
                <a:cubicBezTo>
                  <a:pt x="71" y="3"/>
                  <a:pt x="51" y="1"/>
                  <a:pt x="34" y="9"/>
                </a:cubicBezTo>
                <a:cubicBezTo>
                  <a:pt x="0" y="26"/>
                  <a:pt x="17" y="110"/>
                  <a:pt x="25" y="118"/>
                </a:cubicBezTo>
                <a:cubicBezTo>
                  <a:pt x="42" y="135"/>
                  <a:pt x="74" y="118"/>
                  <a:pt x="98" y="118"/>
                </a:cubicBezTo>
              </a:path>
            </a:pathLst>
          </a:custGeom>
          <a:noFill/>
          <a:ln w="9525">
            <a:solidFill>
              <a:schemeClr val="tx1"/>
            </a:solidFill>
            <a:rou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9283" name="Line 19"/>
          <p:cNvSpPr>
            <a:spLocks noChangeShapeType="1"/>
          </p:cNvSpPr>
          <p:nvPr/>
        </p:nvSpPr>
        <p:spPr bwMode="auto">
          <a:xfrm flipV="1">
            <a:off x="7772400" y="2743200"/>
            <a:ext cx="0" cy="1676400"/>
          </a:xfrm>
          <a:prstGeom prst="line">
            <a:avLst/>
          </a:prstGeom>
          <a:noFill/>
          <a:ln w="9525">
            <a:solidFill>
              <a:schemeClr val="tx1"/>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139284" name="Line 20"/>
          <p:cNvSpPr>
            <a:spLocks noChangeShapeType="1"/>
          </p:cNvSpPr>
          <p:nvPr/>
        </p:nvSpPr>
        <p:spPr bwMode="auto">
          <a:xfrm flipV="1">
            <a:off x="7164388" y="2708275"/>
            <a:ext cx="609600" cy="914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285" name="Text Box 21"/>
          <p:cNvSpPr txBox="1">
            <a:spLocks noChangeArrowheads="1"/>
          </p:cNvSpPr>
          <p:nvPr/>
        </p:nvSpPr>
        <p:spPr bwMode="auto">
          <a:xfrm>
            <a:off x="7543800" y="3581400"/>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b="1" i="1" dirty="0">
                <a:latin typeface="Times New Roman" panose="02020603050405020304" pitchFamily="18" charset="0"/>
              </a:rPr>
              <a:t>5</a:t>
            </a:r>
            <a:endParaRPr lang="en-US" altLang="zh-CN" sz="1800" b="1" i="1" dirty="0">
              <a:latin typeface="Times New Roman" panose="02020603050405020304" pitchFamily="18" charset="0"/>
            </a:endParaRPr>
          </a:p>
        </p:txBody>
      </p:sp>
      <p:sp>
        <p:nvSpPr>
          <p:cNvPr id="10259" name="Rectangle 22"/>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39287" name="Object 23"/>
          <p:cNvGraphicFramePr>
            <a:graphicFrameLocks noChangeAspect="1"/>
          </p:cNvGraphicFramePr>
          <p:nvPr/>
        </p:nvGraphicFramePr>
        <p:xfrm>
          <a:off x="609600" y="3048000"/>
          <a:ext cx="4267200" cy="955675"/>
        </p:xfrm>
        <a:graphic>
          <a:graphicData uri="http://schemas.openxmlformats.org/presentationml/2006/ole">
            <mc:AlternateContent xmlns:mc="http://schemas.openxmlformats.org/markup-compatibility/2006">
              <mc:Choice xmlns:v="urn:schemas-microsoft-com:vml" Requires="v">
                <p:oleObj spid="_x0000_s10477" name="Equation" r:id="rId5" imgW="1739900" imgH="393700" progId="Equation.DSMT4">
                  <p:embed/>
                </p:oleObj>
              </mc:Choice>
              <mc:Fallback>
                <p:oleObj name="Equation" r:id="rId5" imgW="1739900" imgH="393700" progId="Equation.DSMT4">
                  <p:embed/>
                  <p:pic>
                    <p:nvPicPr>
                      <p:cNvPr id="0"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3048000"/>
                        <a:ext cx="4267200" cy="955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9288" name="Rectangle 24"/>
          <p:cNvSpPr>
            <a:spLocks noChangeArrowheads="1"/>
          </p:cNvSpPr>
          <p:nvPr/>
        </p:nvSpPr>
        <p:spPr bwMode="auto">
          <a:xfrm>
            <a:off x="381000" y="1630363"/>
            <a:ext cx="4492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t>第一次到达</a:t>
            </a:r>
            <a:r>
              <a:rPr lang="en-US" altLang="zh-CN" b="1" i="1">
                <a:latin typeface="Times New Roman" panose="02020603050405020304" pitchFamily="18" charset="0"/>
              </a:rPr>
              <a:t>x</a:t>
            </a:r>
            <a:r>
              <a:rPr lang="en-US" altLang="zh-CN" b="1">
                <a:latin typeface="宋体" panose="02010600030101010101" pitchFamily="2" charset="-122"/>
              </a:rPr>
              <a:t>=5.0cm</a:t>
            </a:r>
            <a:r>
              <a:rPr lang="zh-CN" altLang="en-US" b="1">
                <a:latin typeface="宋体" panose="02010600030101010101" pitchFamily="2" charset="-122"/>
              </a:rPr>
              <a:t>时的相位为</a:t>
            </a:r>
            <a:r>
              <a:rPr lang="zh-CN" altLang="en-US"/>
              <a:t>  </a:t>
            </a:r>
            <a:endParaRPr lang="zh-CN" altLang="en-US"/>
          </a:p>
        </p:txBody>
      </p:sp>
      <p:graphicFrame>
        <p:nvGraphicFramePr>
          <p:cNvPr id="139289" name="Object 25"/>
          <p:cNvGraphicFramePr>
            <a:graphicFrameLocks noChangeAspect="1"/>
          </p:cNvGraphicFramePr>
          <p:nvPr/>
        </p:nvGraphicFramePr>
        <p:xfrm>
          <a:off x="4965700" y="1341438"/>
          <a:ext cx="1157288" cy="957262"/>
        </p:xfrm>
        <a:graphic>
          <a:graphicData uri="http://schemas.openxmlformats.org/presentationml/2006/ole">
            <mc:AlternateContent xmlns:mc="http://schemas.openxmlformats.org/markup-compatibility/2006">
              <mc:Choice xmlns:v="urn:schemas-microsoft-com:vml" Requires="v">
                <p:oleObj spid="_x0000_s10478" name="Equation" r:id="rId7" imgW="568960" imgH="457200" progId="Equation.DSMT4">
                  <p:embed/>
                </p:oleObj>
              </mc:Choice>
              <mc:Fallback>
                <p:oleObj name="Equation" r:id="rId7" imgW="568960" imgH="457200" progId="Equation.DSMT4">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65700" y="1341438"/>
                        <a:ext cx="1157288" cy="957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9290" name="Rectangle 26"/>
          <p:cNvSpPr>
            <a:spLocks noChangeArrowheads="1"/>
          </p:cNvSpPr>
          <p:nvPr/>
        </p:nvSpPr>
        <p:spPr bwMode="auto">
          <a:xfrm>
            <a:off x="381000" y="2316163"/>
            <a:ext cx="4383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FF"/>
                </a:solidFill>
                <a:latin typeface="宋体" panose="02010600030101010101" pitchFamily="2" charset="-122"/>
              </a:rPr>
              <a:t>故 第一次达到此处所需时间为</a:t>
            </a:r>
            <a:r>
              <a:rPr lang="zh-CN" altLang="en-US">
                <a:solidFill>
                  <a:srgbClr val="0000FF"/>
                </a:solidFill>
              </a:rPr>
              <a:t> </a:t>
            </a:r>
            <a:endParaRPr lang="zh-CN" altLang="en-US">
              <a:solidFill>
                <a:srgbClr val="0000FF"/>
              </a:solidFill>
            </a:endParaRPr>
          </a:p>
        </p:txBody>
      </p:sp>
      <p:graphicFrame>
        <p:nvGraphicFramePr>
          <p:cNvPr id="139292" name="Object 28"/>
          <p:cNvGraphicFramePr>
            <a:graphicFrameLocks noChangeAspect="1"/>
          </p:cNvGraphicFramePr>
          <p:nvPr/>
        </p:nvGraphicFramePr>
        <p:xfrm>
          <a:off x="2895600" y="5029200"/>
          <a:ext cx="4419600" cy="1030288"/>
        </p:xfrm>
        <a:graphic>
          <a:graphicData uri="http://schemas.openxmlformats.org/presentationml/2006/ole">
            <mc:AlternateContent xmlns:mc="http://schemas.openxmlformats.org/markup-compatibility/2006">
              <mc:Choice xmlns:v="urn:schemas-microsoft-com:vml" Requires="v">
                <p:oleObj spid="_x0000_s10479" name="Equation" r:id="rId9" imgW="1675765" imgH="393700" progId="Equation.DSMT4">
                  <p:embed/>
                </p:oleObj>
              </mc:Choice>
              <mc:Fallback>
                <p:oleObj name="Equation" r:id="rId9" imgW="1675765" imgH="393700" progId="Equation.DSMT4">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95600" y="5029200"/>
                        <a:ext cx="4419600" cy="1030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9293" name="Rectangle 29"/>
          <p:cNvSpPr>
            <a:spLocks noChangeArrowheads="1"/>
          </p:cNvSpPr>
          <p:nvPr/>
        </p:nvSpPr>
        <p:spPr bwMode="auto">
          <a:xfrm>
            <a:off x="228600" y="4297363"/>
            <a:ext cx="524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FF"/>
                </a:solidFill>
              </a:rPr>
              <a:t>连续两次到达</a:t>
            </a:r>
            <a:r>
              <a:rPr lang="en-US" altLang="zh-CN" b="1" i="1">
                <a:solidFill>
                  <a:srgbClr val="0000FF"/>
                </a:solidFill>
                <a:latin typeface="Times New Roman" panose="02020603050405020304" pitchFamily="18" charset="0"/>
              </a:rPr>
              <a:t>x</a:t>
            </a:r>
            <a:r>
              <a:rPr lang="en-US" altLang="zh-CN" b="1">
                <a:solidFill>
                  <a:srgbClr val="0000FF"/>
                </a:solidFill>
                <a:latin typeface="Times New Roman" panose="02020603050405020304" pitchFamily="18" charset="0"/>
              </a:rPr>
              <a:t> = 5.0 cm</a:t>
            </a:r>
            <a:r>
              <a:rPr lang="zh-CN" altLang="en-US" b="1">
                <a:solidFill>
                  <a:srgbClr val="0000FF"/>
                </a:solidFill>
              </a:rPr>
              <a:t>处的相位差为</a:t>
            </a:r>
            <a:r>
              <a:rPr lang="zh-CN" altLang="en-US">
                <a:solidFill>
                  <a:srgbClr val="0000FF"/>
                </a:solidFill>
              </a:rPr>
              <a:t> </a:t>
            </a:r>
            <a:endParaRPr lang="zh-CN" altLang="en-US">
              <a:solidFill>
                <a:srgbClr val="0000FF"/>
              </a:solidFill>
            </a:endParaRPr>
          </a:p>
        </p:txBody>
      </p:sp>
      <p:sp>
        <p:nvSpPr>
          <p:cNvPr id="10263" name="Rectangle 30"/>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39295" name="Object 31"/>
          <p:cNvGraphicFramePr>
            <a:graphicFrameLocks noChangeAspect="1"/>
          </p:cNvGraphicFramePr>
          <p:nvPr/>
        </p:nvGraphicFramePr>
        <p:xfrm>
          <a:off x="569913" y="4999038"/>
          <a:ext cx="1625600" cy="1065212"/>
        </p:xfrm>
        <a:graphic>
          <a:graphicData uri="http://schemas.openxmlformats.org/presentationml/2006/ole">
            <mc:AlternateContent xmlns:mc="http://schemas.openxmlformats.org/markup-compatibility/2006">
              <mc:Choice xmlns:v="urn:schemas-microsoft-com:vml" Requires="v">
                <p:oleObj spid="_x0000_s10480" name="Equation" r:id="rId11" imgW="713740" imgH="457200" progId="Equation.DSMT4">
                  <p:embed/>
                </p:oleObj>
              </mc:Choice>
              <mc:Fallback>
                <p:oleObj name="Equation" r:id="rId11" imgW="713740" imgH="457200" progId="Equation.DSMT4">
                  <p:embed/>
                  <p:pic>
                    <p:nvPicPr>
                      <p:cNvPr id="0" name="Object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9913" y="4999038"/>
                        <a:ext cx="1625600" cy="1065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9283"/>
                                        </p:tgtEl>
                                        <p:attrNameLst>
                                          <p:attrName>style.visibility</p:attrName>
                                        </p:attrNameLst>
                                      </p:cBhvr>
                                      <p:to>
                                        <p:strVal val="visible"/>
                                      </p:to>
                                    </p:set>
                                    <p:animEffect transition="in" filter="wipe(down)">
                                      <p:cBhvr>
                                        <p:cTn id="7" dur="500"/>
                                        <p:tgtEl>
                                          <p:spTgt spid="1392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9285"/>
                                        </p:tgtEl>
                                        <p:attrNameLst>
                                          <p:attrName>style.visibility</p:attrName>
                                        </p:attrNameLst>
                                      </p:cBhvr>
                                      <p:to>
                                        <p:strVal val="visible"/>
                                      </p:to>
                                    </p:set>
                                    <p:animEffect transition="in" filter="wipe(left)">
                                      <p:cBhvr>
                                        <p:cTn id="12" dur="500"/>
                                        <p:tgtEl>
                                          <p:spTgt spid="1392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9281"/>
                                        </p:tgtEl>
                                        <p:attrNameLst>
                                          <p:attrName>style.visibility</p:attrName>
                                        </p:attrNameLst>
                                      </p:cBhvr>
                                      <p:to>
                                        <p:strVal val="visible"/>
                                      </p:to>
                                    </p:set>
                                    <p:animEffect transition="in" filter="wipe(left)">
                                      <p:cBhvr>
                                        <p:cTn id="17" dur="500"/>
                                        <p:tgtEl>
                                          <p:spTgt spid="1392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9282"/>
                                        </p:tgtEl>
                                        <p:attrNameLst>
                                          <p:attrName>style.visibility</p:attrName>
                                        </p:attrNameLst>
                                      </p:cBhvr>
                                      <p:to>
                                        <p:strVal val="visible"/>
                                      </p:to>
                                    </p:set>
                                    <p:animEffect transition="in" filter="wipe(left)">
                                      <p:cBhvr>
                                        <p:cTn id="22" dur="500"/>
                                        <p:tgtEl>
                                          <p:spTgt spid="13928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9288"/>
                                        </p:tgtEl>
                                        <p:attrNameLst>
                                          <p:attrName>style.visibility</p:attrName>
                                        </p:attrNameLst>
                                      </p:cBhvr>
                                      <p:to>
                                        <p:strVal val="visible"/>
                                      </p:to>
                                    </p:set>
                                    <p:animEffect transition="in" filter="wipe(left)">
                                      <p:cBhvr>
                                        <p:cTn id="27" dur="500"/>
                                        <p:tgtEl>
                                          <p:spTgt spid="13928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9289"/>
                                        </p:tgtEl>
                                        <p:attrNameLst>
                                          <p:attrName>style.visibility</p:attrName>
                                        </p:attrNameLst>
                                      </p:cBhvr>
                                      <p:to>
                                        <p:strVal val="visible"/>
                                      </p:to>
                                    </p:set>
                                    <p:animEffect transition="in" filter="wipe(left)">
                                      <p:cBhvr>
                                        <p:cTn id="32" dur="500"/>
                                        <p:tgtEl>
                                          <p:spTgt spid="13928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9290"/>
                                        </p:tgtEl>
                                        <p:attrNameLst>
                                          <p:attrName>style.visibility</p:attrName>
                                        </p:attrNameLst>
                                      </p:cBhvr>
                                      <p:to>
                                        <p:strVal val="visible"/>
                                      </p:to>
                                    </p:set>
                                    <p:animEffect transition="in" filter="wipe(left)">
                                      <p:cBhvr>
                                        <p:cTn id="37" dur="500"/>
                                        <p:tgtEl>
                                          <p:spTgt spid="13929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9287"/>
                                        </p:tgtEl>
                                        <p:attrNameLst>
                                          <p:attrName>style.visibility</p:attrName>
                                        </p:attrNameLst>
                                      </p:cBhvr>
                                      <p:to>
                                        <p:strVal val="visible"/>
                                      </p:to>
                                    </p:set>
                                    <p:animEffect transition="in" filter="wipe(left)">
                                      <p:cBhvr>
                                        <p:cTn id="42" dur="500"/>
                                        <p:tgtEl>
                                          <p:spTgt spid="13928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9293"/>
                                        </p:tgtEl>
                                        <p:attrNameLst>
                                          <p:attrName>style.visibility</p:attrName>
                                        </p:attrNameLst>
                                      </p:cBhvr>
                                      <p:to>
                                        <p:strVal val="visible"/>
                                      </p:to>
                                    </p:set>
                                    <p:animEffect transition="in" filter="wipe(left)">
                                      <p:cBhvr>
                                        <p:cTn id="47" dur="500"/>
                                        <p:tgtEl>
                                          <p:spTgt spid="13929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9284"/>
                                        </p:tgtEl>
                                        <p:attrNameLst>
                                          <p:attrName>style.visibility</p:attrName>
                                        </p:attrNameLst>
                                      </p:cBhvr>
                                      <p:to>
                                        <p:strVal val="visible"/>
                                      </p:to>
                                    </p:set>
                                    <p:animEffect transition="in" filter="wipe(left)">
                                      <p:cBhvr>
                                        <p:cTn id="52" dur="500"/>
                                        <p:tgtEl>
                                          <p:spTgt spid="13928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39295"/>
                                        </p:tgtEl>
                                        <p:attrNameLst>
                                          <p:attrName>style.visibility</p:attrName>
                                        </p:attrNameLst>
                                      </p:cBhvr>
                                      <p:to>
                                        <p:strVal val="visible"/>
                                      </p:to>
                                    </p:set>
                                    <p:animEffect transition="in" filter="wipe(left)">
                                      <p:cBhvr>
                                        <p:cTn id="57" dur="500"/>
                                        <p:tgtEl>
                                          <p:spTgt spid="13929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39292"/>
                                        </p:tgtEl>
                                        <p:attrNameLst>
                                          <p:attrName>style.visibility</p:attrName>
                                        </p:attrNameLst>
                                      </p:cBhvr>
                                      <p:to>
                                        <p:strVal val="visible"/>
                                      </p:to>
                                    </p:set>
                                    <p:animEffect transition="in" filter="wipe(left)">
                                      <p:cBhvr>
                                        <p:cTn id="62" dur="500"/>
                                        <p:tgtEl>
                                          <p:spTgt spid="139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85" grpId="0"/>
      <p:bldP spid="139288" grpId="0"/>
      <p:bldP spid="139290" grpId="0"/>
      <p:bldP spid="13929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2"/>
          <p:cNvSpPr txBox="1">
            <a:spLocks noChangeArrowheads="1"/>
          </p:cNvSpPr>
          <p:nvPr/>
        </p:nvSpPr>
        <p:spPr bwMode="auto">
          <a:xfrm>
            <a:off x="533400" y="381000"/>
            <a:ext cx="8305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Times New Roman" panose="02020603050405020304" pitchFamily="18" charset="0"/>
                <a:ea typeface="楷体_GB2312" panose="02010609030101010101" pitchFamily="49" charset="-122"/>
              </a:rPr>
              <a:t>例</a:t>
            </a:r>
            <a:r>
              <a:rPr lang="en-US" altLang="zh-CN" sz="2800" b="1">
                <a:solidFill>
                  <a:srgbClr val="FF0000"/>
                </a:solidFill>
                <a:latin typeface="Times New Roman" panose="02020603050405020304" pitchFamily="18" charset="0"/>
                <a:ea typeface="楷体_GB2312" panose="02010609030101010101" pitchFamily="49" charset="-122"/>
              </a:rPr>
              <a:t>2</a:t>
            </a:r>
            <a:r>
              <a:rPr lang="zh-CN" altLang="en-US" sz="2800" b="1">
                <a:latin typeface="Times New Roman" panose="02020603050405020304" pitchFamily="18" charset="0"/>
                <a:ea typeface="楷体_GB2312" panose="02010609030101010101" pitchFamily="49" charset="-122"/>
              </a:rPr>
              <a:t>、如图所示的振动曲线。求：</a:t>
            </a:r>
            <a:endParaRPr lang="zh-CN" altLang="en-US" sz="2800" b="1">
              <a:latin typeface="Times New Roman" panose="02020603050405020304" pitchFamily="18" charset="0"/>
              <a:ea typeface="楷体_GB2312" panose="02010609030101010101" pitchFamily="49" charset="-122"/>
            </a:endParaRPr>
          </a:p>
          <a:p>
            <a:pPr eaLnBrk="1" hangingPunct="1"/>
            <a:r>
              <a:rPr lang="zh-CN" altLang="en-US" sz="2800" b="1">
                <a:latin typeface="Times New Roman" panose="02020603050405020304" pitchFamily="18" charset="0"/>
                <a:ea typeface="楷体_GB2312" panose="02010609030101010101" pitchFamily="49" charset="-122"/>
                <a:sym typeface="Wingdings" panose="05000000000000000000" pitchFamily="2" charset="2"/>
              </a:rPr>
              <a:t>（</a:t>
            </a:r>
            <a:r>
              <a:rPr lang="en-US" altLang="zh-CN" sz="2800" b="1">
                <a:latin typeface="Times New Roman" panose="02020603050405020304" pitchFamily="18" charset="0"/>
                <a:ea typeface="楷体_GB2312" panose="02010609030101010101" pitchFamily="49" charset="-122"/>
                <a:sym typeface="Wingdings" panose="05000000000000000000" pitchFamily="2" charset="2"/>
              </a:rPr>
              <a:t>1</a:t>
            </a:r>
            <a:r>
              <a:rPr lang="zh-CN" altLang="en-US" sz="2800" b="1">
                <a:latin typeface="Times New Roman" panose="02020603050405020304" pitchFamily="18" charset="0"/>
                <a:ea typeface="楷体_GB2312" panose="02010609030101010101" pitchFamily="49" charset="-122"/>
                <a:sym typeface="Wingdings" panose="05000000000000000000" pitchFamily="2" charset="2"/>
              </a:rPr>
              <a:t>）简谐振动的运动方程</a:t>
            </a:r>
            <a:endParaRPr lang="zh-CN" altLang="en-US" sz="2800" b="1">
              <a:latin typeface="Times New Roman" panose="02020603050405020304" pitchFamily="18" charset="0"/>
              <a:ea typeface="楷体_GB2312" panose="02010609030101010101" pitchFamily="49" charset="-122"/>
              <a:sym typeface="Wingdings" panose="05000000000000000000" pitchFamily="2" charset="2"/>
            </a:endParaRPr>
          </a:p>
          <a:p>
            <a:pPr eaLnBrk="1" hangingPunct="1"/>
            <a:r>
              <a:rPr lang="zh-CN" altLang="en-US" sz="2800" b="1">
                <a:latin typeface="Times New Roman" panose="02020603050405020304" pitchFamily="18" charset="0"/>
                <a:ea typeface="楷体_GB2312" panose="02010609030101010101" pitchFamily="49" charset="-122"/>
                <a:sym typeface="Wingdings" panose="05000000000000000000" pitchFamily="2" charset="2"/>
              </a:rPr>
              <a:t>（</a:t>
            </a:r>
            <a:r>
              <a:rPr lang="en-US" altLang="zh-CN" sz="2800" b="1">
                <a:latin typeface="Times New Roman" panose="02020603050405020304" pitchFamily="18" charset="0"/>
                <a:ea typeface="楷体_GB2312" panose="02010609030101010101" pitchFamily="49" charset="-122"/>
                <a:sym typeface="Wingdings" panose="05000000000000000000" pitchFamily="2" charset="2"/>
              </a:rPr>
              <a:t>2</a:t>
            </a:r>
            <a:r>
              <a:rPr lang="zh-CN" altLang="en-US" sz="2800" b="1">
                <a:latin typeface="Times New Roman" panose="02020603050405020304" pitchFamily="18" charset="0"/>
                <a:ea typeface="楷体_GB2312" panose="02010609030101010101" pitchFamily="49" charset="-122"/>
                <a:sym typeface="Wingdings" panose="05000000000000000000" pitchFamily="2" charset="2"/>
              </a:rPr>
              <a:t>）由状态</a:t>
            </a:r>
            <a:r>
              <a:rPr lang="en-US" altLang="zh-CN" sz="2800" b="1">
                <a:latin typeface="Times New Roman" panose="02020603050405020304" pitchFamily="18" charset="0"/>
                <a:ea typeface="楷体_GB2312" panose="02010609030101010101" pitchFamily="49" charset="-122"/>
                <a:sym typeface="Wingdings" panose="05000000000000000000" pitchFamily="2" charset="2"/>
              </a:rPr>
              <a:t>a</a:t>
            </a:r>
            <a:r>
              <a:rPr lang="zh-CN" altLang="en-US" sz="2800" b="1">
                <a:latin typeface="Times New Roman" panose="02020603050405020304" pitchFamily="18" charset="0"/>
                <a:ea typeface="楷体_GB2312" panose="02010609030101010101" pitchFamily="49" charset="-122"/>
                <a:sym typeface="Wingdings" panose="05000000000000000000" pitchFamily="2" charset="2"/>
              </a:rPr>
              <a:t>运动到状态</a:t>
            </a:r>
            <a:r>
              <a:rPr lang="en-US" altLang="zh-CN" sz="2800" b="1">
                <a:latin typeface="Times New Roman" panose="02020603050405020304" pitchFamily="18" charset="0"/>
                <a:ea typeface="楷体_GB2312" panose="02010609030101010101" pitchFamily="49" charset="-122"/>
                <a:sym typeface="Wingdings" panose="05000000000000000000" pitchFamily="2" charset="2"/>
              </a:rPr>
              <a:t>b</a:t>
            </a:r>
            <a:r>
              <a:rPr lang="zh-CN" altLang="en-US" sz="2800" b="1">
                <a:latin typeface="Times New Roman" panose="02020603050405020304" pitchFamily="18" charset="0"/>
                <a:ea typeface="楷体_GB2312" panose="02010609030101010101" pitchFamily="49" charset="-122"/>
                <a:sym typeface="Wingdings" panose="05000000000000000000" pitchFamily="2" charset="2"/>
              </a:rPr>
              <a:t>，再由</a:t>
            </a:r>
            <a:r>
              <a:rPr lang="en-US" altLang="zh-CN" sz="2800" b="1">
                <a:latin typeface="Times New Roman" panose="02020603050405020304" pitchFamily="18" charset="0"/>
                <a:ea typeface="楷体_GB2312" panose="02010609030101010101" pitchFamily="49" charset="-122"/>
                <a:sym typeface="Wingdings" panose="05000000000000000000" pitchFamily="2" charset="2"/>
              </a:rPr>
              <a:t>b</a:t>
            </a:r>
            <a:r>
              <a:rPr lang="zh-CN" altLang="en-US" sz="2800" b="1">
                <a:latin typeface="Times New Roman" panose="02020603050405020304" pitchFamily="18" charset="0"/>
                <a:ea typeface="楷体_GB2312" panose="02010609030101010101" pitchFamily="49" charset="-122"/>
                <a:sym typeface="Wingdings" panose="05000000000000000000" pitchFamily="2" charset="2"/>
              </a:rPr>
              <a:t>运动到</a:t>
            </a:r>
            <a:r>
              <a:rPr lang="en-US" altLang="zh-CN" sz="2800" b="1">
                <a:latin typeface="Times New Roman" panose="02020603050405020304" pitchFamily="18" charset="0"/>
                <a:ea typeface="楷体_GB2312" panose="02010609030101010101" pitchFamily="49" charset="-122"/>
                <a:sym typeface="Wingdings" panose="05000000000000000000" pitchFamily="2" charset="2"/>
              </a:rPr>
              <a:t>c</a:t>
            </a:r>
            <a:r>
              <a:rPr lang="zh-CN" altLang="en-US" sz="2800" b="1">
                <a:latin typeface="Times New Roman" panose="02020603050405020304" pitchFamily="18" charset="0"/>
                <a:ea typeface="楷体_GB2312" panose="02010609030101010101" pitchFamily="49" charset="-122"/>
                <a:sym typeface="Wingdings" panose="05000000000000000000" pitchFamily="2" charset="2"/>
              </a:rPr>
              <a:t>的时间</a:t>
            </a:r>
            <a:endParaRPr lang="zh-CN" altLang="en-US" sz="2800" b="1">
              <a:latin typeface="Times New Roman" panose="02020603050405020304" pitchFamily="18" charset="0"/>
              <a:ea typeface="楷体_GB2312" panose="02010609030101010101" pitchFamily="49" charset="-122"/>
              <a:sym typeface="Wingdings" panose="05000000000000000000" pitchFamily="2" charset="2"/>
            </a:endParaRPr>
          </a:p>
          <a:p>
            <a:pPr eaLnBrk="1" hangingPunct="1"/>
            <a:r>
              <a:rPr lang="zh-CN" altLang="en-US" sz="2800" b="1">
                <a:latin typeface="Times New Roman" panose="02020603050405020304" pitchFamily="18" charset="0"/>
                <a:ea typeface="楷体_GB2312" panose="02010609030101010101" pitchFamily="49" charset="-122"/>
                <a:sym typeface="Wingdings" panose="05000000000000000000" pitchFamily="2" charset="2"/>
              </a:rPr>
              <a:t>          分别是多少</a:t>
            </a:r>
            <a:endParaRPr lang="zh-CN" altLang="en-US" sz="2800" b="1">
              <a:latin typeface="Times New Roman" panose="02020603050405020304" pitchFamily="18" charset="0"/>
              <a:ea typeface="楷体_GB2312" panose="02010609030101010101" pitchFamily="49" charset="-122"/>
              <a:sym typeface="Wingdings" panose="05000000000000000000" pitchFamily="2" charset="2"/>
            </a:endParaRPr>
          </a:p>
          <a:p>
            <a:pPr eaLnBrk="1" hangingPunct="1"/>
            <a:r>
              <a:rPr lang="zh-CN" altLang="en-US" sz="2800" b="1">
                <a:latin typeface="Times New Roman" panose="02020603050405020304" pitchFamily="18" charset="0"/>
                <a:ea typeface="楷体_GB2312" panose="02010609030101010101" pitchFamily="49" charset="-122"/>
                <a:sym typeface="Wingdings" panose="05000000000000000000" pitchFamily="2" charset="2"/>
              </a:rPr>
              <a:t>（</a:t>
            </a:r>
            <a:r>
              <a:rPr lang="en-US" altLang="zh-CN" sz="2800" b="1">
                <a:latin typeface="Times New Roman" panose="02020603050405020304" pitchFamily="18" charset="0"/>
                <a:ea typeface="楷体_GB2312" panose="02010609030101010101" pitchFamily="49" charset="-122"/>
                <a:sym typeface="Wingdings" panose="05000000000000000000" pitchFamily="2" charset="2"/>
              </a:rPr>
              <a:t>3</a:t>
            </a:r>
            <a:r>
              <a:rPr lang="zh-CN" altLang="en-US" sz="2800" b="1">
                <a:latin typeface="Times New Roman" panose="02020603050405020304" pitchFamily="18" charset="0"/>
                <a:ea typeface="楷体_GB2312" panose="02010609030101010101" pitchFamily="49" charset="-122"/>
                <a:sym typeface="Wingdings" panose="05000000000000000000" pitchFamily="2" charset="2"/>
              </a:rPr>
              <a:t>）状态</a:t>
            </a:r>
            <a:r>
              <a:rPr lang="en-US" altLang="zh-CN" sz="2800" b="1">
                <a:latin typeface="Times New Roman" panose="02020603050405020304" pitchFamily="18" charset="0"/>
                <a:ea typeface="楷体_GB2312" panose="02010609030101010101" pitchFamily="49" charset="-122"/>
                <a:sym typeface="Wingdings" panose="05000000000000000000" pitchFamily="2" charset="2"/>
              </a:rPr>
              <a:t>d</a:t>
            </a:r>
            <a:r>
              <a:rPr lang="zh-CN" altLang="en-US" sz="2800" b="1">
                <a:latin typeface="Times New Roman" panose="02020603050405020304" pitchFamily="18" charset="0"/>
                <a:ea typeface="楷体_GB2312" panose="02010609030101010101" pitchFamily="49" charset="-122"/>
                <a:sym typeface="Wingdings" panose="05000000000000000000" pitchFamily="2" charset="2"/>
              </a:rPr>
              <a:t>的速度和加速度</a:t>
            </a:r>
            <a:endParaRPr lang="zh-CN" altLang="en-US" sz="2800" b="1">
              <a:latin typeface="Times New Roman" panose="02020603050405020304" pitchFamily="18" charset="0"/>
              <a:ea typeface="楷体_GB2312" panose="02010609030101010101" pitchFamily="49" charset="-122"/>
            </a:endParaRPr>
          </a:p>
        </p:txBody>
      </p:sp>
      <p:pic>
        <p:nvPicPr>
          <p:cNvPr id="140291" name="Picture 3"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43513" y="1628775"/>
            <a:ext cx="3810000"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useBgFill="1">
        <p:nvSpPr>
          <p:cNvPr id="140292" name="Rectangle 4"/>
          <p:cNvSpPr>
            <a:spLocks noChangeArrowheads="1"/>
          </p:cNvSpPr>
          <p:nvPr/>
        </p:nvSpPr>
        <p:spPr bwMode="auto">
          <a:xfrm>
            <a:off x="457200" y="2743200"/>
            <a:ext cx="1344613"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7620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7620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7620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7620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kumimoji="1" lang="en-US" altLang="zh-CN" b="1">
                <a:solidFill>
                  <a:srgbClr val="FF0000"/>
                </a:solidFill>
                <a:latin typeface="宋体" panose="02010600030101010101" pitchFamily="2" charset="-122"/>
              </a:rPr>
              <a:t>【</a:t>
            </a:r>
            <a:r>
              <a:rPr kumimoji="1" lang="zh-CN" altLang="en-US" b="1">
                <a:solidFill>
                  <a:srgbClr val="FF0000"/>
                </a:solidFill>
                <a:latin typeface="Times New Roman" panose="02020603050405020304" pitchFamily="18" charset="0"/>
              </a:rPr>
              <a:t>解</a:t>
            </a:r>
            <a:r>
              <a:rPr kumimoji="1" lang="en-US" altLang="zh-CN" b="1">
                <a:solidFill>
                  <a:srgbClr val="FF0000"/>
                </a:solidFill>
                <a:latin typeface="宋体" panose="02010600030101010101" pitchFamily="2" charset="-122"/>
              </a:rPr>
              <a:t>】</a:t>
            </a:r>
            <a:endParaRPr kumimoji="1" lang="en-US" altLang="zh-CN" b="1">
              <a:solidFill>
                <a:srgbClr val="FF0000"/>
              </a:solidFill>
              <a:latin typeface="宋体" panose="02010600030101010101" pitchFamily="2" charset="-122"/>
            </a:endParaRPr>
          </a:p>
        </p:txBody>
      </p:sp>
      <p:sp>
        <p:nvSpPr>
          <p:cNvPr id="140293" name="Text Box 5"/>
          <p:cNvSpPr txBox="1">
            <a:spLocks noChangeArrowheads="1"/>
          </p:cNvSpPr>
          <p:nvPr/>
        </p:nvSpPr>
        <p:spPr bwMode="auto">
          <a:xfrm>
            <a:off x="1447800" y="2823319"/>
            <a:ext cx="27641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rPr>
              <a:t>1</a:t>
            </a:r>
            <a:r>
              <a:rPr lang="zh-CN" altLang="en-US" b="1" dirty="0">
                <a:solidFill>
                  <a:srgbClr val="FF0000"/>
                </a:solidFill>
                <a:latin typeface="Times New Roman" panose="02020603050405020304" pitchFamily="18" charset="0"/>
              </a:rPr>
              <a:t>）方法</a:t>
            </a:r>
            <a:r>
              <a:rPr lang="en-US" altLang="zh-CN" b="1" dirty="0">
                <a:solidFill>
                  <a:srgbClr val="FF0000"/>
                </a:solidFill>
                <a:latin typeface="Times New Roman" panose="02020603050405020304" pitchFamily="18" charset="0"/>
              </a:rPr>
              <a:t>1 </a:t>
            </a:r>
            <a:r>
              <a:rPr lang="zh-CN" altLang="en-US" b="1" dirty="0">
                <a:solidFill>
                  <a:srgbClr val="FF0000"/>
                </a:solidFill>
                <a:latin typeface="Times New Roman" panose="02020603050405020304" pitchFamily="18" charset="0"/>
              </a:rPr>
              <a:t>解析法</a:t>
            </a:r>
            <a:endParaRPr kumimoji="1" lang="zh-CN" altLang="en-US" b="1" dirty="0">
              <a:solidFill>
                <a:srgbClr val="FF0000"/>
              </a:solidFill>
              <a:latin typeface="Times New Roman" panose="02020603050405020304" pitchFamily="18" charset="0"/>
            </a:endParaRPr>
          </a:p>
        </p:txBody>
      </p:sp>
      <p:graphicFrame>
        <p:nvGraphicFramePr>
          <p:cNvPr id="140296" name="Object 8"/>
          <p:cNvGraphicFramePr>
            <a:graphicFrameLocks noChangeAspect="1"/>
          </p:cNvGraphicFramePr>
          <p:nvPr/>
        </p:nvGraphicFramePr>
        <p:xfrm>
          <a:off x="1474788" y="4127500"/>
          <a:ext cx="5257800" cy="885825"/>
        </p:xfrm>
        <a:graphic>
          <a:graphicData uri="http://schemas.openxmlformats.org/presentationml/2006/ole">
            <mc:AlternateContent xmlns:mc="http://schemas.openxmlformats.org/markup-compatibility/2006">
              <mc:Choice xmlns:v="urn:schemas-microsoft-com:vml" Requires="v">
                <p:oleObj spid="_x0000_s11591" name="Equation" r:id="rId2" imgW="2336800" imgH="393700" progId="Equation.DSMT4">
                  <p:embed/>
                </p:oleObj>
              </mc:Choice>
              <mc:Fallback>
                <p:oleObj name="Equation" r:id="rId2" imgW="2336800" imgH="393700" progId="Equation.DSMT4">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4788" y="4127500"/>
                        <a:ext cx="52578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0297" name="Object 9"/>
          <p:cNvGraphicFramePr>
            <a:graphicFrameLocks noChangeAspect="1"/>
          </p:cNvGraphicFramePr>
          <p:nvPr/>
        </p:nvGraphicFramePr>
        <p:xfrm>
          <a:off x="1547813" y="5013325"/>
          <a:ext cx="5114925" cy="514350"/>
        </p:xfrm>
        <a:graphic>
          <a:graphicData uri="http://schemas.openxmlformats.org/presentationml/2006/ole">
            <mc:AlternateContent xmlns:mc="http://schemas.openxmlformats.org/markup-compatibility/2006">
              <mc:Choice xmlns:v="urn:schemas-microsoft-com:vml" Requires="v">
                <p:oleObj spid="_x0000_s11592" name="Equation" r:id="rId4" imgW="2273300" imgH="228600" progId="Equation.DSMT4">
                  <p:embed/>
                </p:oleObj>
              </mc:Choice>
              <mc:Fallback>
                <p:oleObj name="Equation" r:id="rId4" imgW="2273300" imgH="22860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5013325"/>
                        <a:ext cx="5114925"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0298" name="Object 10"/>
          <p:cNvGraphicFramePr>
            <a:graphicFrameLocks noChangeAspect="1"/>
          </p:cNvGraphicFramePr>
          <p:nvPr/>
        </p:nvGraphicFramePr>
        <p:xfrm>
          <a:off x="766763" y="3400425"/>
          <a:ext cx="2571750" cy="514350"/>
        </p:xfrm>
        <a:graphic>
          <a:graphicData uri="http://schemas.openxmlformats.org/presentationml/2006/ole">
            <mc:AlternateContent xmlns:mc="http://schemas.openxmlformats.org/markup-compatibility/2006">
              <mc:Choice xmlns:v="urn:schemas-microsoft-com:vml" Requires="v">
                <p:oleObj spid="_x0000_s11593" name="Equation" r:id="rId6" imgW="1337945" imgH="267335" progId="Equation.DSMT4">
                  <p:embed/>
                </p:oleObj>
              </mc:Choice>
              <mc:Fallback>
                <p:oleObj name="Equation" r:id="rId6" imgW="1337945" imgH="267335"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6763" y="3400425"/>
                        <a:ext cx="257175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0301" name="Object 13"/>
          <p:cNvGraphicFramePr>
            <a:graphicFrameLocks noChangeAspect="1"/>
          </p:cNvGraphicFramePr>
          <p:nvPr/>
        </p:nvGraphicFramePr>
        <p:xfrm>
          <a:off x="1619250" y="5632450"/>
          <a:ext cx="4114800" cy="514350"/>
        </p:xfrm>
        <a:graphic>
          <a:graphicData uri="http://schemas.openxmlformats.org/presentationml/2006/ole">
            <mc:AlternateContent xmlns:mc="http://schemas.openxmlformats.org/markup-compatibility/2006">
              <mc:Choice xmlns:v="urn:schemas-microsoft-com:vml" Requires="v">
                <p:oleObj spid="_x0000_s11594" name="Equation" r:id="rId8" imgW="1828800" imgH="228600" progId="Equation.DSMT4">
                  <p:embed/>
                </p:oleObj>
              </mc:Choice>
              <mc:Fallback>
                <p:oleObj name="Equation" r:id="rId8" imgW="1828800" imgH="228600"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9250" y="5632450"/>
                        <a:ext cx="41148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0302" name="Object 14"/>
          <p:cNvGraphicFramePr>
            <a:graphicFrameLocks noChangeAspect="1"/>
          </p:cNvGraphicFramePr>
          <p:nvPr/>
        </p:nvGraphicFramePr>
        <p:xfrm>
          <a:off x="1577975" y="6154738"/>
          <a:ext cx="4229100" cy="514350"/>
        </p:xfrm>
        <a:graphic>
          <a:graphicData uri="http://schemas.openxmlformats.org/presentationml/2006/ole">
            <mc:AlternateContent xmlns:mc="http://schemas.openxmlformats.org/markup-compatibility/2006">
              <mc:Choice xmlns:v="urn:schemas-microsoft-com:vml" Requires="v">
                <p:oleObj spid="_x0000_s11595" name="Equation" r:id="rId10" imgW="45110400" imgH="5486400" progId="Equation.DSMT4">
                  <p:embed/>
                </p:oleObj>
              </mc:Choice>
              <mc:Fallback>
                <p:oleObj name="Equation" r:id="rId10" imgW="45110400" imgH="5486400" progId="Equation.DSMT4">
                  <p:embed/>
                  <p:pic>
                    <p:nvPicPr>
                      <p:cNvPr id="0" name="Object 14"/>
                      <p:cNvPicPr>
                        <a:picLocks noChangeAspect="1" noChangeArrowheads="1"/>
                      </p:cNvPicPr>
                      <p:nvPr/>
                    </p:nvPicPr>
                    <p:blipFill>
                      <a:blip r:embed="rId11"/>
                      <a:srcRect/>
                      <a:stretch>
                        <a:fillRect/>
                      </a:stretch>
                    </p:blipFill>
                    <p:spPr bwMode="auto">
                      <a:xfrm>
                        <a:off x="1577975" y="6154738"/>
                        <a:ext cx="42291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21"/>
          <p:cNvGrpSpPr/>
          <p:nvPr/>
        </p:nvGrpSpPr>
        <p:grpSpPr bwMode="auto">
          <a:xfrm>
            <a:off x="323850" y="4146549"/>
            <a:ext cx="1066800" cy="847725"/>
            <a:chOff x="-9" y="2562"/>
            <a:chExt cx="672" cy="534"/>
          </a:xfrm>
        </p:grpSpPr>
        <p:graphicFrame>
          <p:nvGraphicFramePr>
            <p:cNvPr id="11274" name="Object 7"/>
            <p:cNvGraphicFramePr>
              <a:graphicFrameLocks noChangeAspect="1"/>
            </p:cNvGraphicFramePr>
            <p:nvPr/>
          </p:nvGraphicFramePr>
          <p:xfrm>
            <a:off x="87" y="2562"/>
            <a:ext cx="450" cy="252"/>
          </p:xfrm>
          <a:graphic>
            <a:graphicData uri="http://schemas.openxmlformats.org/presentationml/2006/ole">
              <mc:AlternateContent xmlns:mc="http://schemas.openxmlformats.org/markup-compatibility/2006">
                <mc:Choice xmlns:v="urn:schemas-microsoft-com:vml" Requires="v">
                  <p:oleObj spid="_x0000_s11596" name="Equation" r:id="rId12" imgW="368300" imgH="212090" progId="Equation.DSMT4">
                    <p:embed/>
                  </p:oleObj>
                </mc:Choice>
                <mc:Fallback>
                  <p:oleObj name="Equation" r:id="rId12" imgW="368300" imgH="212090"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 y="2562"/>
                          <a:ext cx="450"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84" name="Text Box 15"/>
            <p:cNvSpPr txBox="1">
              <a:spLocks noChangeArrowheads="1"/>
            </p:cNvSpPr>
            <p:nvPr/>
          </p:nvSpPr>
          <p:spPr bwMode="auto">
            <a:xfrm>
              <a:off x="-9" y="2808"/>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b="1" dirty="0"/>
                <a:t>时刻</a:t>
              </a:r>
              <a:endParaRPr lang="zh-CN" altLang="en-US" b="1" dirty="0"/>
            </a:p>
          </p:txBody>
        </p:sp>
      </p:grpSp>
      <p:grpSp>
        <p:nvGrpSpPr>
          <p:cNvPr id="3" name="Group 22"/>
          <p:cNvGrpSpPr/>
          <p:nvPr/>
        </p:nvGrpSpPr>
        <p:grpSpPr bwMode="auto">
          <a:xfrm>
            <a:off x="381000" y="5562600"/>
            <a:ext cx="1066800" cy="898525"/>
            <a:chOff x="240" y="3504"/>
            <a:chExt cx="672" cy="566"/>
          </a:xfrm>
        </p:grpSpPr>
        <p:graphicFrame>
          <p:nvGraphicFramePr>
            <p:cNvPr id="11273" name="Object 12"/>
            <p:cNvGraphicFramePr>
              <a:graphicFrameLocks noChangeAspect="1"/>
            </p:cNvGraphicFramePr>
            <p:nvPr/>
          </p:nvGraphicFramePr>
          <p:xfrm>
            <a:off x="306" y="3818"/>
            <a:ext cx="540" cy="252"/>
          </p:xfrm>
          <a:graphic>
            <a:graphicData uri="http://schemas.openxmlformats.org/presentationml/2006/ole">
              <mc:AlternateContent xmlns:mc="http://schemas.openxmlformats.org/markup-compatibility/2006">
                <mc:Choice xmlns:v="urn:schemas-microsoft-com:vml" Requires="v">
                  <p:oleObj spid="_x0000_s11597" name="Equation" r:id="rId14" imgW="445770" imgH="212090" progId="Equation.DSMT4">
                    <p:embed/>
                  </p:oleObj>
                </mc:Choice>
                <mc:Fallback>
                  <p:oleObj name="Equation" r:id="rId14" imgW="445770" imgH="212090" progId="Equation.DSMT4">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6" y="3818"/>
                          <a:ext cx="540"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83" name="Text Box 16"/>
            <p:cNvSpPr txBox="1">
              <a:spLocks noChangeArrowheads="1"/>
            </p:cNvSpPr>
            <p:nvPr/>
          </p:nvSpPr>
          <p:spPr bwMode="auto">
            <a:xfrm>
              <a:off x="240" y="3504"/>
              <a:ext cx="67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b="1" dirty="0"/>
                <a:t>c</a:t>
              </a:r>
              <a:r>
                <a:rPr lang="zh-CN" altLang="en-US" b="1" dirty="0"/>
                <a:t>状态</a:t>
              </a:r>
              <a:endParaRPr lang="zh-CN" altLang="en-US" b="1" dirty="0"/>
            </a:p>
          </p:txBody>
        </p:sp>
      </p:grpSp>
      <p:graphicFrame>
        <p:nvGraphicFramePr>
          <p:cNvPr id="140305" name="Object 17"/>
          <p:cNvGraphicFramePr>
            <a:graphicFrameLocks noChangeAspect="1"/>
          </p:cNvGraphicFramePr>
          <p:nvPr/>
        </p:nvGraphicFramePr>
        <p:xfrm>
          <a:off x="6905625" y="4437063"/>
          <a:ext cx="1657350" cy="885825"/>
        </p:xfrm>
        <a:graphic>
          <a:graphicData uri="http://schemas.openxmlformats.org/presentationml/2006/ole">
            <mc:AlternateContent xmlns:mc="http://schemas.openxmlformats.org/markup-compatibility/2006">
              <mc:Choice xmlns:v="urn:schemas-microsoft-com:vml" Requires="v">
                <p:oleObj spid="_x0000_s11598" name="Equation" r:id="rId16" imgW="17678400" imgH="9448800" progId="Equation.DSMT4">
                  <p:embed/>
                </p:oleObj>
              </mc:Choice>
              <mc:Fallback>
                <p:oleObj name="Equation" r:id="rId16" imgW="17678400" imgH="9448800" progId="Equation.DSMT4">
                  <p:embed/>
                  <p:pic>
                    <p:nvPicPr>
                      <p:cNvPr id="0" name="Object 17"/>
                      <p:cNvPicPr>
                        <a:picLocks noChangeAspect="1" noChangeArrowheads="1"/>
                      </p:cNvPicPr>
                      <p:nvPr/>
                    </p:nvPicPr>
                    <p:blipFill>
                      <a:blip r:embed="rId17"/>
                      <a:srcRect/>
                      <a:stretch>
                        <a:fillRect/>
                      </a:stretch>
                    </p:blipFill>
                    <p:spPr bwMode="auto">
                      <a:xfrm>
                        <a:off x="6905625" y="4437063"/>
                        <a:ext cx="165735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0306" name="Object 18"/>
          <p:cNvGraphicFramePr>
            <a:graphicFrameLocks noChangeAspect="1"/>
          </p:cNvGraphicFramePr>
          <p:nvPr/>
        </p:nvGraphicFramePr>
        <p:xfrm>
          <a:off x="6084888" y="5661025"/>
          <a:ext cx="1571625" cy="885825"/>
        </p:xfrm>
        <a:graphic>
          <a:graphicData uri="http://schemas.openxmlformats.org/presentationml/2006/ole">
            <mc:AlternateContent xmlns:mc="http://schemas.openxmlformats.org/markup-compatibility/2006">
              <mc:Choice xmlns:v="urn:schemas-microsoft-com:vml" Requires="v">
                <p:oleObj spid="_x0000_s11599" name="Equation" r:id="rId18" imgW="814070" imgH="457200" progId="Equation.DSMT4">
                  <p:embed/>
                </p:oleObj>
              </mc:Choice>
              <mc:Fallback>
                <p:oleObj name="Equation" r:id="rId18" imgW="814070" imgH="457200" progId="Equation.DSMT4">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084888" y="5661025"/>
                        <a:ext cx="157162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0307" name="AutoShape 19"/>
          <p:cNvSpPr/>
          <p:nvPr/>
        </p:nvSpPr>
        <p:spPr bwMode="auto">
          <a:xfrm>
            <a:off x="6732588" y="4508500"/>
            <a:ext cx="215900" cy="792163"/>
          </a:xfrm>
          <a:prstGeom prst="rightBrace">
            <a:avLst>
              <a:gd name="adj1" fmla="val 30576"/>
              <a:gd name="adj2" fmla="val 50000"/>
            </a:avLst>
          </a:prstGeom>
          <a:noFill/>
          <a:ln w="25400">
            <a:solidFill>
              <a:schemeClr val="tx1"/>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308" name="AutoShape 20"/>
          <p:cNvSpPr/>
          <p:nvPr/>
        </p:nvSpPr>
        <p:spPr bwMode="auto">
          <a:xfrm>
            <a:off x="5767388" y="5727700"/>
            <a:ext cx="215900" cy="792163"/>
          </a:xfrm>
          <a:prstGeom prst="rightBrace">
            <a:avLst>
              <a:gd name="adj1" fmla="val 30576"/>
              <a:gd name="adj2" fmla="val 50000"/>
            </a:avLst>
          </a:prstGeom>
          <a:noFill/>
          <a:ln w="25400">
            <a:solidFill>
              <a:schemeClr val="tx1"/>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2"/>
                                        </p:tgtEl>
                                        <p:attrNameLst>
                                          <p:attrName>style.visibility</p:attrName>
                                        </p:attrNameLst>
                                      </p:cBhvr>
                                      <p:to>
                                        <p:strVal val="visible"/>
                                      </p:to>
                                    </p:set>
                                    <p:animEffect transition="in" filter="wipe(left)">
                                      <p:cBhvr>
                                        <p:cTn id="7" dur="500"/>
                                        <p:tgtEl>
                                          <p:spTgt spid="1402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0293"/>
                                        </p:tgtEl>
                                        <p:attrNameLst>
                                          <p:attrName>style.visibility</p:attrName>
                                        </p:attrNameLst>
                                      </p:cBhvr>
                                      <p:to>
                                        <p:strVal val="visible"/>
                                      </p:to>
                                    </p:set>
                                    <p:animEffect transition="in" filter="wipe(left)">
                                      <p:cBhvr>
                                        <p:cTn id="12" dur="500"/>
                                        <p:tgtEl>
                                          <p:spTgt spid="1402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0298"/>
                                        </p:tgtEl>
                                        <p:attrNameLst>
                                          <p:attrName>style.visibility</p:attrName>
                                        </p:attrNameLst>
                                      </p:cBhvr>
                                      <p:to>
                                        <p:strVal val="visible"/>
                                      </p:to>
                                    </p:set>
                                    <p:animEffect transition="in" filter="wipe(left)">
                                      <p:cBhvr>
                                        <p:cTn id="17" dur="500"/>
                                        <p:tgtEl>
                                          <p:spTgt spid="14029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0296"/>
                                        </p:tgtEl>
                                        <p:attrNameLst>
                                          <p:attrName>style.visibility</p:attrName>
                                        </p:attrNameLst>
                                      </p:cBhvr>
                                      <p:to>
                                        <p:strVal val="visible"/>
                                      </p:to>
                                    </p:set>
                                    <p:animEffect transition="in" filter="blinds(horizontal)">
                                      <p:cBhvr>
                                        <p:cTn id="27" dur="500"/>
                                        <p:tgtEl>
                                          <p:spTgt spid="14029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0297"/>
                                        </p:tgtEl>
                                        <p:attrNameLst>
                                          <p:attrName>style.visibility</p:attrName>
                                        </p:attrNameLst>
                                      </p:cBhvr>
                                      <p:to>
                                        <p:strVal val="visible"/>
                                      </p:to>
                                    </p:set>
                                    <p:animEffect transition="in" filter="blinds(horizontal)">
                                      <p:cBhvr>
                                        <p:cTn id="32" dur="500"/>
                                        <p:tgtEl>
                                          <p:spTgt spid="14029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0307"/>
                                        </p:tgtEl>
                                        <p:attrNameLst>
                                          <p:attrName>style.visibility</p:attrName>
                                        </p:attrNameLst>
                                      </p:cBhvr>
                                      <p:to>
                                        <p:strVal val="visible"/>
                                      </p:to>
                                    </p:set>
                                    <p:animEffect transition="in" filter="blinds(horizontal)">
                                      <p:cBhvr>
                                        <p:cTn id="37" dur="500"/>
                                        <p:tgtEl>
                                          <p:spTgt spid="14030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40305"/>
                                        </p:tgtEl>
                                        <p:attrNameLst>
                                          <p:attrName>style.visibility</p:attrName>
                                        </p:attrNameLst>
                                      </p:cBhvr>
                                      <p:to>
                                        <p:strVal val="visible"/>
                                      </p:to>
                                    </p:set>
                                    <p:animEffect transition="in" filter="blinds(horizontal)">
                                      <p:cBhvr>
                                        <p:cTn id="42" dur="500"/>
                                        <p:tgtEl>
                                          <p:spTgt spid="14030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linds(horizontal)">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40301"/>
                                        </p:tgtEl>
                                        <p:attrNameLst>
                                          <p:attrName>style.visibility</p:attrName>
                                        </p:attrNameLst>
                                      </p:cBhvr>
                                      <p:to>
                                        <p:strVal val="visible"/>
                                      </p:to>
                                    </p:set>
                                    <p:animEffect transition="in" filter="blinds(horizontal)">
                                      <p:cBhvr>
                                        <p:cTn id="52" dur="500"/>
                                        <p:tgtEl>
                                          <p:spTgt spid="14030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40302"/>
                                        </p:tgtEl>
                                        <p:attrNameLst>
                                          <p:attrName>style.visibility</p:attrName>
                                        </p:attrNameLst>
                                      </p:cBhvr>
                                      <p:to>
                                        <p:strVal val="visible"/>
                                      </p:to>
                                    </p:set>
                                    <p:animEffect transition="in" filter="blinds(horizontal)">
                                      <p:cBhvr>
                                        <p:cTn id="57" dur="500"/>
                                        <p:tgtEl>
                                          <p:spTgt spid="14030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40308"/>
                                        </p:tgtEl>
                                        <p:attrNameLst>
                                          <p:attrName>style.visibility</p:attrName>
                                        </p:attrNameLst>
                                      </p:cBhvr>
                                      <p:to>
                                        <p:strVal val="visible"/>
                                      </p:to>
                                    </p:set>
                                    <p:animEffect transition="in" filter="blinds(horizontal)">
                                      <p:cBhvr>
                                        <p:cTn id="62" dur="500"/>
                                        <p:tgtEl>
                                          <p:spTgt spid="14030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40306"/>
                                        </p:tgtEl>
                                        <p:attrNameLst>
                                          <p:attrName>style.visibility</p:attrName>
                                        </p:attrNameLst>
                                      </p:cBhvr>
                                      <p:to>
                                        <p:strVal val="visible"/>
                                      </p:to>
                                    </p:set>
                                    <p:animEffect transition="in" filter="wipe(left)">
                                      <p:cBhvr>
                                        <p:cTn id="67" dur="500"/>
                                        <p:tgtEl>
                                          <p:spTgt spid="140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2" grpId="0" animBg="1"/>
      <p:bldP spid="140293" grpId="0"/>
      <p:bldP spid="140307" grpId="0" animBg="1"/>
      <p:bldP spid="14030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 Box 2"/>
          <p:cNvSpPr txBox="1">
            <a:spLocks noChangeArrowheads="1"/>
          </p:cNvSpPr>
          <p:nvPr/>
        </p:nvSpPr>
        <p:spPr bwMode="auto">
          <a:xfrm>
            <a:off x="457200" y="304800"/>
            <a:ext cx="4535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latin typeface="Times New Roman" panose="02020603050405020304" pitchFamily="18" charset="0"/>
              </a:rPr>
              <a:t>方法</a:t>
            </a:r>
            <a:r>
              <a:rPr lang="en-US" altLang="zh-CN" b="1">
                <a:solidFill>
                  <a:srgbClr val="FF0000"/>
                </a:solidFill>
                <a:latin typeface="Times New Roman" panose="02020603050405020304" pitchFamily="18" charset="0"/>
              </a:rPr>
              <a:t>2 </a:t>
            </a:r>
            <a:r>
              <a:rPr lang="zh-CN" altLang="en-US" b="1">
                <a:solidFill>
                  <a:srgbClr val="FF0000"/>
                </a:solidFill>
                <a:latin typeface="Times New Roman" panose="02020603050405020304" pitchFamily="18" charset="0"/>
              </a:rPr>
              <a:t>旋转矢量法</a:t>
            </a:r>
            <a:endParaRPr kumimoji="1" lang="zh-CN" altLang="en-US" b="1">
              <a:solidFill>
                <a:srgbClr val="FF0000"/>
              </a:solidFill>
              <a:latin typeface="Times New Roman" panose="02020603050405020304" pitchFamily="18" charset="0"/>
            </a:endParaRPr>
          </a:p>
        </p:txBody>
      </p:sp>
      <p:pic>
        <p:nvPicPr>
          <p:cNvPr id="141315" name="Picture 3"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00600" y="533400"/>
            <a:ext cx="3900488"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6" name="Rectangle 4"/>
          <p:cNvSpPr>
            <a:spLocks noChangeArrowheads="1"/>
          </p:cNvSpPr>
          <p:nvPr/>
        </p:nvSpPr>
        <p:spPr bwMode="auto">
          <a:xfrm>
            <a:off x="250825" y="990600"/>
            <a:ext cx="1230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latin typeface="Times New Roman" panose="02020603050405020304" pitchFamily="18" charset="0"/>
                <a:sym typeface="Wingdings" panose="05000000000000000000" pitchFamily="2" charset="2"/>
              </a:rPr>
              <a:t>（</a:t>
            </a:r>
            <a:r>
              <a:rPr lang="en-US" altLang="zh-CN" b="1">
                <a:latin typeface="Times New Roman" panose="02020603050405020304" pitchFamily="18" charset="0"/>
                <a:sym typeface="Wingdings" panose="05000000000000000000" pitchFamily="2" charset="2"/>
              </a:rPr>
              <a:t>1</a:t>
            </a:r>
            <a:r>
              <a:rPr lang="zh-CN" altLang="en-US" b="1">
                <a:latin typeface="Times New Roman" panose="02020603050405020304" pitchFamily="18" charset="0"/>
                <a:sym typeface="Wingdings" panose="05000000000000000000" pitchFamily="2" charset="2"/>
              </a:rPr>
              <a:t>）</a:t>
            </a:r>
            <a:endParaRPr lang="zh-CN" altLang="en-US" b="1">
              <a:latin typeface="Times New Roman" panose="02020603050405020304" pitchFamily="18" charset="0"/>
              <a:sym typeface="Wingdings" panose="05000000000000000000" pitchFamily="2" charset="2"/>
            </a:endParaRPr>
          </a:p>
        </p:txBody>
      </p:sp>
      <p:grpSp>
        <p:nvGrpSpPr>
          <p:cNvPr id="2" name="Group 5"/>
          <p:cNvGrpSpPr/>
          <p:nvPr/>
        </p:nvGrpSpPr>
        <p:grpSpPr bwMode="auto">
          <a:xfrm>
            <a:off x="1524000" y="914400"/>
            <a:ext cx="2819400" cy="1066800"/>
            <a:chOff x="960" y="576"/>
            <a:chExt cx="1956" cy="741"/>
          </a:xfrm>
        </p:grpSpPr>
        <p:graphicFrame>
          <p:nvGraphicFramePr>
            <p:cNvPr id="12298" name="Object 6"/>
            <p:cNvGraphicFramePr>
              <a:graphicFrameLocks noChangeAspect="1"/>
            </p:cNvGraphicFramePr>
            <p:nvPr/>
          </p:nvGraphicFramePr>
          <p:xfrm>
            <a:off x="960" y="624"/>
            <a:ext cx="540" cy="302"/>
          </p:xfrm>
          <a:graphic>
            <a:graphicData uri="http://schemas.openxmlformats.org/presentationml/2006/ole">
              <mc:AlternateContent xmlns:mc="http://schemas.openxmlformats.org/markup-compatibility/2006">
                <mc:Choice xmlns:v="urn:schemas-microsoft-com:vml" Requires="v">
                  <p:oleObj spid="_x0000_s12716" name="Equation" r:id="rId2" imgW="316865" imgH="177800" progId="Equation.DSMT4">
                    <p:embed/>
                  </p:oleObj>
                </mc:Choice>
                <mc:Fallback>
                  <p:oleObj name="Equation" r:id="rId2" imgW="316865" imgH="17780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 y="624"/>
                          <a:ext cx="540"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9" name="Object 7"/>
            <p:cNvGraphicFramePr>
              <a:graphicFrameLocks noChangeAspect="1"/>
            </p:cNvGraphicFramePr>
            <p:nvPr/>
          </p:nvGraphicFramePr>
          <p:xfrm>
            <a:off x="1728" y="576"/>
            <a:ext cx="1188" cy="388"/>
          </p:xfrm>
          <a:graphic>
            <a:graphicData uri="http://schemas.openxmlformats.org/presentationml/2006/ole">
              <mc:AlternateContent xmlns:mc="http://schemas.openxmlformats.org/markup-compatibility/2006">
                <mc:Choice xmlns:v="urn:schemas-microsoft-com:vml" Requires="v">
                  <p:oleObj spid="_x0000_s12717" name="Equation" r:id="rId4" imgW="698500" imgH="228600" progId="Equation.DSMT4">
                    <p:embed/>
                  </p:oleObj>
                </mc:Choice>
                <mc:Fallback>
                  <p:oleObj name="Equation" r:id="rId4" imgW="698500" imgH="2286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8" y="576"/>
                          <a:ext cx="1188" cy="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300" name="Object 8"/>
            <p:cNvGraphicFramePr>
              <a:graphicFrameLocks noChangeAspect="1"/>
            </p:cNvGraphicFramePr>
            <p:nvPr/>
          </p:nvGraphicFramePr>
          <p:xfrm>
            <a:off x="963" y="929"/>
            <a:ext cx="669" cy="388"/>
          </p:xfrm>
          <a:graphic>
            <a:graphicData uri="http://schemas.openxmlformats.org/presentationml/2006/ole">
              <mc:AlternateContent xmlns:mc="http://schemas.openxmlformats.org/markup-compatibility/2006">
                <mc:Choice xmlns:v="urn:schemas-microsoft-com:vml" Requires="v">
                  <p:oleObj spid="_x0000_s12718" name="Equation" r:id="rId6" imgW="393700" imgH="228600" progId="Equation.DSMT4">
                    <p:embed/>
                  </p:oleObj>
                </mc:Choice>
                <mc:Fallback>
                  <p:oleObj name="Equation" r:id="rId6" imgW="393700" imgH="2286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3" y="929"/>
                          <a:ext cx="669" cy="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41321" name="Text Box 9"/>
          <p:cNvSpPr txBox="1">
            <a:spLocks noChangeArrowheads="1"/>
          </p:cNvSpPr>
          <p:nvPr/>
        </p:nvSpPr>
        <p:spPr bwMode="auto">
          <a:xfrm>
            <a:off x="609600" y="22098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b="1"/>
              <a:t>确定旋转矢量</a:t>
            </a:r>
            <a:endParaRPr lang="zh-CN" altLang="en-US" b="1"/>
          </a:p>
        </p:txBody>
      </p:sp>
      <p:graphicFrame>
        <p:nvGraphicFramePr>
          <p:cNvPr id="141322" name="Object 10"/>
          <p:cNvGraphicFramePr>
            <a:graphicFrameLocks noChangeAspect="1"/>
          </p:cNvGraphicFramePr>
          <p:nvPr/>
        </p:nvGraphicFramePr>
        <p:xfrm>
          <a:off x="685800" y="2819400"/>
          <a:ext cx="1143000" cy="885825"/>
        </p:xfrm>
        <a:graphic>
          <a:graphicData uri="http://schemas.openxmlformats.org/presentationml/2006/ole">
            <mc:AlternateContent xmlns:mc="http://schemas.openxmlformats.org/markup-compatibility/2006">
              <mc:Choice xmlns:v="urn:schemas-microsoft-com:vml" Requires="v">
                <p:oleObj spid="_x0000_s12719" name="Equation" r:id="rId8" imgW="591185" imgH="457200" progId="Equation.DSMT4">
                  <p:embed/>
                </p:oleObj>
              </mc:Choice>
              <mc:Fallback>
                <p:oleObj name="Equation" r:id="rId8" imgW="591185" imgH="45720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5800" y="2819400"/>
                        <a:ext cx="11430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1323" name="Object 11"/>
          <p:cNvGraphicFramePr>
            <a:graphicFrameLocks noChangeAspect="1"/>
          </p:cNvGraphicFramePr>
          <p:nvPr/>
        </p:nvGraphicFramePr>
        <p:xfrm>
          <a:off x="688975" y="4321175"/>
          <a:ext cx="1257300" cy="885825"/>
        </p:xfrm>
        <a:graphic>
          <a:graphicData uri="http://schemas.openxmlformats.org/presentationml/2006/ole">
            <mc:AlternateContent xmlns:mc="http://schemas.openxmlformats.org/markup-compatibility/2006">
              <mc:Choice xmlns:v="urn:schemas-microsoft-com:vml" Requires="v">
                <p:oleObj spid="_x0000_s12720" name="Equation" r:id="rId10" imgW="558800" imgH="393700" progId="Equation.DSMT4">
                  <p:embed/>
                </p:oleObj>
              </mc:Choice>
              <mc:Fallback>
                <p:oleObj name="Equation" r:id="rId10" imgW="558800" imgH="39370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8975" y="4321175"/>
                        <a:ext cx="12573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1324" name="Object 12"/>
          <p:cNvGraphicFramePr>
            <a:graphicFrameLocks noChangeAspect="1"/>
          </p:cNvGraphicFramePr>
          <p:nvPr/>
        </p:nvGraphicFramePr>
        <p:xfrm>
          <a:off x="2212975" y="4321175"/>
          <a:ext cx="1171575" cy="885825"/>
        </p:xfrm>
        <a:graphic>
          <a:graphicData uri="http://schemas.openxmlformats.org/presentationml/2006/ole">
            <mc:AlternateContent xmlns:mc="http://schemas.openxmlformats.org/markup-compatibility/2006">
              <mc:Choice xmlns:v="urn:schemas-microsoft-com:vml" Requires="v">
                <p:oleObj spid="_x0000_s12721" name="Equation" r:id="rId12" imgW="613410" imgH="457200" progId="Equation.DSMT4">
                  <p:embed/>
                </p:oleObj>
              </mc:Choice>
              <mc:Fallback>
                <p:oleObj name="Equation" r:id="rId12" imgW="613410" imgH="457200"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12975" y="4321175"/>
                        <a:ext cx="11715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1325" name="Text Box 13"/>
          <p:cNvSpPr txBox="1">
            <a:spLocks noChangeArrowheads="1"/>
          </p:cNvSpPr>
          <p:nvPr/>
        </p:nvSpPr>
        <p:spPr bwMode="auto">
          <a:xfrm>
            <a:off x="571500" y="5231584"/>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b="1" dirty="0"/>
              <a:t>振动方程为</a:t>
            </a:r>
            <a:endParaRPr lang="zh-CN" altLang="en-US" b="1" dirty="0"/>
          </a:p>
        </p:txBody>
      </p:sp>
      <p:graphicFrame>
        <p:nvGraphicFramePr>
          <p:cNvPr id="141326" name="Object 14"/>
          <p:cNvGraphicFramePr>
            <a:graphicFrameLocks noChangeAspect="1"/>
          </p:cNvGraphicFramePr>
          <p:nvPr/>
        </p:nvGraphicFramePr>
        <p:xfrm>
          <a:off x="647700" y="5764984"/>
          <a:ext cx="2971800" cy="885825"/>
        </p:xfrm>
        <a:graphic>
          <a:graphicData uri="http://schemas.openxmlformats.org/presentationml/2006/ole">
            <mc:AlternateContent xmlns:mc="http://schemas.openxmlformats.org/markup-compatibility/2006">
              <mc:Choice xmlns:v="urn:schemas-microsoft-com:vml" Requires="v">
                <p:oleObj spid="_x0000_s12722" name="Equation" r:id="rId14" imgW="1550035" imgH="457200" progId="Equation.DSMT4">
                  <p:embed/>
                </p:oleObj>
              </mc:Choice>
              <mc:Fallback>
                <p:oleObj name="Equation" r:id="rId14" imgW="1550035" imgH="457200" progId="Equation.DSMT4">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7700" y="5764984"/>
                        <a:ext cx="29718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31"/>
          <p:cNvGrpSpPr/>
          <p:nvPr/>
        </p:nvGrpSpPr>
        <p:grpSpPr bwMode="auto">
          <a:xfrm>
            <a:off x="4953000" y="3481388"/>
            <a:ext cx="1073150" cy="1587500"/>
            <a:chOff x="3120" y="2193"/>
            <a:chExt cx="676" cy="1000"/>
          </a:xfrm>
        </p:grpSpPr>
        <p:sp>
          <p:nvSpPr>
            <p:cNvPr id="12336" name="Line 32"/>
            <p:cNvSpPr>
              <a:spLocks noChangeShapeType="1"/>
            </p:cNvSpPr>
            <p:nvPr/>
          </p:nvSpPr>
          <p:spPr bwMode="auto">
            <a:xfrm>
              <a:off x="3552" y="2316"/>
              <a:ext cx="0" cy="804"/>
            </a:xfrm>
            <a:prstGeom prst="line">
              <a:avLst/>
            </a:prstGeom>
            <a:noFill/>
            <a:ln w="19050">
              <a:solidFill>
                <a:schemeClr val="tx1"/>
              </a:solidFill>
              <a:prstDash val="lgDash"/>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2337" name="Group 33"/>
            <p:cNvGrpSpPr/>
            <p:nvPr/>
          </p:nvGrpSpPr>
          <p:grpSpPr bwMode="auto">
            <a:xfrm>
              <a:off x="3120" y="2193"/>
              <a:ext cx="676" cy="1000"/>
              <a:chOff x="960" y="1906"/>
              <a:chExt cx="676" cy="1000"/>
            </a:xfrm>
          </p:grpSpPr>
          <p:sp>
            <p:nvSpPr>
              <p:cNvPr id="12338" name="Line 34"/>
              <p:cNvSpPr>
                <a:spLocks noChangeShapeType="1"/>
              </p:cNvSpPr>
              <p:nvPr/>
            </p:nvSpPr>
            <p:spPr bwMode="auto">
              <a:xfrm rot="-1800000">
                <a:off x="1636" y="1953"/>
                <a:ext cx="0" cy="953"/>
              </a:xfrm>
              <a:prstGeom prst="line">
                <a:avLst/>
              </a:prstGeom>
              <a:noFill/>
              <a:ln w="19050">
                <a:solidFill>
                  <a:schemeClr val="tx1"/>
                </a:solidFill>
                <a:round/>
                <a:headEnd type="triangle" w="sm" len="lg"/>
                <a:tailEnd type="none" w="sm" len="lg"/>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2339" name="Group 35"/>
              <p:cNvGrpSpPr/>
              <p:nvPr/>
            </p:nvGrpSpPr>
            <p:grpSpPr bwMode="auto">
              <a:xfrm>
                <a:off x="960" y="1906"/>
                <a:ext cx="545" cy="350"/>
                <a:chOff x="960" y="1906"/>
                <a:chExt cx="545" cy="350"/>
              </a:xfrm>
            </p:grpSpPr>
            <p:sp>
              <p:nvSpPr>
                <p:cNvPr id="12340" name="Freeform 36"/>
                <p:cNvSpPr/>
                <p:nvPr/>
              </p:nvSpPr>
              <p:spPr bwMode="auto">
                <a:xfrm rot="3100569">
                  <a:off x="1323" y="1786"/>
                  <a:ext cx="62" cy="302"/>
                </a:xfrm>
                <a:custGeom>
                  <a:avLst/>
                  <a:gdLst>
                    <a:gd name="T0" fmla="*/ 1 w 160"/>
                    <a:gd name="T1" fmla="*/ 0 h 240"/>
                    <a:gd name="T2" fmla="*/ 0 w 160"/>
                    <a:gd name="T3" fmla="*/ 302 h 240"/>
                    <a:gd name="T4" fmla="*/ 1 w 160"/>
                    <a:gd name="T5" fmla="*/ 756 h 240"/>
                    <a:gd name="T6" fmla="*/ 0 60000 65536"/>
                    <a:gd name="T7" fmla="*/ 0 60000 65536"/>
                    <a:gd name="T8" fmla="*/ 0 60000 65536"/>
                    <a:gd name="T9" fmla="*/ 0 w 160"/>
                    <a:gd name="T10" fmla="*/ 0 h 240"/>
                    <a:gd name="T11" fmla="*/ 160 w 160"/>
                    <a:gd name="T12" fmla="*/ 240 h 240"/>
                  </a:gdLst>
                  <a:ahLst/>
                  <a:cxnLst>
                    <a:cxn ang="T6">
                      <a:pos x="T0" y="T1"/>
                    </a:cxn>
                    <a:cxn ang="T7">
                      <a:pos x="T2" y="T3"/>
                    </a:cxn>
                    <a:cxn ang="T8">
                      <a:pos x="T4" y="T5"/>
                    </a:cxn>
                  </a:cxnLst>
                  <a:rect l="T9" t="T10" r="T11" b="T12"/>
                  <a:pathLst>
                    <a:path w="160" h="240">
                      <a:moveTo>
                        <a:pt x="160" y="0"/>
                      </a:moveTo>
                      <a:cubicBezTo>
                        <a:pt x="96" y="28"/>
                        <a:pt x="32" y="56"/>
                        <a:pt x="16" y="96"/>
                      </a:cubicBezTo>
                      <a:cubicBezTo>
                        <a:pt x="0" y="136"/>
                        <a:pt x="32" y="188"/>
                        <a:pt x="64" y="240"/>
                      </a:cubicBezTo>
                    </a:path>
                  </a:pathLst>
                </a:custGeom>
                <a:noFill/>
                <a:ln w="19050">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2341" name="Text Box 37"/>
                <p:cNvSpPr txBox="1">
                  <a:spLocks noChangeArrowheads="1"/>
                </p:cNvSpPr>
                <p:nvPr/>
              </p:nvSpPr>
              <p:spPr bwMode="auto">
                <a:xfrm>
                  <a:off x="960" y="196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b="1"/>
                </a:p>
              </p:txBody>
            </p:sp>
            <p:graphicFrame>
              <p:nvGraphicFramePr>
                <p:cNvPr id="12297" name="Object 38"/>
                <p:cNvGraphicFramePr>
                  <a:graphicFrameLocks noChangeAspect="1"/>
                </p:cNvGraphicFramePr>
                <p:nvPr/>
              </p:nvGraphicFramePr>
              <p:xfrm>
                <a:off x="1056" y="2016"/>
                <a:ext cx="240" cy="220"/>
              </p:xfrm>
              <a:graphic>
                <a:graphicData uri="http://schemas.openxmlformats.org/presentationml/2006/ole">
                  <mc:AlternateContent xmlns:mc="http://schemas.openxmlformats.org/markup-compatibility/2006">
                    <mc:Choice xmlns:v="urn:schemas-microsoft-com:vml" Requires="v">
                      <p:oleObj spid="_x0000_s12723" name="Equation" r:id="rId16" imgW="152400" imgH="139700" progId="Equation.DSMT4">
                        <p:embed/>
                      </p:oleObj>
                    </mc:Choice>
                    <mc:Fallback>
                      <p:oleObj name="Equation" r:id="rId16" imgW="152400" imgH="139700" progId="Equation.DSMT4">
                        <p:embed/>
                        <p:pic>
                          <p:nvPicPr>
                            <p:cNvPr id="0" name="Object 3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56" y="2016"/>
                              <a:ext cx="240"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grpSp>
        <p:nvGrpSpPr>
          <p:cNvPr id="6" name="Group 39"/>
          <p:cNvGrpSpPr/>
          <p:nvPr/>
        </p:nvGrpSpPr>
        <p:grpSpPr bwMode="auto">
          <a:xfrm>
            <a:off x="6172200" y="4951413"/>
            <a:ext cx="914400" cy="1754187"/>
            <a:chOff x="1728" y="2831"/>
            <a:chExt cx="576" cy="1105"/>
          </a:xfrm>
        </p:grpSpPr>
        <p:sp>
          <p:nvSpPr>
            <p:cNvPr id="12332" name="Line 40"/>
            <p:cNvSpPr>
              <a:spLocks noChangeShapeType="1"/>
            </p:cNvSpPr>
            <p:nvPr/>
          </p:nvSpPr>
          <p:spPr bwMode="auto">
            <a:xfrm>
              <a:off x="1872" y="2831"/>
              <a:ext cx="0" cy="953"/>
            </a:xfrm>
            <a:prstGeom prst="line">
              <a:avLst/>
            </a:prstGeom>
            <a:noFill/>
            <a:ln w="1905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2333" name="Group 41"/>
            <p:cNvGrpSpPr/>
            <p:nvPr/>
          </p:nvGrpSpPr>
          <p:grpSpPr bwMode="auto">
            <a:xfrm>
              <a:off x="1728" y="3648"/>
              <a:ext cx="576" cy="288"/>
              <a:chOff x="1728" y="3648"/>
              <a:chExt cx="576" cy="288"/>
            </a:xfrm>
          </p:grpSpPr>
          <p:sp>
            <p:nvSpPr>
              <p:cNvPr id="12334" name="Text Box 42"/>
              <p:cNvSpPr txBox="1">
                <a:spLocks noChangeArrowheads="1"/>
              </p:cNvSpPr>
              <p:nvPr/>
            </p:nvSpPr>
            <p:spPr bwMode="auto">
              <a:xfrm>
                <a:off x="1872" y="364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b="1"/>
              </a:p>
            </p:txBody>
          </p:sp>
          <p:graphicFrame>
            <p:nvGraphicFramePr>
              <p:cNvPr id="12296" name="Object 43"/>
              <p:cNvGraphicFramePr>
                <a:graphicFrameLocks noChangeAspect="1"/>
              </p:cNvGraphicFramePr>
              <p:nvPr/>
            </p:nvGraphicFramePr>
            <p:xfrm>
              <a:off x="2064" y="3696"/>
              <a:ext cx="240" cy="220"/>
            </p:xfrm>
            <a:graphic>
              <a:graphicData uri="http://schemas.openxmlformats.org/presentationml/2006/ole">
                <mc:AlternateContent xmlns:mc="http://schemas.openxmlformats.org/markup-compatibility/2006">
                  <mc:Choice xmlns:v="urn:schemas-microsoft-com:vml" Requires="v">
                    <p:oleObj spid="_x0000_s12724" name="Equation" r:id="rId18" imgW="152400" imgH="139700" progId="Equation.DSMT4">
                      <p:embed/>
                    </p:oleObj>
                  </mc:Choice>
                  <mc:Fallback>
                    <p:oleObj name="Equation" r:id="rId18" imgW="152400" imgH="139700" progId="Equation.DSMT4">
                      <p:embed/>
                      <p:pic>
                        <p:nvPicPr>
                          <p:cNvPr id="0" name="Object 4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64" y="3696"/>
                            <a:ext cx="240"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35" name="Freeform 44"/>
              <p:cNvSpPr/>
              <p:nvPr/>
            </p:nvSpPr>
            <p:spPr bwMode="auto">
              <a:xfrm rot="-5400000">
                <a:off x="1848" y="3672"/>
                <a:ext cx="62" cy="302"/>
              </a:xfrm>
              <a:custGeom>
                <a:avLst/>
                <a:gdLst>
                  <a:gd name="T0" fmla="*/ 1 w 160"/>
                  <a:gd name="T1" fmla="*/ 0 h 240"/>
                  <a:gd name="T2" fmla="*/ 0 w 160"/>
                  <a:gd name="T3" fmla="*/ 302 h 240"/>
                  <a:gd name="T4" fmla="*/ 1 w 160"/>
                  <a:gd name="T5" fmla="*/ 756 h 240"/>
                  <a:gd name="T6" fmla="*/ 0 60000 65536"/>
                  <a:gd name="T7" fmla="*/ 0 60000 65536"/>
                  <a:gd name="T8" fmla="*/ 0 60000 65536"/>
                  <a:gd name="T9" fmla="*/ 0 w 160"/>
                  <a:gd name="T10" fmla="*/ 0 h 240"/>
                  <a:gd name="T11" fmla="*/ 160 w 160"/>
                  <a:gd name="T12" fmla="*/ 240 h 240"/>
                </a:gdLst>
                <a:ahLst/>
                <a:cxnLst>
                  <a:cxn ang="T6">
                    <a:pos x="T0" y="T1"/>
                  </a:cxn>
                  <a:cxn ang="T7">
                    <a:pos x="T2" y="T3"/>
                  </a:cxn>
                  <a:cxn ang="T8">
                    <a:pos x="T4" y="T5"/>
                  </a:cxn>
                </a:cxnLst>
                <a:rect l="T9" t="T10" r="T11" b="T12"/>
                <a:pathLst>
                  <a:path w="160" h="240">
                    <a:moveTo>
                      <a:pt x="160" y="0"/>
                    </a:moveTo>
                    <a:cubicBezTo>
                      <a:pt x="96" y="28"/>
                      <a:pt x="32" y="56"/>
                      <a:pt x="16" y="96"/>
                    </a:cubicBezTo>
                    <a:cubicBezTo>
                      <a:pt x="0" y="136"/>
                      <a:pt x="32" y="188"/>
                      <a:pt x="64" y="240"/>
                    </a:cubicBezTo>
                  </a:path>
                </a:pathLst>
              </a:custGeom>
              <a:noFill/>
              <a:ln w="19050">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grpSp>
      <p:grpSp>
        <p:nvGrpSpPr>
          <p:cNvPr id="8" name="Group 45"/>
          <p:cNvGrpSpPr/>
          <p:nvPr/>
        </p:nvGrpSpPr>
        <p:grpSpPr bwMode="auto">
          <a:xfrm>
            <a:off x="5778500" y="4646613"/>
            <a:ext cx="622300" cy="533400"/>
            <a:chOff x="1480" y="2640"/>
            <a:chExt cx="392" cy="336"/>
          </a:xfrm>
        </p:grpSpPr>
        <p:sp>
          <p:nvSpPr>
            <p:cNvPr id="12331" name="Freeform 46"/>
            <p:cNvSpPr/>
            <p:nvPr/>
          </p:nvSpPr>
          <p:spPr bwMode="auto">
            <a:xfrm>
              <a:off x="1712" y="2688"/>
              <a:ext cx="160" cy="288"/>
            </a:xfrm>
            <a:custGeom>
              <a:avLst/>
              <a:gdLst>
                <a:gd name="T0" fmla="*/ 64 w 160"/>
                <a:gd name="T1" fmla="*/ 0 h 288"/>
                <a:gd name="T2" fmla="*/ 16 w 160"/>
                <a:gd name="T3" fmla="*/ 144 h 288"/>
                <a:gd name="T4" fmla="*/ 160 w 160"/>
                <a:gd name="T5" fmla="*/ 288 h 288"/>
                <a:gd name="T6" fmla="*/ 0 60000 65536"/>
                <a:gd name="T7" fmla="*/ 0 60000 65536"/>
                <a:gd name="T8" fmla="*/ 0 60000 65536"/>
                <a:gd name="T9" fmla="*/ 0 w 160"/>
                <a:gd name="T10" fmla="*/ 0 h 288"/>
                <a:gd name="T11" fmla="*/ 160 w 160"/>
                <a:gd name="T12" fmla="*/ 288 h 288"/>
              </a:gdLst>
              <a:ahLst/>
              <a:cxnLst>
                <a:cxn ang="T6">
                  <a:pos x="T0" y="T1"/>
                </a:cxn>
                <a:cxn ang="T7">
                  <a:pos x="T2" y="T3"/>
                </a:cxn>
                <a:cxn ang="T8">
                  <a:pos x="T4" y="T5"/>
                </a:cxn>
              </a:cxnLst>
              <a:rect l="T9" t="T10" r="T11" b="T12"/>
              <a:pathLst>
                <a:path w="160" h="288">
                  <a:moveTo>
                    <a:pt x="64" y="0"/>
                  </a:moveTo>
                  <a:cubicBezTo>
                    <a:pt x="32" y="48"/>
                    <a:pt x="0" y="96"/>
                    <a:pt x="16" y="144"/>
                  </a:cubicBezTo>
                  <a:cubicBezTo>
                    <a:pt x="32" y="192"/>
                    <a:pt x="96" y="240"/>
                    <a:pt x="160" y="288"/>
                  </a:cubicBezTo>
                </a:path>
              </a:pathLst>
            </a:custGeom>
            <a:noFill/>
            <a:ln w="19050">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graphicFrame>
          <p:nvGraphicFramePr>
            <p:cNvPr id="12295" name="Object 47"/>
            <p:cNvGraphicFramePr>
              <a:graphicFrameLocks noChangeAspect="1"/>
            </p:cNvGraphicFramePr>
            <p:nvPr/>
          </p:nvGraphicFramePr>
          <p:xfrm>
            <a:off x="1480" y="2640"/>
            <a:ext cx="288" cy="216"/>
          </p:xfrm>
          <a:graphic>
            <a:graphicData uri="http://schemas.openxmlformats.org/presentationml/2006/ole">
              <mc:AlternateContent xmlns:mc="http://schemas.openxmlformats.org/markup-compatibility/2006">
                <mc:Choice xmlns:v="urn:schemas-microsoft-com:vml" Requires="v">
                  <p:oleObj spid="_x0000_s12725" name="Equation" r:id="rId19" imgW="203200" imgH="152400" progId="Equation.DSMT4">
                    <p:embed/>
                  </p:oleObj>
                </mc:Choice>
                <mc:Fallback>
                  <p:oleObj name="Equation" r:id="rId19" imgW="203200" imgH="152400" progId="Equation.DSMT4">
                    <p:embed/>
                    <p:pic>
                      <p:nvPicPr>
                        <p:cNvPr id="0" name="Object 4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80" y="2640"/>
                          <a:ext cx="288"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 name="Group 48"/>
          <p:cNvGrpSpPr/>
          <p:nvPr/>
        </p:nvGrpSpPr>
        <p:grpSpPr bwMode="auto">
          <a:xfrm>
            <a:off x="6292850" y="4560888"/>
            <a:ext cx="519113" cy="381000"/>
            <a:chOff x="1824" y="2592"/>
            <a:chExt cx="327" cy="240"/>
          </a:xfrm>
        </p:grpSpPr>
        <p:sp>
          <p:nvSpPr>
            <p:cNvPr id="12330" name="Freeform 49"/>
            <p:cNvSpPr/>
            <p:nvPr/>
          </p:nvSpPr>
          <p:spPr bwMode="auto">
            <a:xfrm>
              <a:off x="1824" y="2720"/>
              <a:ext cx="192" cy="112"/>
            </a:xfrm>
            <a:custGeom>
              <a:avLst/>
              <a:gdLst>
                <a:gd name="T0" fmla="*/ 192 w 192"/>
                <a:gd name="T1" fmla="*/ 112 h 112"/>
                <a:gd name="T2" fmla="*/ 144 w 192"/>
                <a:gd name="T3" fmla="*/ 16 h 112"/>
                <a:gd name="T4" fmla="*/ 0 w 192"/>
                <a:gd name="T5" fmla="*/ 16 h 112"/>
                <a:gd name="T6" fmla="*/ 0 60000 65536"/>
                <a:gd name="T7" fmla="*/ 0 60000 65536"/>
                <a:gd name="T8" fmla="*/ 0 60000 65536"/>
                <a:gd name="T9" fmla="*/ 0 w 192"/>
                <a:gd name="T10" fmla="*/ 0 h 112"/>
                <a:gd name="T11" fmla="*/ 192 w 192"/>
                <a:gd name="T12" fmla="*/ 112 h 112"/>
              </a:gdLst>
              <a:ahLst/>
              <a:cxnLst>
                <a:cxn ang="T6">
                  <a:pos x="T0" y="T1"/>
                </a:cxn>
                <a:cxn ang="T7">
                  <a:pos x="T2" y="T3"/>
                </a:cxn>
                <a:cxn ang="T8">
                  <a:pos x="T4" y="T5"/>
                </a:cxn>
              </a:cxnLst>
              <a:rect l="T9" t="T10" r="T11" b="T12"/>
              <a:pathLst>
                <a:path w="192" h="112">
                  <a:moveTo>
                    <a:pt x="192" y="112"/>
                  </a:moveTo>
                  <a:cubicBezTo>
                    <a:pt x="184" y="72"/>
                    <a:pt x="176" y="32"/>
                    <a:pt x="144" y="16"/>
                  </a:cubicBezTo>
                  <a:cubicBezTo>
                    <a:pt x="112" y="0"/>
                    <a:pt x="56" y="8"/>
                    <a:pt x="0" y="16"/>
                  </a:cubicBezTo>
                </a:path>
              </a:pathLst>
            </a:custGeom>
            <a:noFill/>
            <a:ln w="19050">
              <a:solidFill>
                <a:schemeClr val="tx1"/>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graphicFrame>
          <p:nvGraphicFramePr>
            <p:cNvPr id="12294" name="Object 50"/>
            <p:cNvGraphicFramePr>
              <a:graphicFrameLocks noChangeAspect="1"/>
            </p:cNvGraphicFramePr>
            <p:nvPr/>
          </p:nvGraphicFramePr>
          <p:xfrm>
            <a:off x="1968" y="2592"/>
            <a:ext cx="183" cy="216"/>
          </p:xfrm>
          <a:graphic>
            <a:graphicData uri="http://schemas.openxmlformats.org/presentationml/2006/ole">
              <mc:AlternateContent xmlns:mc="http://schemas.openxmlformats.org/markup-compatibility/2006">
                <mc:Choice xmlns:v="urn:schemas-microsoft-com:vml" Requires="v">
                  <p:oleObj spid="_x0000_s12726" name="Equation" r:id="rId21" imgW="139700" imgH="165100" progId="Equation.DSMT4">
                    <p:embed/>
                  </p:oleObj>
                </mc:Choice>
                <mc:Fallback>
                  <p:oleObj name="Equation" r:id="rId21" imgW="139700" imgH="165100" progId="Equation.DSMT4">
                    <p:embed/>
                    <p:pic>
                      <p:nvPicPr>
                        <p:cNvPr id="0" name="Object 5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68" y="2592"/>
                          <a:ext cx="183"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 name="Group 52"/>
          <p:cNvGrpSpPr/>
          <p:nvPr/>
        </p:nvGrpSpPr>
        <p:grpSpPr bwMode="auto">
          <a:xfrm>
            <a:off x="4495800" y="4868863"/>
            <a:ext cx="4202113" cy="457200"/>
            <a:chOff x="2832" y="3067"/>
            <a:chExt cx="2647" cy="288"/>
          </a:xfrm>
        </p:grpSpPr>
        <p:grpSp>
          <p:nvGrpSpPr>
            <p:cNvPr id="12313" name="Group 15"/>
            <p:cNvGrpSpPr/>
            <p:nvPr/>
          </p:nvGrpSpPr>
          <p:grpSpPr bwMode="auto">
            <a:xfrm>
              <a:off x="2832" y="3071"/>
              <a:ext cx="2647" cy="271"/>
              <a:chOff x="672" y="2784"/>
              <a:chExt cx="2647" cy="271"/>
            </a:xfrm>
          </p:grpSpPr>
          <p:grpSp>
            <p:nvGrpSpPr>
              <p:cNvPr id="12315" name="Group 16"/>
              <p:cNvGrpSpPr/>
              <p:nvPr/>
            </p:nvGrpSpPr>
            <p:grpSpPr bwMode="auto">
              <a:xfrm>
                <a:off x="672" y="2784"/>
                <a:ext cx="2496" cy="50"/>
                <a:chOff x="672" y="2784"/>
                <a:chExt cx="2496" cy="96"/>
              </a:xfrm>
            </p:grpSpPr>
            <p:sp>
              <p:nvSpPr>
                <p:cNvPr id="12321" name="Line 17"/>
                <p:cNvSpPr>
                  <a:spLocks noChangeShapeType="1"/>
                </p:cNvSpPr>
                <p:nvPr/>
              </p:nvSpPr>
              <p:spPr bwMode="auto">
                <a:xfrm>
                  <a:off x="672" y="2880"/>
                  <a:ext cx="2496" cy="0"/>
                </a:xfrm>
                <a:prstGeom prst="line">
                  <a:avLst/>
                </a:prstGeom>
                <a:noFill/>
                <a:ln w="19050">
                  <a:solidFill>
                    <a:schemeClr val="tx1"/>
                  </a:solidFill>
                  <a:round/>
                  <a:tailEnd type="triangle" w="sm" len="lg"/>
                </a:ln>
                <a:extLst>
                  <a:ext uri="{909E8E84-426E-40DD-AFC4-6F175D3DCCD1}">
                    <a14:hiddenFill xmlns:a14="http://schemas.microsoft.com/office/drawing/2010/main">
                      <a:noFill/>
                    </a14:hiddenFill>
                  </a:ext>
                </a:extLst>
              </p:spPr>
              <p:txBody>
                <a:bodyPr wrap="none">
                  <a:spAutoFit/>
                </a:bodyPr>
                <a:lstStyle/>
                <a:p>
                  <a:endParaRPr lang="zh-CN" altLang="en-US"/>
                </a:p>
              </p:txBody>
            </p:sp>
            <p:grpSp>
              <p:nvGrpSpPr>
                <p:cNvPr id="12322" name="Group 18"/>
                <p:cNvGrpSpPr/>
                <p:nvPr/>
              </p:nvGrpSpPr>
              <p:grpSpPr bwMode="auto">
                <a:xfrm>
                  <a:off x="1872" y="2784"/>
                  <a:ext cx="960" cy="96"/>
                  <a:chOff x="1872" y="2784"/>
                  <a:chExt cx="960" cy="96"/>
                </a:xfrm>
              </p:grpSpPr>
              <p:sp>
                <p:nvSpPr>
                  <p:cNvPr id="12327" name="Line 19"/>
                  <p:cNvSpPr>
                    <a:spLocks noChangeShapeType="1"/>
                  </p:cNvSpPr>
                  <p:nvPr/>
                </p:nvSpPr>
                <p:spPr bwMode="auto">
                  <a:xfrm>
                    <a:off x="1872" y="278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2328" name="Line 20"/>
                  <p:cNvSpPr>
                    <a:spLocks noChangeShapeType="1"/>
                  </p:cNvSpPr>
                  <p:nvPr/>
                </p:nvSpPr>
                <p:spPr bwMode="auto">
                  <a:xfrm>
                    <a:off x="2352" y="278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2329" name="Line 21"/>
                  <p:cNvSpPr>
                    <a:spLocks noChangeShapeType="1"/>
                  </p:cNvSpPr>
                  <p:nvPr/>
                </p:nvSpPr>
                <p:spPr bwMode="auto">
                  <a:xfrm>
                    <a:off x="2832" y="278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grpSp>
            <p:grpSp>
              <p:nvGrpSpPr>
                <p:cNvPr id="12323" name="Group 22"/>
                <p:cNvGrpSpPr/>
                <p:nvPr/>
              </p:nvGrpSpPr>
              <p:grpSpPr bwMode="auto">
                <a:xfrm>
                  <a:off x="912" y="2784"/>
                  <a:ext cx="960" cy="96"/>
                  <a:chOff x="1872" y="2784"/>
                  <a:chExt cx="960" cy="96"/>
                </a:xfrm>
              </p:grpSpPr>
              <p:sp>
                <p:nvSpPr>
                  <p:cNvPr id="12324" name="Line 23"/>
                  <p:cNvSpPr>
                    <a:spLocks noChangeShapeType="1"/>
                  </p:cNvSpPr>
                  <p:nvPr/>
                </p:nvSpPr>
                <p:spPr bwMode="auto">
                  <a:xfrm>
                    <a:off x="1872" y="278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2325" name="Line 24"/>
                  <p:cNvSpPr>
                    <a:spLocks noChangeShapeType="1"/>
                  </p:cNvSpPr>
                  <p:nvPr/>
                </p:nvSpPr>
                <p:spPr bwMode="auto">
                  <a:xfrm>
                    <a:off x="2352" y="278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2326" name="Line 25"/>
                  <p:cNvSpPr>
                    <a:spLocks noChangeShapeType="1"/>
                  </p:cNvSpPr>
                  <p:nvPr/>
                </p:nvSpPr>
                <p:spPr bwMode="auto">
                  <a:xfrm>
                    <a:off x="2832" y="278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grpSp>
          </p:grpSp>
          <p:sp>
            <p:nvSpPr>
              <p:cNvPr id="12316" name="Text Box 26"/>
              <p:cNvSpPr txBox="1">
                <a:spLocks noChangeArrowheads="1"/>
              </p:cNvSpPr>
              <p:nvPr/>
            </p:nvSpPr>
            <p:spPr bwMode="auto">
              <a:xfrm>
                <a:off x="768" y="2796"/>
                <a:ext cx="3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latin typeface="Times New Roman" panose="02020603050405020304" pitchFamily="18" charset="0"/>
                  </a:rPr>
                  <a:t>-A</a:t>
                </a:r>
                <a:endParaRPr lang="en-US" altLang="zh-CN" sz="2000" b="1" i="1">
                  <a:latin typeface="Times New Roman" panose="02020603050405020304" pitchFamily="18" charset="0"/>
                </a:endParaRPr>
              </a:p>
            </p:txBody>
          </p:sp>
          <p:sp>
            <p:nvSpPr>
              <p:cNvPr id="12317" name="Text Box 27"/>
              <p:cNvSpPr txBox="1">
                <a:spLocks noChangeArrowheads="1"/>
              </p:cNvSpPr>
              <p:nvPr/>
            </p:nvSpPr>
            <p:spPr bwMode="auto">
              <a:xfrm>
                <a:off x="1220" y="2790"/>
                <a:ext cx="4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latin typeface="Times New Roman" panose="02020603050405020304" pitchFamily="18" charset="0"/>
                  </a:rPr>
                  <a:t>-A/2</a:t>
                </a:r>
                <a:endParaRPr lang="en-US" altLang="zh-CN" sz="2000" b="1" i="1">
                  <a:latin typeface="Times New Roman" panose="02020603050405020304" pitchFamily="18" charset="0"/>
                </a:endParaRPr>
              </a:p>
            </p:txBody>
          </p:sp>
          <p:sp>
            <p:nvSpPr>
              <p:cNvPr id="12318" name="Text Box 28"/>
              <p:cNvSpPr txBox="1">
                <a:spLocks noChangeArrowheads="1"/>
              </p:cNvSpPr>
              <p:nvPr/>
            </p:nvSpPr>
            <p:spPr bwMode="auto">
              <a:xfrm>
                <a:off x="2640" y="2790"/>
                <a:ext cx="3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latin typeface="Times New Roman" panose="02020603050405020304" pitchFamily="18" charset="0"/>
                  </a:rPr>
                  <a:t>A</a:t>
                </a:r>
                <a:endParaRPr lang="en-US" altLang="zh-CN" sz="2000" b="1" i="1">
                  <a:latin typeface="Times New Roman" panose="02020603050405020304" pitchFamily="18" charset="0"/>
                </a:endParaRPr>
              </a:p>
            </p:txBody>
          </p:sp>
          <p:sp>
            <p:nvSpPr>
              <p:cNvPr id="12319" name="Text Box 29"/>
              <p:cNvSpPr txBox="1">
                <a:spLocks noChangeArrowheads="1"/>
              </p:cNvSpPr>
              <p:nvPr/>
            </p:nvSpPr>
            <p:spPr bwMode="auto">
              <a:xfrm>
                <a:off x="2140" y="2805"/>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latin typeface="Times New Roman" panose="02020603050405020304" pitchFamily="18" charset="0"/>
                  </a:rPr>
                  <a:t>A/2</a:t>
                </a:r>
                <a:endParaRPr lang="en-US" altLang="zh-CN" sz="2000" b="1" i="1">
                  <a:latin typeface="Times New Roman" panose="02020603050405020304" pitchFamily="18" charset="0"/>
                </a:endParaRPr>
              </a:p>
            </p:txBody>
          </p:sp>
          <p:sp>
            <p:nvSpPr>
              <p:cNvPr id="12320" name="Text Box 30"/>
              <p:cNvSpPr txBox="1">
                <a:spLocks noChangeArrowheads="1"/>
              </p:cNvSpPr>
              <p:nvPr/>
            </p:nvSpPr>
            <p:spPr bwMode="auto">
              <a:xfrm>
                <a:off x="2976" y="2784"/>
                <a:ext cx="3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latin typeface="Times New Roman" panose="02020603050405020304" pitchFamily="18" charset="0"/>
                  </a:rPr>
                  <a:t>x</a:t>
                </a:r>
                <a:endParaRPr lang="en-US" altLang="zh-CN" sz="2000" b="1" i="1">
                  <a:latin typeface="Times New Roman" panose="02020603050405020304" pitchFamily="18" charset="0"/>
                </a:endParaRPr>
              </a:p>
            </p:txBody>
          </p:sp>
        </p:grpSp>
        <p:sp>
          <p:nvSpPr>
            <p:cNvPr id="12314" name="Text Box 51"/>
            <p:cNvSpPr txBox="1">
              <a:spLocks noChangeArrowheads="1"/>
            </p:cNvSpPr>
            <p:nvPr/>
          </p:nvSpPr>
          <p:spPr bwMode="auto">
            <a:xfrm>
              <a:off x="4008" y="3067"/>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Times New Roman" panose="02020603050405020304" pitchFamily="18" charset="0"/>
                </a:rPr>
                <a:t>O</a:t>
              </a:r>
              <a:endParaRPr lang="en-US" altLang="zh-CN">
                <a:latin typeface="Times New Roman" panose="02020603050405020304" pitchFamily="18" charset="0"/>
              </a:endParaRPr>
            </a:p>
          </p:txBody>
        </p:sp>
      </p:grpSp>
      <p:sp>
        <p:nvSpPr>
          <p:cNvPr id="53" name="Text Box 13"/>
          <p:cNvSpPr txBox="1">
            <a:spLocks noChangeArrowheads="1"/>
          </p:cNvSpPr>
          <p:nvPr/>
        </p:nvSpPr>
        <p:spPr bwMode="auto">
          <a:xfrm>
            <a:off x="509199" y="3767580"/>
            <a:ext cx="3352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b="1" dirty="0"/>
              <a:t>5s</a:t>
            </a:r>
            <a:r>
              <a:rPr lang="zh-CN" altLang="en-US" b="1" dirty="0"/>
              <a:t>后</a:t>
            </a: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41315"/>
                                        </p:tgtEl>
                                        <p:attrNameLst>
                                          <p:attrName>style.visibility</p:attrName>
                                        </p:attrNameLst>
                                      </p:cBhvr>
                                      <p:to>
                                        <p:strVal val="visible"/>
                                      </p:to>
                                    </p:set>
                                    <p:animEffect transition="in" filter="blinds(horizontal)">
                                      <p:cBhvr>
                                        <p:cTn id="7" dur="500"/>
                                        <p:tgtEl>
                                          <p:spTgt spid="1413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1316"/>
                                        </p:tgtEl>
                                        <p:attrNameLst>
                                          <p:attrName>style.visibility</p:attrName>
                                        </p:attrNameLst>
                                      </p:cBhvr>
                                      <p:to>
                                        <p:strVal val="visible"/>
                                      </p:to>
                                    </p:set>
                                    <p:animEffect transition="in" filter="wipe(down)">
                                      <p:cBhvr>
                                        <p:cTn id="12" dur="500"/>
                                        <p:tgtEl>
                                          <p:spTgt spid="1413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1321"/>
                                        </p:tgtEl>
                                        <p:attrNameLst>
                                          <p:attrName>style.visibility</p:attrName>
                                        </p:attrNameLst>
                                      </p:cBhvr>
                                      <p:to>
                                        <p:strVal val="visible"/>
                                      </p:to>
                                    </p:set>
                                    <p:animEffect transition="in" filter="wipe(left)">
                                      <p:cBhvr>
                                        <p:cTn id="22" dur="500"/>
                                        <p:tgtEl>
                                          <p:spTgt spid="1413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down)">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down)">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1322"/>
                                        </p:tgtEl>
                                        <p:attrNameLst>
                                          <p:attrName>style.visibility</p:attrName>
                                        </p:attrNameLst>
                                      </p:cBhvr>
                                      <p:to>
                                        <p:strVal val="visible"/>
                                      </p:to>
                                    </p:set>
                                    <p:animEffect transition="in" filter="wipe(left)">
                                      <p:cBhvr>
                                        <p:cTn id="42" dur="500"/>
                                        <p:tgtEl>
                                          <p:spTgt spid="1413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up)">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up)">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wipe(left)">
                                      <p:cBhvr>
                                        <p:cTn id="57" dur="500"/>
                                        <p:tgtEl>
                                          <p:spTgt spid="5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41323"/>
                                        </p:tgtEl>
                                        <p:attrNameLst>
                                          <p:attrName>style.visibility</p:attrName>
                                        </p:attrNameLst>
                                      </p:cBhvr>
                                      <p:to>
                                        <p:strVal val="visible"/>
                                      </p:to>
                                    </p:set>
                                    <p:animEffect transition="in" filter="wipe(left)">
                                      <p:cBhvr>
                                        <p:cTn id="62" dur="500"/>
                                        <p:tgtEl>
                                          <p:spTgt spid="14132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41324"/>
                                        </p:tgtEl>
                                        <p:attrNameLst>
                                          <p:attrName>style.visibility</p:attrName>
                                        </p:attrNameLst>
                                      </p:cBhvr>
                                      <p:to>
                                        <p:strVal val="visible"/>
                                      </p:to>
                                    </p:set>
                                    <p:animEffect transition="in" filter="wipe(left)">
                                      <p:cBhvr>
                                        <p:cTn id="67" dur="500"/>
                                        <p:tgtEl>
                                          <p:spTgt spid="14132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41325"/>
                                        </p:tgtEl>
                                        <p:attrNameLst>
                                          <p:attrName>style.visibility</p:attrName>
                                        </p:attrNameLst>
                                      </p:cBhvr>
                                      <p:to>
                                        <p:strVal val="visible"/>
                                      </p:to>
                                    </p:set>
                                    <p:animEffect transition="in" filter="wipe(left)">
                                      <p:cBhvr>
                                        <p:cTn id="72" dur="500"/>
                                        <p:tgtEl>
                                          <p:spTgt spid="14132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41326"/>
                                        </p:tgtEl>
                                        <p:attrNameLst>
                                          <p:attrName>style.visibility</p:attrName>
                                        </p:attrNameLst>
                                      </p:cBhvr>
                                      <p:to>
                                        <p:strVal val="visible"/>
                                      </p:to>
                                    </p:set>
                                    <p:animEffect transition="in" filter="wipe(left)">
                                      <p:cBhvr>
                                        <p:cTn id="77" dur="500"/>
                                        <p:tgtEl>
                                          <p:spTgt spid="141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6" grpId="0"/>
      <p:bldP spid="141321" grpId="0"/>
      <p:bldP spid="141325" grpId="0"/>
      <p:bldP spid="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23" name="Picture 2"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00600" y="533400"/>
            <a:ext cx="3900488"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4" name="Rectangle 3"/>
          <p:cNvSpPr>
            <a:spLocks noChangeArrowheads="1"/>
          </p:cNvSpPr>
          <p:nvPr/>
        </p:nvSpPr>
        <p:spPr bwMode="auto">
          <a:xfrm>
            <a:off x="457200" y="457200"/>
            <a:ext cx="4419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000" b="1">
                <a:solidFill>
                  <a:srgbClr val="0000FF"/>
                </a:solidFill>
                <a:latin typeface="Times New Roman" panose="02020603050405020304" pitchFamily="18" charset="0"/>
                <a:sym typeface="Wingdings" panose="05000000000000000000" pitchFamily="2" charset="2"/>
              </a:rPr>
              <a:t>（</a:t>
            </a:r>
            <a:r>
              <a:rPr lang="en-US" altLang="zh-CN" sz="2000" b="1">
                <a:solidFill>
                  <a:srgbClr val="0000FF"/>
                </a:solidFill>
                <a:latin typeface="Times New Roman" panose="02020603050405020304" pitchFamily="18" charset="0"/>
                <a:sym typeface="Wingdings" panose="05000000000000000000" pitchFamily="2" charset="2"/>
              </a:rPr>
              <a:t>2</a:t>
            </a:r>
            <a:r>
              <a:rPr lang="zh-CN" altLang="en-US" sz="2000" b="1">
                <a:solidFill>
                  <a:srgbClr val="0000FF"/>
                </a:solidFill>
                <a:latin typeface="Times New Roman" panose="02020603050405020304" pitchFamily="18" charset="0"/>
                <a:sym typeface="Wingdings" panose="05000000000000000000" pitchFamily="2" charset="2"/>
              </a:rPr>
              <a:t>）由状态</a:t>
            </a:r>
            <a:r>
              <a:rPr lang="en-US" altLang="zh-CN" sz="2000" b="1">
                <a:solidFill>
                  <a:srgbClr val="0000FF"/>
                </a:solidFill>
                <a:latin typeface="Times New Roman" panose="02020603050405020304" pitchFamily="18" charset="0"/>
                <a:sym typeface="Wingdings" panose="05000000000000000000" pitchFamily="2" charset="2"/>
              </a:rPr>
              <a:t>a</a:t>
            </a:r>
            <a:r>
              <a:rPr lang="zh-CN" altLang="en-US" sz="2000" b="1">
                <a:solidFill>
                  <a:srgbClr val="0000FF"/>
                </a:solidFill>
                <a:latin typeface="Times New Roman" panose="02020603050405020304" pitchFamily="18" charset="0"/>
                <a:sym typeface="Wingdings" panose="05000000000000000000" pitchFamily="2" charset="2"/>
              </a:rPr>
              <a:t>运动到状态</a:t>
            </a:r>
            <a:r>
              <a:rPr lang="en-US" altLang="zh-CN" sz="2000" b="1">
                <a:solidFill>
                  <a:srgbClr val="0000FF"/>
                </a:solidFill>
                <a:latin typeface="Times New Roman" panose="02020603050405020304" pitchFamily="18" charset="0"/>
                <a:sym typeface="Wingdings" panose="05000000000000000000" pitchFamily="2" charset="2"/>
              </a:rPr>
              <a:t>b</a:t>
            </a:r>
            <a:r>
              <a:rPr lang="zh-CN" altLang="en-US" sz="2000" b="1">
                <a:solidFill>
                  <a:srgbClr val="0000FF"/>
                </a:solidFill>
                <a:latin typeface="Times New Roman" panose="02020603050405020304" pitchFamily="18" charset="0"/>
                <a:sym typeface="Wingdings" panose="05000000000000000000" pitchFamily="2" charset="2"/>
              </a:rPr>
              <a:t>，再由</a:t>
            </a:r>
            <a:r>
              <a:rPr lang="en-US" altLang="zh-CN" sz="2000" b="1">
                <a:solidFill>
                  <a:srgbClr val="0000FF"/>
                </a:solidFill>
                <a:latin typeface="Times New Roman" panose="02020603050405020304" pitchFamily="18" charset="0"/>
                <a:sym typeface="Wingdings" panose="05000000000000000000" pitchFamily="2" charset="2"/>
              </a:rPr>
              <a:t>b</a:t>
            </a:r>
            <a:r>
              <a:rPr lang="zh-CN" altLang="en-US" sz="2000" b="1">
                <a:solidFill>
                  <a:srgbClr val="0000FF"/>
                </a:solidFill>
                <a:latin typeface="Times New Roman" panose="02020603050405020304" pitchFamily="18" charset="0"/>
                <a:sym typeface="Wingdings" panose="05000000000000000000" pitchFamily="2" charset="2"/>
              </a:rPr>
              <a:t>运动到</a:t>
            </a:r>
            <a:r>
              <a:rPr lang="en-US" altLang="zh-CN" sz="2000" b="1">
                <a:solidFill>
                  <a:srgbClr val="0000FF"/>
                </a:solidFill>
                <a:latin typeface="Times New Roman" panose="02020603050405020304" pitchFamily="18" charset="0"/>
                <a:sym typeface="Wingdings" panose="05000000000000000000" pitchFamily="2" charset="2"/>
              </a:rPr>
              <a:t>c</a:t>
            </a:r>
            <a:r>
              <a:rPr lang="zh-CN" altLang="en-US" sz="2000" b="1">
                <a:solidFill>
                  <a:srgbClr val="0000FF"/>
                </a:solidFill>
                <a:latin typeface="Times New Roman" panose="02020603050405020304" pitchFamily="18" charset="0"/>
                <a:sym typeface="Wingdings" panose="05000000000000000000" pitchFamily="2" charset="2"/>
              </a:rPr>
              <a:t>的时间分别是多少</a:t>
            </a:r>
            <a:endParaRPr lang="zh-CN" altLang="en-US" sz="2000" b="1">
              <a:solidFill>
                <a:srgbClr val="0000FF"/>
              </a:solidFill>
              <a:latin typeface="Times New Roman" panose="02020603050405020304" pitchFamily="18" charset="0"/>
              <a:sym typeface="Wingdings" panose="05000000000000000000" pitchFamily="2" charset="2"/>
            </a:endParaRPr>
          </a:p>
          <a:p>
            <a:pPr algn="just" eaLnBrk="1" hangingPunct="1"/>
            <a:r>
              <a:rPr lang="zh-CN" altLang="en-US" sz="2000" b="1">
                <a:solidFill>
                  <a:srgbClr val="0000FF"/>
                </a:solidFill>
                <a:latin typeface="Times New Roman" panose="02020603050405020304" pitchFamily="18" charset="0"/>
                <a:sym typeface="Wingdings" panose="05000000000000000000" pitchFamily="2" charset="2"/>
              </a:rPr>
              <a:t>（</a:t>
            </a:r>
            <a:r>
              <a:rPr lang="en-US" altLang="zh-CN" sz="2000" b="1">
                <a:solidFill>
                  <a:srgbClr val="0000FF"/>
                </a:solidFill>
                <a:latin typeface="Times New Roman" panose="02020603050405020304" pitchFamily="18" charset="0"/>
                <a:sym typeface="Wingdings" panose="05000000000000000000" pitchFamily="2" charset="2"/>
              </a:rPr>
              <a:t>3</a:t>
            </a:r>
            <a:r>
              <a:rPr lang="zh-CN" altLang="en-US" sz="2000" b="1">
                <a:solidFill>
                  <a:srgbClr val="0000FF"/>
                </a:solidFill>
                <a:latin typeface="Times New Roman" panose="02020603050405020304" pitchFamily="18" charset="0"/>
                <a:sym typeface="Wingdings" panose="05000000000000000000" pitchFamily="2" charset="2"/>
              </a:rPr>
              <a:t>）状态</a:t>
            </a:r>
            <a:r>
              <a:rPr lang="en-US" altLang="zh-CN" sz="2000" b="1">
                <a:solidFill>
                  <a:srgbClr val="0000FF"/>
                </a:solidFill>
                <a:latin typeface="Times New Roman" panose="02020603050405020304" pitchFamily="18" charset="0"/>
                <a:sym typeface="Wingdings" panose="05000000000000000000" pitchFamily="2" charset="2"/>
              </a:rPr>
              <a:t>d</a:t>
            </a:r>
            <a:r>
              <a:rPr lang="zh-CN" altLang="en-US" sz="2000" b="1">
                <a:solidFill>
                  <a:srgbClr val="0000FF"/>
                </a:solidFill>
                <a:latin typeface="Times New Roman" panose="02020603050405020304" pitchFamily="18" charset="0"/>
                <a:sym typeface="Wingdings" panose="05000000000000000000" pitchFamily="2" charset="2"/>
              </a:rPr>
              <a:t>的速度和加速度</a:t>
            </a:r>
            <a:endParaRPr lang="zh-CN" altLang="en-US" sz="2000" b="1">
              <a:solidFill>
                <a:srgbClr val="0000FF"/>
              </a:solidFill>
              <a:latin typeface="Times New Roman" panose="02020603050405020304" pitchFamily="18" charset="0"/>
              <a:sym typeface="Wingdings" panose="05000000000000000000" pitchFamily="2" charset="2"/>
            </a:endParaRPr>
          </a:p>
        </p:txBody>
      </p:sp>
      <p:grpSp>
        <p:nvGrpSpPr>
          <p:cNvPr id="2" name="Group 4"/>
          <p:cNvGrpSpPr/>
          <p:nvPr/>
        </p:nvGrpSpPr>
        <p:grpSpPr bwMode="auto">
          <a:xfrm>
            <a:off x="4787900" y="4660900"/>
            <a:ext cx="4202113" cy="430213"/>
            <a:chOff x="672" y="2784"/>
            <a:chExt cx="2647" cy="271"/>
          </a:xfrm>
        </p:grpSpPr>
        <p:grpSp>
          <p:nvGrpSpPr>
            <p:cNvPr id="13349" name="Group 5"/>
            <p:cNvGrpSpPr/>
            <p:nvPr/>
          </p:nvGrpSpPr>
          <p:grpSpPr bwMode="auto">
            <a:xfrm>
              <a:off x="672" y="2784"/>
              <a:ext cx="2496" cy="50"/>
              <a:chOff x="672" y="2784"/>
              <a:chExt cx="2496" cy="96"/>
            </a:xfrm>
          </p:grpSpPr>
          <p:sp>
            <p:nvSpPr>
              <p:cNvPr id="13355" name="Line 6"/>
              <p:cNvSpPr>
                <a:spLocks noChangeShapeType="1"/>
              </p:cNvSpPr>
              <p:nvPr/>
            </p:nvSpPr>
            <p:spPr bwMode="auto">
              <a:xfrm>
                <a:off x="672" y="2880"/>
                <a:ext cx="2496" cy="0"/>
              </a:xfrm>
              <a:prstGeom prst="line">
                <a:avLst/>
              </a:prstGeom>
              <a:noFill/>
              <a:ln w="19050">
                <a:solidFill>
                  <a:schemeClr val="tx1"/>
                </a:solidFill>
                <a:round/>
                <a:tailEnd type="triangle" w="sm" len="lg"/>
              </a:ln>
              <a:extLst>
                <a:ext uri="{909E8E84-426E-40DD-AFC4-6F175D3DCCD1}">
                  <a14:hiddenFill xmlns:a14="http://schemas.microsoft.com/office/drawing/2010/main">
                    <a:noFill/>
                  </a14:hiddenFill>
                </a:ext>
              </a:extLst>
            </p:spPr>
            <p:txBody>
              <a:bodyPr wrap="none">
                <a:spAutoFit/>
              </a:bodyPr>
              <a:lstStyle/>
              <a:p>
                <a:endParaRPr lang="zh-CN" altLang="en-US"/>
              </a:p>
            </p:txBody>
          </p:sp>
          <p:grpSp>
            <p:nvGrpSpPr>
              <p:cNvPr id="13356" name="Group 7"/>
              <p:cNvGrpSpPr/>
              <p:nvPr/>
            </p:nvGrpSpPr>
            <p:grpSpPr bwMode="auto">
              <a:xfrm>
                <a:off x="1872" y="2784"/>
                <a:ext cx="960" cy="96"/>
                <a:chOff x="1872" y="2784"/>
                <a:chExt cx="960" cy="96"/>
              </a:xfrm>
            </p:grpSpPr>
            <p:sp>
              <p:nvSpPr>
                <p:cNvPr id="13361" name="Line 8"/>
                <p:cNvSpPr>
                  <a:spLocks noChangeShapeType="1"/>
                </p:cNvSpPr>
                <p:nvPr/>
              </p:nvSpPr>
              <p:spPr bwMode="auto">
                <a:xfrm>
                  <a:off x="1872" y="278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3362" name="Line 9"/>
                <p:cNvSpPr>
                  <a:spLocks noChangeShapeType="1"/>
                </p:cNvSpPr>
                <p:nvPr/>
              </p:nvSpPr>
              <p:spPr bwMode="auto">
                <a:xfrm>
                  <a:off x="2352" y="278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3363" name="Line 10"/>
                <p:cNvSpPr>
                  <a:spLocks noChangeShapeType="1"/>
                </p:cNvSpPr>
                <p:nvPr/>
              </p:nvSpPr>
              <p:spPr bwMode="auto">
                <a:xfrm>
                  <a:off x="2832" y="278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grpSp>
          <p:grpSp>
            <p:nvGrpSpPr>
              <p:cNvPr id="13357" name="Group 11"/>
              <p:cNvGrpSpPr/>
              <p:nvPr/>
            </p:nvGrpSpPr>
            <p:grpSpPr bwMode="auto">
              <a:xfrm>
                <a:off x="912" y="2784"/>
                <a:ext cx="960" cy="96"/>
                <a:chOff x="1872" y="2784"/>
                <a:chExt cx="960" cy="96"/>
              </a:xfrm>
            </p:grpSpPr>
            <p:sp>
              <p:nvSpPr>
                <p:cNvPr id="13358" name="Line 12"/>
                <p:cNvSpPr>
                  <a:spLocks noChangeShapeType="1"/>
                </p:cNvSpPr>
                <p:nvPr/>
              </p:nvSpPr>
              <p:spPr bwMode="auto">
                <a:xfrm>
                  <a:off x="1872" y="278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3359" name="Line 13"/>
                <p:cNvSpPr>
                  <a:spLocks noChangeShapeType="1"/>
                </p:cNvSpPr>
                <p:nvPr/>
              </p:nvSpPr>
              <p:spPr bwMode="auto">
                <a:xfrm>
                  <a:off x="2352" y="278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3360" name="Line 14"/>
                <p:cNvSpPr>
                  <a:spLocks noChangeShapeType="1"/>
                </p:cNvSpPr>
                <p:nvPr/>
              </p:nvSpPr>
              <p:spPr bwMode="auto">
                <a:xfrm>
                  <a:off x="2832" y="278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grpSp>
        </p:grpSp>
        <p:sp>
          <p:nvSpPr>
            <p:cNvPr id="13350" name="Text Box 15"/>
            <p:cNvSpPr txBox="1">
              <a:spLocks noChangeArrowheads="1"/>
            </p:cNvSpPr>
            <p:nvPr/>
          </p:nvSpPr>
          <p:spPr bwMode="auto">
            <a:xfrm>
              <a:off x="768" y="2796"/>
              <a:ext cx="3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latin typeface="Times New Roman" panose="02020603050405020304" pitchFamily="18" charset="0"/>
                </a:rPr>
                <a:t>-A</a:t>
              </a:r>
              <a:endParaRPr lang="en-US" altLang="zh-CN" sz="2000" b="1" i="1">
                <a:latin typeface="Times New Roman" panose="02020603050405020304" pitchFamily="18" charset="0"/>
              </a:endParaRPr>
            </a:p>
          </p:txBody>
        </p:sp>
        <p:sp>
          <p:nvSpPr>
            <p:cNvPr id="13351" name="Text Box 16"/>
            <p:cNvSpPr txBox="1">
              <a:spLocks noChangeArrowheads="1"/>
            </p:cNvSpPr>
            <p:nvPr/>
          </p:nvSpPr>
          <p:spPr bwMode="auto">
            <a:xfrm>
              <a:off x="1220" y="2790"/>
              <a:ext cx="4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latin typeface="Times New Roman" panose="02020603050405020304" pitchFamily="18" charset="0"/>
                </a:rPr>
                <a:t>-A/2</a:t>
              </a:r>
              <a:endParaRPr lang="en-US" altLang="zh-CN" sz="2000" b="1" i="1">
                <a:latin typeface="Times New Roman" panose="02020603050405020304" pitchFamily="18" charset="0"/>
              </a:endParaRPr>
            </a:p>
          </p:txBody>
        </p:sp>
        <p:sp>
          <p:nvSpPr>
            <p:cNvPr id="13352" name="Text Box 17"/>
            <p:cNvSpPr txBox="1">
              <a:spLocks noChangeArrowheads="1"/>
            </p:cNvSpPr>
            <p:nvPr/>
          </p:nvSpPr>
          <p:spPr bwMode="auto">
            <a:xfrm>
              <a:off x="2640" y="2790"/>
              <a:ext cx="3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latin typeface="Times New Roman" panose="02020603050405020304" pitchFamily="18" charset="0"/>
                </a:rPr>
                <a:t>A</a:t>
              </a:r>
              <a:endParaRPr lang="en-US" altLang="zh-CN" sz="2000" b="1" i="1">
                <a:latin typeface="Times New Roman" panose="02020603050405020304" pitchFamily="18" charset="0"/>
              </a:endParaRPr>
            </a:p>
          </p:txBody>
        </p:sp>
        <p:sp>
          <p:nvSpPr>
            <p:cNvPr id="13353" name="Text Box 18"/>
            <p:cNvSpPr txBox="1">
              <a:spLocks noChangeArrowheads="1"/>
            </p:cNvSpPr>
            <p:nvPr/>
          </p:nvSpPr>
          <p:spPr bwMode="auto">
            <a:xfrm>
              <a:off x="2140" y="2805"/>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latin typeface="Times New Roman" panose="02020603050405020304" pitchFamily="18" charset="0"/>
                </a:rPr>
                <a:t>A/2</a:t>
              </a:r>
              <a:endParaRPr lang="en-US" altLang="zh-CN" sz="2000" b="1" i="1">
                <a:latin typeface="Times New Roman" panose="02020603050405020304" pitchFamily="18" charset="0"/>
              </a:endParaRPr>
            </a:p>
          </p:txBody>
        </p:sp>
        <p:sp>
          <p:nvSpPr>
            <p:cNvPr id="13354" name="Text Box 19"/>
            <p:cNvSpPr txBox="1">
              <a:spLocks noChangeArrowheads="1"/>
            </p:cNvSpPr>
            <p:nvPr/>
          </p:nvSpPr>
          <p:spPr bwMode="auto">
            <a:xfrm>
              <a:off x="2976" y="2784"/>
              <a:ext cx="3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latin typeface="Times New Roman" panose="02020603050405020304" pitchFamily="18" charset="0"/>
                </a:rPr>
                <a:t>x</a:t>
              </a:r>
              <a:endParaRPr lang="en-US" altLang="zh-CN" sz="2000" b="1" i="1">
                <a:latin typeface="Times New Roman" panose="02020603050405020304" pitchFamily="18" charset="0"/>
              </a:endParaRPr>
            </a:p>
          </p:txBody>
        </p:sp>
      </p:grpSp>
      <p:grpSp>
        <p:nvGrpSpPr>
          <p:cNvPr id="6" name="Group 20"/>
          <p:cNvGrpSpPr/>
          <p:nvPr/>
        </p:nvGrpSpPr>
        <p:grpSpPr bwMode="auto">
          <a:xfrm>
            <a:off x="5321300" y="4600575"/>
            <a:ext cx="1003300" cy="1758950"/>
            <a:chOff x="3168" y="3033"/>
            <a:chExt cx="632" cy="1108"/>
          </a:xfrm>
        </p:grpSpPr>
        <p:sp>
          <p:nvSpPr>
            <p:cNvPr id="13343" name="Line 21"/>
            <p:cNvSpPr>
              <a:spLocks noChangeShapeType="1"/>
            </p:cNvSpPr>
            <p:nvPr/>
          </p:nvSpPr>
          <p:spPr bwMode="auto">
            <a:xfrm>
              <a:off x="3552" y="3120"/>
              <a:ext cx="0" cy="780"/>
            </a:xfrm>
            <a:prstGeom prst="line">
              <a:avLst/>
            </a:prstGeom>
            <a:noFill/>
            <a:ln w="19050">
              <a:solidFill>
                <a:schemeClr val="tx1"/>
              </a:solidFill>
              <a:prstDash val="lgDash"/>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3344" name="Group 22"/>
            <p:cNvGrpSpPr/>
            <p:nvPr/>
          </p:nvGrpSpPr>
          <p:grpSpPr bwMode="auto">
            <a:xfrm>
              <a:off x="3168" y="3033"/>
              <a:ext cx="632" cy="1108"/>
              <a:chOff x="1008" y="2746"/>
              <a:chExt cx="632" cy="1108"/>
            </a:xfrm>
          </p:grpSpPr>
          <p:sp>
            <p:nvSpPr>
              <p:cNvPr id="13345" name="Line 23"/>
              <p:cNvSpPr>
                <a:spLocks noChangeShapeType="1"/>
              </p:cNvSpPr>
              <p:nvPr/>
            </p:nvSpPr>
            <p:spPr bwMode="auto">
              <a:xfrm rot="1800000">
                <a:off x="1640" y="2746"/>
                <a:ext cx="0" cy="946"/>
              </a:xfrm>
              <a:prstGeom prst="line">
                <a:avLst/>
              </a:prstGeom>
              <a:noFill/>
              <a:ln w="1905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3346" name="Group 24"/>
              <p:cNvGrpSpPr/>
              <p:nvPr/>
            </p:nvGrpSpPr>
            <p:grpSpPr bwMode="auto">
              <a:xfrm>
                <a:off x="1008" y="3566"/>
                <a:ext cx="528" cy="288"/>
                <a:chOff x="1008" y="3566"/>
                <a:chExt cx="528" cy="288"/>
              </a:xfrm>
            </p:grpSpPr>
            <p:sp>
              <p:nvSpPr>
                <p:cNvPr id="13347" name="Freeform 25"/>
                <p:cNvSpPr/>
                <p:nvPr/>
              </p:nvSpPr>
              <p:spPr bwMode="auto">
                <a:xfrm rot="-3217115">
                  <a:off x="1320" y="3480"/>
                  <a:ext cx="62" cy="302"/>
                </a:xfrm>
                <a:custGeom>
                  <a:avLst/>
                  <a:gdLst>
                    <a:gd name="T0" fmla="*/ 1 w 160"/>
                    <a:gd name="T1" fmla="*/ 0 h 240"/>
                    <a:gd name="T2" fmla="*/ 0 w 160"/>
                    <a:gd name="T3" fmla="*/ 302 h 240"/>
                    <a:gd name="T4" fmla="*/ 1 w 160"/>
                    <a:gd name="T5" fmla="*/ 756 h 240"/>
                    <a:gd name="T6" fmla="*/ 0 60000 65536"/>
                    <a:gd name="T7" fmla="*/ 0 60000 65536"/>
                    <a:gd name="T8" fmla="*/ 0 60000 65536"/>
                    <a:gd name="T9" fmla="*/ 0 w 160"/>
                    <a:gd name="T10" fmla="*/ 0 h 240"/>
                    <a:gd name="T11" fmla="*/ 160 w 160"/>
                    <a:gd name="T12" fmla="*/ 240 h 240"/>
                  </a:gdLst>
                  <a:ahLst/>
                  <a:cxnLst>
                    <a:cxn ang="T6">
                      <a:pos x="T0" y="T1"/>
                    </a:cxn>
                    <a:cxn ang="T7">
                      <a:pos x="T2" y="T3"/>
                    </a:cxn>
                    <a:cxn ang="T8">
                      <a:pos x="T4" y="T5"/>
                    </a:cxn>
                  </a:cxnLst>
                  <a:rect l="T9" t="T10" r="T11" b="T12"/>
                  <a:pathLst>
                    <a:path w="160" h="240">
                      <a:moveTo>
                        <a:pt x="160" y="0"/>
                      </a:moveTo>
                      <a:cubicBezTo>
                        <a:pt x="96" y="28"/>
                        <a:pt x="32" y="56"/>
                        <a:pt x="16" y="96"/>
                      </a:cubicBezTo>
                      <a:cubicBezTo>
                        <a:pt x="0" y="136"/>
                        <a:pt x="32" y="188"/>
                        <a:pt x="64" y="240"/>
                      </a:cubicBezTo>
                    </a:path>
                  </a:pathLst>
                </a:custGeom>
                <a:noFill/>
                <a:ln w="19050">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3348" name="Text Box 26"/>
                <p:cNvSpPr txBox="1">
                  <a:spLocks noChangeArrowheads="1"/>
                </p:cNvSpPr>
                <p:nvPr/>
              </p:nvSpPr>
              <p:spPr bwMode="auto">
                <a:xfrm>
                  <a:off x="1152" y="356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b="1"/>
                </a:p>
              </p:txBody>
            </p:sp>
            <p:graphicFrame>
              <p:nvGraphicFramePr>
                <p:cNvPr id="13322" name="Object 27"/>
                <p:cNvGraphicFramePr>
                  <a:graphicFrameLocks noChangeAspect="1"/>
                </p:cNvGraphicFramePr>
                <p:nvPr/>
              </p:nvGraphicFramePr>
              <p:xfrm>
                <a:off x="1008" y="3600"/>
                <a:ext cx="240" cy="220"/>
              </p:xfrm>
              <a:graphic>
                <a:graphicData uri="http://schemas.openxmlformats.org/presentationml/2006/ole">
                  <mc:AlternateContent xmlns:mc="http://schemas.openxmlformats.org/markup-compatibility/2006">
                    <mc:Choice xmlns:v="urn:schemas-microsoft-com:vml" Requires="v">
                      <p:oleObj spid="_x0000_s13661" name="Equation" r:id="rId2" imgW="152400" imgH="139700" progId="Equation.DSMT4">
                        <p:embed/>
                      </p:oleObj>
                    </mc:Choice>
                    <mc:Fallback>
                      <p:oleObj name="Equation" r:id="rId2" imgW="152400" imgH="139700" progId="Equation.DSMT4">
                        <p:embed/>
                        <p:pic>
                          <p:nvPicPr>
                            <p:cNvPr id="0" name="Object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 y="3600"/>
                              <a:ext cx="240"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grpSp>
        <p:nvGrpSpPr>
          <p:cNvPr id="9" name="Group 28"/>
          <p:cNvGrpSpPr/>
          <p:nvPr/>
        </p:nvGrpSpPr>
        <p:grpSpPr bwMode="auto">
          <a:xfrm>
            <a:off x="7062788" y="3213100"/>
            <a:ext cx="1001712" cy="1620838"/>
            <a:chOff x="2105" y="1872"/>
            <a:chExt cx="631" cy="1021"/>
          </a:xfrm>
        </p:grpSpPr>
        <p:sp>
          <p:nvSpPr>
            <p:cNvPr id="13338" name="Line 29"/>
            <p:cNvSpPr>
              <a:spLocks noChangeShapeType="1"/>
            </p:cNvSpPr>
            <p:nvPr/>
          </p:nvSpPr>
          <p:spPr bwMode="auto">
            <a:xfrm rot="1800000">
              <a:off x="2105" y="1940"/>
              <a:ext cx="0" cy="953"/>
            </a:xfrm>
            <a:prstGeom prst="line">
              <a:avLst/>
            </a:prstGeom>
            <a:noFill/>
            <a:ln w="19050">
              <a:solidFill>
                <a:schemeClr val="tx1"/>
              </a:solidFill>
              <a:round/>
              <a:headEnd type="triangle" w="sm" len="lg"/>
              <a:tailEnd type="none" w="sm"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3339" name="Line 30"/>
            <p:cNvSpPr>
              <a:spLocks noChangeShapeType="1"/>
            </p:cNvSpPr>
            <p:nvPr/>
          </p:nvSpPr>
          <p:spPr bwMode="auto">
            <a:xfrm>
              <a:off x="2350" y="2009"/>
              <a:ext cx="0" cy="816"/>
            </a:xfrm>
            <a:prstGeom prst="line">
              <a:avLst/>
            </a:prstGeom>
            <a:noFill/>
            <a:ln w="19050">
              <a:solidFill>
                <a:schemeClr val="tx1"/>
              </a:solidFill>
              <a:prstDash val="lgDash"/>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3340" name="Group 31"/>
            <p:cNvGrpSpPr/>
            <p:nvPr/>
          </p:nvGrpSpPr>
          <p:grpSpPr bwMode="auto">
            <a:xfrm>
              <a:off x="2304" y="1872"/>
              <a:ext cx="432" cy="432"/>
              <a:chOff x="2304" y="1872"/>
              <a:chExt cx="432" cy="432"/>
            </a:xfrm>
          </p:grpSpPr>
          <p:sp>
            <p:nvSpPr>
              <p:cNvPr id="13341" name="Freeform 32"/>
              <p:cNvSpPr/>
              <p:nvPr/>
            </p:nvSpPr>
            <p:spPr bwMode="auto">
              <a:xfrm rot="7384466">
                <a:off x="2424" y="1752"/>
                <a:ext cx="62" cy="302"/>
              </a:xfrm>
              <a:custGeom>
                <a:avLst/>
                <a:gdLst>
                  <a:gd name="T0" fmla="*/ 1 w 160"/>
                  <a:gd name="T1" fmla="*/ 0 h 240"/>
                  <a:gd name="T2" fmla="*/ 0 w 160"/>
                  <a:gd name="T3" fmla="*/ 302 h 240"/>
                  <a:gd name="T4" fmla="*/ 1 w 160"/>
                  <a:gd name="T5" fmla="*/ 756 h 240"/>
                  <a:gd name="T6" fmla="*/ 0 60000 65536"/>
                  <a:gd name="T7" fmla="*/ 0 60000 65536"/>
                  <a:gd name="T8" fmla="*/ 0 60000 65536"/>
                  <a:gd name="T9" fmla="*/ 0 w 160"/>
                  <a:gd name="T10" fmla="*/ 0 h 240"/>
                  <a:gd name="T11" fmla="*/ 160 w 160"/>
                  <a:gd name="T12" fmla="*/ 240 h 240"/>
                </a:gdLst>
                <a:ahLst/>
                <a:cxnLst>
                  <a:cxn ang="T6">
                    <a:pos x="T0" y="T1"/>
                  </a:cxn>
                  <a:cxn ang="T7">
                    <a:pos x="T2" y="T3"/>
                  </a:cxn>
                  <a:cxn ang="T8">
                    <a:pos x="T4" y="T5"/>
                  </a:cxn>
                </a:cxnLst>
                <a:rect l="T9" t="T10" r="T11" b="T12"/>
                <a:pathLst>
                  <a:path w="160" h="240">
                    <a:moveTo>
                      <a:pt x="160" y="0"/>
                    </a:moveTo>
                    <a:cubicBezTo>
                      <a:pt x="96" y="28"/>
                      <a:pt x="32" y="56"/>
                      <a:pt x="16" y="96"/>
                    </a:cubicBezTo>
                    <a:cubicBezTo>
                      <a:pt x="0" y="136"/>
                      <a:pt x="32" y="188"/>
                      <a:pt x="64" y="240"/>
                    </a:cubicBezTo>
                  </a:path>
                </a:pathLst>
              </a:custGeom>
              <a:noFill/>
              <a:ln w="19050">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3342" name="Text Box 33"/>
              <p:cNvSpPr txBox="1">
                <a:spLocks noChangeArrowheads="1"/>
              </p:cNvSpPr>
              <p:nvPr/>
            </p:nvSpPr>
            <p:spPr bwMode="auto">
              <a:xfrm>
                <a:off x="2352" y="201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b="1"/>
              </a:p>
            </p:txBody>
          </p:sp>
          <p:graphicFrame>
            <p:nvGraphicFramePr>
              <p:cNvPr id="13321" name="Object 34"/>
              <p:cNvGraphicFramePr>
                <a:graphicFrameLocks noChangeAspect="1"/>
              </p:cNvGraphicFramePr>
              <p:nvPr/>
            </p:nvGraphicFramePr>
            <p:xfrm>
              <a:off x="2496" y="2016"/>
              <a:ext cx="240" cy="220"/>
            </p:xfrm>
            <a:graphic>
              <a:graphicData uri="http://schemas.openxmlformats.org/presentationml/2006/ole">
                <mc:AlternateContent xmlns:mc="http://schemas.openxmlformats.org/markup-compatibility/2006">
                  <mc:Choice xmlns:v="urn:schemas-microsoft-com:vml" Requires="v">
                    <p:oleObj spid="_x0000_s13662" name="Equation" r:id="rId4" imgW="152400" imgH="139700" progId="Equation.DSMT4">
                      <p:embed/>
                    </p:oleObj>
                  </mc:Choice>
                  <mc:Fallback>
                    <p:oleObj name="Equation" r:id="rId4" imgW="152400" imgH="139700" progId="Equation.DSMT4">
                      <p:embed/>
                      <p:pic>
                        <p:nvPicPr>
                          <p:cNvPr id="0" name="Object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6" y="2016"/>
                            <a:ext cx="240"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11" name="Group 35"/>
          <p:cNvGrpSpPr/>
          <p:nvPr/>
        </p:nvGrpSpPr>
        <p:grpSpPr bwMode="auto">
          <a:xfrm>
            <a:off x="6464300" y="4737100"/>
            <a:ext cx="914400" cy="1754188"/>
            <a:chOff x="1728" y="2831"/>
            <a:chExt cx="576" cy="1105"/>
          </a:xfrm>
        </p:grpSpPr>
        <p:sp>
          <p:nvSpPr>
            <p:cNvPr id="13334" name="Line 36"/>
            <p:cNvSpPr>
              <a:spLocks noChangeShapeType="1"/>
            </p:cNvSpPr>
            <p:nvPr/>
          </p:nvSpPr>
          <p:spPr bwMode="auto">
            <a:xfrm>
              <a:off x="1872" y="2831"/>
              <a:ext cx="0" cy="953"/>
            </a:xfrm>
            <a:prstGeom prst="line">
              <a:avLst/>
            </a:prstGeom>
            <a:noFill/>
            <a:ln w="1905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3335" name="Group 37"/>
            <p:cNvGrpSpPr/>
            <p:nvPr/>
          </p:nvGrpSpPr>
          <p:grpSpPr bwMode="auto">
            <a:xfrm>
              <a:off x="1728" y="3648"/>
              <a:ext cx="576" cy="288"/>
              <a:chOff x="1728" y="3648"/>
              <a:chExt cx="576" cy="288"/>
            </a:xfrm>
          </p:grpSpPr>
          <p:sp>
            <p:nvSpPr>
              <p:cNvPr id="13336" name="Text Box 38"/>
              <p:cNvSpPr txBox="1">
                <a:spLocks noChangeArrowheads="1"/>
              </p:cNvSpPr>
              <p:nvPr/>
            </p:nvSpPr>
            <p:spPr bwMode="auto">
              <a:xfrm>
                <a:off x="1872" y="364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b="1"/>
              </a:p>
            </p:txBody>
          </p:sp>
          <p:graphicFrame>
            <p:nvGraphicFramePr>
              <p:cNvPr id="13320" name="Object 39"/>
              <p:cNvGraphicFramePr>
                <a:graphicFrameLocks noChangeAspect="1"/>
              </p:cNvGraphicFramePr>
              <p:nvPr/>
            </p:nvGraphicFramePr>
            <p:xfrm>
              <a:off x="2064" y="3696"/>
              <a:ext cx="240" cy="220"/>
            </p:xfrm>
            <a:graphic>
              <a:graphicData uri="http://schemas.openxmlformats.org/presentationml/2006/ole">
                <mc:AlternateContent xmlns:mc="http://schemas.openxmlformats.org/markup-compatibility/2006">
                  <mc:Choice xmlns:v="urn:schemas-microsoft-com:vml" Requires="v">
                    <p:oleObj spid="_x0000_s13663" name="Equation" r:id="rId5" imgW="152400" imgH="139700" progId="Equation.DSMT4">
                      <p:embed/>
                    </p:oleObj>
                  </mc:Choice>
                  <mc:Fallback>
                    <p:oleObj name="Equation" r:id="rId5" imgW="152400" imgH="139700" progId="Equation.DSMT4">
                      <p:embed/>
                      <p:pic>
                        <p:nvPicPr>
                          <p:cNvPr id="0" name="Object 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4" y="3696"/>
                            <a:ext cx="240"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37" name="Freeform 40"/>
              <p:cNvSpPr/>
              <p:nvPr/>
            </p:nvSpPr>
            <p:spPr bwMode="auto">
              <a:xfrm rot="-5400000">
                <a:off x="1848" y="3672"/>
                <a:ext cx="62" cy="302"/>
              </a:xfrm>
              <a:custGeom>
                <a:avLst/>
                <a:gdLst>
                  <a:gd name="T0" fmla="*/ 1 w 160"/>
                  <a:gd name="T1" fmla="*/ 0 h 240"/>
                  <a:gd name="T2" fmla="*/ 0 w 160"/>
                  <a:gd name="T3" fmla="*/ 302 h 240"/>
                  <a:gd name="T4" fmla="*/ 1 w 160"/>
                  <a:gd name="T5" fmla="*/ 756 h 240"/>
                  <a:gd name="T6" fmla="*/ 0 60000 65536"/>
                  <a:gd name="T7" fmla="*/ 0 60000 65536"/>
                  <a:gd name="T8" fmla="*/ 0 60000 65536"/>
                  <a:gd name="T9" fmla="*/ 0 w 160"/>
                  <a:gd name="T10" fmla="*/ 0 h 240"/>
                  <a:gd name="T11" fmla="*/ 160 w 160"/>
                  <a:gd name="T12" fmla="*/ 240 h 240"/>
                </a:gdLst>
                <a:ahLst/>
                <a:cxnLst>
                  <a:cxn ang="T6">
                    <a:pos x="T0" y="T1"/>
                  </a:cxn>
                  <a:cxn ang="T7">
                    <a:pos x="T2" y="T3"/>
                  </a:cxn>
                  <a:cxn ang="T8">
                    <a:pos x="T4" y="T5"/>
                  </a:cxn>
                </a:cxnLst>
                <a:rect l="T9" t="T10" r="T11" b="T12"/>
                <a:pathLst>
                  <a:path w="160" h="240">
                    <a:moveTo>
                      <a:pt x="160" y="0"/>
                    </a:moveTo>
                    <a:cubicBezTo>
                      <a:pt x="96" y="28"/>
                      <a:pt x="32" y="56"/>
                      <a:pt x="16" y="96"/>
                    </a:cubicBezTo>
                    <a:cubicBezTo>
                      <a:pt x="0" y="136"/>
                      <a:pt x="32" y="188"/>
                      <a:pt x="64" y="240"/>
                    </a:cubicBezTo>
                  </a:path>
                </a:pathLst>
              </a:custGeom>
              <a:noFill/>
              <a:ln w="19050">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grpSp>
      <p:grpSp>
        <p:nvGrpSpPr>
          <p:cNvPr id="13" name="Group 41"/>
          <p:cNvGrpSpPr/>
          <p:nvPr/>
        </p:nvGrpSpPr>
        <p:grpSpPr bwMode="auto">
          <a:xfrm>
            <a:off x="6388100" y="4965700"/>
            <a:ext cx="361950" cy="342900"/>
            <a:chOff x="2880" y="3360"/>
            <a:chExt cx="228" cy="216"/>
          </a:xfrm>
        </p:grpSpPr>
        <p:sp>
          <p:nvSpPr>
            <p:cNvPr id="13333" name="Freeform 42"/>
            <p:cNvSpPr/>
            <p:nvPr/>
          </p:nvSpPr>
          <p:spPr bwMode="auto">
            <a:xfrm>
              <a:off x="2976" y="3360"/>
              <a:ext cx="96" cy="56"/>
            </a:xfrm>
            <a:custGeom>
              <a:avLst/>
              <a:gdLst>
                <a:gd name="T0" fmla="*/ 0 w 96"/>
                <a:gd name="T1" fmla="*/ 0 h 56"/>
                <a:gd name="T2" fmla="*/ 48 w 96"/>
                <a:gd name="T3" fmla="*/ 48 h 56"/>
                <a:gd name="T4" fmla="*/ 96 w 96"/>
                <a:gd name="T5" fmla="*/ 48 h 56"/>
                <a:gd name="T6" fmla="*/ 0 60000 65536"/>
                <a:gd name="T7" fmla="*/ 0 60000 65536"/>
                <a:gd name="T8" fmla="*/ 0 60000 65536"/>
                <a:gd name="T9" fmla="*/ 0 w 96"/>
                <a:gd name="T10" fmla="*/ 0 h 56"/>
                <a:gd name="T11" fmla="*/ 96 w 96"/>
                <a:gd name="T12" fmla="*/ 56 h 56"/>
              </a:gdLst>
              <a:ahLst/>
              <a:cxnLst>
                <a:cxn ang="T6">
                  <a:pos x="T0" y="T1"/>
                </a:cxn>
                <a:cxn ang="T7">
                  <a:pos x="T2" y="T3"/>
                </a:cxn>
                <a:cxn ang="T8">
                  <a:pos x="T4" y="T5"/>
                </a:cxn>
              </a:cxnLst>
              <a:rect l="T9" t="T10" r="T11" b="T12"/>
              <a:pathLst>
                <a:path w="96" h="56">
                  <a:moveTo>
                    <a:pt x="0" y="0"/>
                  </a:moveTo>
                  <a:cubicBezTo>
                    <a:pt x="16" y="20"/>
                    <a:pt x="32" y="40"/>
                    <a:pt x="48" y="48"/>
                  </a:cubicBezTo>
                  <a:cubicBezTo>
                    <a:pt x="64" y="56"/>
                    <a:pt x="80" y="52"/>
                    <a:pt x="96" y="48"/>
                  </a:cubicBezTo>
                </a:path>
              </a:pathLst>
            </a:custGeom>
            <a:noFill/>
            <a:ln w="19050">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graphicFrame>
          <p:nvGraphicFramePr>
            <p:cNvPr id="13319" name="Object 43"/>
            <p:cNvGraphicFramePr>
              <a:graphicFrameLocks noChangeAspect="1"/>
            </p:cNvGraphicFramePr>
            <p:nvPr/>
          </p:nvGraphicFramePr>
          <p:xfrm>
            <a:off x="2880" y="3408"/>
            <a:ext cx="228" cy="168"/>
          </p:xfrm>
          <a:graphic>
            <a:graphicData uri="http://schemas.openxmlformats.org/presentationml/2006/ole">
              <mc:AlternateContent xmlns:mc="http://schemas.openxmlformats.org/markup-compatibility/2006">
                <mc:Choice xmlns:v="urn:schemas-microsoft-com:vml" Requires="v">
                  <p:oleObj spid="_x0000_s13664" name="Equation" r:id="rId6" imgW="241300" imgH="177800" progId="Equation.DSMT4">
                    <p:embed/>
                  </p:oleObj>
                </mc:Choice>
                <mc:Fallback>
                  <p:oleObj name="Equation" r:id="rId6" imgW="241300" imgH="177800" progId="Equation.DSMT4">
                    <p:embed/>
                    <p:pic>
                      <p:nvPicPr>
                        <p:cNvPr id="0" name="Object 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80" y="3408"/>
                          <a:ext cx="228"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42380" name="Text Box 44"/>
          <p:cNvSpPr txBox="1">
            <a:spLocks noChangeArrowheads="1"/>
          </p:cNvSpPr>
          <p:nvPr/>
        </p:nvSpPr>
        <p:spPr bwMode="auto">
          <a:xfrm>
            <a:off x="4960938" y="433546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a:latin typeface="Times New Roman" panose="02020603050405020304" pitchFamily="18" charset="0"/>
              </a:rPr>
              <a:t>a</a:t>
            </a:r>
            <a:endParaRPr lang="en-US" altLang="zh-CN" sz="2000" b="1">
              <a:latin typeface="Times New Roman" panose="02020603050405020304" pitchFamily="18" charset="0"/>
            </a:endParaRPr>
          </a:p>
        </p:txBody>
      </p:sp>
      <p:grpSp>
        <p:nvGrpSpPr>
          <p:cNvPr id="14" name="Group 45"/>
          <p:cNvGrpSpPr/>
          <p:nvPr/>
        </p:nvGrpSpPr>
        <p:grpSpPr bwMode="auto">
          <a:xfrm>
            <a:off x="6159500" y="4738688"/>
            <a:ext cx="457200" cy="342900"/>
            <a:chOff x="3696" y="3120"/>
            <a:chExt cx="288" cy="216"/>
          </a:xfrm>
        </p:grpSpPr>
        <p:sp>
          <p:nvSpPr>
            <p:cNvPr id="13332" name="Freeform 46"/>
            <p:cNvSpPr/>
            <p:nvPr/>
          </p:nvSpPr>
          <p:spPr bwMode="auto">
            <a:xfrm>
              <a:off x="3840" y="3120"/>
              <a:ext cx="144" cy="104"/>
            </a:xfrm>
            <a:custGeom>
              <a:avLst/>
              <a:gdLst>
                <a:gd name="T0" fmla="*/ 0 w 96"/>
                <a:gd name="T1" fmla="*/ 0 h 56"/>
                <a:gd name="T2" fmla="*/ 364 w 96"/>
                <a:gd name="T3" fmla="*/ 1055 h 56"/>
                <a:gd name="T4" fmla="*/ 729 w 96"/>
                <a:gd name="T5" fmla="*/ 1055 h 56"/>
                <a:gd name="T6" fmla="*/ 0 60000 65536"/>
                <a:gd name="T7" fmla="*/ 0 60000 65536"/>
                <a:gd name="T8" fmla="*/ 0 60000 65536"/>
                <a:gd name="T9" fmla="*/ 0 w 96"/>
                <a:gd name="T10" fmla="*/ 0 h 56"/>
                <a:gd name="T11" fmla="*/ 96 w 96"/>
                <a:gd name="T12" fmla="*/ 56 h 56"/>
              </a:gdLst>
              <a:ahLst/>
              <a:cxnLst>
                <a:cxn ang="T6">
                  <a:pos x="T0" y="T1"/>
                </a:cxn>
                <a:cxn ang="T7">
                  <a:pos x="T2" y="T3"/>
                </a:cxn>
                <a:cxn ang="T8">
                  <a:pos x="T4" y="T5"/>
                </a:cxn>
              </a:cxnLst>
              <a:rect l="T9" t="T10" r="T11" b="T12"/>
              <a:pathLst>
                <a:path w="96" h="56">
                  <a:moveTo>
                    <a:pt x="0" y="0"/>
                  </a:moveTo>
                  <a:cubicBezTo>
                    <a:pt x="16" y="20"/>
                    <a:pt x="32" y="40"/>
                    <a:pt x="48" y="48"/>
                  </a:cubicBezTo>
                  <a:cubicBezTo>
                    <a:pt x="64" y="56"/>
                    <a:pt x="80" y="52"/>
                    <a:pt x="96" y="48"/>
                  </a:cubicBezTo>
                </a:path>
              </a:pathLst>
            </a:custGeom>
            <a:noFill/>
            <a:ln w="19050">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aphicFrame>
          <p:nvGraphicFramePr>
            <p:cNvPr id="13318" name="Object 47"/>
            <p:cNvGraphicFramePr>
              <a:graphicFrameLocks noChangeAspect="1"/>
            </p:cNvGraphicFramePr>
            <p:nvPr/>
          </p:nvGraphicFramePr>
          <p:xfrm>
            <a:off x="3696" y="3168"/>
            <a:ext cx="228" cy="168"/>
          </p:xfrm>
          <a:graphic>
            <a:graphicData uri="http://schemas.openxmlformats.org/presentationml/2006/ole">
              <mc:AlternateContent xmlns:mc="http://schemas.openxmlformats.org/markup-compatibility/2006">
                <mc:Choice xmlns:v="urn:schemas-microsoft-com:vml" Requires="v">
                  <p:oleObj spid="_x0000_s13665" name="Equation" r:id="rId8" imgW="241300" imgH="177800" progId="Equation.DSMT4">
                    <p:embed/>
                  </p:oleObj>
                </mc:Choice>
                <mc:Fallback>
                  <p:oleObj name="Equation" r:id="rId8" imgW="241300" imgH="177800" progId="Equation.DSMT4">
                    <p:embed/>
                    <p:pic>
                      <p:nvPicPr>
                        <p:cNvPr id="0" name="Object 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96" y="3168"/>
                          <a:ext cx="228"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42384" name="Object 48"/>
          <p:cNvGraphicFramePr>
            <a:graphicFrameLocks noChangeAspect="1"/>
          </p:cNvGraphicFramePr>
          <p:nvPr/>
        </p:nvGraphicFramePr>
        <p:xfrm>
          <a:off x="457200" y="1752600"/>
          <a:ext cx="3686175" cy="885825"/>
        </p:xfrm>
        <a:graphic>
          <a:graphicData uri="http://schemas.openxmlformats.org/presentationml/2006/ole">
            <mc:AlternateContent xmlns:mc="http://schemas.openxmlformats.org/markup-compatibility/2006">
              <mc:Choice xmlns:v="urn:schemas-microsoft-com:vml" Requires="v">
                <p:oleObj spid="_x0000_s13666" name="Equation" r:id="rId10" imgW="1637665" imgH="393700" progId="Equation.DSMT4">
                  <p:embed/>
                </p:oleObj>
              </mc:Choice>
              <mc:Fallback>
                <p:oleObj name="Equation" r:id="rId10" imgW="1637665" imgH="393700" progId="Equation.DSMT4">
                  <p:embed/>
                  <p:pic>
                    <p:nvPicPr>
                      <p:cNvPr id="0" name="Object 4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 y="1752600"/>
                        <a:ext cx="36861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85" name="Object 49"/>
          <p:cNvGraphicFramePr>
            <a:graphicFrameLocks noChangeAspect="1"/>
          </p:cNvGraphicFramePr>
          <p:nvPr/>
        </p:nvGraphicFramePr>
        <p:xfrm>
          <a:off x="423863" y="2743200"/>
          <a:ext cx="3600450" cy="885825"/>
        </p:xfrm>
        <a:graphic>
          <a:graphicData uri="http://schemas.openxmlformats.org/presentationml/2006/ole">
            <mc:AlternateContent xmlns:mc="http://schemas.openxmlformats.org/markup-compatibility/2006">
              <mc:Choice xmlns:v="urn:schemas-microsoft-com:vml" Requires="v">
                <p:oleObj spid="_x0000_s13667" name="Equation" r:id="rId12" imgW="1600200" imgH="393700" progId="Equation.DSMT4">
                  <p:embed/>
                </p:oleObj>
              </mc:Choice>
              <mc:Fallback>
                <p:oleObj name="Equation" r:id="rId12" imgW="1600200" imgH="393700" progId="Equation.DSMT4">
                  <p:embed/>
                  <p:pic>
                    <p:nvPicPr>
                      <p:cNvPr id="0" name="Object 4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3863" y="2743200"/>
                        <a:ext cx="360045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86" name="Object 50"/>
          <p:cNvGraphicFramePr>
            <a:graphicFrameLocks noChangeAspect="1"/>
          </p:cNvGraphicFramePr>
          <p:nvPr/>
        </p:nvGraphicFramePr>
        <p:xfrm>
          <a:off x="581025" y="3733800"/>
          <a:ext cx="3686175" cy="885825"/>
        </p:xfrm>
        <a:graphic>
          <a:graphicData uri="http://schemas.openxmlformats.org/presentationml/2006/ole">
            <mc:AlternateContent xmlns:mc="http://schemas.openxmlformats.org/markup-compatibility/2006">
              <mc:Choice xmlns:v="urn:schemas-microsoft-com:vml" Requires="v">
                <p:oleObj spid="_x0000_s13668" name="Equation" r:id="rId14" imgW="1637665" imgH="393700" progId="Equation.DSMT4">
                  <p:embed/>
                </p:oleObj>
              </mc:Choice>
              <mc:Fallback>
                <p:oleObj name="Equation" r:id="rId14" imgW="1637665" imgH="393700" progId="Equation.DSMT4">
                  <p:embed/>
                  <p:pic>
                    <p:nvPicPr>
                      <p:cNvPr id="0" name="Object 5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1025" y="3733800"/>
                        <a:ext cx="36861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87" name="Object 51"/>
          <p:cNvGraphicFramePr>
            <a:graphicFrameLocks noChangeAspect="1"/>
          </p:cNvGraphicFramePr>
          <p:nvPr/>
        </p:nvGraphicFramePr>
        <p:xfrm>
          <a:off x="611188" y="4508500"/>
          <a:ext cx="3943350" cy="2000250"/>
        </p:xfrm>
        <a:graphic>
          <a:graphicData uri="http://schemas.openxmlformats.org/presentationml/2006/ole">
            <mc:AlternateContent xmlns:mc="http://schemas.openxmlformats.org/markup-compatibility/2006">
              <mc:Choice xmlns:v="urn:schemas-microsoft-com:vml" Requires="v">
                <p:oleObj spid="_x0000_s13669" name="Equation" r:id="rId16" imgW="1752600" imgH="889000" progId="Equation.DSMT4">
                  <p:embed/>
                </p:oleObj>
              </mc:Choice>
              <mc:Fallback>
                <p:oleObj name="Equation" r:id="rId16" imgW="1752600" imgH="889000" progId="Equation.DSMT4">
                  <p:embed/>
                  <p:pic>
                    <p:nvPicPr>
                      <p:cNvPr id="0" name="Object 5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1188" y="4508500"/>
                        <a:ext cx="3943350" cy="200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2380"/>
                                        </p:tgtEl>
                                        <p:attrNameLst>
                                          <p:attrName>style.visibility</p:attrName>
                                        </p:attrNameLst>
                                      </p:cBhvr>
                                      <p:to>
                                        <p:strVal val="visible"/>
                                      </p:to>
                                    </p:set>
                                    <p:animEffect transition="in" filter="wipe(down)">
                                      <p:cBhvr>
                                        <p:cTn id="12" dur="500"/>
                                        <p:tgtEl>
                                          <p:spTgt spid="1423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up)">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2384"/>
                                        </p:tgtEl>
                                        <p:attrNameLst>
                                          <p:attrName>style.visibility</p:attrName>
                                        </p:attrNameLst>
                                      </p:cBhvr>
                                      <p:to>
                                        <p:strVal val="visible"/>
                                      </p:to>
                                    </p:set>
                                    <p:animEffect transition="in" filter="wipe(left)">
                                      <p:cBhvr>
                                        <p:cTn id="27" dur="500"/>
                                        <p:tgtEl>
                                          <p:spTgt spid="14238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up)">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2385"/>
                                        </p:tgtEl>
                                        <p:attrNameLst>
                                          <p:attrName>style.visibility</p:attrName>
                                        </p:attrNameLst>
                                      </p:cBhvr>
                                      <p:to>
                                        <p:strVal val="visible"/>
                                      </p:to>
                                    </p:set>
                                    <p:animEffect transition="in" filter="wipe(left)">
                                      <p:cBhvr>
                                        <p:cTn id="42" dur="500"/>
                                        <p:tgtEl>
                                          <p:spTgt spid="14238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down)">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42386"/>
                                        </p:tgtEl>
                                        <p:attrNameLst>
                                          <p:attrName>style.visibility</p:attrName>
                                        </p:attrNameLst>
                                      </p:cBhvr>
                                      <p:to>
                                        <p:strVal val="visible"/>
                                      </p:to>
                                    </p:set>
                                    <p:animEffect transition="in" filter="wipe(left)">
                                      <p:cBhvr>
                                        <p:cTn id="52" dur="500"/>
                                        <p:tgtEl>
                                          <p:spTgt spid="14238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2387"/>
                                        </p:tgtEl>
                                        <p:attrNameLst>
                                          <p:attrName>style.visibility</p:attrName>
                                        </p:attrNameLst>
                                      </p:cBhvr>
                                      <p:to>
                                        <p:strVal val="visible"/>
                                      </p:to>
                                    </p:set>
                                    <p:animEffect transition="in" filter="wipe(left)">
                                      <p:cBhvr>
                                        <p:cTn id="57" dur="500"/>
                                        <p:tgtEl>
                                          <p:spTgt spid="142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8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a:xfrm>
            <a:off x="228600" y="152400"/>
            <a:ext cx="8610600" cy="2011363"/>
          </a:xfrm>
        </p:spPr>
        <p:txBody>
          <a:bodyPr/>
          <a:lstStyle/>
          <a:p>
            <a:pPr algn="l" eaLnBrk="1" hangingPunct="1"/>
            <a:r>
              <a:rPr lang="zh-CN" altLang="en-US" sz="2800" b="1">
                <a:solidFill>
                  <a:srgbClr val="FF0000"/>
                </a:solidFill>
                <a:latin typeface="Times New Roman" panose="02020603050405020304" pitchFamily="18" charset="0"/>
                <a:ea typeface="楷体_GB2312" panose="02010609030101010101" pitchFamily="49" charset="-122"/>
              </a:rPr>
              <a:t>例</a:t>
            </a:r>
            <a:r>
              <a:rPr lang="en-US" altLang="zh-CN" sz="2800" b="1">
                <a:solidFill>
                  <a:srgbClr val="FF0000"/>
                </a:solidFill>
                <a:latin typeface="Times New Roman" panose="02020603050405020304" pitchFamily="18" charset="0"/>
                <a:ea typeface="楷体_GB2312" panose="02010609030101010101" pitchFamily="49" charset="-122"/>
              </a:rPr>
              <a:t>3</a:t>
            </a:r>
            <a:r>
              <a:rPr lang="zh-CN" altLang="en-US" sz="2800" b="1">
                <a:solidFill>
                  <a:schemeClr val="tx1"/>
                </a:solidFill>
                <a:latin typeface="Times New Roman" panose="02020603050405020304" pitchFamily="18" charset="0"/>
                <a:ea typeface="楷体_GB2312" panose="02010609030101010101" pitchFamily="49" charset="-122"/>
              </a:rPr>
              <a:t>  两轮的轴相互平行相距为</a:t>
            </a:r>
            <a:r>
              <a:rPr lang="en-US" altLang="zh-CN" sz="2800" b="1">
                <a:solidFill>
                  <a:schemeClr val="tx1"/>
                </a:solidFill>
                <a:latin typeface="Times New Roman" panose="02020603050405020304" pitchFamily="18" charset="0"/>
                <a:ea typeface="楷体_GB2312" panose="02010609030101010101" pitchFamily="49" charset="-122"/>
              </a:rPr>
              <a:t>2</a:t>
            </a:r>
            <a:r>
              <a:rPr lang="en-US" altLang="zh-CN" sz="2800" b="1" i="1">
                <a:solidFill>
                  <a:schemeClr val="tx1"/>
                </a:solidFill>
                <a:latin typeface="Times New Roman" panose="02020603050405020304" pitchFamily="18" charset="0"/>
                <a:ea typeface="楷体_GB2312" panose="02010609030101010101" pitchFamily="49" charset="-122"/>
              </a:rPr>
              <a:t>d</a:t>
            </a:r>
            <a:r>
              <a:rPr lang="zh-CN" altLang="en-US" sz="2800" b="1">
                <a:solidFill>
                  <a:schemeClr val="tx1"/>
                </a:solidFill>
                <a:latin typeface="Times New Roman" panose="02020603050405020304" pitchFamily="18" charset="0"/>
                <a:ea typeface="楷体_GB2312" panose="02010609030101010101" pitchFamily="49" charset="-122"/>
              </a:rPr>
              <a:t>，两轮的转速相同而转向相反。现将质量为</a:t>
            </a:r>
            <a:r>
              <a:rPr lang="en-US" altLang="zh-CN" sz="2800" b="1" i="1">
                <a:solidFill>
                  <a:schemeClr val="tx1"/>
                </a:solidFill>
                <a:latin typeface="Times New Roman" panose="02020603050405020304" pitchFamily="18" charset="0"/>
                <a:ea typeface="楷体_GB2312" panose="02010609030101010101" pitchFamily="49" charset="-122"/>
              </a:rPr>
              <a:t>m</a:t>
            </a:r>
            <a:r>
              <a:rPr lang="zh-CN" altLang="en-US" sz="2800" b="1">
                <a:solidFill>
                  <a:schemeClr val="tx1"/>
                </a:solidFill>
                <a:latin typeface="Times New Roman" panose="02020603050405020304" pitchFamily="18" charset="0"/>
                <a:ea typeface="楷体_GB2312" panose="02010609030101010101" pitchFamily="49" charset="-122"/>
              </a:rPr>
              <a:t>的一匀质木板放在两轮上，木板与两轮之间的摩擦系数均为</a:t>
            </a:r>
            <a:r>
              <a:rPr lang="zh-CN" altLang="en-US" sz="2800" b="1" i="1">
                <a:solidFill>
                  <a:schemeClr val="tx1"/>
                </a:solidFill>
                <a:latin typeface="Times New Roman" panose="02020603050405020304" pitchFamily="18" charset="0"/>
                <a:ea typeface="楷体_GB2312" panose="02010609030101010101" pitchFamily="49" charset="-122"/>
                <a:sym typeface="Symbol" panose="05050102010706020507" pitchFamily="18" charset="2"/>
              </a:rPr>
              <a:t></a:t>
            </a:r>
            <a:r>
              <a:rPr lang="zh-CN" altLang="en-US" sz="2800" b="1">
                <a:solidFill>
                  <a:schemeClr val="tx1"/>
                </a:solidFill>
                <a:latin typeface="Times New Roman" panose="02020603050405020304" pitchFamily="18" charset="0"/>
                <a:ea typeface="楷体_GB2312" panose="02010609030101010101" pitchFamily="49" charset="-122"/>
              </a:rPr>
              <a:t>。若木板的质心偏离对称位置后，试证木板将作简谐振动，并求其振动周期</a:t>
            </a:r>
            <a:r>
              <a:rPr lang="en-US" altLang="zh-CN" sz="2800" b="1">
                <a:solidFill>
                  <a:schemeClr val="tx1"/>
                </a:solidFill>
                <a:latin typeface="Times New Roman" panose="02020603050405020304" pitchFamily="18" charset="0"/>
                <a:ea typeface="楷体_GB2312" panose="02010609030101010101" pitchFamily="49" charset="-122"/>
              </a:rPr>
              <a:t>.</a:t>
            </a:r>
            <a:endParaRPr lang="en-US" altLang="zh-CN" sz="2800" b="1">
              <a:solidFill>
                <a:schemeClr val="tx1"/>
              </a:solidFill>
              <a:latin typeface="Times New Roman" panose="02020603050405020304" pitchFamily="18" charset="0"/>
              <a:ea typeface="楷体_GB2312" panose="02010609030101010101" pitchFamily="49" charset="-122"/>
            </a:endParaRPr>
          </a:p>
        </p:txBody>
      </p:sp>
      <p:sp>
        <p:nvSpPr>
          <p:cNvPr id="14344" name="Oval 3"/>
          <p:cNvSpPr>
            <a:spLocks noChangeArrowheads="1"/>
          </p:cNvSpPr>
          <p:nvPr/>
        </p:nvSpPr>
        <p:spPr bwMode="auto">
          <a:xfrm>
            <a:off x="995363" y="3643313"/>
            <a:ext cx="163512" cy="152400"/>
          </a:xfrm>
          <a:prstGeom prst="ellipse">
            <a:avLst/>
          </a:prstGeom>
          <a:solidFill>
            <a:srgbClr val="FFFFFF"/>
          </a:solidFill>
          <a:ln w="9525">
            <a:solidFill>
              <a:srgbClr val="000000"/>
            </a:solidFill>
            <a:round/>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45" name="Line 4"/>
          <p:cNvSpPr>
            <a:spLocks noChangeShapeType="1"/>
          </p:cNvSpPr>
          <p:nvPr/>
        </p:nvSpPr>
        <p:spPr bwMode="auto">
          <a:xfrm>
            <a:off x="1069975" y="4251325"/>
            <a:ext cx="0" cy="4397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46" name="Line 5"/>
          <p:cNvSpPr>
            <a:spLocks noChangeShapeType="1"/>
          </p:cNvSpPr>
          <p:nvPr/>
        </p:nvSpPr>
        <p:spPr bwMode="auto">
          <a:xfrm>
            <a:off x="2808288" y="4237038"/>
            <a:ext cx="0" cy="4397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47" name="Line 6"/>
          <p:cNvSpPr>
            <a:spLocks noChangeShapeType="1"/>
          </p:cNvSpPr>
          <p:nvPr/>
        </p:nvSpPr>
        <p:spPr bwMode="auto">
          <a:xfrm>
            <a:off x="1019175" y="4465638"/>
            <a:ext cx="1838325" cy="3175"/>
          </a:xfrm>
          <a:prstGeom prst="line">
            <a:avLst/>
          </a:prstGeom>
          <a:noFill/>
          <a:ln w="9525">
            <a:solidFill>
              <a:srgbClr val="000000"/>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4348" name="Text Box 7"/>
          <p:cNvSpPr txBox="1">
            <a:spLocks noChangeArrowheads="1"/>
          </p:cNvSpPr>
          <p:nvPr/>
        </p:nvSpPr>
        <p:spPr bwMode="auto">
          <a:xfrm>
            <a:off x="1765300" y="4279900"/>
            <a:ext cx="350838" cy="4333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rPr>
              <a:t>2</a:t>
            </a:r>
            <a:r>
              <a:rPr lang="en-US" altLang="zh-CN" sz="2000" i="1">
                <a:latin typeface="Times New Roman" panose="02020603050405020304" pitchFamily="18" charset="0"/>
              </a:rPr>
              <a:t>d</a:t>
            </a:r>
            <a:endParaRPr lang="en-US" altLang="zh-CN" sz="2000"/>
          </a:p>
        </p:txBody>
      </p:sp>
      <p:sp>
        <p:nvSpPr>
          <p:cNvPr id="14349" name="Line 8"/>
          <p:cNvSpPr>
            <a:spLocks noChangeShapeType="1"/>
          </p:cNvSpPr>
          <p:nvPr/>
        </p:nvSpPr>
        <p:spPr bwMode="auto">
          <a:xfrm>
            <a:off x="1943100" y="4849813"/>
            <a:ext cx="0" cy="603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50" name="Line 9"/>
          <p:cNvSpPr>
            <a:spLocks noChangeShapeType="1"/>
          </p:cNvSpPr>
          <p:nvPr/>
        </p:nvSpPr>
        <p:spPr bwMode="auto">
          <a:xfrm flipV="1">
            <a:off x="2133600" y="3276600"/>
            <a:ext cx="0" cy="1603375"/>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10"/>
          <p:cNvGrpSpPr/>
          <p:nvPr/>
        </p:nvGrpSpPr>
        <p:grpSpPr bwMode="auto">
          <a:xfrm>
            <a:off x="419100" y="2563813"/>
            <a:ext cx="762000" cy="712787"/>
            <a:chOff x="264" y="1615"/>
            <a:chExt cx="480" cy="449"/>
          </a:xfrm>
        </p:grpSpPr>
        <p:sp>
          <p:nvSpPr>
            <p:cNvPr id="14388" name="Line 11"/>
            <p:cNvSpPr>
              <a:spLocks noChangeShapeType="1"/>
            </p:cNvSpPr>
            <p:nvPr/>
          </p:nvSpPr>
          <p:spPr bwMode="auto">
            <a:xfrm flipV="1">
              <a:off x="624" y="1727"/>
              <a:ext cx="0" cy="225"/>
            </a:xfrm>
            <a:prstGeom prst="line">
              <a:avLst/>
            </a:prstGeom>
            <a:noFill/>
            <a:ln w="9525">
              <a:solidFill>
                <a:srgbClr val="D60093"/>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89" name="Text Box 12"/>
            <p:cNvSpPr txBox="1">
              <a:spLocks noChangeArrowheads="1"/>
            </p:cNvSpPr>
            <p:nvPr/>
          </p:nvSpPr>
          <p:spPr bwMode="auto">
            <a:xfrm>
              <a:off x="264" y="1615"/>
              <a:ext cx="4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i="1">
                  <a:solidFill>
                    <a:srgbClr val="D60093"/>
                  </a:solidFill>
                  <a:latin typeface="Times New Roman" panose="02020603050405020304" pitchFamily="18" charset="0"/>
                </a:rPr>
                <a:t>N</a:t>
              </a:r>
              <a:r>
                <a:rPr lang="en-US" altLang="zh-CN" b="1" i="1" baseline="-25000">
                  <a:solidFill>
                    <a:srgbClr val="D60093"/>
                  </a:solidFill>
                  <a:latin typeface="Times New Roman" panose="02020603050405020304" pitchFamily="18" charset="0"/>
                </a:rPr>
                <a:t>A</a:t>
              </a:r>
              <a:endParaRPr lang="en-US" altLang="zh-CN" b="1">
                <a:solidFill>
                  <a:srgbClr val="D60093"/>
                </a:solidFill>
              </a:endParaRPr>
            </a:p>
          </p:txBody>
        </p:sp>
      </p:grpSp>
      <p:sp>
        <p:nvSpPr>
          <p:cNvPr id="14352" name="Line 13"/>
          <p:cNvSpPr>
            <a:spLocks noChangeShapeType="1"/>
          </p:cNvSpPr>
          <p:nvPr/>
        </p:nvSpPr>
        <p:spPr bwMode="auto">
          <a:xfrm>
            <a:off x="2133600" y="3098800"/>
            <a:ext cx="0" cy="177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 name="Group 14"/>
          <p:cNvGrpSpPr/>
          <p:nvPr/>
        </p:nvGrpSpPr>
        <p:grpSpPr bwMode="auto">
          <a:xfrm>
            <a:off x="381000" y="4800600"/>
            <a:ext cx="3810000" cy="712788"/>
            <a:chOff x="432" y="3024"/>
            <a:chExt cx="2400" cy="449"/>
          </a:xfrm>
        </p:grpSpPr>
        <p:sp>
          <p:nvSpPr>
            <p:cNvPr id="14384" name="Line 15"/>
            <p:cNvSpPr>
              <a:spLocks noChangeShapeType="1"/>
            </p:cNvSpPr>
            <p:nvPr/>
          </p:nvSpPr>
          <p:spPr bwMode="auto">
            <a:xfrm>
              <a:off x="432" y="3091"/>
              <a:ext cx="2040"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85" name="Text Box 16"/>
            <p:cNvSpPr txBox="1">
              <a:spLocks noChangeArrowheads="1"/>
            </p:cNvSpPr>
            <p:nvPr/>
          </p:nvSpPr>
          <p:spPr bwMode="auto">
            <a:xfrm>
              <a:off x="1248" y="3024"/>
              <a:ext cx="240"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000" b="1">
                  <a:solidFill>
                    <a:srgbClr val="FF0000"/>
                  </a:solidFill>
                  <a:latin typeface="Times New Roman" panose="02020603050405020304" pitchFamily="18" charset="0"/>
                </a:rPr>
                <a:t>0</a:t>
              </a:r>
              <a:endParaRPr lang="en-US" altLang="zh-CN" sz="2000" b="1">
                <a:solidFill>
                  <a:srgbClr val="FF0000"/>
                </a:solidFill>
              </a:endParaRPr>
            </a:p>
          </p:txBody>
        </p:sp>
        <p:sp>
          <p:nvSpPr>
            <p:cNvPr id="14386" name="Text Box 17"/>
            <p:cNvSpPr txBox="1">
              <a:spLocks noChangeArrowheads="1"/>
            </p:cNvSpPr>
            <p:nvPr/>
          </p:nvSpPr>
          <p:spPr bwMode="auto">
            <a:xfrm>
              <a:off x="2352" y="3024"/>
              <a:ext cx="4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000" b="1" i="1">
                  <a:solidFill>
                    <a:srgbClr val="FF0000"/>
                  </a:solidFill>
                  <a:latin typeface="Times New Roman" panose="02020603050405020304" pitchFamily="18" charset="0"/>
                </a:rPr>
                <a:t>x</a:t>
              </a:r>
              <a:endParaRPr lang="en-US" altLang="zh-CN" sz="2000" b="1">
                <a:solidFill>
                  <a:srgbClr val="FF0000"/>
                </a:solidFill>
              </a:endParaRPr>
            </a:p>
          </p:txBody>
        </p:sp>
        <p:sp>
          <p:nvSpPr>
            <p:cNvPr id="14387" name="Text Box 18"/>
            <p:cNvSpPr txBox="1">
              <a:spLocks noChangeArrowheads="1"/>
            </p:cNvSpPr>
            <p:nvPr/>
          </p:nvSpPr>
          <p:spPr bwMode="auto">
            <a:xfrm>
              <a:off x="1488" y="3024"/>
              <a:ext cx="4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i="1">
                  <a:latin typeface="Times New Roman" panose="02020603050405020304" pitchFamily="18" charset="0"/>
                </a:rPr>
                <a:t>x</a:t>
              </a:r>
              <a:endParaRPr lang="en-US" altLang="zh-CN"/>
            </a:p>
          </p:txBody>
        </p:sp>
      </p:grpSp>
      <p:sp>
        <p:nvSpPr>
          <p:cNvPr id="14354" name="AutoShape 19"/>
          <p:cNvSpPr>
            <a:spLocks noChangeArrowheads="1"/>
          </p:cNvSpPr>
          <p:nvPr/>
        </p:nvSpPr>
        <p:spPr bwMode="auto">
          <a:xfrm flipV="1">
            <a:off x="973138" y="3716338"/>
            <a:ext cx="215900" cy="160337"/>
          </a:xfrm>
          <a:custGeom>
            <a:avLst/>
            <a:gdLst>
              <a:gd name="T0" fmla="*/ 2147483647 w 21600"/>
              <a:gd name="T1" fmla="*/ 1806783554 h 21600"/>
              <a:gd name="T2" fmla="*/ 2147483647 w 21600"/>
              <a:gd name="T3" fmla="*/ 2147483647 h 21600"/>
              <a:gd name="T4" fmla="*/ 2147483647 w 21600"/>
              <a:gd name="T5" fmla="*/ 1806783554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FF"/>
          </a:solidFill>
          <a:ln w="9525">
            <a:solidFill>
              <a:srgbClr val="111111"/>
            </a:solidFill>
            <a:miter lim="800000"/>
          </a:ln>
        </p:spPr>
        <p:txBody>
          <a:bodyPr/>
          <a:lstStyle/>
          <a:p>
            <a:endParaRPr lang="zh-CN" altLang="en-US"/>
          </a:p>
        </p:txBody>
      </p:sp>
      <p:sp>
        <p:nvSpPr>
          <p:cNvPr id="14355" name="AutoShape 20"/>
          <p:cNvSpPr>
            <a:spLocks noChangeArrowheads="1"/>
          </p:cNvSpPr>
          <p:nvPr/>
        </p:nvSpPr>
        <p:spPr bwMode="auto">
          <a:xfrm flipV="1">
            <a:off x="2681288" y="3716338"/>
            <a:ext cx="215900" cy="160337"/>
          </a:xfrm>
          <a:custGeom>
            <a:avLst/>
            <a:gdLst>
              <a:gd name="T0" fmla="*/ 2147483647 w 21600"/>
              <a:gd name="T1" fmla="*/ 1806783554 h 21600"/>
              <a:gd name="T2" fmla="*/ 2147483647 w 21600"/>
              <a:gd name="T3" fmla="*/ 2147483647 h 21600"/>
              <a:gd name="T4" fmla="*/ 2147483647 w 21600"/>
              <a:gd name="T5" fmla="*/ 1806783554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FF"/>
          </a:solidFill>
          <a:ln w="9525">
            <a:solidFill>
              <a:srgbClr val="111111"/>
            </a:solidFill>
            <a:miter lim="800000"/>
          </a:ln>
        </p:spPr>
        <p:txBody>
          <a:bodyPr/>
          <a:lstStyle/>
          <a:p>
            <a:endParaRPr lang="zh-CN" altLang="en-US"/>
          </a:p>
        </p:txBody>
      </p:sp>
      <p:sp>
        <p:nvSpPr>
          <p:cNvPr id="14356" name="Oval 21"/>
          <p:cNvSpPr>
            <a:spLocks noChangeArrowheads="1"/>
          </p:cNvSpPr>
          <p:nvPr/>
        </p:nvSpPr>
        <p:spPr bwMode="auto">
          <a:xfrm>
            <a:off x="588963" y="3259138"/>
            <a:ext cx="968375" cy="914400"/>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57" name="Text Box 22"/>
          <p:cNvSpPr txBox="1">
            <a:spLocks noChangeArrowheads="1"/>
          </p:cNvSpPr>
          <p:nvPr/>
        </p:nvSpPr>
        <p:spPr bwMode="auto">
          <a:xfrm>
            <a:off x="952500" y="3021013"/>
            <a:ext cx="7620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800" i="1">
                <a:latin typeface="Times New Roman" panose="02020603050405020304" pitchFamily="18" charset="0"/>
              </a:rPr>
              <a:t>C</a:t>
            </a:r>
            <a:endParaRPr lang="en-US" altLang="zh-CN" sz="1800"/>
          </a:p>
        </p:txBody>
      </p:sp>
      <p:sp>
        <p:nvSpPr>
          <p:cNvPr id="14358" name="Rectangle 23" descr="宽上对角线"/>
          <p:cNvSpPr>
            <a:spLocks noChangeArrowheads="1"/>
          </p:cNvSpPr>
          <p:nvPr/>
        </p:nvSpPr>
        <p:spPr bwMode="auto">
          <a:xfrm>
            <a:off x="973138" y="3887788"/>
            <a:ext cx="215900" cy="79375"/>
          </a:xfrm>
          <a:prstGeom prst="rect">
            <a:avLst/>
          </a:prstGeom>
          <a:pattFill prst="wdUpDiag">
            <a:fgClr>
              <a:srgbClr val="000000"/>
            </a:fgClr>
            <a:bgClr>
              <a:srgbClr val="FFFF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59" name="Rectangle 24" descr="宽上对角线"/>
          <p:cNvSpPr>
            <a:spLocks noChangeArrowheads="1"/>
          </p:cNvSpPr>
          <p:nvPr/>
        </p:nvSpPr>
        <p:spPr bwMode="auto">
          <a:xfrm>
            <a:off x="2681288" y="3887788"/>
            <a:ext cx="215900" cy="79375"/>
          </a:xfrm>
          <a:prstGeom prst="rect">
            <a:avLst/>
          </a:prstGeom>
          <a:pattFill prst="wdUpDiag">
            <a:fgClr>
              <a:srgbClr val="000000"/>
            </a:fgClr>
            <a:bgClr>
              <a:srgbClr val="FFFF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60" name="Oval 25"/>
          <p:cNvSpPr>
            <a:spLocks noChangeArrowheads="1"/>
          </p:cNvSpPr>
          <p:nvPr/>
        </p:nvSpPr>
        <p:spPr bwMode="auto">
          <a:xfrm>
            <a:off x="2703513" y="3643313"/>
            <a:ext cx="163512" cy="152400"/>
          </a:xfrm>
          <a:prstGeom prst="ellipse">
            <a:avLst/>
          </a:prstGeom>
          <a:solidFill>
            <a:srgbClr val="FFFFFF"/>
          </a:solidFill>
          <a:ln w="9525">
            <a:solidFill>
              <a:srgbClr val="000000"/>
            </a:solidFill>
            <a:round/>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61" name="Oval 26"/>
          <p:cNvSpPr>
            <a:spLocks noChangeArrowheads="1"/>
          </p:cNvSpPr>
          <p:nvPr/>
        </p:nvSpPr>
        <p:spPr bwMode="auto">
          <a:xfrm>
            <a:off x="2297113" y="3259138"/>
            <a:ext cx="968375" cy="914400"/>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62" name="Rectangle 27"/>
          <p:cNvSpPr>
            <a:spLocks noChangeArrowheads="1"/>
          </p:cNvSpPr>
          <p:nvPr/>
        </p:nvSpPr>
        <p:spPr bwMode="auto">
          <a:xfrm>
            <a:off x="609600" y="3098800"/>
            <a:ext cx="3046413" cy="153988"/>
          </a:xfrm>
          <a:prstGeom prst="rect">
            <a:avLst/>
          </a:prstGeom>
          <a:solidFill>
            <a:srgbClr val="FFFFFF"/>
          </a:solidFill>
          <a:ln w="9525">
            <a:solidFill>
              <a:srgbClr val="000000"/>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363" name="Text Box 28"/>
          <p:cNvSpPr txBox="1">
            <a:spLocks noChangeArrowheads="1"/>
          </p:cNvSpPr>
          <p:nvPr/>
        </p:nvSpPr>
        <p:spPr bwMode="auto">
          <a:xfrm>
            <a:off x="647700" y="3478213"/>
            <a:ext cx="7620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800" i="1">
                <a:latin typeface="Times New Roman" panose="02020603050405020304" pitchFamily="18" charset="0"/>
              </a:rPr>
              <a:t>A</a:t>
            </a:r>
            <a:endParaRPr lang="en-US" altLang="zh-CN" sz="1800"/>
          </a:p>
        </p:txBody>
      </p:sp>
      <p:sp>
        <p:nvSpPr>
          <p:cNvPr id="14364" name="Text Box 29"/>
          <p:cNvSpPr txBox="1">
            <a:spLocks noChangeArrowheads="1"/>
          </p:cNvSpPr>
          <p:nvPr/>
        </p:nvSpPr>
        <p:spPr bwMode="auto">
          <a:xfrm>
            <a:off x="2781300" y="3478213"/>
            <a:ext cx="7620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800" i="1">
                <a:latin typeface="Times New Roman" panose="02020603050405020304" pitchFamily="18" charset="0"/>
              </a:rPr>
              <a:t>B</a:t>
            </a:r>
            <a:endParaRPr lang="en-US" altLang="zh-CN" sz="1800"/>
          </a:p>
        </p:txBody>
      </p:sp>
      <p:sp>
        <p:nvSpPr>
          <p:cNvPr id="14365" name="Line 30"/>
          <p:cNvSpPr>
            <a:spLocks noChangeShapeType="1"/>
          </p:cNvSpPr>
          <p:nvPr/>
        </p:nvSpPr>
        <p:spPr bwMode="auto">
          <a:xfrm flipH="1" flipV="1">
            <a:off x="609600" y="3989388"/>
            <a:ext cx="190500" cy="1778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66" name="Line 31"/>
          <p:cNvSpPr>
            <a:spLocks noChangeShapeType="1"/>
          </p:cNvSpPr>
          <p:nvPr/>
        </p:nvSpPr>
        <p:spPr bwMode="auto">
          <a:xfrm flipV="1">
            <a:off x="3086100" y="3989388"/>
            <a:ext cx="190500" cy="1778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 name="Group 32"/>
          <p:cNvGrpSpPr/>
          <p:nvPr/>
        </p:nvGrpSpPr>
        <p:grpSpPr bwMode="auto">
          <a:xfrm>
            <a:off x="1562100" y="2563813"/>
            <a:ext cx="2095500" cy="1781175"/>
            <a:chOff x="984" y="1615"/>
            <a:chExt cx="1320" cy="1122"/>
          </a:xfrm>
        </p:grpSpPr>
        <p:grpSp>
          <p:nvGrpSpPr>
            <p:cNvPr id="14379" name="Group 33"/>
            <p:cNvGrpSpPr/>
            <p:nvPr/>
          </p:nvGrpSpPr>
          <p:grpSpPr bwMode="auto">
            <a:xfrm>
              <a:off x="1344" y="1615"/>
              <a:ext cx="960" cy="842"/>
              <a:chOff x="1344" y="1615"/>
              <a:chExt cx="960" cy="842"/>
            </a:xfrm>
          </p:grpSpPr>
          <p:sp>
            <p:nvSpPr>
              <p:cNvPr id="14381" name="Text Box 34"/>
              <p:cNvSpPr txBox="1">
                <a:spLocks noChangeArrowheads="1"/>
              </p:cNvSpPr>
              <p:nvPr/>
            </p:nvSpPr>
            <p:spPr bwMode="auto">
              <a:xfrm>
                <a:off x="1824" y="1615"/>
                <a:ext cx="4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i="1">
                    <a:solidFill>
                      <a:srgbClr val="D60093"/>
                    </a:solidFill>
                    <a:latin typeface="Times New Roman" panose="02020603050405020304" pitchFamily="18" charset="0"/>
                  </a:rPr>
                  <a:t>N</a:t>
                </a:r>
                <a:r>
                  <a:rPr lang="en-US" altLang="zh-CN" b="1" i="1" baseline="-25000">
                    <a:solidFill>
                      <a:srgbClr val="D60093"/>
                    </a:solidFill>
                    <a:latin typeface="Times New Roman" panose="02020603050405020304" pitchFamily="18" charset="0"/>
                  </a:rPr>
                  <a:t>B</a:t>
                </a:r>
                <a:endParaRPr lang="en-US" altLang="zh-CN" b="1">
                  <a:solidFill>
                    <a:srgbClr val="D60093"/>
                  </a:solidFill>
                </a:endParaRPr>
              </a:p>
            </p:txBody>
          </p:sp>
          <p:sp>
            <p:nvSpPr>
              <p:cNvPr id="14382" name="Line 35"/>
              <p:cNvSpPr>
                <a:spLocks noChangeShapeType="1"/>
              </p:cNvSpPr>
              <p:nvPr/>
            </p:nvSpPr>
            <p:spPr bwMode="auto">
              <a:xfrm flipV="1">
                <a:off x="1824" y="1727"/>
                <a:ext cx="0" cy="225"/>
              </a:xfrm>
              <a:prstGeom prst="line">
                <a:avLst/>
              </a:prstGeom>
              <a:noFill/>
              <a:ln w="1905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83" name="Line 36"/>
              <p:cNvSpPr>
                <a:spLocks noChangeShapeType="1"/>
              </p:cNvSpPr>
              <p:nvPr/>
            </p:nvSpPr>
            <p:spPr bwMode="auto">
              <a:xfrm>
                <a:off x="1344" y="2064"/>
                <a:ext cx="0" cy="393"/>
              </a:xfrm>
              <a:prstGeom prst="line">
                <a:avLst/>
              </a:prstGeom>
              <a:noFill/>
              <a:ln w="1905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380" name="Text Box 37"/>
            <p:cNvSpPr txBox="1">
              <a:spLocks noChangeArrowheads="1"/>
            </p:cNvSpPr>
            <p:nvPr/>
          </p:nvSpPr>
          <p:spPr bwMode="auto">
            <a:xfrm>
              <a:off x="984" y="2288"/>
              <a:ext cx="4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i="1">
                  <a:solidFill>
                    <a:srgbClr val="D60093"/>
                  </a:solidFill>
                  <a:latin typeface="Times New Roman" panose="02020603050405020304" pitchFamily="18" charset="0"/>
                </a:rPr>
                <a:t>mg</a:t>
              </a:r>
              <a:endParaRPr lang="en-US" altLang="zh-CN" b="1">
                <a:solidFill>
                  <a:srgbClr val="D60093"/>
                </a:solidFill>
              </a:endParaRPr>
            </a:p>
          </p:txBody>
        </p:sp>
      </p:grpSp>
      <p:grpSp>
        <p:nvGrpSpPr>
          <p:cNvPr id="6" name="Group 38"/>
          <p:cNvGrpSpPr/>
          <p:nvPr/>
        </p:nvGrpSpPr>
        <p:grpSpPr bwMode="auto">
          <a:xfrm>
            <a:off x="1333500" y="2563813"/>
            <a:ext cx="1752600" cy="712787"/>
            <a:chOff x="840" y="1615"/>
            <a:chExt cx="1104" cy="449"/>
          </a:xfrm>
        </p:grpSpPr>
        <p:sp>
          <p:nvSpPr>
            <p:cNvPr id="14375" name="Text Box 39"/>
            <p:cNvSpPr txBox="1">
              <a:spLocks noChangeArrowheads="1"/>
            </p:cNvSpPr>
            <p:nvPr/>
          </p:nvSpPr>
          <p:spPr bwMode="auto">
            <a:xfrm>
              <a:off x="864" y="1615"/>
              <a:ext cx="4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i="1">
                  <a:solidFill>
                    <a:srgbClr val="D60093"/>
                  </a:solidFill>
                  <a:latin typeface="Times New Roman" panose="02020603050405020304" pitchFamily="18" charset="0"/>
                </a:rPr>
                <a:t>f</a:t>
              </a:r>
              <a:r>
                <a:rPr lang="en-US" altLang="zh-CN" b="1" i="1" baseline="-25000">
                  <a:solidFill>
                    <a:srgbClr val="D60093"/>
                  </a:solidFill>
                  <a:latin typeface="Times New Roman" panose="02020603050405020304" pitchFamily="18" charset="0"/>
                </a:rPr>
                <a:t>A</a:t>
              </a:r>
              <a:endParaRPr lang="en-US" altLang="zh-CN" b="1">
                <a:solidFill>
                  <a:srgbClr val="D60093"/>
                </a:solidFill>
              </a:endParaRPr>
            </a:p>
          </p:txBody>
        </p:sp>
        <p:sp>
          <p:nvSpPr>
            <p:cNvPr id="14376" name="Text Box 40"/>
            <p:cNvSpPr txBox="1">
              <a:spLocks noChangeArrowheads="1"/>
            </p:cNvSpPr>
            <p:nvPr/>
          </p:nvSpPr>
          <p:spPr bwMode="auto">
            <a:xfrm>
              <a:off x="1416" y="1615"/>
              <a:ext cx="4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i="1">
                  <a:solidFill>
                    <a:srgbClr val="D60093"/>
                  </a:solidFill>
                  <a:latin typeface="Times New Roman" panose="02020603050405020304" pitchFamily="18" charset="0"/>
                </a:rPr>
                <a:t>f</a:t>
              </a:r>
              <a:r>
                <a:rPr lang="en-US" altLang="zh-CN" b="1" i="1" baseline="-25000">
                  <a:solidFill>
                    <a:srgbClr val="D60093"/>
                  </a:solidFill>
                  <a:latin typeface="Times New Roman" panose="02020603050405020304" pitchFamily="18" charset="0"/>
                </a:rPr>
                <a:t>B</a:t>
              </a:r>
              <a:endParaRPr lang="en-US" altLang="zh-CN" b="1">
                <a:solidFill>
                  <a:srgbClr val="D60093"/>
                </a:solidFill>
              </a:endParaRPr>
            </a:p>
          </p:txBody>
        </p:sp>
        <p:sp>
          <p:nvSpPr>
            <p:cNvPr id="14377" name="Line 41"/>
            <p:cNvSpPr>
              <a:spLocks noChangeShapeType="1"/>
            </p:cNvSpPr>
            <p:nvPr/>
          </p:nvSpPr>
          <p:spPr bwMode="auto">
            <a:xfrm>
              <a:off x="840" y="1999"/>
              <a:ext cx="360" cy="0"/>
            </a:xfrm>
            <a:prstGeom prst="line">
              <a:avLst/>
            </a:prstGeom>
            <a:noFill/>
            <a:ln w="1905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78" name="Line 42"/>
            <p:cNvSpPr>
              <a:spLocks noChangeShapeType="1"/>
            </p:cNvSpPr>
            <p:nvPr/>
          </p:nvSpPr>
          <p:spPr bwMode="auto">
            <a:xfrm flipH="1">
              <a:off x="1464" y="2008"/>
              <a:ext cx="480" cy="0"/>
            </a:xfrm>
            <a:prstGeom prst="line">
              <a:avLst/>
            </a:prstGeom>
            <a:noFill/>
            <a:ln w="1905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66955" name="Rectangle 43"/>
          <p:cNvSpPr>
            <a:spLocks noChangeArrowheads="1"/>
          </p:cNvSpPr>
          <p:nvPr/>
        </p:nvSpPr>
        <p:spPr bwMode="auto">
          <a:xfrm>
            <a:off x="3124200" y="2133600"/>
            <a:ext cx="165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7620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7620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7620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7620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kumimoji="1" lang="en-US" altLang="zh-CN" b="1">
                <a:solidFill>
                  <a:srgbClr val="FF0000"/>
                </a:solidFill>
                <a:latin typeface="宋体" panose="02010600030101010101" pitchFamily="2" charset="-122"/>
              </a:rPr>
              <a:t>【</a:t>
            </a:r>
            <a:r>
              <a:rPr kumimoji="1" lang="zh-CN" altLang="en-US" b="1">
                <a:solidFill>
                  <a:srgbClr val="FF0000"/>
                </a:solidFill>
                <a:latin typeface="Times New Roman" panose="02020603050405020304" pitchFamily="18" charset="0"/>
              </a:rPr>
              <a:t>解</a:t>
            </a:r>
            <a:r>
              <a:rPr kumimoji="1" lang="en-US" altLang="zh-CN" b="1">
                <a:solidFill>
                  <a:srgbClr val="FF0000"/>
                </a:solidFill>
                <a:latin typeface="宋体" panose="02010600030101010101" pitchFamily="2" charset="-122"/>
              </a:rPr>
              <a:t>】</a:t>
            </a:r>
            <a:endParaRPr kumimoji="1" lang="en-US" altLang="zh-CN" b="1">
              <a:solidFill>
                <a:srgbClr val="FF0000"/>
              </a:solidFill>
              <a:latin typeface="Times New Roman" panose="02020603050405020304" pitchFamily="18" charset="0"/>
            </a:endParaRPr>
          </a:p>
        </p:txBody>
      </p:sp>
      <p:sp>
        <p:nvSpPr>
          <p:cNvPr id="14370" name="Rectangle 4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7" name="Group 45"/>
          <p:cNvGrpSpPr/>
          <p:nvPr/>
        </p:nvGrpSpPr>
        <p:grpSpPr bwMode="auto">
          <a:xfrm>
            <a:off x="4191000" y="2286000"/>
            <a:ext cx="4724400" cy="1219200"/>
            <a:chOff x="2784" y="2448"/>
            <a:chExt cx="2818" cy="768"/>
          </a:xfrm>
        </p:grpSpPr>
        <p:sp>
          <p:nvSpPr>
            <p:cNvPr id="14374" name="Rectangle 46"/>
            <p:cNvSpPr>
              <a:spLocks noChangeArrowheads="1"/>
            </p:cNvSpPr>
            <p:nvPr/>
          </p:nvSpPr>
          <p:spPr bwMode="auto">
            <a:xfrm>
              <a:off x="2784" y="2448"/>
              <a:ext cx="2818"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cs typeface="Times New Roman" panose="02020603050405020304" pitchFamily="18" charset="0"/>
                </a:rPr>
                <a:t>以两轮位置的中点（对称位置）</a:t>
              </a:r>
              <a:endParaRPr lang="zh-CN" altLang="en-US" b="1">
                <a:cs typeface="Times New Roman" panose="02020603050405020304" pitchFamily="18" charset="0"/>
              </a:endParaRPr>
            </a:p>
            <a:p>
              <a:pPr eaLnBrk="1" hangingPunct="1"/>
              <a:r>
                <a:rPr lang="zh-CN" altLang="en-US" b="1">
                  <a:cs typeface="Times New Roman" panose="02020603050405020304" pitchFamily="18" charset="0"/>
                </a:rPr>
                <a:t>为坐标原点建立坐标轴，设</a:t>
              </a:r>
              <a:r>
                <a:rPr lang="zh-CN" altLang="en-US" b="1">
                  <a:latin typeface="Times New Roman" panose="02020603050405020304" pitchFamily="18" charset="0"/>
                  <a:cs typeface="Times New Roman" panose="02020603050405020304" pitchFamily="18" charset="0"/>
                </a:rPr>
                <a:t>木板</a:t>
              </a:r>
              <a:endParaRPr lang="zh-CN" altLang="en-US" b="1">
                <a:latin typeface="Times New Roman" panose="02020603050405020304" pitchFamily="18" charset="0"/>
                <a:cs typeface="Times New Roman" panose="02020603050405020304" pitchFamily="18" charset="0"/>
              </a:endParaRPr>
            </a:p>
            <a:p>
              <a:pPr eaLnBrk="1" hangingPunct="1"/>
              <a:r>
                <a:rPr lang="zh-CN" altLang="en-US" b="1">
                  <a:latin typeface="Times New Roman" panose="02020603050405020304" pitchFamily="18" charset="0"/>
                  <a:cs typeface="Times New Roman" panose="02020603050405020304" pitchFamily="18" charset="0"/>
                </a:rPr>
                <a:t>的质心位置坐标为</a:t>
              </a:r>
              <a:endParaRPr lang="zh-CN" altLang="en-US" b="1"/>
            </a:p>
          </p:txBody>
        </p:sp>
        <p:graphicFrame>
          <p:nvGraphicFramePr>
            <p:cNvPr id="14342" name="Object 47"/>
            <p:cNvGraphicFramePr>
              <a:graphicFrameLocks noChangeAspect="1"/>
            </p:cNvGraphicFramePr>
            <p:nvPr/>
          </p:nvGraphicFramePr>
          <p:xfrm>
            <a:off x="4416" y="2928"/>
            <a:ext cx="249" cy="288"/>
          </p:xfrm>
          <a:graphic>
            <a:graphicData uri="http://schemas.openxmlformats.org/presentationml/2006/ole">
              <mc:AlternateContent xmlns:mc="http://schemas.openxmlformats.org/markup-compatibility/2006">
                <mc:Choice xmlns:v="urn:schemas-microsoft-com:vml" Requires="v">
                  <p:oleObj spid="_x0000_s14565" name="Equation" r:id="rId1" imgW="127000" imgH="139700" progId="Equation.DSMT4">
                    <p:embed/>
                  </p:oleObj>
                </mc:Choice>
                <mc:Fallback>
                  <p:oleObj name="Equation" r:id="rId1" imgW="127000" imgH="139700" progId="Equation.DSMT4">
                    <p:embed/>
                    <p:pic>
                      <p:nvPicPr>
                        <p:cNvPr id="0" name="Object 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6" y="2928"/>
                          <a:ext cx="249"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6960" name="Rectangle 48"/>
          <p:cNvSpPr>
            <a:spLocks noChangeArrowheads="1"/>
          </p:cNvSpPr>
          <p:nvPr/>
        </p:nvSpPr>
        <p:spPr bwMode="auto">
          <a:xfrm>
            <a:off x="3657600" y="3733800"/>
            <a:ext cx="1971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宋体" panose="02010600030101010101" pitchFamily="2" charset="-122"/>
                <a:cs typeface="Times New Roman" panose="02020603050405020304" pitchFamily="18" charset="0"/>
              </a:rPr>
              <a:t>以</a:t>
            </a:r>
            <a:r>
              <a:rPr lang="en-US" altLang="zh-CN" b="1">
                <a:latin typeface="Times New Roman" panose="02020603050405020304" pitchFamily="18" charset="0"/>
                <a:cs typeface="Times New Roman" panose="02020603050405020304" pitchFamily="18" charset="0"/>
              </a:rPr>
              <a:t>A</a:t>
            </a:r>
            <a:r>
              <a:rPr lang="zh-CN" altLang="en-US" b="1">
                <a:latin typeface="宋体" panose="02010600030101010101" pitchFamily="2" charset="-122"/>
                <a:cs typeface="Times New Roman" panose="02020603050405020304" pitchFamily="18" charset="0"/>
              </a:rPr>
              <a:t>为支点有</a:t>
            </a:r>
            <a:r>
              <a:rPr lang="zh-CN" altLang="en-US" sz="1000">
                <a:cs typeface="Times New Roman" panose="02020603050405020304" pitchFamily="18" charset="0"/>
              </a:rPr>
              <a:t> </a:t>
            </a:r>
            <a:endParaRPr lang="zh-CN" altLang="en-US" sz="1800"/>
          </a:p>
        </p:txBody>
      </p:sp>
      <p:graphicFrame>
        <p:nvGraphicFramePr>
          <p:cNvPr id="166961" name="Object 49"/>
          <p:cNvGraphicFramePr>
            <a:graphicFrameLocks noChangeAspect="1"/>
          </p:cNvGraphicFramePr>
          <p:nvPr/>
        </p:nvGraphicFramePr>
        <p:xfrm>
          <a:off x="5715000" y="3581400"/>
          <a:ext cx="2895600" cy="574675"/>
        </p:xfrm>
        <a:graphic>
          <a:graphicData uri="http://schemas.openxmlformats.org/presentationml/2006/ole">
            <mc:AlternateContent xmlns:mc="http://schemas.openxmlformats.org/markup-compatibility/2006">
              <mc:Choice xmlns:v="urn:schemas-microsoft-com:vml" Requires="v">
                <p:oleObj spid="_x0000_s14566" name="Equation" r:id="rId3" imgW="1349375" imgH="267335" progId="Equation.DSMT4">
                  <p:embed/>
                </p:oleObj>
              </mc:Choice>
              <mc:Fallback>
                <p:oleObj name="Equation" r:id="rId3" imgW="1349375" imgH="267335" progId="Equation.DSMT4">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3581400"/>
                        <a:ext cx="2895600" cy="574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6962" name="Object 50"/>
          <p:cNvGraphicFramePr>
            <a:graphicFrameLocks noChangeAspect="1"/>
          </p:cNvGraphicFramePr>
          <p:nvPr/>
        </p:nvGraphicFramePr>
        <p:xfrm>
          <a:off x="6089848" y="4314825"/>
          <a:ext cx="2362200" cy="896938"/>
        </p:xfrm>
        <a:graphic>
          <a:graphicData uri="http://schemas.openxmlformats.org/presentationml/2006/ole">
            <mc:AlternateContent xmlns:mc="http://schemas.openxmlformats.org/markup-compatibility/2006">
              <mc:Choice xmlns:v="urn:schemas-microsoft-com:vml" Requires="v">
                <p:oleObj spid="_x0000_s14567" name="Equation" r:id="rId5" imgW="1204595" imgH="457200" progId="Equation.DSMT4">
                  <p:embed/>
                </p:oleObj>
              </mc:Choice>
              <mc:Fallback>
                <p:oleObj name="Equation" r:id="rId5" imgW="1204595" imgH="457200" progId="Equation.DSMT4">
                  <p:embed/>
                  <p:pic>
                    <p:nvPicPr>
                      <p:cNvPr id="0" name="Object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9848" y="4314825"/>
                        <a:ext cx="2362200" cy="896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6963" name="Rectangle 51"/>
          <p:cNvSpPr>
            <a:spLocks noChangeArrowheads="1"/>
          </p:cNvSpPr>
          <p:nvPr/>
        </p:nvSpPr>
        <p:spPr bwMode="auto">
          <a:xfrm>
            <a:off x="152400" y="5410200"/>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cs typeface="Times New Roman" panose="02020603050405020304" pitchFamily="18" charset="0"/>
              </a:rPr>
              <a:t>以 </a:t>
            </a:r>
            <a:r>
              <a:rPr lang="en-US" altLang="zh-CN" b="1">
                <a:latin typeface="Times New Roman" panose="02020603050405020304" pitchFamily="18" charset="0"/>
                <a:cs typeface="Times New Roman" panose="02020603050405020304" pitchFamily="18" charset="0"/>
              </a:rPr>
              <a:t>B</a:t>
            </a:r>
            <a:r>
              <a:rPr lang="zh-CN" altLang="en-US" b="1">
                <a:cs typeface="Times New Roman" panose="02020603050405020304" pitchFamily="18" charset="0"/>
              </a:rPr>
              <a:t>为支点有</a:t>
            </a:r>
            <a:r>
              <a:rPr lang="zh-CN" altLang="en-US" sz="1000">
                <a:cs typeface="Times New Roman" panose="02020603050405020304" pitchFamily="18" charset="0"/>
              </a:rPr>
              <a:t> </a:t>
            </a:r>
            <a:endParaRPr lang="zh-CN" altLang="en-US" sz="1800"/>
          </a:p>
        </p:txBody>
      </p:sp>
      <p:graphicFrame>
        <p:nvGraphicFramePr>
          <p:cNvPr id="166964" name="Object 52"/>
          <p:cNvGraphicFramePr>
            <a:graphicFrameLocks noChangeAspect="1"/>
          </p:cNvGraphicFramePr>
          <p:nvPr/>
        </p:nvGraphicFramePr>
        <p:xfrm>
          <a:off x="2362200" y="5334000"/>
          <a:ext cx="3200400" cy="635000"/>
        </p:xfrm>
        <a:graphic>
          <a:graphicData uri="http://schemas.openxmlformats.org/presentationml/2006/ole">
            <mc:AlternateContent xmlns:mc="http://schemas.openxmlformats.org/markup-compatibility/2006">
              <mc:Choice xmlns:v="urn:schemas-microsoft-com:vml" Requires="v">
                <p:oleObj spid="_x0000_s14568" name="Equation" r:id="rId7" imgW="1349375" imgH="267335" progId="Equation.DSMT4">
                  <p:embed/>
                </p:oleObj>
              </mc:Choice>
              <mc:Fallback>
                <p:oleObj name="Equation" r:id="rId7" imgW="1349375" imgH="267335" progId="Equation.DSMT4">
                  <p:embed/>
                  <p:pic>
                    <p:nvPicPr>
                      <p:cNvPr id="0" name="Object 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5334000"/>
                        <a:ext cx="3200400"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6965" name="Object 53"/>
          <p:cNvGraphicFramePr>
            <a:graphicFrameLocks noChangeAspect="1"/>
          </p:cNvGraphicFramePr>
          <p:nvPr/>
        </p:nvGraphicFramePr>
        <p:xfrm>
          <a:off x="6089848" y="5181600"/>
          <a:ext cx="2514600" cy="954088"/>
        </p:xfrm>
        <a:graphic>
          <a:graphicData uri="http://schemas.openxmlformats.org/presentationml/2006/ole">
            <mc:AlternateContent xmlns:mc="http://schemas.openxmlformats.org/markup-compatibility/2006">
              <mc:Choice xmlns:v="urn:schemas-microsoft-com:vml" Requires="v">
                <p:oleObj spid="_x0000_s14569" name="Equation" r:id="rId9" imgW="1204595" imgH="457200" progId="Equation.DSMT4">
                  <p:embed/>
                </p:oleObj>
              </mc:Choice>
              <mc:Fallback>
                <p:oleObj name="Equation" r:id="rId9" imgW="1204595" imgH="457200" progId="Equation.DSMT4">
                  <p:embed/>
                  <p:pic>
                    <p:nvPicPr>
                      <p:cNvPr id="0" name="Object 5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89848" y="5181600"/>
                        <a:ext cx="2514600" cy="95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6955"/>
                                        </p:tgtEl>
                                        <p:attrNameLst>
                                          <p:attrName>style.visibility</p:attrName>
                                        </p:attrNameLst>
                                      </p:cBhvr>
                                      <p:to>
                                        <p:strVal val="visible"/>
                                      </p:to>
                                    </p:set>
                                    <p:animEffect transition="in" filter="wipe(left)">
                                      <p:cBhvr>
                                        <p:cTn id="22" dur="500"/>
                                        <p:tgtEl>
                                          <p:spTgt spid="16695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6960"/>
                                        </p:tgtEl>
                                        <p:attrNameLst>
                                          <p:attrName>style.visibility</p:attrName>
                                        </p:attrNameLst>
                                      </p:cBhvr>
                                      <p:to>
                                        <p:strVal val="visible"/>
                                      </p:to>
                                    </p:set>
                                    <p:animEffect transition="in" filter="wipe(left)">
                                      <p:cBhvr>
                                        <p:cTn id="37" dur="500"/>
                                        <p:tgtEl>
                                          <p:spTgt spid="16696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6961"/>
                                        </p:tgtEl>
                                        <p:attrNameLst>
                                          <p:attrName>style.visibility</p:attrName>
                                        </p:attrNameLst>
                                      </p:cBhvr>
                                      <p:to>
                                        <p:strVal val="visible"/>
                                      </p:to>
                                    </p:set>
                                    <p:animEffect transition="in" filter="wipe(left)">
                                      <p:cBhvr>
                                        <p:cTn id="42" dur="500"/>
                                        <p:tgtEl>
                                          <p:spTgt spid="16696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66962"/>
                                        </p:tgtEl>
                                        <p:attrNameLst>
                                          <p:attrName>style.visibility</p:attrName>
                                        </p:attrNameLst>
                                      </p:cBhvr>
                                      <p:to>
                                        <p:strVal val="visible"/>
                                      </p:to>
                                    </p:set>
                                    <p:animEffect transition="in" filter="wipe(left)">
                                      <p:cBhvr>
                                        <p:cTn id="47" dur="500"/>
                                        <p:tgtEl>
                                          <p:spTgt spid="16696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6963"/>
                                        </p:tgtEl>
                                        <p:attrNameLst>
                                          <p:attrName>style.visibility</p:attrName>
                                        </p:attrNameLst>
                                      </p:cBhvr>
                                      <p:to>
                                        <p:strVal val="visible"/>
                                      </p:to>
                                    </p:set>
                                    <p:animEffect transition="in" filter="wipe(left)">
                                      <p:cBhvr>
                                        <p:cTn id="52" dur="500"/>
                                        <p:tgtEl>
                                          <p:spTgt spid="16696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66964"/>
                                        </p:tgtEl>
                                        <p:attrNameLst>
                                          <p:attrName>style.visibility</p:attrName>
                                        </p:attrNameLst>
                                      </p:cBhvr>
                                      <p:to>
                                        <p:strVal val="visible"/>
                                      </p:to>
                                    </p:set>
                                    <p:animEffect transition="in" filter="wipe(left)">
                                      <p:cBhvr>
                                        <p:cTn id="57" dur="500"/>
                                        <p:tgtEl>
                                          <p:spTgt spid="16696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66965"/>
                                        </p:tgtEl>
                                        <p:attrNameLst>
                                          <p:attrName>style.visibility</p:attrName>
                                        </p:attrNameLst>
                                      </p:cBhvr>
                                      <p:to>
                                        <p:strVal val="visible"/>
                                      </p:to>
                                    </p:set>
                                    <p:animEffect transition="in" filter="wipe(left)">
                                      <p:cBhvr>
                                        <p:cTn id="62" dur="500"/>
                                        <p:tgtEl>
                                          <p:spTgt spid="166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55" grpId="0"/>
      <p:bldP spid="166960" grpId="0"/>
      <p:bldP spid="16696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8" name="Rectangle 2"/>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67939" name="Object 3"/>
          <p:cNvGraphicFramePr>
            <a:graphicFrameLocks noChangeAspect="1"/>
          </p:cNvGraphicFramePr>
          <p:nvPr/>
        </p:nvGraphicFramePr>
        <p:xfrm>
          <a:off x="1315616" y="1089063"/>
          <a:ext cx="6436568" cy="1060708"/>
        </p:xfrm>
        <a:graphic>
          <a:graphicData uri="http://schemas.openxmlformats.org/presentationml/2006/ole">
            <mc:AlternateContent xmlns:mc="http://schemas.openxmlformats.org/markup-compatibility/2006">
              <mc:Choice xmlns:v="urn:schemas-microsoft-com:vml" Requires="v">
                <p:oleObj spid="_x0000_s15601" name="Equation" r:id="rId1" imgW="2776855" imgH="457200" progId="Equation.DSMT4">
                  <p:embed/>
                </p:oleObj>
              </mc:Choice>
              <mc:Fallback>
                <p:oleObj name="Equation" r:id="rId1" imgW="2776855" imgH="457200"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5616" y="1089063"/>
                        <a:ext cx="6436568" cy="1060708"/>
                      </a:xfrm>
                      <a:prstGeom prst="rect">
                        <a:avLst/>
                      </a:prstGeom>
                      <a:noFill/>
                    </p:spPr>
                  </p:pic>
                </p:oleObj>
              </mc:Fallback>
            </mc:AlternateContent>
          </a:graphicData>
        </a:graphic>
      </p:graphicFrame>
      <p:graphicFrame>
        <p:nvGraphicFramePr>
          <p:cNvPr id="15363" name="Object 4"/>
          <p:cNvGraphicFramePr>
            <a:graphicFrameLocks noGrp="1" noChangeAspect="1"/>
          </p:cNvGraphicFramePr>
          <p:nvPr>
            <p:ph sz="half" idx="1"/>
          </p:nvPr>
        </p:nvGraphicFramePr>
        <p:xfrm>
          <a:off x="1763688" y="160158"/>
          <a:ext cx="2285256" cy="873774"/>
        </p:xfrm>
        <a:graphic>
          <a:graphicData uri="http://schemas.openxmlformats.org/presentationml/2006/ole">
            <mc:AlternateContent xmlns:mc="http://schemas.openxmlformats.org/markup-compatibility/2006">
              <mc:Choice xmlns:v="urn:schemas-microsoft-com:vml" Requires="v">
                <p:oleObj spid="_x0000_s15602" name="Equation" r:id="rId3" imgW="1204595" imgH="457200" progId="Equation.DSMT4">
                  <p:embed/>
                </p:oleObj>
              </mc:Choice>
              <mc:Fallback>
                <p:oleObj name="Equation" r:id="rId3" imgW="1204595" imgH="4572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160158"/>
                        <a:ext cx="2285256" cy="873774"/>
                      </a:xfrm>
                      <a:prstGeom prst="rect">
                        <a:avLst/>
                      </a:prstGeom>
                      <a:solidFill>
                        <a:srgbClr val="FFFF99"/>
                      </a:solidFill>
                      <a:ln>
                        <a:noFill/>
                      </a:ln>
                      <a:effectLst/>
                    </p:spPr>
                  </p:pic>
                </p:oleObj>
              </mc:Fallback>
            </mc:AlternateContent>
          </a:graphicData>
        </a:graphic>
      </p:graphicFrame>
      <p:graphicFrame>
        <p:nvGraphicFramePr>
          <p:cNvPr id="15364" name="Object 5"/>
          <p:cNvGraphicFramePr>
            <a:graphicFrameLocks noGrp="1" noChangeAspect="1"/>
          </p:cNvGraphicFramePr>
          <p:nvPr>
            <p:ph sz="half" idx="2"/>
          </p:nvPr>
        </p:nvGraphicFramePr>
        <p:xfrm>
          <a:off x="5004048" y="154120"/>
          <a:ext cx="2226568" cy="852358"/>
        </p:xfrm>
        <a:graphic>
          <a:graphicData uri="http://schemas.openxmlformats.org/presentationml/2006/ole">
            <mc:AlternateContent xmlns:mc="http://schemas.openxmlformats.org/markup-compatibility/2006">
              <mc:Choice xmlns:v="urn:schemas-microsoft-com:vml" Requires="v">
                <p:oleObj spid="_x0000_s15603" name="Equation" r:id="rId5" imgW="1204595" imgH="457200" progId="Equation.DSMT4">
                  <p:embed/>
                </p:oleObj>
              </mc:Choice>
              <mc:Fallback>
                <p:oleObj name="Equation" r:id="rId5" imgW="1204595" imgH="4572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4048" y="154120"/>
                        <a:ext cx="2226568" cy="852358"/>
                      </a:xfrm>
                      <a:prstGeom prst="rect">
                        <a:avLst/>
                      </a:prstGeom>
                      <a:solidFill>
                        <a:srgbClr val="FFFF99"/>
                      </a:solidFill>
                      <a:ln>
                        <a:noFill/>
                      </a:ln>
                      <a:effectLst/>
                    </p:spPr>
                  </p:pic>
                </p:oleObj>
              </mc:Fallback>
            </mc:AlternateContent>
          </a:graphicData>
        </a:graphic>
      </p:graphicFrame>
      <p:graphicFrame>
        <p:nvGraphicFramePr>
          <p:cNvPr id="167943" name="Object 7"/>
          <p:cNvGraphicFramePr>
            <a:graphicFrameLocks noChangeAspect="1"/>
          </p:cNvGraphicFramePr>
          <p:nvPr/>
        </p:nvGraphicFramePr>
        <p:xfrm>
          <a:off x="1362125" y="2133600"/>
          <a:ext cx="2743200" cy="1039813"/>
        </p:xfrm>
        <a:graphic>
          <a:graphicData uri="http://schemas.openxmlformats.org/presentationml/2006/ole">
            <mc:AlternateContent xmlns:mc="http://schemas.openxmlformats.org/markup-compatibility/2006">
              <mc:Choice xmlns:v="urn:schemas-microsoft-com:vml" Requires="v">
                <p:oleObj spid="_x0000_s15604" name="Equation" r:id="rId7" imgW="1293495" imgH="490855" progId="Equation.DSMT4">
                  <p:embed/>
                </p:oleObj>
              </mc:Choice>
              <mc:Fallback>
                <p:oleObj name="Equation" r:id="rId7" imgW="1293495" imgH="490855"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2125" y="2133600"/>
                        <a:ext cx="2743200" cy="1039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7944" name="Rectangle 8"/>
          <p:cNvSpPr>
            <a:spLocks noChangeArrowheads="1"/>
          </p:cNvSpPr>
          <p:nvPr/>
        </p:nvSpPr>
        <p:spPr bwMode="auto">
          <a:xfrm>
            <a:off x="523925" y="2390775"/>
            <a:ext cx="55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即</a:t>
            </a:r>
            <a:r>
              <a:rPr lang="zh-CN" altLang="en-US" sz="1800" dirty="0"/>
              <a:t> </a:t>
            </a:r>
            <a:endParaRPr lang="zh-CN" altLang="en-US" sz="1800" dirty="0"/>
          </a:p>
        </p:txBody>
      </p:sp>
      <p:sp>
        <p:nvSpPr>
          <p:cNvPr id="167945" name="Rectangle 9"/>
          <p:cNvSpPr>
            <a:spLocks noChangeArrowheads="1"/>
          </p:cNvSpPr>
          <p:nvPr/>
        </p:nvSpPr>
        <p:spPr bwMode="auto">
          <a:xfrm>
            <a:off x="5004048" y="3418748"/>
            <a:ext cx="3733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D60093"/>
                </a:solidFill>
              </a:rPr>
              <a:t>故木板作简谐振动。</a:t>
            </a:r>
            <a:r>
              <a:rPr lang="zh-CN" altLang="en-US" sz="1800" dirty="0"/>
              <a:t> </a:t>
            </a:r>
            <a:endParaRPr lang="zh-CN" altLang="en-US" sz="1800" dirty="0"/>
          </a:p>
        </p:txBody>
      </p:sp>
      <p:graphicFrame>
        <p:nvGraphicFramePr>
          <p:cNvPr id="167946" name="Object 10"/>
          <p:cNvGraphicFramePr>
            <a:graphicFrameLocks noChangeAspect="1"/>
          </p:cNvGraphicFramePr>
          <p:nvPr/>
        </p:nvGraphicFramePr>
        <p:xfrm>
          <a:off x="5763127" y="3991347"/>
          <a:ext cx="1476375" cy="1036638"/>
        </p:xfrm>
        <a:graphic>
          <a:graphicData uri="http://schemas.openxmlformats.org/presentationml/2006/ole">
            <mc:AlternateContent xmlns:mc="http://schemas.openxmlformats.org/markup-compatibility/2006">
              <mc:Choice xmlns:v="urn:schemas-microsoft-com:vml" Requires="v">
                <p:oleObj spid="_x0000_s15605" name="Equation" r:id="rId9" imgW="747395" imgH="523875" progId="Equation.DSMT4">
                  <p:embed/>
                </p:oleObj>
              </mc:Choice>
              <mc:Fallback>
                <p:oleObj name="Equation" r:id="rId9" imgW="747395" imgH="523875"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63127" y="3991347"/>
                        <a:ext cx="1476375" cy="1036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7947" name="Object 11"/>
          <p:cNvGraphicFramePr>
            <a:graphicFrameLocks noChangeAspect="1"/>
          </p:cNvGraphicFramePr>
          <p:nvPr/>
        </p:nvGraphicFramePr>
        <p:xfrm>
          <a:off x="5176441" y="5167274"/>
          <a:ext cx="2971800" cy="1203325"/>
        </p:xfrm>
        <a:graphic>
          <a:graphicData uri="http://schemas.openxmlformats.org/presentationml/2006/ole">
            <mc:AlternateContent xmlns:mc="http://schemas.openxmlformats.org/markup-compatibility/2006">
              <mc:Choice xmlns:v="urn:schemas-microsoft-com:vml" Requires="v">
                <p:oleObj spid="_x0000_s15606" name="Equation" r:id="rId11" imgW="1349375" imgH="546100" progId="Equation.DSMT4">
                  <p:embed/>
                </p:oleObj>
              </mc:Choice>
              <mc:Fallback>
                <p:oleObj name="Equation" r:id="rId11" imgW="1349375" imgH="54610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76441" y="5167274"/>
                        <a:ext cx="2971800" cy="1203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Oval 3"/>
          <p:cNvSpPr>
            <a:spLocks noChangeArrowheads="1"/>
          </p:cNvSpPr>
          <p:nvPr/>
        </p:nvSpPr>
        <p:spPr bwMode="auto">
          <a:xfrm>
            <a:off x="1110749" y="4954960"/>
            <a:ext cx="163512" cy="152400"/>
          </a:xfrm>
          <a:prstGeom prst="ellipse">
            <a:avLst/>
          </a:prstGeom>
          <a:solidFill>
            <a:srgbClr val="FFFFFF"/>
          </a:solidFill>
          <a:ln w="9525">
            <a:solidFill>
              <a:srgbClr val="000000"/>
            </a:solidFill>
            <a:round/>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 name="Line 4"/>
          <p:cNvSpPr>
            <a:spLocks noChangeShapeType="1"/>
          </p:cNvSpPr>
          <p:nvPr/>
        </p:nvSpPr>
        <p:spPr bwMode="auto">
          <a:xfrm>
            <a:off x="1185361" y="5562972"/>
            <a:ext cx="0" cy="4397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5"/>
          <p:cNvSpPr>
            <a:spLocks noChangeShapeType="1"/>
          </p:cNvSpPr>
          <p:nvPr/>
        </p:nvSpPr>
        <p:spPr bwMode="auto">
          <a:xfrm>
            <a:off x="2923674" y="5548685"/>
            <a:ext cx="0" cy="4397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6"/>
          <p:cNvSpPr>
            <a:spLocks noChangeShapeType="1"/>
          </p:cNvSpPr>
          <p:nvPr/>
        </p:nvSpPr>
        <p:spPr bwMode="auto">
          <a:xfrm>
            <a:off x="1134561" y="5777285"/>
            <a:ext cx="1838325" cy="3175"/>
          </a:xfrm>
          <a:prstGeom prst="line">
            <a:avLst/>
          </a:prstGeom>
          <a:noFill/>
          <a:ln w="9525">
            <a:solidFill>
              <a:srgbClr val="000000"/>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6" name="Text Box 7"/>
          <p:cNvSpPr txBox="1">
            <a:spLocks noChangeArrowheads="1"/>
          </p:cNvSpPr>
          <p:nvPr/>
        </p:nvSpPr>
        <p:spPr bwMode="auto">
          <a:xfrm>
            <a:off x="1880686" y="5591547"/>
            <a:ext cx="350838" cy="4333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Times New Roman" panose="02020603050405020304" pitchFamily="18" charset="0"/>
              </a:rPr>
              <a:t>2</a:t>
            </a:r>
            <a:r>
              <a:rPr lang="en-US" altLang="zh-CN" sz="2000" i="1">
                <a:latin typeface="Times New Roman" panose="02020603050405020304" pitchFamily="18" charset="0"/>
              </a:rPr>
              <a:t>d</a:t>
            </a:r>
            <a:endParaRPr lang="en-US" altLang="zh-CN" sz="2000"/>
          </a:p>
        </p:txBody>
      </p:sp>
      <p:sp>
        <p:nvSpPr>
          <p:cNvPr id="17" name="Line 8"/>
          <p:cNvSpPr>
            <a:spLocks noChangeShapeType="1"/>
          </p:cNvSpPr>
          <p:nvPr/>
        </p:nvSpPr>
        <p:spPr bwMode="auto">
          <a:xfrm>
            <a:off x="2058486" y="6161460"/>
            <a:ext cx="0" cy="603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9"/>
          <p:cNvSpPr>
            <a:spLocks noChangeShapeType="1"/>
          </p:cNvSpPr>
          <p:nvPr/>
        </p:nvSpPr>
        <p:spPr bwMode="auto">
          <a:xfrm flipV="1">
            <a:off x="2248986" y="4588247"/>
            <a:ext cx="0" cy="1603375"/>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nvGrpSpPr>
          <p:cNvPr id="19" name="Group 10"/>
          <p:cNvGrpSpPr/>
          <p:nvPr/>
        </p:nvGrpSpPr>
        <p:grpSpPr bwMode="auto">
          <a:xfrm>
            <a:off x="534486" y="3875460"/>
            <a:ext cx="762000" cy="712787"/>
            <a:chOff x="264" y="1615"/>
            <a:chExt cx="480" cy="449"/>
          </a:xfrm>
        </p:grpSpPr>
        <p:sp>
          <p:nvSpPr>
            <p:cNvPr id="20" name="Line 11"/>
            <p:cNvSpPr>
              <a:spLocks noChangeShapeType="1"/>
            </p:cNvSpPr>
            <p:nvPr/>
          </p:nvSpPr>
          <p:spPr bwMode="auto">
            <a:xfrm flipV="1">
              <a:off x="624" y="1727"/>
              <a:ext cx="0" cy="225"/>
            </a:xfrm>
            <a:prstGeom prst="line">
              <a:avLst/>
            </a:prstGeom>
            <a:noFill/>
            <a:ln w="9525">
              <a:solidFill>
                <a:srgbClr val="D60093"/>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Text Box 12"/>
            <p:cNvSpPr txBox="1">
              <a:spLocks noChangeArrowheads="1"/>
            </p:cNvSpPr>
            <p:nvPr/>
          </p:nvSpPr>
          <p:spPr bwMode="auto">
            <a:xfrm>
              <a:off x="264" y="1615"/>
              <a:ext cx="4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i="1">
                  <a:solidFill>
                    <a:srgbClr val="D60093"/>
                  </a:solidFill>
                  <a:latin typeface="Times New Roman" panose="02020603050405020304" pitchFamily="18" charset="0"/>
                </a:rPr>
                <a:t>N</a:t>
              </a:r>
              <a:r>
                <a:rPr lang="en-US" altLang="zh-CN" b="1" i="1" baseline="-25000">
                  <a:solidFill>
                    <a:srgbClr val="D60093"/>
                  </a:solidFill>
                  <a:latin typeface="Times New Roman" panose="02020603050405020304" pitchFamily="18" charset="0"/>
                </a:rPr>
                <a:t>A</a:t>
              </a:r>
              <a:endParaRPr lang="en-US" altLang="zh-CN" b="1">
                <a:solidFill>
                  <a:srgbClr val="D60093"/>
                </a:solidFill>
              </a:endParaRPr>
            </a:p>
          </p:txBody>
        </p:sp>
      </p:grpSp>
      <p:sp>
        <p:nvSpPr>
          <p:cNvPr id="22" name="Line 13"/>
          <p:cNvSpPr>
            <a:spLocks noChangeShapeType="1"/>
          </p:cNvSpPr>
          <p:nvPr/>
        </p:nvSpPr>
        <p:spPr bwMode="auto">
          <a:xfrm>
            <a:off x="2248986" y="4410447"/>
            <a:ext cx="0" cy="177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AutoShape 19"/>
          <p:cNvSpPr>
            <a:spLocks noChangeArrowheads="1"/>
          </p:cNvSpPr>
          <p:nvPr/>
        </p:nvSpPr>
        <p:spPr bwMode="auto">
          <a:xfrm flipV="1">
            <a:off x="1088524" y="5027985"/>
            <a:ext cx="215900" cy="160337"/>
          </a:xfrm>
          <a:custGeom>
            <a:avLst/>
            <a:gdLst>
              <a:gd name="T0" fmla="*/ 2147483647 w 21600"/>
              <a:gd name="T1" fmla="*/ 1806783554 h 21600"/>
              <a:gd name="T2" fmla="*/ 2147483647 w 21600"/>
              <a:gd name="T3" fmla="*/ 2147483647 h 21600"/>
              <a:gd name="T4" fmla="*/ 2147483647 w 21600"/>
              <a:gd name="T5" fmla="*/ 1806783554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FF"/>
          </a:solidFill>
          <a:ln w="9525">
            <a:solidFill>
              <a:srgbClr val="111111"/>
            </a:solidFill>
            <a:miter lim="800000"/>
          </a:ln>
        </p:spPr>
        <p:txBody>
          <a:bodyPr/>
          <a:lstStyle/>
          <a:p>
            <a:endParaRPr lang="zh-CN" altLang="en-US"/>
          </a:p>
        </p:txBody>
      </p:sp>
      <p:sp>
        <p:nvSpPr>
          <p:cNvPr id="24" name="AutoShape 20"/>
          <p:cNvSpPr>
            <a:spLocks noChangeArrowheads="1"/>
          </p:cNvSpPr>
          <p:nvPr/>
        </p:nvSpPr>
        <p:spPr bwMode="auto">
          <a:xfrm flipV="1">
            <a:off x="2796674" y="5027985"/>
            <a:ext cx="215900" cy="160337"/>
          </a:xfrm>
          <a:custGeom>
            <a:avLst/>
            <a:gdLst>
              <a:gd name="T0" fmla="*/ 2147483647 w 21600"/>
              <a:gd name="T1" fmla="*/ 1806783554 h 21600"/>
              <a:gd name="T2" fmla="*/ 2147483647 w 21600"/>
              <a:gd name="T3" fmla="*/ 2147483647 h 21600"/>
              <a:gd name="T4" fmla="*/ 2147483647 w 21600"/>
              <a:gd name="T5" fmla="*/ 1806783554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FF"/>
          </a:solidFill>
          <a:ln w="9525">
            <a:solidFill>
              <a:srgbClr val="111111"/>
            </a:solidFill>
            <a:miter lim="800000"/>
          </a:ln>
        </p:spPr>
        <p:txBody>
          <a:bodyPr/>
          <a:lstStyle/>
          <a:p>
            <a:endParaRPr lang="zh-CN" altLang="en-US"/>
          </a:p>
        </p:txBody>
      </p:sp>
      <p:sp>
        <p:nvSpPr>
          <p:cNvPr id="25" name="Oval 21"/>
          <p:cNvSpPr>
            <a:spLocks noChangeArrowheads="1"/>
          </p:cNvSpPr>
          <p:nvPr/>
        </p:nvSpPr>
        <p:spPr bwMode="auto">
          <a:xfrm>
            <a:off x="704349" y="4570785"/>
            <a:ext cx="968375" cy="914400"/>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6" name="Text Box 22"/>
          <p:cNvSpPr txBox="1">
            <a:spLocks noChangeArrowheads="1"/>
          </p:cNvSpPr>
          <p:nvPr/>
        </p:nvSpPr>
        <p:spPr bwMode="auto">
          <a:xfrm>
            <a:off x="1067886" y="4332660"/>
            <a:ext cx="7620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800" i="1">
                <a:latin typeface="Times New Roman" panose="02020603050405020304" pitchFamily="18" charset="0"/>
              </a:rPr>
              <a:t>C</a:t>
            </a:r>
            <a:endParaRPr lang="en-US" altLang="zh-CN" sz="1800"/>
          </a:p>
        </p:txBody>
      </p:sp>
      <p:sp>
        <p:nvSpPr>
          <p:cNvPr id="27" name="Rectangle 23" descr="宽上对角线"/>
          <p:cNvSpPr>
            <a:spLocks noChangeArrowheads="1"/>
          </p:cNvSpPr>
          <p:nvPr/>
        </p:nvSpPr>
        <p:spPr bwMode="auto">
          <a:xfrm>
            <a:off x="1088524" y="5199435"/>
            <a:ext cx="215900" cy="79375"/>
          </a:xfrm>
          <a:prstGeom prst="rect">
            <a:avLst/>
          </a:prstGeom>
          <a:pattFill prst="wdUpDiag">
            <a:fgClr>
              <a:srgbClr val="000000"/>
            </a:fgClr>
            <a:bgClr>
              <a:srgbClr val="FFFF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 name="Rectangle 24" descr="宽上对角线"/>
          <p:cNvSpPr>
            <a:spLocks noChangeArrowheads="1"/>
          </p:cNvSpPr>
          <p:nvPr/>
        </p:nvSpPr>
        <p:spPr bwMode="auto">
          <a:xfrm>
            <a:off x="2796674" y="5199435"/>
            <a:ext cx="215900" cy="79375"/>
          </a:xfrm>
          <a:prstGeom prst="rect">
            <a:avLst/>
          </a:prstGeom>
          <a:pattFill prst="wdUpDiag">
            <a:fgClr>
              <a:srgbClr val="000000"/>
            </a:fgClr>
            <a:bgClr>
              <a:srgbClr val="FFFF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 name="Oval 25"/>
          <p:cNvSpPr>
            <a:spLocks noChangeArrowheads="1"/>
          </p:cNvSpPr>
          <p:nvPr/>
        </p:nvSpPr>
        <p:spPr bwMode="auto">
          <a:xfrm>
            <a:off x="2818899" y="4954960"/>
            <a:ext cx="163512" cy="152400"/>
          </a:xfrm>
          <a:prstGeom prst="ellipse">
            <a:avLst/>
          </a:prstGeom>
          <a:solidFill>
            <a:srgbClr val="FFFFFF"/>
          </a:solidFill>
          <a:ln w="9525">
            <a:solidFill>
              <a:srgbClr val="000000"/>
            </a:solidFill>
            <a:round/>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 name="Oval 26"/>
          <p:cNvSpPr>
            <a:spLocks noChangeArrowheads="1"/>
          </p:cNvSpPr>
          <p:nvPr/>
        </p:nvSpPr>
        <p:spPr bwMode="auto">
          <a:xfrm>
            <a:off x="2412499" y="4570785"/>
            <a:ext cx="968375" cy="914400"/>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 name="Rectangle 27"/>
          <p:cNvSpPr>
            <a:spLocks noChangeArrowheads="1"/>
          </p:cNvSpPr>
          <p:nvPr/>
        </p:nvSpPr>
        <p:spPr bwMode="auto">
          <a:xfrm>
            <a:off x="724986" y="4410447"/>
            <a:ext cx="3046413" cy="153988"/>
          </a:xfrm>
          <a:prstGeom prst="rect">
            <a:avLst/>
          </a:prstGeom>
          <a:solidFill>
            <a:srgbClr val="FFFFFF"/>
          </a:solidFill>
          <a:ln w="9525">
            <a:solidFill>
              <a:srgbClr val="000000"/>
            </a:solidFill>
            <a:miter lim="800000"/>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2" name="Text Box 28"/>
          <p:cNvSpPr txBox="1">
            <a:spLocks noChangeArrowheads="1"/>
          </p:cNvSpPr>
          <p:nvPr/>
        </p:nvSpPr>
        <p:spPr bwMode="auto">
          <a:xfrm>
            <a:off x="763086" y="4789860"/>
            <a:ext cx="7620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800" i="1">
                <a:latin typeface="Times New Roman" panose="02020603050405020304" pitchFamily="18" charset="0"/>
              </a:rPr>
              <a:t>A</a:t>
            </a:r>
            <a:endParaRPr lang="en-US" altLang="zh-CN" sz="1800"/>
          </a:p>
        </p:txBody>
      </p:sp>
      <p:sp>
        <p:nvSpPr>
          <p:cNvPr id="33" name="Text Box 29"/>
          <p:cNvSpPr txBox="1">
            <a:spLocks noChangeArrowheads="1"/>
          </p:cNvSpPr>
          <p:nvPr/>
        </p:nvSpPr>
        <p:spPr bwMode="auto">
          <a:xfrm>
            <a:off x="2896686" y="4789860"/>
            <a:ext cx="7620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800" i="1">
                <a:latin typeface="Times New Roman" panose="02020603050405020304" pitchFamily="18" charset="0"/>
              </a:rPr>
              <a:t>B</a:t>
            </a:r>
            <a:endParaRPr lang="en-US" altLang="zh-CN" sz="1800"/>
          </a:p>
        </p:txBody>
      </p:sp>
      <p:sp>
        <p:nvSpPr>
          <p:cNvPr id="34" name="Line 30"/>
          <p:cNvSpPr>
            <a:spLocks noChangeShapeType="1"/>
          </p:cNvSpPr>
          <p:nvPr/>
        </p:nvSpPr>
        <p:spPr bwMode="auto">
          <a:xfrm flipH="1" flipV="1">
            <a:off x="724986" y="5301035"/>
            <a:ext cx="190500" cy="1778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31"/>
          <p:cNvSpPr>
            <a:spLocks noChangeShapeType="1"/>
          </p:cNvSpPr>
          <p:nvPr/>
        </p:nvSpPr>
        <p:spPr bwMode="auto">
          <a:xfrm flipV="1">
            <a:off x="3201486" y="5301035"/>
            <a:ext cx="190500" cy="1778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6" name="Group 32"/>
          <p:cNvGrpSpPr/>
          <p:nvPr/>
        </p:nvGrpSpPr>
        <p:grpSpPr bwMode="auto">
          <a:xfrm>
            <a:off x="1677486" y="3875460"/>
            <a:ext cx="2095500" cy="1781175"/>
            <a:chOff x="984" y="1615"/>
            <a:chExt cx="1320" cy="1122"/>
          </a:xfrm>
        </p:grpSpPr>
        <p:grpSp>
          <p:nvGrpSpPr>
            <p:cNvPr id="37" name="Group 33"/>
            <p:cNvGrpSpPr/>
            <p:nvPr/>
          </p:nvGrpSpPr>
          <p:grpSpPr bwMode="auto">
            <a:xfrm>
              <a:off x="1344" y="1615"/>
              <a:ext cx="960" cy="842"/>
              <a:chOff x="1344" y="1615"/>
              <a:chExt cx="960" cy="842"/>
            </a:xfrm>
          </p:grpSpPr>
          <p:sp>
            <p:nvSpPr>
              <p:cNvPr id="39" name="Text Box 34"/>
              <p:cNvSpPr txBox="1">
                <a:spLocks noChangeArrowheads="1"/>
              </p:cNvSpPr>
              <p:nvPr/>
            </p:nvSpPr>
            <p:spPr bwMode="auto">
              <a:xfrm>
                <a:off x="1824" y="1615"/>
                <a:ext cx="4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i="1">
                    <a:solidFill>
                      <a:srgbClr val="D60093"/>
                    </a:solidFill>
                    <a:latin typeface="Times New Roman" panose="02020603050405020304" pitchFamily="18" charset="0"/>
                  </a:rPr>
                  <a:t>N</a:t>
                </a:r>
                <a:r>
                  <a:rPr lang="en-US" altLang="zh-CN" b="1" i="1" baseline="-25000">
                    <a:solidFill>
                      <a:srgbClr val="D60093"/>
                    </a:solidFill>
                    <a:latin typeface="Times New Roman" panose="02020603050405020304" pitchFamily="18" charset="0"/>
                  </a:rPr>
                  <a:t>B</a:t>
                </a:r>
                <a:endParaRPr lang="en-US" altLang="zh-CN" b="1">
                  <a:solidFill>
                    <a:srgbClr val="D60093"/>
                  </a:solidFill>
                </a:endParaRPr>
              </a:p>
            </p:txBody>
          </p:sp>
          <p:sp>
            <p:nvSpPr>
              <p:cNvPr id="40" name="Line 35"/>
              <p:cNvSpPr>
                <a:spLocks noChangeShapeType="1"/>
              </p:cNvSpPr>
              <p:nvPr/>
            </p:nvSpPr>
            <p:spPr bwMode="auto">
              <a:xfrm flipV="1">
                <a:off x="1824" y="1727"/>
                <a:ext cx="0" cy="225"/>
              </a:xfrm>
              <a:prstGeom prst="line">
                <a:avLst/>
              </a:prstGeom>
              <a:noFill/>
              <a:ln w="1905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Line 36"/>
              <p:cNvSpPr>
                <a:spLocks noChangeShapeType="1"/>
              </p:cNvSpPr>
              <p:nvPr/>
            </p:nvSpPr>
            <p:spPr bwMode="auto">
              <a:xfrm>
                <a:off x="1344" y="2064"/>
                <a:ext cx="0" cy="393"/>
              </a:xfrm>
              <a:prstGeom prst="line">
                <a:avLst/>
              </a:prstGeom>
              <a:noFill/>
              <a:ln w="1905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8" name="Text Box 37"/>
            <p:cNvSpPr txBox="1">
              <a:spLocks noChangeArrowheads="1"/>
            </p:cNvSpPr>
            <p:nvPr/>
          </p:nvSpPr>
          <p:spPr bwMode="auto">
            <a:xfrm>
              <a:off x="984" y="2288"/>
              <a:ext cx="4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i="1">
                  <a:solidFill>
                    <a:srgbClr val="D60093"/>
                  </a:solidFill>
                  <a:latin typeface="Times New Roman" panose="02020603050405020304" pitchFamily="18" charset="0"/>
                </a:rPr>
                <a:t>mg</a:t>
              </a:r>
              <a:endParaRPr lang="en-US" altLang="zh-CN" b="1">
                <a:solidFill>
                  <a:srgbClr val="D60093"/>
                </a:solidFill>
              </a:endParaRPr>
            </a:p>
          </p:txBody>
        </p:sp>
      </p:grpSp>
      <p:grpSp>
        <p:nvGrpSpPr>
          <p:cNvPr id="42" name="Group 38"/>
          <p:cNvGrpSpPr/>
          <p:nvPr/>
        </p:nvGrpSpPr>
        <p:grpSpPr bwMode="auto">
          <a:xfrm>
            <a:off x="1448886" y="3875460"/>
            <a:ext cx="1752600" cy="712787"/>
            <a:chOff x="840" y="1615"/>
            <a:chExt cx="1104" cy="449"/>
          </a:xfrm>
        </p:grpSpPr>
        <p:sp>
          <p:nvSpPr>
            <p:cNvPr id="43" name="Text Box 39"/>
            <p:cNvSpPr txBox="1">
              <a:spLocks noChangeArrowheads="1"/>
            </p:cNvSpPr>
            <p:nvPr/>
          </p:nvSpPr>
          <p:spPr bwMode="auto">
            <a:xfrm>
              <a:off x="864" y="1615"/>
              <a:ext cx="4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i="1">
                  <a:solidFill>
                    <a:srgbClr val="D60093"/>
                  </a:solidFill>
                  <a:latin typeface="Times New Roman" panose="02020603050405020304" pitchFamily="18" charset="0"/>
                </a:rPr>
                <a:t>f</a:t>
              </a:r>
              <a:r>
                <a:rPr lang="en-US" altLang="zh-CN" b="1" i="1" baseline="-25000">
                  <a:solidFill>
                    <a:srgbClr val="D60093"/>
                  </a:solidFill>
                  <a:latin typeface="Times New Roman" panose="02020603050405020304" pitchFamily="18" charset="0"/>
                </a:rPr>
                <a:t>A</a:t>
              </a:r>
              <a:endParaRPr lang="en-US" altLang="zh-CN" b="1">
                <a:solidFill>
                  <a:srgbClr val="D60093"/>
                </a:solidFill>
              </a:endParaRPr>
            </a:p>
          </p:txBody>
        </p:sp>
        <p:sp>
          <p:nvSpPr>
            <p:cNvPr id="44" name="Text Box 40"/>
            <p:cNvSpPr txBox="1">
              <a:spLocks noChangeArrowheads="1"/>
            </p:cNvSpPr>
            <p:nvPr/>
          </p:nvSpPr>
          <p:spPr bwMode="auto">
            <a:xfrm>
              <a:off x="1416" y="1615"/>
              <a:ext cx="4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b="1" i="1">
                  <a:solidFill>
                    <a:srgbClr val="D60093"/>
                  </a:solidFill>
                  <a:latin typeface="Times New Roman" panose="02020603050405020304" pitchFamily="18" charset="0"/>
                </a:rPr>
                <a:t>f</a:t>
              </a:r>
              <a:r>
                <a:rPr lang="en-US" altLang="zh-CN" b="1" i="1" baseline="-25000">
                  <a:solidFill>
                    <a:srgbClr val="D60093"/>
                  </a:solidFill>
                  <a:latin typeface="Times New Roman" panose="02020603050405020304" pitchFamily="18" charset="0"/>
                </a:rPr>
                <a:t>B</a:t>
              </a:r>
              <a:endParaRPr lang="en-US" altLang="zh-CN" b="1">
                <a:solidFill>
                  <a:srgbClr val="D60093"/>
                </a:solidFill>
              </a:endParaRPr>
            </a:p>
          </p:txBody>
        </p:sp>
        <p:sp>
          <p:nvSpPr>
            <p:cNvPr id="45" name="Line 41"/>
            <p:cNvSpPr>
              <a:spLocks noChangeShapeType="1"/>
            </p:cNvSpPr>
            <p:nvPr/>
          </p:nvSpPr>
          <p:spPr bwMode="auto">
            <a:xfrm>
              <a:off x="840" y="1999"/>
              <a:ext cx="360" cy="0"/>
            </a:xfrm>
            <a:prstGeom prst="line">
              <a:avLst/>
            </a:prstGeom>
            <a:noFill/>
            <a:ln w="1905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42"/>
            <p:cNvSpPr>
              <a:spLocks noChangeShapeType="1"/>
            </p:cNvSpPr>
            <p:nvPr/>
          </p:nvSpPr>
          <p:spPr bwMode="auto">
            <a:xfrm flipH="1">
              <a:off x="1464" y="2008"/>
              <a:ext cx="480" cy="0"/>
            </a:xfrm>
            <a:prstGeom prst="line">
              <a:avLst/>
            </a:prstGeom>
            <a:noFill/>
            <a:ln w="19050">
              <a:solidFill>
                <a:srgbClr val="FF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49" name="Object 7"/>
          <p:cNvGraphicFramePr>
            <a:graphicFrameLocks noChangeAspect="1"/>
          </p:cNvGraphicFramePr>
          <p:nvPr/>
        </p:nvGraphicFramePr>
        <p:xfrm>
          <a:off x="5449888" y="2171700"/>
          <a:ext cx="2427287" cy="1039813"/>
        </p:xfrm>
        <a:graphic>
          <a:graphicData uri="http://schemas.openxmlformats.org/presentationml/2006/ole">
            <mc:AlternateContent xmlns:mc="http://schemas.openxmlformats.org/markup-compatibility/2006">
              <mc:Choice xmlns:v="urn:schemas-microsoft-com:vml" Requires="v">
                <p:oleObj spid="_x0000_s15607" name="Equation" r:id="rId13" imgW="23469600" imgH="10058400" progId="Equation.DSMT4">
                  <p:embed/>
                </p:oleObj>
              </mc:Choice>
              <mc:Fallback>
                <p:oleObj name="Equation" r:id="rId13" imgW="23469600" imgH="10058400" progId="Equation.DSMT4">
                  <p:embed/>
                  <p:pic>
                    <p:nvPicPr>
                      <p:cNvPr id="0" name="Object 7"/>
                      <p:cNvPicPr>
                        <a:picLocks noChangeAspect="1" noChangeArrowheads="1"/>
                      </p:cNvPicPr>
                      <p:nvPr/>
                    </p:nvPicPr>
                    <p:blipFill>
                      <a:blip r:embed="rId14"/>
                      <a:srcRect/>
                      <a:stretch>
                        <a:fillRect/>
                      </a:stretch>
                    </p:blipFill>
                    <p:spPr bwMode="auto">
                      <a:xfrm>
                        <a:off x="5449888" y="2171700"/>
                        <a:ext cx="2427287" cy="1039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7939"/>
                                        </p:tgtEl>
                                        <p:attrNameLst>
                                          <p:attrName>style.visibility</p:attrName>
                                        </p:attrNameLst>
                                      </p:cBhvr>
                                      <p:to>
                                        <p:strVal val="visible"/>
                                      </p:to>
                                    </p:set>
                                    <p:animEffect transition="in" filter="wipe(left)">
                                      <p:cBhvr>
                                        <p:cTn id="7" dur="500"/>
                                        <p:tgtEl>
                                          <p:spTgt spid="1679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7944"/>
                                        </p:tgtEl>
                                        <p:attrNameLst>
                                          <p:attrName>style.visibility</p:attrName>
                                        </p:attrNameLst>
                                      </p:cBhvr>
                                      <p:to>
                                        <p:strVal val="visible"/>
                                      </p:to>
                                    </p:set>
                                    <p:animEffect transition="in" filter="wipe(left)">
                                      <p:cBhvr>
                                        <p:cTn id="12" dur="500"/>
                                        <p:tgtEl>
                                          <p:spTgt spid="1679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7943"/>
                                        </p:tgtEl>
                                        <p:attrNameLst>
                                          <p:attrName>style.visibility</p:attrName>
                                        </p:attrNameLst>
                                      </p:cBhvr>
                                      <p:to>
                                        <p:strVal val="visible"/>
                                      </p:to>
                                    </p:set>
                                    <p:animEffect transition="in" filter="wipe(left)">
                                      <p:cBhvr>
                                        <p:cTn id="17" dur="500"/>
                                        <p:tgtEl>
                                          <p:spTgt spid="1679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wipe(left)">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7945"/>
                                        </p:tgtEl>
                                        <p:attrNameLst>
                                          <p:attrName>style.visibility</p:attrName>
                                        </p:attrNameLst>
                                      </p:cBhvr>
                                      <p:to>
                                        <p:strVal val="visible"/>
                                      </p:to>
                                    </p:set>
                                    <p:animEffect transition="in" filter="wipe(left)">
                                      <p:cBhvr>
                                        <p:cTn id="27" dur="500"/>
                                        <p:tgtEl>
                                          <p:spTgt spid="16794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7946"/>
                                        </p:tgtEl>
                                        <p:attrNameLst>
                                          <p:attrName>style.visibility</p:attrName>
                                        </p:attrNameLst>
                                      </p:cBhvr>
                                      <p:to>
                                        <p:strVal val="visible"/>
                                      </p:to>
                                    </p:set>
                                    <p:animEffect transition="in" filter="wipe(left)">
                                      <p:cBhvr>
                                        <p:cTn id="32" dur="500"/>
                                        <p:tgtEl>
                                          <p:spTgt spid="16794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7947"/>
                                        </p:tgtEl>
                                        <p:attrNameLst>
                                          <p:attrName>style.visibility</p:attrName>
                                        </p:attrNameLst>
                                      </p:cBhvr>
                                      <p:to>
                                        <p:strVal val="visible"/>
                                      </p:to>
                                    </p:set>
                                    <p:animEffect transition="in" filter="wipe(left)">
                                      <p:cBhvr>
                                        <p:cTn id="37" dur="500"/>
                                        <p:tgtEl>
                                          <p:spTgt spid="167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4" grpId="0"/>
      <p:bldP spid="16794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426" name="Rectangle 2"/>
          <p:cNvSpPr>
            <a:spLocks noChangeArrowheads="1"/>
          </p:cNvSpPr>
          <p:nvPr/>
        </p:nvSpPr>
        <p:spPr bwMode="auto">
          <a:xfrm>
            <a:off x="323850" y="1504950"/>
            <a:ext cx="8382000" cy="2286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3427" name="Text Box 3"/>
          <p:cNvSpPr txBox="1">
            <a:spLocks noChangeArrowheads="1"/>
          </p:cNvSpPr>
          <p:nvPr/>
        </p:nvSpPr>
        <p:spPr bwMode="auto">
          <a:xfrm>
            <a:off x="171450" y="133350"/>
            <a:ext cx="8839200" cy="2655888"/>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lnSpc>
                <a:spcPct val="120000"/>
              </a:lnSpc>
            </a:pPr>
            <a:r>
              <a:rPr kumimoji="1" lang="zh-CN" altLang="en-US" sz="2800" dirty="0">
                <a:solidFill>
                  <a:srgbClr val="0000FF"/>
                </a:solidFill>
                <a:highlight>
                  <a:srgbClr val="FFFF00"/>
                </a:highlight>
                <a:latin typeface="Times New Roman" panose="02020603050405020304" pitchFamily="18" charset="0"/>
                <a:ea typeface="华文中宋" panose="02010600040101010101" pitchFamily="2" charset="-122"/>
              </a:rPr>
              <a:t>例</a:t>
            </a:r>
            <a:r>
              <a:rPr kumimoji="1" lang="en-US" altLang="zh-CN" sz="2800" dirty="0">
                <a:solidFill>
                  <a:srgbClr val="0000FF"/>
                </a:solidFill>
                <a:highlight>
                  <a:srgbClr val="FFFF00"/>
                </a:highlight>
                <a:latin typeface="Times New Roman" panose="02020603050405020304" pitchFamily="18" charset="0"/>
                <a:ea typeface="华文中宋" panose="02010600040101010101" pitchFamily="2" charset="-122"/>
              </a:rPr>
              <a:t>4</a:t>
            </a:r>
            <a:r>
              <a:rPr kumimoji="1" lang="en-US" altLang="zh-CN" sz="2800" dirty="0">
                <a:solidFill>
                  <a:srgbClr val="0000FF"/>
                </a:solidFill>
                <a:latin typeface="Times New Roman" panose="02020603050405020304" pitchFamily="18" charset="0"/>
                <a:ea typeface="华文中宋" panose="02010600040101010101" pitchFamily="2" charset="-122"/>
              </a:rPr>
              <a:t>. </a:t>
            </a:r>
            <a:r>
              <a:rPr kumimoji="1" lang="zh-CN" altLang="en-US" sz="2800" dirty="0">
                <a:solidFill>
                  <a:srgbClr val="0000FF"/>
                </a:solidFill>
                <a:latin typeface="Times New Roman" panose="02020603050405020304" pitchFamily="18" charset="0"/>
                <a:ea typeface="华文中宋" panose="02010600040101010101" pitchFamily="2" charset="-122"/>
              </a:rPr>
              <a:t>一质点同时参与两个同方向同频率的谐振动，其振动规律为 </a:t>
            </a:r>
            <a:r>
              <a:rPr kumimoji="1" lang="en-US" altLang="zh-CN" sz="2800" i="1" dirty="0">
                <a:solidFill>
                  <a:srgbClr val="0000FF"/>
                </a:solidFill>
                <a:latin typeface="Times New Roman" panose="02020603050405020304" pitchFamily="18" charset="0"/>
                <a:ea typeface="华文中宋" panose="02010600040101010101" pitchFamily="2" charset="-122"/>
              </a:rPr>
              <a:t>x</a:t>
            </a:r>
            <a:r>
              <a:rPr kumimoji="1" lang="en-US" altLang="zh-CN" sz="2800" baseline="-25000" dirty="0">
                <a:solidFill>
                  <a:srgbClr val="0000FF"/>
                </a:solidFill>
                <a:latin typeface="Times New Roman" panose="02020603050405020304" pitchFamily="18" charset="0"/>
                <a:ea typeface="华文中宋" panose="02010600040101010101" pitchFamily="2" charset="-122"/>
              </a:rPr>
              <a:t>1</a:t>
            </a:r>
            <a:r>
              <a:rPr kumimoji="1" lang="en-US" altLang="zh-CN" sz="2800" dirty="0">
                <a:solidFill>
                  <a:srgbClr val="0000FF"/>
                </a:solidFill>
                <a:latin typeface="Times New Roman" panose="02020603050405020304" pitchFamily="18" charset="0"/>
                <a:ea typeface="华文中宋" panose="02010600040101010101" pitchFamily="2" charset="-122"/>
              </a:rPr>
              <a:t>= 0.4cos(3</a:t>
            </a:r>
            <a:r>
              <a:rPr kumimoji="1" lang="en-US" altLang="zh-CN" sz="2800" i="1" dirty="0">
                <a:solidFill>
                  <a:srgbClr val="0000FF"/>
                </a:solidFill>
                <a:latin typeface="Times New Roman" panose="02020603050405020304" pitchFamily="18" charset="0"/>
                <a:ea typeface="华文中宋" panose="02010600040101010101" pitchFamily="2" charset="-122"/>
              </a:rPr>
              <a:t>t</a:t>
            </a:r>
            <a:r>
              <a:rPr kumimoji="1" lang="en-US" altLang="zh-CN" sz="2800" dirty="0">
                <a:solidFill>
                  <a:srgbClr val="0000FF"/>
                </a:solidFill>
                <a:latin typeface="Times New Roman" panose="02020603050405020304" pitchFamily="18" charset="0"/>
                <a:ea typeface="华文中宋" panose="02010600040101010101" pitchFamily="2" charset="-122"/>
              </a:rPr>
              <a:t> + </a:t>
            </a:r>
            <a:r>
              <a:rPr kumimoji="1" lang="en-US" altLang="zh-CN" sz="2800"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sz="2800" dirty="0">
                <a:solidFill>
                  <a:srgbClr val="0000FF"/>
                </a:solidFill>
                <a:latin typeface="Times New Roman" panose="02020603050405020304" pitchFamily="18" charset="0"/>
                <a:ea typeface="华文中宋" panose="02010600040101010101" pitchFamily="2" charset="-122"/>
              </a:rPr>
              <a:t>/3)</a:t>
            </a:r>
            <a:r>
              <a:rPr kumimoji="1" lang="zh-CN" altLang="en-US" sz="2800" dirty="0">
                <a:solidFill>
                  <a:srgbClr val="0000FF"/>
                </a:solidFill>
                <a:latin typeface="Times New Roman" panose="02020603050405020304" pitchFamily="18" charset="0"/>
                <a:ea typeface="华文中宋" panose="02010600040101010101" pitchFamily="2" charset="-122"/>
              </a:rPr>
              <a:t>，</a:t>
            </a:r>
            <a:r>
              <a:rPr kumimoji="1" lang="en-US" altLang="zh-CN" sz="2800" i="1" dirty="0">
                <a:solidFill>
                  <a:srgbClr val="0000FF"/>
                </a:solidFill>
                <a:latin typeface="Times New Roman" panose="02020603050405020304" pitchFamily="18" charset="0"/>
                <a:ea typeface="华文中宋" panose="02010600040101010101" pitchFamily="2" charset="-122"/>
              </a:rPr>
              <a:t>x</a:t>
            </a:r>
            <a:r>
              <a:rPr kumimoji="1" lang="en-US" altLang="zh-CN" sz="2800" baseline="-25000" dirty="0">
                <a:solidFill>
                  <a:srgbClr val="0000FF"/>
                </a:solidFill>
                <a:latin typeface="Times New Roman" panose="02020603050405020304" pitchFamily="18" charset="0"/>
                <a:ea typeface="华文中宋" panose="02010600040101010101" pitchFamily="2" charset="-122"/>
              </a:rPr>
              <a:t>2</a:t>
            </a:r>
            <a:r>
              <a:rPr kumimoji="1" lang="en-US" altLang="zh-CN" sz="2800" dirty="0">
                <a:solidFill>
                  <a:srgbClr val="0000FF"/>
                </a:solidFill>
                <a:latin typeface="Times New Roman" panose="02020603050405020304" pitchFamily="18" charset="0"/>
                <a:ea typeface="华文中宋" panose="02010600040101010101" pitchFamily="2" charset="-122"/>
              </a:rPr>
              <a:t>= 0.3cos(3</a:t>
            </a:r>
            <a:r>
              <a:rPr kumimoji="1" lang="en-US" altLang="zh-CN" sz="2800" i="1" dirty="0">
                <a:solidFill>
                  <a:srgbClr val="0000FF"/>
                </a:solidFill>
                <a:latin typeface="Times New Roman" panose="02020603050405020304" pitchFamily="18" charset="0"/>
                <a:ea typeface="华文中宋" panose="02010600040101010101" pitchFamily="2" charset="-122"/>
              </a:rPr>
              <a:t>t </a:t>
            </a:r>
            <a:r>
              <a:rPr kumimoji="1" lang="en-US" altLang="zh-CN" sz="2800" dirty="0">
                <a:solidFill>
                  <a:srgbClr val="0000FF"/>
                </a:solidFill>
                <a:latin typeface="宋体" panose="02010600030101010101" pitchFamily="2" charset="-122"/>
              </a:rPr>
              <a:t>-</a:t>
            </a:r>
            <a:r>
              <a:rPr kumimoji="1" lang="en-US" altLang="zh-CN" sz="2800" dirty="0">
                <a:solidFill>
                  <a:srgbClr val="0000FF"/>
                </a:solidFill>
                <a:latin typeface="Times New Roman" panose="02020603050405020304" pitchFamily="18" charset="0"/>
              </a:rPr>
              <a:t> </a:t>
            </a:r>
            <a:r>
              <a:rPr kumimoji="1" lang="en-US" altLang="zh-CN" sz="2800" dirty="0">
                <a:solidFill>
                  <a:srgbClr val="0000FF"/>
                </a:solidFill>
                <a:sym typeface="Symbol" panose="05050102010706020507" pitchFamily="18" charset="2"/>
              </a:rPr>
              <a:t></a:t>
            </a:r>
            <a:r>
              <a:rPr kumimoji="1" lang="en-US" altLang="zh-CN" sz="2800" dirty="0">
                <a:solidFill>
                  <a:srgbClr val="0000FF"/>
                </a:solidFill>
                <a:latin typeface="Times New Roman" panose="02020603050405020304" pitchFamily="18" charset="0"/>
                <a:ea typeface="华文中宋" panose="02010600040101010101" pitchFamily="2" charset="-122"/>
              </a:rPr>
              <a:t>/6) (SI)</a:t>
            </a:r>
            <a:r>
              <a:rPr kumimoji="1" lang="zh-CN" altLang="en-US" sz="2800" dirty="0">
                <a:solidFill>
                  <a:srgbClr val="0000FF"/>
                </a:solidFill>
                <a:latin typeface="Times New Roman" panose="02020603050405020304" pitchFamily="18" charset="0"/>
                <a:ea typeface="华文中宋" panose="02010600040101010101" pitchFamily="2" charset="-122"/>
              </a:rPr>
              <a:t>。</a:t>
            </a:r>
            <a:endParaRPr kumimoji="1" lang="zh-CN" altLang="en-US" sz="2800" dirty="0">
              <a:solidFill>
                <a:srgbClr val="0000FF"/>
              </a:solidFill>
              <a:latin typeface="Times New Roman" panose="02020603050405020304" pitchFamily="18" charset="0"/>
              <a:ea typeface="华文中宋" panose="02010600040101010101" pitchFamily="2" charset="-122"/>
            </a:endParaRPr>
          </a:p>
          <a:p>
            <a:pPr algn="just">
              <a:lnSpc>
                <a:spcPct val="120000"/>
              </a:lnSpc>
            </a:pPr>
            <a:r>
              <a:rPr kumimoji="1" lang="zh-CN" altLang="en-US" sz="2800" dirty="0">
                <a:solidFill>
                  <a:srgbClr val="0000FF"/>
                </a:solidFill>
                <a:latin typeface="Times New Roman" panose="02020603050405020304" pitchFamily="18" charset="0"/>
                <a:ea typeface="华文中宋" panose="02010600040101010101" pitchFamily="2" charset="-122"/>
              </a:rPr>
              <a:t>求：</a:t>
            </a:r>
            <a:r>
              <a:rPr kumimoji="1" lang="en-US" altLang="zh-CN" sz="2800" dirty="0">
                <a:solidFill>
                  <a:srgbClr val="0000FF"/>
                </a:solidFill>
                <a:latin typeface="Times New Roman" panose="02020603050405020304" pitchFamily="18" charset="0"/>
                <a:ea typeface="华文中宋" panose="02010600040101010101" pitchFamily="2" charset="-122"/>
              </a:rPr>
              <a:t>(1) </a:t>
            </a:r>
            <a:r>
              <a:rPr kumimoji="1" lang="zh-CN" altLang="en-US" sz="2800" dirty="0">
                <a:solidFill>
                  <a:srgbClr val="0000FF"/>
                </a:solidFill>
                <a:latin typeface="Times New Roman" panose="02020603050405020304" pitchFamily="18" charset="0"/>
                <a:ea typeface="华文中宋" panose="02010600040101010101" pitchFamily="2" charset="-122"/>
              </a:rPr>
              <a:t>合振动的振动函数；</a:t>
            </a:r>
            <a:endParaRPr kumimoji="1" lang="zh-CN" altLang="en-US" sz="2800" dirty="0">
              <a:solidFill>
                <a:srgbClr val="0000FF"/>
              </a:solidFill>
              <a:latin typeface="Times New Roman" panose="02020603050405020304" pitchFamily="18" charset="0"/>
              <a:ea typeface="华文中宋" panose="02010600040101010101" pitchFamily="2" charset="-122"/>
            </a:endParaRPr>
          </a:p>
          <a:p>
            <a:pPr algn="just">
              <a:lnSpc>
                <a:spcPct val="120000"/>
              </a:lnSpc>
            </a:pPr>
            <a:r>
              <a:rPr kumimoji="1" lang="en-US" altLang="zh-CN" sz="2800" dirty="0">
                <a:solidFill>
                  <a:srgbClr val="0000FF"/>
                </a:solidFill>
                <a:latin typeface="Times New Roman" panose="02020603050405020304" pitchFamily="18" charset="0"/>
                <a:ea typeface="华文中宋" panose="02010600040101010101" pitchFamily="2" charset="-122"/>
              </a:rPr>
              <a:t>(2) </a:t>
            </a:r>
            <a:r>
              <a:rPr kumimoji="1" lang="zh-CN" altLang="en-US" sz="2800" dirty="0">
                <a:solidFill>
                  <a:srgbClr val="0000FF"/>
                </a:solidFill>
                <a:latin typeface="Times New Roman" panose="02020603050405020304" pitchFamily="18" charset="0"/>
                <a:ea typeface="华文中宋" panose="02010600040101010101" pitchFamily="2" charset="-122"/>
              </a:rPr>
              <a:t>另有一同方向同频率的谐振动 </a:t>
            </a:r>
            <a:r>
              <a:rPr kumimoji="1" lang="en-US" altLang="zh-CN" sz="2800" i="1" dirty="0">
                <a:solidFill>
                  <a:srgbClr val="0000FF"/>
                </a:solidFill>
                <a:latin typeface="Times New Roman" panose="02020603050405020304" pitchFamily="18" charset="0"/>
                <a:ea typeface="华文中宋" panose="02010600040101010101" pitchFamily="2" charset="-122"/>
              </a:rPr>
              <a:t>x</a:t>
            </a:r>
            <a:r>
              <a:rPr kumimoji="1" lang="en-US" altLang="zh-CN" sz="2800" baseline="-25000" dirty="0">
                <a:solidFill>
                  <a:srgbClr val="0000FF"/>
                </a:solidFill>
                <a:latin typeface="Times New Roman" panose="02020603050405020304" pitchFamily="18" charset="0"/>
                <a:ea typeface="华文中宋" panose="02010600040101010101" pitchFamily="2" charset="-122"/>
              </a:rPr>
              <a:t>3</a:t>
            </a:r>
            <a:r>
              <a:rPr kumimoji="1" lang="en-US" altLang="zh-CN" sz="2800" dirty="0">
                <a:solidFill>
                  <a:srgbClr val="0000FF"/>
                </a:solidFill>
                <a:latin typeface="Times New Roman" panose="02020603050405020304" pitchFamily="18" charset="0"/>
                <a:ea typeface="华文中宋" panose="02010600040101010101" pitchFamily="2" charset="-122"/>
              </a:rPr>
              <a:t> = 0.5cos(3</a:t>
            </a:r>
            <a:r>
              <a:rPr kumimoji="1" lang="en-US" altLang="zh-CN" sz="2800" i="1" dirty="0">
                <a:solidFill>
                  <a:srgbClr val="0000FF"/>
                </a:solidFill>
                <a:latin typeface="Times New Roman" panose="02020603050405020304" pitchFamily="18" charset="0"/>
                <a:ea typeface="华文中宋" panose="02010600040101010101" pitchFamily="2" charset="-122"/>
              </a:rPr>
              <a:t>t</a:t>
            </a:r>
            <a:r>
              <a:rPr kumimoji="1" lang="en-US" altLang="zh-CN" sz="2800" dirty="0">
                <a:solidFill>
                  <a:srgbClr val="0000FF"/>
                </a:solidFill>
                <a:latin typeface="Times New Roman" panose="02020603050405020304" pitchFamily="18" charset="0"/>
                <a:ea typeface="华文中宋" panose="02010600040101010101" pitchFamily="2" charset="-122"/>
              </a:rPr>
              <a:t> + </a:t>
            </a:r>
            <a:r>
              <a:rPr kumimoji="1" lang="en-US" altLang="zh-CN" sz="2800" i="1" dirty="0">
                <a:solidFill>
                  <a:srgbClr val="0000FF"/>
                </a:solidFill>
                <a:sym typeface="Symbol" panose="05050102010706020507" pitchFamily="18" charset="2"/>
              </a:rPr>
              <a:t></a:t>
            </a:r>
            <a:r>
              <a:rPr kumimoji="1" lang="zh-CN" altLang="zh-CN" sz="2800" baseline="-25000" dirty="0">
                <a:solidFill>
                  <a:srgbClr val="0000FF"/>
                </a:solidFill>
                <a:latin typeface="Times New Roman" panose="02020603050405020304" pitchFamily="18" charset="0"/>
                <a:ea typeface="华文中宋" panose="02010600040101010101" pitchFamily="2" charset="-122"/>
              </a:rPr>
              <a:t>3</a:t>
            </a:r>
            <a:r>
              <a:rPr kumimoji="1" lang="en-US" altLang="zh-CN" sz="2800" dirty="0">
                <a:solidFill>
                  <a:srgbClr val="0000FF"/>
                </a:solidFill>
                <a:latin typeface="Times New Roman" panose="02020603050405020304" pitchFamily="18" charset="0"/>
                <a:ea typeface="华文中宋" panose="02010600040101010101" pitchFamily="2" charset="-122"/>
              </a:rPr>
              <a:t>) (SI)</a:t>
            </a:r>
            <a:endParaRPr kumimoji="1" lang="en-US" altLang="zh-CN" sz="2800" dirty="0">
              <a:solidFill>
                <a:srgbClr val="0000FF"/>
              </a:solidFill>
              <a:latin typeface="Times New Roman" panose="02020603050405020304" pitchFamily="18" charset="0"/>
              <a:ea typeface="华文中宋" panose="02010600040101010101" pitchFamily="2" charset="-122"/>
            </a:endParaRPr>
          </a:p>
          <a:p>
            <a:pPr algn="just">
              <a:lnSpc>
                <a:spcPct val="120000"/>
              </a:lnSpc>
            </a:pPr>
            <a:r>
              <a:rPr kumimoji="1" lang="en-US" altLang="zh-CN" sz="2800" dirty="0">
                <a:solidFill>
                  <a:srgbClr val="0000FF"/>
                </a:solidFill>
                <a:latin typeface="Times New Roman" panose="02020603050405020304" pitchFamily="18" charset="0"/>
                <a:ea typeface="华文中宋" panose="02010600040101010101" pitchFamily="2" charset="-122"/>
              </a:rPr>
              <a:t>      </a:t>
            </a:r>
            <a:r>
              <a:rPr kumimoji="1" lang="zh-CN" altLang="en-US" sz="2800" dirty="0">
                <a:solidFill>
                  <a:srgbClr val="0000FF"/>
                </a:solidFill>
                <a:latin typeface="Times New Roman" panose="02020603050405020304" pitchFamily="18" charset="0"/>
                <a:ea typeface="华文中宋" panose="02010600040101010101" pitchFamily="2" charset="-122"/>
              </a:rPr>
              <a:t>当 </a:t>
            </a:r>
            <a:r>
              <a:rPr kumimoji="1" lang="zh-CN" altLang="en-US" sz="2800"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kumimoji="1" lang="zh-CN" altLang="zh-CN" sz="2800" baseline="-25000" dirty="0">
                <a:solidFill>
                  <a:srgbClr val="0000FF"/>
                </a:solidFill>
                <a:latin typeface="Times New Roman" panose="02020603050405020304" pitchFamily="18" charset="0"/>
                <a:ea typeface="华文中宋" panose="02010600040101010101" pitchFamily="2" charset="-122"/>
              </a:rPr>
              <a:t>3</a:t>
            </a:r>
            <a:r>
              <a:rPr kumimoji="1" lang="en-US" altLang="zh-CN" sz="2800" i="1" dirty="0">
                <a:solidFill>
                  <a:srgbClr val="0000FF"/>
                </a:solidFill>
                <a:latin typeface="Times New Roman" panose="02020603050405020304" pitchFamily="18" charset="0"/>
                <a:ea typeface="华文中宋" panose="02010600040101010101" pitchFamily="2" charset="-122"/>
              </a:rPr>
              <a:t> </a:t>
            </a:r>
            <a:r>
              <a:rPr kumimoji="1" lang="zh-CN" altLang="en-US" sz="2800" dirty="0">
                <a:solidFill>
                  <a:srgbClr val="0000FF"/>
                </a:solidFill>
                <a:latin typeface="Times New Roman" panose="02020603050405020304" pitchFamily="18" charset="0"/>
                <a:ea typeface="华文中宋" panose="02010600040101010101" pitchFamily="2" charset="-122"/>
              </a:rPr>
              <a:t>等于多少时，</a:t>
            </a:r>
            <a:r>
              <a:rPr kumimoji="1" lang="en-US" altLang="zh-CN" sz="2800" i="1" dirty="0">
                <a:solidFill>
                  <a:srgbClr val="0000FF"/>
                </a:solidFill>
                <a:latin typeface="Times New Roman" panose="02020603050405020304" pitchFamily="18" charset="0"/>
                <a:ea typeface="华文中宋" panose="02010600040101010101" pitchFamily="2" charset="-122"/>
              </a:rPr>
              <a:t>x</a:t>
            </a:r>
            <a:r>
              <a:rPr kumimoji="1" lang="en-US" altLang="zh-CN" sz="2800" baseline="-25000" dirty="0">
                <a:solidFill>
                  <a:srgbClr val="0000FF"/>
                </a:solidFill>
                <a:latin typeface="Times New Roman" panose="02020603050405020304" pitchFamily="18" charset="0"/>
                <a:ea typeface="华文中宋" panose="02010600040101010101" pitchFamily="2" charset="-122"/>
              </a:rPr>
              <a:t>1</a:t>
            </a:r>
            <a:r>
              <a:rPr kumimoji="1" lang="en-US" altLang="zh-CN" sz="2800" dirty="0">
                <a:solidFill>
                  <a:srgbClr val="0000FF"/>
                </a:solidFill>
                <a:latin typeface="Times New Roman" panose="02020603050405020304" pitchFamily="18" charset="0"/>
                <a:ea typeface="华文中宋" panose="02010600040101010101" pitchFamily="2" charset="-122"/>
              </a:rPr>
              <a:t>, </a:t>
            </a:r>
            <a:r>
              <a:rPr kumimoji="1" lang="en-US" altLang="zh-CN" sz="2800" i="1" dirty="0">
                <a:solidFill>
                  <a:srgbClr val="0000FF"/>
                </a:solidFill>
                <a:latin typeface="Times New Roman" panose="02020603050405020304" pitchFamily="18" charset="0"/>
                <a:ea typeface="华文中宋" panose="02010600040101010101" pitchFamily="2" charset="-122"/>
              </a:rPr>
              <a:t>x</a:t>
            </a:r>
            <a:r>
              <a:rPr kumimoji="1" lang="en-US" altLang="zh-CN" sz="2800" baseline="-25000" dirty="0">
                <a:solidFill>
                  <a:srgbClr val="0000FF"/>
                </a:solidFill>
                <a:latin typeface="Times New Roman" panose="02020603050405020304" pitchFamily="18" charset="0"/>
                <a:ea typeface="华文中宋" panose="02010600040101010101" pitchFamily="2" charset="-122"/>
              </a:rPr>
              <a:t>2</a:t>
            </a:r>
            <a:r>
              <a:rPr kumimoji="1" lang="en-US" altLang="zh-CN" sz="2800" dirty="0">
                <a:solidFill>
                  <a:srgbClr val="0000FF"/>
                </a:solidFill>
                <a:latin typeface="Times New Roman" panose="02020603050405020304" pitchFamily="18" charset="0"/>
                <a:ea typeface="华文中宋" panose="02010600040101010101" pitchFamily="2" charset="-122"/>
              </a:rPr>
              <a:t>, </a:t>
            </a:r>
            <a:r>
              <a:rPr kumimoji="1" lang="en-US" altLang="zh-CN" sz="2800" i="1" dirty="0">
                <a:solidFill>
                  <a:srgbClr val="0000FF"/>
                </a:solidFill>
                <a:latin typeface="Times New Roman" panose="02020603050405020304" pitchFamily="18" charset="0"/>
                <a:ea typeface="华文中宋" panose="02010600040101010101" pitchFamily="2" charset="-122"/>
              </a:rPr>
              <a:t>x</a:t>
            </a:r>
            <a:r>
              <a:rPr kumimoji="1" lang="en-US" altLang="zh-CN" sz="2800" baseline="-25000" dirty="0">
                <a:solidFill>
                  <a:srgbClr val="0000FF"/>
                </a:solidFill>
                <a:latin typeface="Times New Roman" panose="02020603050405020304" pitchFamily="18" charset="0"/>
                <a:ea typeface="华文中宋" panose="02010600040101010101" pitchFamily="2" charset="-122"/>
              </a:rPr>
              <a:t>3 </a:t>
            </a:r>
            <a:r>
              <a:rPr kumimoji="1" lang="zh-CN" altLang="en-US" sz="2800" dirty="0">
                <a:solidFill>
                  <a:srgbClr val="0000FF"/>
                </a:solidFill>
                <a:latin typeface="Times New Roman" panose="02020603050405020304" pitchFamily="18" charset="0"/>
                <a:ea typeface="华文中宋" panose="02010600040101010101" pitchFamily="2" charset="-122"/>
              </a:rPr>
              <a:t>的合振幅最大？最小？</a:t>
            </a:r>
            <a:endParaRPr kumimoji="1" lang="zh-CN" altLang="zh-CN" sz="2800" dirty="0">
              <a:solidFill>
                <a:srgbClr val="0000FF"/>
              </a:solidFill>
              <a:latin typeface="Times New Roman" panose="02020603050405020304" pitchFamily="18" charset="0"/>
              <a:ea typeface="华文中宋" panose="02010600040101010101" pitchFamily="2" charset="-122"/>
            </a:endParaRPr>
          </a:p>
        </p:txBody>
      </p:sp>
      <p:sp>
        <p:nvSpPr>
          <p:cNvPr id="103428" name="Rectangle 4"/>
          <p:cNvSpPr>
            <a:spLocks noChangeArrowheads="1"/>
          </p:cNvSpPr>
          <p:nvPr/>
        </p:nvSpPr>
        <p:spPr bwMode="auto">
          <a:xfrm>
            <a:off x="165100" y="2895600"/>
            <a:ext cx="2466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kumimoji="1" lang="zh-CN" altLang="en-US" sz="2800">
                <a:solidFill>
                  <a:srgbClr val="0000FF"/>
                </a:solidFill>
                <a:latin typeface="Times New Roman" panose="02020603050405020304" pitchFamily="18" charset="0"/>
                <a:ea typeface="华文中宋" panose="02010600040101010101" pitchFamily="2" charset="-122"/>
              </a:rPr>
              <a:t>解：</a:t>
            </a:r>
            <a:r>
              <a:rPr kumimoji="1" lang="en-US" altLang="zh-CN" sz="2800">
                <a:solidFill>
                  <a:srgbClr val="0000FF"/>
                </a:solidFill>
                <a:latin typeface="Times New Roman" panose="02020603050405020304" pitchFamily="18" charset="0"/>
                <a:ea typeface="华文中宋" panose="02010600040101010101" pitchFamily="2" charset="-122"/>
              </a:rPr>
              <a:t>(1) </a:t>
            </a:r>
            <a:r>
              <a:rPr kumimoji="1" lang="zh-CN" altLang="en-US" sz="2800">
                <a:solidFill>
                  <a:srgbClr val="0000FF"/>
                </a:solidFill>
                <a:latin typeface="Times New Roman" panose="02020603050405020304" pitchFamily="18" charset="0"/>
                <a:ea typeface="华文中宋" panose="02010600040101010101" pitchFamily="2" charset="-122"/>
              </a:rPr>
              <a:t>解析法</a:t>
            </a:r>
            <a:endParaRPr kumimoji="1" lang="zh-CN" altLang="en-US" sz="2800">
              <a:solidFill>
                <a:srgbClr val="0000FF"/>
              </a:solidFill>
              <a:latin typeface="Times New Roman" panose="02020603050405020304" pitchFamily="18" charset="0"/>
              <a:ea typeface="华文中宋" panose="02010600040101010101" pitchFamily="2" charset="-122"/>
            </a:endParaRPr>
          </a:p>
        </p:txBody>
      </p:sp>
      <p:graphicFrame>
        <p:nvGraphicFramePr>
          <p:cNvPr id="103429" name="Object 5"/>
          <p:cNvGraphicFramePr>
            <a:graphicFrameLocks noChangeAspect="1"/>
          </p:cNvGraphicFramePr>
          <p:nvPr/>
        </p:nvGraphicFramePr>
        <p:xfrm>
          <a:off x="2627313" y="2801938"/>
          <a:ext cx="4752975" cy="698500"/>
        </p:xfrm>
        <a:graphic>
          <a:graphicData uri="http://schemas.openxmlformats.org/presentationml/2006/ole">
            <mc:AlternateContent xmlns:mc="http://schemas.openxmlformats.org/markup-compatibility/2006">
              <mc:Choice xmlns:v="urn:schemas-microsoft-com:vml" Requires="v">
                <p:oleObj spid="_x0000_s48165" name="Equation" r:id="rId1" imgW="2442210" imgH="345440" progId="Equation.DSMT4">
                  <p:embed/>
                </p:oleObj>
              </mc:Choice>
              <mc:Fallback>
                <p:oleObj name="Equation" r:id="rId1" imgW="2442210" imgH="34544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2801938"/>
                        <a:ext cx="4752975"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0" name="Object 6"/>
          <p:cNvGraphicFramePr>
            <a:graphicFrameLocks noChangeAspect="1"/>
          </p:cNvGraphicFramePr>
          <p:nvPr/>
        </p:nvGraphicFramePr>
        <p:xfrm>
          <a:off x="1490663" y="3443288"/>
          <a:ext cx="5688012" cy="992187"/>
        </p:xfrm>
        <a:graphic>
          <a:graphicData uri="http://schemas.openxmlformats.org/presentationml/2006/ole">
            <mc:AlternateContent xmlns:mc="http://schemas.openxmlformats.org/markup-compatibility/2006">
              <mc:Choice xmlns:v="urn:schemas-microsoft-com:vml" Requires="v">
                <p:oleObj spid="_x0000_s48166" name="Equation" r:id="rId3" imgW="2988310" imgH="523875" progId="Equation.DSMT4">
                  <p:embed/>
                </p:oleObj>
              </mc:Choice>
              <mc:Fallback>
                <p:oleObj name="Equation" r:id="rId3" imgW="2988310" imgH="523875"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0663" y="3443288"/>
                        <a:ext cx="5688012" cy="99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1" name="Object 7"/>
          <p:cNvGraphicFramePr>
            <a:graphicFrameLocks noChangeAspect="1"/>
          </p:cNvGraphicFramePr>
          <p:nvPr/>
        </p:nvGraphicFramePr>
        <p:xfrm>
          <a:off x="7164388" y="3759200"/>
          <a:ext cx="1268412" cy="465138"/>
        </p:xfrm>
        <a:graphic>
          <a:graphicData uri="http://schemas.openxmlformats.org/presentationml/2006/ole">
            <mc:AlternateContent xmlns:mc="http://schemas.openxmlformats.org/markup-compatibility/2006">
              <mc:Choice xmlns:v="urn:schemas-microsoft-com:vml" Requires="v">
                <p:oleObj spid="_x0000_s48167" name="Equation" r:id="rId5" imgW="747395" imgH="234315" progId="Equation.DSMT4">
                  <p:embed/>
                </p:oleObj>
              </mc:Choice>
              <mc:Fallback>
                <p:oleObj name="Equation" r:id="rId5" imgW="747395" imgH="234315"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388" y="3759200"/>
                        <a:ext cx="1268412"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2" name="Object 8"/>
          <p:cNvGraphicFramePr>
            <a:graphicFrameLocks noChangeAspect="1"/>
          </p:cNvGraphicFramePr>
          <p:nvPr/>
        </p:nvGraphicFramePr>
        <p:xfrm>
          <a:off x="395288" y="4638675"/>
          <a:ext cx="4105275" cy="990600"/>
        </p:xfrm>
        <a:graphic>
          <a:graphicData uri="http://schemas.openxmlformats.org/presentationml/2006/ole">
            <mc:AlternateContent xmlns:mc="http://schemas.openxmlformats.org/markup-compatibility/2006">
              <mc:Choice xmlns:v="urn:schemas-microsoft-com:vml" Requires="v">
                <p:oleObj spid="_x0000_s48168" name="Equation" r:id="rId7" imgW="2096135" imgH="501650" progId="Equation.DSMT4">
                  <p:embed/>
                </p:oleObj>
              </mc:Choice>
              <mc:Fallback>
                <p:oleObj name="Equation" r:id="rId7" imgW="2096135" imgH="50165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288" y="4638675"/>
                        <a:ext cx="4105275" cy="990600"/>
                      </a:xfrm>
                      <a:prstGeom prst="rect">
                        <a:avLst/>
                      </a:prstGeom>
                      <a:noFill/>
                      <a:ln>
                        <a:noFill/>
                      </a:ln>
                      <a:effectLst/>
                      <a:extLst>
                        <a:ext uri="{909E8E84-426E-40DD-AFC4-6F175D3DCCD1}">
                          <a14:hiddenFill xmlns:a14="http://schemas.microsoft.com/office/drawing/2010/main">
                            <a:solidFill>
                              <a:srgbClr val="F8F8F8"/>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3" name="Object 9"/>
          <p:cNvGraphicFramePr>
            <a:graphicFrameLocks noChangeAspect="1"/>
          </p:cNvGraphicFramePr>
          <p:nvPr/>
        </p:nvGraphicFramePr>
        <p:xfrm>
          <a:off x="4572000" y="4292600"/>
          <a:ext cx="4103688" cy="1619250"/>
        </p:xfrm>
        <a:graphic>
          <a:graphicData uri="http://schemas.openxmlformats.org/presentationml/2006/ole">
            <mc:AlternateContent xmlns:mc="http://schemas.openxmlformats.org/markup-compatibility/2006">
              <mc:Choice xmlns:v="urn:schemas-microsoft-com:vml" Requires="v">
                <p:oleObj spid="_x0000_s48169" name="Equation" r:id="rId9" imgW="2263775" imgH="892175" progId="Equation.DSMT4">
                  <p:embed/>
                </p:oleObj>
              </mc:Choice>
              <mc:Fallback>
                <p:oleObj name="Equation" r:id="rId9" imgW="2263775" imgH="892175"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4292600"/>
                        <a:ext cx="4103688" cy="161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4" name="Object 10"/>
          <p:cNvGraphicFramePr>
            <a:graphicFrameLocks noChangeAspect="1"/>
          </p:cNvGraphicFramePr>
          <p:nvPr/>
        </p:nvGraphicFramePr>
        <p:xfrm>
          <a:off x="654050" y="5662613"/>
          <a:ext cx="1254125" cy="414337"/>
        </p:xfrm>
        <a:graphic>
          <a:graphicData uri="http://schemas.openxmlformats.org/presentationml/2006/ole">
            <mc:AlternateContent xmlns:mc="http://schemas.openxmlformats.org/markup-compatibility/2006">
              <mc:Choice xmlns:v="urn:schemas-microsoft-com:vml" Requires="v">
                <p:oleObj spid="_x0000_s48170" name="Equation" r:id="rId11" imgW="624205" imgH="212090" progId="Equation.DSMT4">
                  <p:embed/>
                </p:oleObj>
              </mc:Choice>
              <mc:Fallback>
                <p:oleObj name="Equation" r:id="rId11" imgW="624205" imgH="212090"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4050" y="5662613"/>
                        <a:ext cx="1254125" cy="414337"/>
                      </a:xfrm>
                      <a:prstGeom prst="rect">
                        <a:avLst/>
                      </a:prstGeom>
                      <a:noFill/>
                      <a:ln>
                        <a:noFill/>
                      </a:ln>
                      <a:effectLst/>
                      <a:extLst>
                        <a:ext uri="{909E8E84-426E-40DD-AFC4-6F175D3DCCD1}">
                          <a14:hiddenFill xmlns:a14="http://schemas.microsoft.com/office/drawing/2010/main">
                            <a:solidFill>
                              <a:srgbClr val="F8F8F8"/>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3435" name="Group 11"/>
          <p:cNvGrpSpPr/>
          <p:nvPr/>
        </p:nvGrpSpPr>
        <p:grpSpPr bwMode="auto">
          <a:xfrm>
            <a:off x="309563" y="6121400"/>
            <a:ext cx="5427662" cy="522288"/>
            <a:chOff x="195" y="3856"/>
            <a:chExt cx="3419" cy="329"/>
          </a:xfrm>
        </p:grpSpPr>
        <p:graphicFrame>
          <p:nvGraphicFramePr>
            <p:cNvPr id="103436" name="Object 12"/>
            <p:cNvGraphicFramePr>
              <a:graphicFrameLocks noChangeAspect="1"/>
            </p:cNvGraphicFramePr>
            <p:nvPr/>
          </p:nvGraphicFramePr>
          <p:xfrm>
            <a:off x="1165" y="3893"/>
            <a:ext cx="2449" cy="292"/>
          </p:xfrm>
          <a:graphic>
            <a:graphicData uri="http://schemas.openxmlformats.org/presentationml/2006/ole">
              <mc:AlternateContent xmlns:mc="http://schemas.openxmlformats.org/markup-compatibility/2006">
                <mc:Choice xmlns:v="urn:schemas-microsoft-com:vml" Requires="v">
                  <p:oleObj spid="_x0000_s48171" name="Equation" r:id="rId13" imgW="1995805" imgH="234315" progId="Equation.DSMT4">
                    <p:embed/>
                  </p:oleObj>
                </mc:Choice>
                <mc:Fallback>
                  <p:oleObj name="Equation" r:id="rId13" imgW="1995805" imgH="234315" progId="Equation.DSMT4">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65" y="3893"/>
                          <a:ext cx="2449"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437" name="Text Box 13"/>
            <p:cNvSpPr txBox="1">
              <a:spLocks noChangeArrowheads="1"/>
            </p:cNvSpPr>
            <p:nvPr/>
          </p:nvSpPr>
          <p:spPr bwMode="auto">
            <a:xfrm>
              <a:off x="195" y="3856"/>
              <a:ext cx="10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a:solidFill>
                    <a:srgbClr val="0000FF"/>
                  </a:solidFill>
                  <a:ea typeface="华文中宋" panose="02010600040101010101" pitchFamily="2" charset="-122"/>
                </a:rPr>
                <a:t>振动函数</a:t>
              </a:r>
              <a:endParaRPr lang="zh-CN" altLang="en-US" sz="2800">
                <a:solidFill>
                  <a:srgbClr val="0000FF"/>
                </a:solidFill>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428"/>
                                        </p:tgtEl>
                                        <p:attrNameLst>
                                          <p:attrName>style.visibility</p:attrName>
                                        </p:attrNameLst>
                                      </p:cBhvr>
                                      <p:to>
                                        <p:strVal val="visible"/>
                                      </p:to>
                                    </p:set>
                                    <p:animEffect transition="in" filter="wipe(left)">
                                      <p:cBhvr>
                                        <p:cTn id="7" dur="500"/>
                                        <p:tgtEl>
                                          <p:spTgt spid="1034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3429"/>
                                        </p:tgtEl>
                                        <p:attrNameLst>
                                          <p:attrName>style.visibility</p:attrName>
                                        </p:attrNameLst>
                                      </p:cBhvr>
                                      <p:to>
                                        <p:strVal val="visible"/>
                                      </p:to>
                                    </p:set>
                                    <p:animEffect transition="in" filter="wipe(left)">
                                      <p:cBhvr>
                                        <p:cTn id="12" dur="500"/>
                                        <p:tgtEl>
                                          <p:spTgt spid="1034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3430"/>
                                        </p:tgtEl>
                                        <p:attrNameLst>
                                          <p:attrName>style.visibility</p:attrName>
                                        </p:attrNameLst>
                                      </p:cBhvr>
                                      <p:to>
                                        <p:strVal val="visible"/>
                                      </p:to>
                                    </p:set>
                                    <p:animEffect transition="in" filter="wipe(left)">
                                      <p:cBhvr>
                                        <p:cTn id="17" dur="500"/>
                                        <p:tgtEl>
                                          <p:spTgt spid="1034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3431"/>
                                        </p:tgtEl>
                                        <p:attrNameLst>
                                          <p:attrName>style.visibility</p:attrName>
                                        </p:attrNameLst>
                                      </p:cBhvr>
                                      <p:to>
                                        <p:strVal val="visible"/>
                                      </p:to>
                                    </p:set>
                                    <p:animEffect transition="in" filter="wipe(left)">
                                      <p:cBhvr>
                                        <p:cTn id="22" dur="500"/>
                                        <p:tgtEl>
                                          <p:spTgt spid="1034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3432"/>
                                        </p:tgtEl>
                                        <p:attrNameLst>
                                          <p:attrName>style.visibility</p:attrName>
                                        </p:attrNameLst>
                                      </p:cBhvr>
                                      <p:to>
                                        <p:strVal val="visible"/>
                                      </p:to>
                                    </p:set>
                                    <p:animEffect transition="in" filter="wipe(left)">
                                      <p:cBhvr>
                                        <p:cTn id="27" dur="500"/>
                                        <p:tgtEl>
                                          <p:spTgt spid="10343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3433"/>
                                        </p:tgtEl>
                                        <p:attrNameLst>
                                          <p:attrName>style.visibility</p:attrName>
                                        </p:attrNameLst>
                                      </p:cBhvr>
                                      <p:to>
                                        <p:strVal val="visible"/>
                                      </p:to>
                                    </p:set>
                                    <p:animEffect transition="in" filter="wipe(left)">
                                      <p:cBhvr>
                                        <p:cTn id="32" dur="500"/>
                                        <p:tgtEl>
                                          <p:spTgt spid="1034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3434"/>
                                        </p:tgtEl>
                                        <p:attrNameLst>
                                          <p:attrName>style.visibility</p:attrName>
                                        </p:attrNameLst>
                                      </p:cBhvr>
                                      <p:to>
                                        <p:strVal val="visible"/>
                                      </p:to>
                                    </p:set>
                                    <p:animEffect transition="in" filter="wipe(left)">
                                      <p:cBhvr>
                                        <p:cTn id="37" dur="500"/>
                                        <p:tgtEl>
                                          <p:spTgt spid="10343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3435"/>
                                        </p:tgtEl>
                                        <p:attrNameLst>
                                          <p:attrName>style.visibility</p:attrName>
                                        </p:attrNameLst>
                                      </p:cBhvr>
                                      <p:to>
                                        <p:strVal val="visible"/>
                                      </p:to>
                                    </p:set>
                                    <p:animEffect transition="in" filter="wipe(left)">
                                      <p:cBhvr>
                                        <p:cTn id="42" dur="500"/>
                                        <p:tgtEl>
                                          <p:spTgt spid="103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ChangeArrowheads="1"/>
          </p:cNvSpPr>
          <p:nvPr/>
        </p:nvSpPr>
        <p:spPr bwMode="auto">
          <a:xfrm>
            <a:off x="401390" y="2352674"/>
            <a:ext cx="26468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kumimoji="1" lang="zh-CN" altLang="en-US" dirty="0">
                <a:solidFill>
                  <a:srgbClr val="0000FF"/>
                </a:solidFill>
                <a:latin typeface="宋体" panose="02010600030101010101" pitchFamily="2" charset="-122"/>
                <a:ea typeface="华文中宋" panose="02010600040101010101" pitchFamily="2" charset="-122"/>
              </a:rPr>
              <a:t>另法：</a:t>
            </a:r>
            <a:r>
              <a:rPr kumimoji="1" lang="zh-CN" altLang="en-US" dirty="0">
                <a:solidFill>
                  <a:srgbClr val="0000FF"/>
                </a:solidFill>
                <a:latin typeface="Times New Roman" panose="02020603050405020304" pitchFamily="18" charset="0"/>
                <a:ea typeface="华文中宋" panose="02010600040101010101" pitchFamily="2" charset="-122"/>
              </a:rPr>
              <a:t>旋转矢量法</a:t>
            </a:r>
            <a:endParaRPr kumimoji="1" lang="zh-CN" altLang="en-US" dirty="0">
              <a:solidFill>
                <a:srgbClr val="0000FF"/>
              </a:solidFill>
              <a:latin typeface="Times New Roman" panose="02020603050405020304" pitchFamily="18" charset="0"/>
              <a:ea typeface="华文中宋" panose="02010600040101010101" pitchFamily="2" charset="-122"/>
            </a:endParaRPr>
          </a:p>
        </p:txBody>
      </p:sp>
      <p:graphicFrame>
        <p:nvGraphicFramePr>
          <p:cNvPr id="104451" name="Object 3"/>
          <p:cNvGraphicFramePr>
            <a:graphicFrameLocks noChangeAspect="1"/>
          </p:cNvGraphicFramePr>
          <p:nvPr/>
        </p:nvGraphicFramePr>
        <p:xfrm>
          <a:off x="1533773" y="2824559"/>
          <a:ext cx="1293813" cy="614363"/>
        </p:xfrm>
        <a:graphic>
          <a:graphicData uri="http://schemas.openxmlformats.org/presentationml/2006/ole">
            <mc:AlternateContent xmlns:mc="http://schemas.openxmlformats.org/markup-compatibility/2006">
              <mc:Choice xmlns:v="urn:schemas-microsoft-com:vml" Requires="v">
                <p:oleObj spid="_x0000_s49208" name="Equation" r:id="rId1" imgW="579755" imgH="300990" progId="Equation.DSMT4">
                  <p:embed/>
                </p:oleObj>
              </mc:Choice>
              <mc:Fallback>
                <p:oleObj name="Equation" r:id="rId1" imgW="579755" imgH="300990" progId="Equation.DSMT4">
                  <p:embed/>
                  <p:pic>
                    <p:nvPicPr>
                      <p:cNvPr id="0" name="Object 3"/>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3773" y="2824559"/>
                        <a:ext cx="1293813" cy="61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2" name="Object 4"/>
          <p:cNvGraphicFramePr>
            <a:graphicFrameLocks noChangeAspect="1"/>
          </p:cNvGraphicFramePr>
          <p:nvPr/>
        </p:nvGraphicFramePr>
        <p:xfrm>
          <a:off x="525711" y="3448447"/>
          <a:ext cx="3598862" cy="715962"/>
        </p:xfrm>
        <a:graphic>
          <a:graphicData uri="http://schemas.openxmlformats.org/presentationml/2006/ole">
            <mc:AlternateContent xmlns:mc="http://schemas.openxmlformats.org/markup-compatibility/2006">
              <mc:Choice xmlns:v="urn:schemas-microsoft-com:vml" Requires="v">
                <p:oleObj spid="_x0000_s49209" name="Equation" r:id="rId3" imgW="1572260" imgH="345440" progId="Equation.DSMT4">
                  <p:embed/>
                </p:oleObj>
              </mc:Choice>
              <mc:Fallback>
                <p:oleObj name="Equation" r:id="rId3" imgW="1572260" imgH="345440" progId="Equation.DSMT4">
                  <p:embed/>
                  <p:pic>
                    <p:nvPicPr>
                      <p:cNvPr id="0" name="Object 4"/>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11" y="3448447"/>
                        <a:ext cx="3598862"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3" name="Object 5"/>
          <p:cNvGraphicFramePr>
            <a:graphicFrameLocks noChangeAspect="1"/>
          </p:cNvGraphicFramePr>
          <p:nvPr/>
        </p:nvGraphicFramePr>
        <p:xfrm>
          <a:off x="525711" y="4194572"/>
          <a:ext cx="2089150" cy="1049337"/>
        </p:xfrm>
        <a:graphic>
          <a:graphicData uri="http://schemas.openxmlformats.org/presentationml/2006/ole">
            <mc:AlternateContent xmlns:mc="http://schemas.openxmlformats.org/markup-compatibility/2006">
              <mc:Choice xmlns:v="urn:schemas-microsoft-com:vml" Requires="v">
                <p:oleObj spid="_x0000_s49210" name="Equation" r:id="rId5" imgW="1014730" imgH="501650" progId="Equation.DSMT4">
                  <p:embed/>
                </p:oleObj>
              </mc:Choice>
              <mc:Fallback>
                <p:oleObj name="Equation" r:id="rId5" imgW="1014730" imgH="501650" progId="Equation.DSMT4">
                  <p:embed/>
                  <p:pic>
                    <p:nvPicPr>
                      <p:cNvPr id="0" name="Object 5"/>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11" y="4194572"/>
                        <a:ext cx="2089150" cy="104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4" name="Object 6"/>
          <p:cNvGraphicFramePr>
            <a:graphicFrameLocks noChangeAspect="1"/>
          </p:cNvGraphicFramePr>
          <p:nvPr/>
        </p:nvGraphicFramePr>
        <p:xfrm>
          <a:off x="3476873" y="4439047"/>
          <a:ext cx="1584325" cy="427037"/>
        </p:xfrm>
        <a:graphic>
          <a:graphicData uri="http://schemas.openxmlformats.org/presentationml/2006/ole">
            <mc:AlternateContent xmlns:mc="http://schemas.openxmlformats.org/markup-compatibility/2006">
              <mc:Choice xmlns:v="urn:schemas-microsoft-com:vml" Requires="v">
                <p:oleObj spid="_x0000_s49211" name="Equation" r:id="rId7" imgW="769620" imgH="212090" progId="Equation.DSMT4">
                  <p:embed/>
                </p:oleObj>
              </mc:Choice>
              <mc:Fallback>
                <p:oleObj name="Equation" r:id="rId7" imgW="769620" imgH="212090" progId="Equation.DSMT4">
                  <p:embed/>
                  <p:pic>
                    <p:nvPicPr>
                      <p:cNvPr id="0" name="Object 6"/>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76873" y="4439047"/>
                        <a:ext cx="1584325"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5" name="Object 7"/>
          <p:cNvGraphicFramePr>
            <a:graphicFrameLocks noChangeAspect="1"/>
          </p:cNvGraphicFramePr>
          <p:nvPr/>
        </p:nvGraphicFramePr>
        <p:xfrm>
          <a:off x="554286" y="5243909"/>
          <a:ext cx="3570287" cy="912813"/>
        </p:xfrm>
        <a:graphic>
          <a:graphicData uri="http://schemas.openxmlformats.org/presentationml/2006/ole">
            <mc:AlternateContent xmlns:mc="http://schemas.openxmlformats.org/markup-compatibility/2006">
              <mc:Choice xmlns:v="urn:schemas-microsoft-com:vml" Requires="v">
                <p:oleObj spid="_x0000_s49212" name="Equation" r:id="rId9" imgW="1650365" imgH="457200" progId="Equation.DSMT4">
                  <p:embed/>
                </p:oleObj>
              </mc:Choice>
              <mc:Fallback>
                <p:oleObj name="Equation" r:id="rId9" imgW="1650365" imgH="457200" progId="Equation.DSMT4">
                  <p:embed/>
                  <p:pic>
                    <p:nvPicPr>
                      <p:cNvPr id="0" name="Object 7"/>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4286" y="5243909"/>
                        <a:ext cx="3570287"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6" name="Object 8"/>
          <p:cNvGraphicFramePr>
            <a:graphicFrameLocks noChangeAspect="1"/>
          </p:cNvGraphicFramePr>
          <p:nvPr/>
        </p:nvGraphicFramePr>
        <p:xfrm>
          <a:off x="525711" y="6251972"/>
          <a:ext cx="4176712" cy="492125"/>
        </p:xfrm>
        <a:graphic>
          <a:graphicData uri="http://schemas.openxmlformats.org/presentationml/2006/ole">
            <mc:AlternateContent xmlns:mc="http://schemas.openxmlformats.org/markup-compatibility/2006">
              <mc:Choice xmlns:v="urn:schemas-microsoft-com:vml" Requires="v">
                <p:oleObj spid="_x0000_s49213" name="Equation" r:id="rId11" imgW="2018665" imgH="234315" progId="Equation.DSMT4">
                  <p:embed/>
                </p:oleObj>
              </mc:Choice>
              <mc:Fallback>
                <p:oleObj name="Equation" r:id="rId11" imgW="2018665" imgH="234315" progId="Equation.DSMT4">
                  <p:embed/>
                  <p:pic>
                    <p:nvPicPr>
                      <p:cNvPr id="0" name="Object 8"/>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5711" y="6251972"/>
                        <a:ext cx="417671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4459" name="Group 11"/>
          <p:cNvGrpSpPr/>
          <p:nvPr/>
        </p:nvGrpSpPr>
        <p:grpSpPr bwMode="auto">
          <a:xfrm>
            <a:off x="5635873" y="2494359"/>
            <a:ext cx="3168650" cy="2590800"/>
            <a:chOff x="3560" y="119"/>
            <a:chExt cx="1996" cy="1632"/>
          </a:xfrm>
        </p:grpSpPr>
        <p:graphicFrame>
          <p:nvGraphicFramePr>
            <p:cNvPr id="104460" name="Object 12"/>
            <p:cNvGraphicFramePr>
              <a:graphicFrameLocks noChangeAspect="1"/>
            </p:cNvGraphicFramePr>
            <p:nvPr/>
          </p:nvGraphicFramePr>
          <p:xfrm>
            <a:off x="4667" y="1353"/>
            <a:ext cx="300" cy="398"/>
          </p:xfrm>
          <a:graphic>
            <a:graphicData uri="http://schemas.openxmlformats.org/presentationml/2006/ole">
              <mc:AlternateContent xmlns:mc="http://schemas.openxmlformats.org/markup-compatibility/2006">
                <mc:Choice xmlns:v="urn:schemas-microsoft-com:vml" Requires="v">
                  <p:oleObj spid="_x0000_s49214" name="Equation" r:id="rId13" imgW="222885" imgH="300990" progId="Equation.DSMT4">
                    <p:embed/>
                  </p:oleObj>
                </mc:Choice>
                <mc:Fallback>
                  <p:oleObj name="Equation" r:id="rId13" imgW="222885" imgH="300990" progId="Equation.DSMT4">
                    <p:embed/>
                    <p:pic>
                      <p:nvPicPr>
                        <p:cNvPr id="0" name="Object 12"/>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67" y="1353"/>
                          <a:ext cx="300" cy="39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508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61" name="Text Box 13"/>
            <p:cNvSpPr txBox="1">
              <a:spLocks noChangeArrowheads="1"/>
            </p:cNvSpPr>
            <p:nvPr/>
          </p:nvSpPr>
          <p:spPr bwMode="auto">
            <a:xfrm>
              <a:off x="5293" y="1162"/>
              <a:ext cx="263"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kumimoji="1" lang="en-US" altLang="zh-CN" sz="2800" i="1">
                  <a:solidFill>
                    <a:srgbClr val="0000FF"/>
                  </a:solidFill>
                  <a:latin typeface="Times New Roman" panose="02020603050405020304" pitchFamily="18" charset="0"/>
                </a:rPr>
                <a:t>x</a:t>
              </a:r>
              <a:endParaRPr kumimoji="1" lang="en-US" altLang="zh-CN" sz="2800" i="1">
                <a:solidFill>
                  <a:srgbClr val="0000FF"/>
                </a:solidFill>
                <a:latin typeface="Times New Roman" panose="02020603050405020304" pitchFamily="18" charset="0"/>
              </a:endParaRPr>
            </a:p>
          </p:txBody>
        </p:sp>
        <p:sp>
          <p:nvSpPr>
            <p:cNvPr id="104462" name="Text Box 14"/>
            <p:cNvSpPr txBox="1">
              <a:spLocks noChangeArrowheads="1"/>
            </p:cNvSpPr>
            <p:nvPr/>
          </p:nvSpPr>
          <p:spPr bwMode="auto">
            <a:xfrm>
              <a:off x="4286" y="436"/>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kumimoji="1" lang="en-US" altLang="zh-CN" sz="2800" i="1">
                  <a:solidFill>
                    <a:srgbClr val="0000FF"/>
                  </a:solidFill>
                  <a:latin typeface="Symbol" panose="05050102010706020507" pitchFamily="18" charset="2"/>
                </a:rPr>
                <a:t>a</a:t>
              </a:r>
              <a:endParaRPr kumimoji="1" lang="en-US" altLang="zh-CN" sz="2800" i="1">
                <a:solidFill>
                  <a:srgbClr val="0000FF"/>
                </a:solidFill>
                <a:latin typeface="Times New Roman" panose="02020603050405020304" pitchFamily="18" charset="0"/>
              </a:endParaRPr>
            </a:p>
          </p:txBody>
        </p:sp>
        <p:sp>
          <p:nvSpPr>
            <p:cNvPr id="104463" name="Text Box 15"/>
            <p:cNvSpPr txBox="1">
              <a:spLocks noChangeArrowheads="1"/>
            </p:cNvSpPr>
            <p:nvPr/>
          </p:nvSpPr>
          <p:spPr bwMode="auto">
            <a:xfrm>
              <a:off x="4323" y="881"/>
              <a:ext cx="33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kumimoji="1" lang="en-US" altLang="zh-CN" sz="2800" i="1">
                  <a:solidFill>
                    <a:srgbClr val="0000FF"/>
                  </a:solidFill>
                  <a:latin typeface="Symbol" panose="05050102010706020507" pitchFamily="18" charset="2"/>
                </a:rPr>
                <a:t>f</a:t>
              </a:r>
              <a:endParaRPr kumimoji="1" lang="en-US" altLang="zh-CN" sz="2800" i="1">
                <a:solidFill>
                  <a:srgbClr val="0000FF"/>
                </a:solidFill>
                <a:latin typeface="Times New Roman" panose="02020603050405020304" pitchFamily="18" charset="0"/>
              </a:endParaRPr>
            </a:p>
          </p:txBody>
        </p:sp>
        <p:sp>
          <p:nvSpPr>
            <p:cNvPr id="104464" name="Text Box 16"/>
            <p:cNvSpPr txBox="1">
              <a:spLocks noChangeArrowheads="1"/>
            </p:cNvSpPr>
            <p:nvPr/>
          </p:nvSpPr>
          <p:spPr bwMode="auto">
            <a:xfrm>
              <a:off x="4159" y="1135"/>
              <a:ext cx="590"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kumimoji="1" lang="en-US" altLang="zh-CN" sz="2800">
                  <a:solidFill>
                    <a:srgbClr val="0000FF"/>
                  </a:solidFill>
                  <a:latin typeface="Symbol" panose="05050102010706020507" pitchFamily="18" charset="2"/>
                </a:rPr>
                <a:t>-p</a:t>
              </a:r>
              <a:r>
                <a:rPr kumimoji="1" lang="en-US" altLang="zh-CN" sz="2800">
                  <a:solidFill>
                    <a:srgbClr val="0000FF"/>
                  </a:solidFill>
                  <a:latin typeface="Times New Roman" panose="02020603050405020304" pitchFamily="18" charset="0"/>
                </a:rPr>
                <a:t>/6</a:t>
              </a:r>
              <a:endParaRPr kumimoji="1" lang="en-US" altLang="zh-CN" sz="2800">
                <a:solidFill>
                  <a:srgbClr val="0000FF"/>
                </a:solidFill>
                <a:latin typeface="Times New Roman" panose="02020603050405020304" pitchFamily="18" charset="0"/>
              </a:endParaRPr>
            </a:p>
          </p:txBody>
        </p:sp>
        <p:sp>
          <p:nvSpPr>
            <p:cNvPr id="104465" name="Text Box 17"/>
            <p:cNvSpPr txBox="1">
              <a:spLocks noChangeArrowheads="1"/>
            </p:cNvSpPr>
            <p:nvPr/>
          </p:nvSpPr>
          <p:spPr bwMode="auto">
            <a:xfrm>
              <a:off x="3967" y="709"/>
              <a:ext cx="528" cy="3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kumimoji="1" lang="en-US" altLang="zh-CN" sz="2800">
                  <a:solidFill>
                    <a:srgbClr val="0000FF"/>
                  </a:solidFill>
                  <a:latin typeface="Symbol" panose="05050102010706020507" pitchFamily="18" charset="2"/>
                </a:rPr>
                <a:t>p</a:t>
              </a:r>
              <a:r>
                <a:rPr kumimoji="1" lang="en-US" altLang="zh-CN" sz="2800">
                  <a:solidFill>
                    <a:srgbClr val="0000FF"/>
                  </a:solidFill>
                  <a:latin typeface="Times New Roman" panose="02020603050405020304" pitchFamily="18" charset="0"/>
                </a:rPr>
                <a:t>/3</a:t>
              </a:r>
              <a:endParaRPr kumimoji="1" lang="en-US" altLang="zh-CN" sz="2800">
                <a:solidFill>
                  <a:srgbClr val="0000FF"/>
                </a:solidFill>
                <a:latin typeface="Times New Roman" panose="02020603050405020304" pitchFamily="18" charset="0"/>
              </a:endParaRPr>
            </a:p>
          </p:txBody>
        </p:sp>
        <p:sp>
          <p:nvSpPr>
            <p:cNvPr id="104466" name="Line 18"/>
            <p:cNvSpPr>
              <a:spLocks noChangeShapeType="1"/>
            </p:cNvSpPr>
            <p:nvPr/>
          </p:nvSpPr>
          <p:spPr bwMode="auto">
            <a:xfrm>
              <a:off x="3833" y="1206"/>
              <a:ext cx="1632" cy="0"/>
            </a:xfrm>
            <a:prstGeom prst="line">
              <a:avLst/>
            </a:prstGeom>
            <a:noFill/>
            <a:ln w="19050">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7" name="Line 19"/>
            <p:cNvSpPr>
              <a:spLocks noChangeShapeType="1"/>
            </p:cNvSpPr>
            <p:nvPr/>
          </p:nvSpPr>
          <p:spPr bwMode="auto">
            <a:xfrm>
              <a:off x="3833" y="1207"/>
              <a:ext cx="816" cy="363"/>
            </a:xfrm>
            <a:prstGeom prst="line">
              <a:avLst/>
            </a:prstGeom>
            <a:noFill/>
            <a:ln w="25400">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8" name="Line 20"/>
            <p:cNvSpPr>
              <a:spLocks noChangeShapeType="1"/>
            </p:cNvSpPr>
            <p:nvPr/>
          </p:nvSpPr>
          <p:spPr bwMode="auto">
            <a:xfrm flipV="1">
              <a:off x="3833" y="210"/>
              <a:ext cx="453" cy="997"/>
            </a:xfrm>
            <a:prstGeom prst="line">
              <a:avLst/>
            </a:prstGeom>
            <a:noFill/>
            <a:ln w="25400">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9" name="Line 21"/>
            <p:cNvSpPr>
              <a:spLocks noChangeShapeType="1"/>
            </p:cNvSpPr>
            <p:nvPr/>
          </p:nvSpPr>
          <p:spPr bwMode="auto">
            <a:xfrm>
              <a:off x="4286" y="210"/>
              <a:ext cx="816" cy="363"/>
            </a:xfrm>
            <a:prstGeom prst="line">
              <a:avLst/>
            </a:prstGeom>
            <a:noFill/>
            <a:ln w="19050">
              <a:solidFill>
                <a:schemeClr val="tx1"/>
              </a:solidFill>
              <a:prstDash val="dash"/>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0" name="Line 22"/>
            <p:cNvSpPr>
              <a:spLocks noChangeShapeType="1"/>
            </p:cNvSpPr>
            <p:nvPr/>
          </p:nvSpPr>
          <p:spPr bwMode="auto">
            <a:xfrm flipV="1">
              <a:off x="4649" y="572"/>
              <a:ext cx="453" cy="997"/>
            </a:xfrm>
            <a:prstGeom prst="line">
              <a:avLst/>
            </a:prstGeom>
            <a:noFill/>
            <a:ln w="19050">
              <a:solidFill>
                <a:schemeClr val="tx1"/>
              </a:solidFill>
              <a:prstDash val="dash"/>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1" name="Line 23"/>
            <p:cNvSpPr>
              <a:spLocks noChangeShapeType="1"/>
            </p:cNvSpPr>
            <p:nvPr/>
          </p:nvSpPr>
          <p:spPr bwMode="auto">
            <a:xfrm flipV="1">
              <a:off x="3833" y="572"/>
              <a:ext cx="1270" cy="635"/>
            </a:xfrm>
            <a:prstGeom prst="line">
              <a:avLst/>
            </a:prstGeom>
            <a:noFill/>
            <a:ln w="19050">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2" name="Arc 24"/>
            <p:cNvSpPr/>
            <p:nvPr/>
          </p:nvSpPr>
          <p:spPr bwMode="auto">
            <a:xfrm>
              <a:off x="3833" y="955"/>
              <a:ext cx="272" cy="252"/>
            </a:xfrm>
            <a:custGeom>
              <a:avLst/>
              <a:gdLst>
                <a:gd name="G0" fmla="+- 0 0 0"/>
                <a:gd name="G1" fmla="+- 20024 0 0"/>
                <a:gd name="G2" fmla="+- 21600 0 0"/>
                <a:gd name="T0" fmla="*/ 8100 w 21600"/>
                <a:gd name="T1" fmla="*/ 0 h 20024"/>
                <a:gd name="T2" fmla="*/ 21600 w 21600"/>
                <a:gd name="T3" fmla="*/ 20024 h 20024"/>
                <a:gd name="T4" fmla="*/ 0 w 21600"/>
                <a:gd name="T5" fmla="*/ 20024 h 20024"/>
              </a:gdLst>
              <a:ahLst/>
              <a:cxnLst>
                <a:cxn ang="0">
                  <a:pos x="T0" y="T1"/>
                </a:cxn>
                <a:cxn ang="0">
                  <a:pos x="T2" y="T3"/>
                </a:cxn>
                <a:cxn ang="0">
                  <a:pos x="T4" y="T5"/>
                </a:cxn>
              </a:cxnLst>
              <a:rect l="0" t="0" r="r" b="b"/>
              <a:pathLst>
                <a:path w="21600" h="20024" fill="none" extrusionOk="0">
                  <a:moveTo>
                    <a:pt x="8099" y="0"/>
                  </a:moveTo>
                  <a:cubicBezTo>
                    <a:pt x="16259" y="3300"/>
                    <a:pt x="21600" y="11222"/>
                    <a:pt x="21600" y="20024"/>
                  </a:cubicBezTo>
                </a:path>
                <a:path w="21600" h="20024" stroke="0" extrusionOk="0">
                  <a:moveTo>
                    <a:pt x="8099" y="0"/>
                  </a:moveTo>
                  <a:cubicBezTo>
                    <a:pt x="16259" y="3300"/>
                    <a:pt x="21600" y="11222"/>
                    <a:pt x="21600" y="20024"/>
                  </a:cubicBezTo>
                  <a:lnTo>
                    <a:pt x="0" y="20024"/>
                  </a:lnTo>
                  <a:close/>
                </a:path>
              </a:pathLst>
            </a:custGeom>
            <a:noFill/>
            <a:ln w="19050">
              <a:solidFill>
                <a:schemeClr val="tx1"/>
              </a:solidFill>
              <a:round/>
              <a:headEnd type="triangle" w="med" len="lg"/>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3" name="Arc 25"/>
            <p:cNvSpPr/>
            <p:nvPr/>
          </p:nvSpPr>
          <p:spPr bwMode="auto">
            <a:xfrm>
              <a:off x="3923" y="1207"/>
              <a:ext cx="272" cy="137"/>
            </a:xfrm>
            <a:custGeom>
              <a:avLst/>
              <a:gdLst>
                <a:gd name="G0" fmla="+- 0 0 0"/>
                <a:gd name="G1" fmla="+- 2453 0 0"/>
                <a:gd name="G2" fmla="+- 21600 0 0"/>
                <a:gd name="T0" fmla="*/ 21460 w 21600"/>
                <a:gd name="T1" fmla="*/ 0 h 15575"/>
                <a:gd name="T2" fmla="*/ 17157 w 21600"/>
                <a:gd name="T3" fmla="*/ 15575 h 15575"/>
                <a:gd name="T4" fmla="*/ 0 w 21600"/>
                <a:gd name="T5" fmla="*/ 2453 h 15575"/>
              </a:gdLst>
              <a:ahLst/>
              <a:cxnLst>
                <a:cxn ang="0">
                  <a:pos x="T0" y="T1"/>
                </a:cxn>
                <a:cxn ang="0">
                  <a:pos x="T2" y="T3"/>
                </a:cxn>
                <a:cxn ang="0">
                  <a:pos x="T4" y="T5"/>
                </a:cxn>
              </a:cxnLst>
              <a:rect l="0" t="0" r="r" b="b"/>
              <a:pathLst>
                <a:path w="21600" h="15575" fill="none" extrusionOk="0">
                  <a:moveTo>
                    <a:pt x="21460" y="-1"/>
                  </a:moveTo>
                  <a:cubicBezTo>
                    <a:pt x="21553" y="814"/>
                    <a:pt x="21600" y="1633"/>
                    <a:pt x="21600" y="2453"/>
                  </a:cubicBezTo>
                  <a:cubicBezTo>
                    <a:pt x="21600" y="7196"/>
                    <a:pt x="20038" y="11807"/>
                    <a:pt x="17157" y="15575"/>
                  </a:cubicBezTo>
                </a:path>
                <a:path w="21600" h="15575" stroke="0" extrusionOk="0">
                  <a:moveTo>
                    <a:pt x="21460" y="-1"/>
                  </a:moveTo>
                  <a:cubicBezTo>
                    <a:pt x="21553" y="814"/>
                    <a:pt x="21600" y="1633"/>
                    <a:pt x="21600" y="2453"/>
                  </a:cubicBezTo>
                  <a:cubicBezTo>
                    <a:pt x="21600" y="7196"/>
                    <a:pt x="20038" y="11807"/>
                    <a:pt x="17157" y="15575"/>
                  </a:cubicBezTo>
                  <a:lnTo>
                    <a:pt x="0" y="2453"/>
                  </a:lnTo>
                  <a:close/>
                </a:path>
              </a:pathLst>
            </a:custGeom>
            <a:noFill/>
            <a:ln w="19050">
              <a:solidFill>
                <a:schemeClr val="tx1"/>
              </a:solidFill>
              <a:round/>
              <a:headEnd type="non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4" name="Arc 26"/>
            <p:cNvSpPr/>
            <p:nvPr/>
          </p:nvSpPr>
          <p:spPr bwMode="auto">
            <a:xfrm>
              <a:off x="4069" y="958"/>
              <a:ext cx="272" cy="248"/>
            </a:xfrm>
            <a:custGeom>
              <a:avLst/>
              <a:gdLst>
                <a:gd name="G0" fmla="+- 0 0 0"/>
                <a:gd name="G1" fmla="+- 12774 0 0"/>
                <a:gd name="G2" fmla="+- 21600 0 0"/>
                <a:gd name="T0" fmla="*/ 17418 w 21600"/>
                <a:gd name="T1" fmla="*/ 0 h 12774"/>
                <a:gd name="T2" fmla="*/ 21600 w 21600"/>
                <a:gd name="T3" fmla="*/ 12774 h 12774"/>
                <a:gd name="T4" fmla="*/ 0 w 21600"/>
                <a:gd name="T5" fmla="*/ 12774 h 12774"/>
              </a:gdLst>
              <a:ahLst/>
              <a:cxnLst>
                <a:cxn ang="0">
                  <a:pos x="T0" y="T1"/>
                </a:cxn>
                <a:cxn ang="0">
                  <a:pos x="T2" y="T3"/>
                </a:cxn>
                <a:cxn ang="0">
                  <a:pos x="T4" y="T5"/>
                </a:cxn>
              </a:cxnLst>
              <a:rect l="0" t="0" r="r" b="b"/>
              <a:pathLst>
                <a:path w="21600" h="12774" fill="none" extrusionOk="0">
                  <a:moveTo>
                    <a:pt x="17417" y="0"/>
                  </a:moveTo>
                  <a:cubicBezTo>
                    <a:pt x="20135" y="3704"/>
                    <a:pt x="21600" y="8179"/>
                    <a:pt x="21600" y="12774"/>
                  </a:cubicBezTo>
                </a:path>
                <a:path w="21600" h="12774" stroke="0" extrusionOk="0">
                  <a:moveTo>
                    <a:pt x="17417" y="0"/>
                  </a:moveTo>
                  <a:cubicBezTo>
                    <a:pt x="20135" y="3704"/>
                    <a:pt x="21600" y="8179"/>
                    <a:pt x="21600" y="12774"/>
                  </a:cubicBezTo>
                  <a:lnTo>
                    <a:pt x="0" y="12774"/>
                  </a:lnTo>
                  <a:close/>
                </a:path>
              </a:pathLst>
            </a:custGeom>
            <a:noFill/>
            <a:ln w="19050">
              <a:solidFill>
                <a:schemeClr val="tx1"/>
              </a:solidFill>
              <a:round/>
              <a:headEnd type="triangle" w="med" len="lg"/>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5" name="Arc 27"/>
            <p:cNvSpPr/>
            <p:nvPr/>
          </p:nvSpPr>
          <p:spPr bwMode="auto">
            <a:xfrm>
              <a:off x="4041" y="591"/>
              <a:ext cx="412" cy="452"/>
            </a:xfrm>
            <a:custGeom>
              <a:avLst/>
              <a:gdLst>
                <a:gd name="G0" fmla="+- 0 0 0"/>
                <a:gd name="G1" fmla="+- 21445 0 0"/>
                <a:gd name="G2" fmla="+- 21600 0 0"/>
                <a:gd name="T0" fmla="*/ 2586 w 20291"/>
                <a:gd name="T1" fmla="*/ 0 h 21445"/>
                <a:gd name="T2" fmla="*/ 20291 w 20291"/>
                <a:gd name="T3" fmla="*/ 14041 h 21445"/>
                <a:gd name="T4" fmla="*/ 0 w 20291"/>
                <a:gd name="T5" fmla="*/ 21445 h 21445"/>
              </a:gdLst>
              <a:ahLst/>
              <a:cxnLst>
                <a:cxn ang="0">
                  <a:pos x="T0" y="T1"/>
                </a:cxn>
                <a:cxn ang="0">
                  <a:pos x="T2" y="T3"/>
                </a:cxn>
                <a:cxn ang="0">
                  <a:pos x="T4" y="T5"/>
                </a:cxn>
              </a:cxnLst>
              <a:rect l="0" t="0" r="r" b="b"/>
              <a:pathLst>
                <a:path w="20291" h="21445" fill="none" extrusionOk="0">
                  <a:moveTo>
                    <a:pt x="2585" y="0"/>
                  </a:moveTo>
                  <a:cubicBezTo>
                    <a:pt x="10660" y="974"/>
                    <a:pt x="17503" y="6400"/>
                    <a:pt x="20291" y="14040"/>
                  </a:cubicBezTo>
                </a:path>
                <a:path w="20291" h="21445" stroke="0" extrusionOk="0">
                  <a:moveTo>
                    <a:pt x="2585" y="0"/>
                  </a:moveTo>
                  <a:cubicBezTo>
                    <a:pt x="10660" y="974"/>
                    <a:pt x="17503" y="6400"/>
                    <a:pt x="20291" y="14040"/>
                  </a:cubicBezTo>
                  <a:lnTo>
                    <a:pt x="0" y="21445"/>
                  </a:lnTo>
                  <a:close/>
                </a:path>
              </a:pathLst>
            </a:custGeom>
            <a:noFill/>
            <a:ln w="19050">
              <a:solidFill>
                <a:schemeClr val="tx1"/>
              </a:solidFill>
              <a:round/>
              <a:headEnd type="triangle" w="med" len="lg"/>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6" name="Text Box 28"/>
            <p:cNvSpPr txBox="1">
              <a:spLocks noChangeArrowheads="1"/>
            </p:cNvSpPr>
            <p:nvPr/>
          </p:nvSpPr>
          <p:spPr bwMode="auto">
            <a:xfrm>
              <a:off x="3560" y="1071"/>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latin typeface="Times New Roman" panose="02020603050405020304" pitchFamily="18" charset="0"/>
                  <a:ea typeface="华文中宋" panose="02010600040101010101" pitchFamily="2" charset="-122"/>
                </a:rPr>
                <a:t>O</a:t>
              </a:r>
              <a:endParaRPr lang="en-US" altLang="zh-CN" sz="2800">
                <a:latin typeface="Times New Roman" panose="02020603050405020304" pitchFamily="18" charset="0"/>
                <a:ea typeface="华文中宋" panose="02010600040101010101" pitchFamily="2" charset="-122"/>
              </a:endParaRPr>
            </a:p>
          </p:txBody>
        </p:sp>
        <p:graphicFrame>
          <p:nvGraphicFramePr>
            <p:cNvPr id="104477" name="Object 29"/>
            <p:cNvGraphicFramePr>
              <a:graphicFrameLocks noChangeAspect="1"/>
            </p:cNvGraphicFramePr>
            <p:nvPr/>
          </p:nvGraphicFramePr>
          <p:xfrm>
            <a:off x="3923" y="119"/>
            <a:ext cx="260" cy="398"/>
          </p:xfrm>
          <a:graphic>
            <a:graphicData uri="http://schemas.openxmlformats.org/presentationml/2006/ole">
              <mc:AlternateContent xmlns:mc="http://schemas.openxmlformats.org/markup-compatibility/2006">
                <mc:Choice xmlns:v="urn:schemas-microsoft-com:vml" Requires="v">
                  <p:oleObj spid="_x0000_s49215" name="Equation" r:id="rId15" imgW="189865" imgH="300990" progId="Equation.DSMT4">
                    <p:embed/>
                  </p:oleObj>
                </mc:Choice>
                <mc:Fallback>
                  <p:oleObj name="Equation" r:id="rId15" imgW="189865" imgH="300990" progId="Equation.DSMT4">
                    <p:embed/>
                    <p:pic>
                      <p:nvPicPr>
                        <p:cNvPr id="0" name="Object 29"/>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23" y="119"/>
                          <a:ext cx="260" cy="39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508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78" name="Object 30"/>
            <p:cNvGraphicFramePr>
              <a:graphicFrameLocks noChangeAspect="1"/>
            </p:cNvGraphicFramePr>
            <p:nvPr/>
          </p:nvGraphicFramePr>
          <p:xfrm>
            <a:off x="5067" y="386"/>
            <a:ext cx="240" cy="318"/>
          </p:xfrm>
          <a:graphic>
            <a:graphicData uri="http://schemas.openxmlformats.org/presentationml/2006/ole">
              <mc:AlternateContent xmlns:mc="http://schemas.openxmlformats.org/markup-compatibility/2006">
                <mc:Choice xmlns:v="urn:schemas-microsoft-com:vml" Requires="v">
                  <p:oleObj spid="_x0000_s49216" name="Equation" r:id="rId17" imgW="178435" imgH="234315" progId="Equation.DSMT4">
                    <p:embed/>
                  </p:oleObj>
                </mc:Choice>
                <mc:Fallback>
                  <p:oleObj name="Equation" r:id="rId17" imgW="178435" imgH="234315" progId="Equation.DSMT4">
                    <p:embed/>
                    <p:pic>
                      <p:nvPicPr>
                        <p:cNvPr id="0" name="Object 30"/>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67" y="386"/>
                          <a:ext cx="240" cy="31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508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3" name="Text Box 3"/>
          <p:cNvSpPr txBox="1">
            <a:spLocks noChangeArrowheads="1"/>
          </p:cNvSpPr>
          <p:nvPr/>
        </p:nvSpPr>
        <p:spPr bwMode="auto">
          <a:xfrm>
            <a:off x="152400" y="25849"/>
            <a:ext cx="8839200" cy="2269276"/>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lnSpc>
                <a:spcPct val="120000"/>
              </a:lnSpc>
            </a:pPr>
            <a:r>
              <a:rPr kumimoji="1" lang="zh-CN" altLang="en-US" dirty="0">
                <a:solidFill>
                  <a:srgbClr val="0000FF"/>
                </a:solidFill>
                <a:latin typeface="Times New Roman" panose="02020603050405020304" pitchFamily="18" charset="0"/>
                <a:ea typeface="华文中宋" panose="02010600040101010101" pitchFamily="2" charset="-122"/>
              </a:rPr>
              <a:t>例</a:t>
            </a:r>
            <a:r>
              <a:rPr kumimoji="1" lang="en-US" altLang="zh-CN" dirty="0">
                <a:solidFill>
                  <a:srgbClr val="0000FF"/>
                </a:solidFill>
                <a:latin typeface="Times New Roman" panose="02020603050405020304" pitchFamily="18" charset="0"/>
                <a:ea typeface="华文中宋" panose="02010600040101010101" pitchFamily="2" charset="-122"/>
              </a:rPr>
              <a:t>4. </a:t>
            </a:r>
            <a:r>
              <a:rPr kumimoji="1" lang="zh-CN" altLang="en-US" dirty="0">
                <a:solidFill>
                  <a:srgbClr val="0000FF"/>
                </a:solidFill>
                <a:latin typeface="Times New Roman" panose="02020603050405020304" pitchFamily="18" charset="0"/>
                <a:ea typeface="华文中宋" panose="02010600040101010101" pitchFamily="2" charset="-122"/>
              </a:rPr>
              <a:t>一质点同时参与两个同方向同频率的谐振动，其振动规律为 </a:t>
            </a:r>
            <a:r>
              <a:rPr kumimoji="1" lang="en-US" altLang="zh-CN" i="1" dirty="0">
                <a:solidFill>
                  <a:srgbClr val="0000FF"/>
                </a:solidFill>
                <a:latin typeface="Times New Roman" panose="02020603050405020304" pitchFamily="18" charset="0"/>
                <a:ea typeface="华文中宋" panose="02010600040101010101" pitchFamily="2" charset="-122"/>
              </a:rPr>
              <a:t>x</a:t>
            </a:r>
            <a:r>
              <a:rPr kumimoji="1" lang="en-US" altLang="zh-CN" baseline="-25000" dirty="0">
                <a:solidFill>
                  <a:srgbClr val="0000FF"/>
                </a:solidFill>
                <a:latin typeface="Times New Roman" panose="02020603050405020304" pitchFamily="18" charset="0"/>
                <a:ea typeface="华文中宋" panose="02010600040101010101" pitchFamily="2" charset="-122"/>
              </a:rPr>
              <a:t>1</a:t>
            </a:r>
            <a:r>
              <a:rPr kumimoji="1" lang="en-US" altLang="zh-CN" dirty="0">
                <a:solidFill>
                  <a:srgbClr val="0000FF"/>
                </a:solidFill>
                <a:latin typeface="Times New Roman" panose="02020603050405020304" pitchFamily="18" charset="0"/>
                <a:ea typeface="华文中宋" panose="02010600040101010101" pitchFamily="2" charset="-122"/>
              </a:rPr>
              <a:t>= 0.4cos(3</a:t>
            </a:r>
            <a:r>
              <a:rPr kumimoji="1" lang="en-US" altLang="zh-CN" i="1" dirty="0">
                <a:solidFill>
                  <a:srgbClr val="0000FF"/>
                </a:solidFill>
                <a:latin typeface="Times New Roman" panose="02020603050405020304" pitchFamily="18" charset="0"/>
                <a:ea typeface="华文中宋" panose="02010600040101010101" pitchFamily="2" charset="-122"/>
              </a:rPr>
              <a:t>t</a:t>
            </a:r>
            <a:r>
              <a:rPr kumimoji="1" lang="en-US" altLang="zh-CN" dirty="0">
                <a:solidFill>
                  <a:srgbClr val="0000FF"/>
                </a:solidFill>
                <a:latin typeface="Times New Roman" panose="02020603050405020304" pitchFamily="18" charset="0"/>
                <a:ea typeface="华文中宋" panose="02010600040101010101" pitchFamily="2" charset="-122"/>
              </a:rPr>
              <a:t> + </a:t>
            </a:r>
            <a:r>
              <a:rPr kumimoji="1" lang="en-US" altLang="zh-CN"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dirty="0">
                <a:solidFill>
                  <a:srgbClr val="0000FF"/>
                </a:solidFill>
                <a:latin typeface="Times New Roman" panose="02020603050405020304" pitchFamily="18" charset="0"/>
                <a:ea typeface="华文中宋" panose="02010600040101010101" pitchFamily="2" charset="-122"/>
              </a:rPr>
              <a:t>/3)</a:t>
            </a:r>
            <a:r>
              <a:rPr kumimoji="1" lang="zh-CN" altLang="en-US" dirty="0">
                <a:solidFill>
                  <a:srgbClr val="0000FF"/>
                </a:solidFill>
                <a:latin typeface="Times New Roman" panose="02020603050405020304" pitchFamily="18" charset="0"/>
                <a:ea typeface="华文中宋" panose="02010600040101010101" pitchFamily="2" charset="-122"/>
              </a:rPr>
              <a:t>，</a:t>
            </a:r>
            <a:r>
              <a:rPr kumimoji="1" lang="en-US" altLang="zh-CN" i="1" dirty="0">
                <a:solidFill>
                  <a:srgbClr val="0000FF"/>
                </a:solidFill>
                <a:latin typeface="Times New Roman" panose="02020603050405020304" pitchFamily="18" charset="0"/>
                <a:ea typeface="华文中宋" panose="02010600040101010101" pitchFamily="2" charset="-122"/>
              </a:rPr>
              <a:t>x</a:t>
            </a:r>
            <a:r>
              <a:rPr kumimoji="1" lang="en-US" altLang="zh-CN" baseline="-25000" dirty="0">
                <a:solidFill>
                  <a:srgbClr val="0000FF"/>
                </a:solidFill>
                <a:latin typeface="Times New Roman" panose="02020603050405020304" pitchFamily="18" charset="0"/>
                <a:ea typeface="华文中宋" panose="02010600040101010101" pitchFamily="2" charset="-122"/>
              </a:rPr>
              <a:t>2</a:t>
            </a:r>
            <a:r>
              <a:rPr kumimoji="1" lang="en-US" altLang="zh-CN" dirty="0">
                <a:solidFill>
                  <a:srgbClr val="0000FF"/>
                </a:solidFill>
                <a:latin typeface="Times New Roman" panose="02020603050405020304" pitchFamily="18" charset="0"/>
                <a:ea typeface="华文中宋" panose="02010600040101010101" pitchFamily="2" charset="-122"/>
              </a:rPr>
              <a:t>= 0.3cos(3</a:t>
            </a:r>
            <a:r>
              <a:rPr kumimoji="1" lang="en-US" altLang="zh-CN" i="1" dirty="0">
                <a:solidFill>
                  <a:srgbClr val="0000FF"/>
                </a:solidFill>
                <a:latin typeface="Times New Roman" panose="02020603050405020304" pitchFamily="18" charset="0"/>
                <a:ea typeface="华文中宋" panose="02010600040101010101" pitchFamily="2" charset="-122"/>
              </a:rPr>
              <a:t>t </a:t>
            </a:r>
            <a:r>
              <a:rPr kumimoji="1" lang="en-US" altLang="zh-CN" dirty="0">
                <a:solidFill>
                  <a:srgbClr val="0000FF"/>
                </a:solidFill>
                <a:latin typeface="宋体" panose="02010600030101010101" pitchFamily="2" charset="-122"/>
              </a:rPr>
              <a:t>-</a:t>
            </a:r>
            <a:r>
              <a:rPr kumimoji="1" lang="en-US" altLang="zh-CN" dirty="0">
                <a:solidFill>
                  <a:srgbClr val="0000FF"/>
                </a:solidFill>
                <a:latin typeface="Times New Roman" panose="02020603050405020304" pitchFamily="18" charset="0"/>
              </a:rPr>
              <a:t> </a:t>
            </a:r>
            <a:r>
              <a:rPr kumimoji="1" lang="en-US" altLang="zh-CN" dirty="0">
                <a:solidFill>
                  <a:srgbClr val="0000FF"/>
                </a:solidFill>
                <a:sym typeface="Symbol" panose="05050102010706020507" pitchFamily="18" charset="2"/>
              </a:rPr>
              <a:t></a:t>
            </a:r>
            <a:r>
              <a:rPr kumimoji="1" lang="en-US" altLang="zh-CN" dirty="0">
                <a:solidFill>
                  <a:srgbClr val="0000FF"/>
                </a:solidFill>
                <a:latin typeface="Times New Roman" panose="02020603050405020304" pitchFamily="18" charset="0"/>
                <a:ea typeface="华文中宋" panose="02010600040101010101" pitchFamily="2" charset="-122"/>
              </a:rPr>
              <a:t>/6) (SI)</a:t>
            </a:r>
            <a:r>
              <a:rPr kumimoji="1" lang="zh-CN" altLang="en-US" dirty="0">
                <a:solidFill>
                  <a:srgbClr val="0000FF"/>
                </a:solidFill>
                <a:latin typeface="Times New Roman" panose="02020603050405020304" pitchFamily="18" charset="0"/>
                <a:ea typeface="华文中宋" panose="02010600040101010101" pitchFamily="2" charset="-122"/>
              </a:rPr>
              <a:t>。</a:t>
            </a:r>
            <a:endParaRPr kumimoji="1" lang="zh-CN" altLang="en-US" dirty="0">
              <a:solidFill>
                <a:srgbClr val="0000FF"/>
              </a:solidFill>
              <a:latin typeface="Times New Roman" panose="02020603050405020304" pitchFamily="18" charset="0"/>
              <a:ea typeface="华文中宋" panose="02010600040101010101" pitchFamily="2" charset="-122"/>
            </a:endParaRPr>
          </a:p>
          <a:p>
            <a:pPr algn="just">
              <a:lnSpc>
                <a:spcPct val="120000"/>
              </a:lnSpc>
            </a:pPr>
            <a:r>
              <a:rPr kumimoji="1" lang="zh-CN" altLang="en-US" dirty="0">
                <a:solidFill>
                  <a:srgbClr val="0000FF"/>
                </a:solidFill>
                <a:latin typeface="Times New Roman" panose="02020603050405020304" pitchFamily="18" charset="0"/>
                <a:ea typeface="华文中宋" panose="02010600040101010101" pitchFamily="2" charset="-122"/>
              </a:rPr>
              <a:t>求：</a:t>
            </a:r>
            <a:r>
              <a:rPr kumimoji="1" lang="en-US" altLang="zh-CN" dirty="0">
                <a:solidFill>
                  <a:srgbClr val="0000FF"/>
                </a:solidFill>
                <a:latin typeface="Times New Roman" panose="02020603050405020304" pitchFamily="18" charset="0"/>
                <a:ea typeface="华文中宋" panose="02010600040101010101" pitchFamily="2" charset="-122"/>
              </a:rPr>
              <a:t>(1) </a:t>
            </a:r>
            <a:r>
              <a:rPr kumimoji="1" lang="zh-CN" altLang="en-US" dirty="0">
                <a:solidFill>
                  <a:srgbClr val="0000FF"/>
                </a:solidFill>
                <a:latin typeface="Times New Roman" panose="02020603050405020304" pitchFamily="18" charset="0"/>
                <a:ea typeface="华文中宋" panose="02010600040101010101" pitchFamily="2" charset="-122"/>
              </a:rPr>
              <a:t>合振动的振动函数；</a:t>
            </a:r>
            <a:endParaRPr kumimoji="1" lang="zh-CN" altLang="en-US" dirty="0">
              <a:solidFill>
                <a:srgbClr val="0000FF"/>
              </a:solidFill>
              <a:latin typeface="Times New Roman" panose="02020603050405020304" pitchFamily="18" charset="0"/>
              <a:ea typeface="华文中宋" panose="02010600040101010101" pitchFamily="2" charset="-122"/>
            </a:endParaRPr>
          </a:p>
          <a:p>
            <a:pPr algn="just">
              <a:lnSpc>
                <a:spcPct val="120000"/>
              </a:lnSpc>
            </a:pPr>
            <a:r>
              <a:rPr kumimoji="1" lang="en-US" altLang="zh-CN" dirty="0">
                <a:solidFill>
                  <a:srgbClr val="0000FF"/>
                </a:solidFill>
                <a:latin typeface="Times New Roman" panose="02020603050405020304" pitchFamily="18" charset="0"/>
                <a:ea typeface="华文中宋" panose="02010600040101010101" pitchFamily="2" charset="-122"/>
              </a:rPr>
              <a:t>(2) </a:t>
            </a:r>
            <a:r>
              <a:rPr kumimoji="1" lang="zh-CN" altLang="en-US" dirty="0">
                <a:solidFill>
                  <a:srgbClr val="0000FF"/>
                </a:solidFill>
                <a:latin typeface="Times New Roman" panose="02020603050405020304" pitchFamily="18" charset="0"/>
                <a:ea typeface="华文中宋" panose="02010600040101010101" pitchFamily="2" charset="-122"/>
              </a:rPr>
              <a:t>另有一同方向同频率的谐振动 </a:t>
            </a:r>
            <a:r>
              <a:rPr kumimoji="1" lang="en-US" altLang="zh-CN" i="1" dirty="0">
                <a:solidFill>
                  <a:srgbClr val="0000FF"/>
                </a:solidFill>
                <a:latin typeface="Times New Roman" panose="02020603050405020304" pitchFamily="18" charset="0"/>
                <a:ea typeface="华文中宋" panose="02010600040101010101" pitchFamily="2" charset="-122"/>
              </a:rPr>
              <a:t>x</a:t>
            </a:r>
            <a:r>
              <a:rPr kumimoji="1" lang="en-US" altLang="zh-CN" baseline="-25000" dirty="0">
                <a:solidFill>
                  <a:srgbClr val="0000FF"/>
                </a:solidFill>
                <a:latin typeface="Times New Roman" panose="02020603050405020304" pitchFamily="18" charset="0"/>
                <a:ea typeface="华文中宋" panose="02010600040101010101" pitchFamily="2" charset="-122"/>
              </a:rPr>
              <a:t>3</a:t>
            </a:r>
            <a:r>
              <a:rPr kumimoji="1" lang="en-US" altLang="zh-CN" dirty="0">
                <a:solidFill>
                  <a:srgbClr val="0000FF"/>
                </a:solidFill>
                <a:latin typeface="Times New Roman" panose="02020603050405020304" pitchFamily="18" charset="0"/>
                <a:ea typeface="华文中宋" panose="02010600040101010101" pitchFamily="2" charset="-122"/>
              </a:rPr>
              <a:t> = 0.5cos(3</a:t>
            </a:r>
            <a:r>
              <a:rPr kumimoji="1" lang="en-US" altLang="zh-CN" i="1" dirty="0">
                <a:solidFill>
                  <a:srgbClr val="0000FF"/>
                </a:solidFill>
                <a:latin typeface="Times New Roman" panose="02020603050405020304" pitchFamily="18" charset="0"/>
                <a:ea typeface="华文中宋" panose="02010600040101010101" pitchFamily="2" charset="-122"/>
              </a:rPr>
              <a:t>t</a:t>
            </a:r>
            <a:r>
              <a:rPr kumimoji="1" lang="en-US" altLang="zh-CN" dirty="0">
                <a:solidFill>
                  <a:srgbClr val="0000FF"/>
                </a:solidFill>
                <a:latin typeface="Times New Roman" panose="02020603050405020304" pitchFamily="18" charset="0"/>
                <a:ea typeface="华文中宋" panose="02010600040101010101" pitchFamily="2" charset="-122"/>
              </a:rPr>
              <a:t> + </a:t>
            </a:r>
            <a:r>
              <a:rPr kumimoji="1" lang="en-US" altLang="zh-CN" i="1" dirty="0">
                <a:solidFill>
                  <a:srgbClr val="0000FF"/>
                </a:solidFill>
                <a:sym typeface="Symbol" panose="05050102010706020507" pitchFamily="18" charset="2"/>
              </a:rPr>
              <a:t></a:t>
            </a:r>
            <a:r>
              <a:rPr kumimoji="1" lang="zh-CN" altLang="zh-CN" baseline="-25000" dirty="0">
                <a:solidFill>
                  <a:srgbClr val="0000FF"/>
                </a:solidFill>
                <a:latin typeface="Times New Roman" panose="02020603050405020304" pitchFamily="18" charset="0"/>
                <a:ea typeface="华文中宋" panose="02010600040101010101" pitchFamily="2" charset="-122"/>
              </a:rPr>
              <a:t>3</a:t>
            </a:r>
            <a:r>
              <a:rPr kumimoji="1" lang="en-US" altLang="zh-CN" dirty="0">
                <a:solidFill>
                  <a:srgbClr val="0000FF"/>
                </a:solidFill>
                <a:latin typeface="Times New Roman" panose="02020603050405020304" pitchFamily="18" charset="0"/>
                <a:ea typeface="华文中宋" panose="02010600040101010101" pitchFamily="2" charset="-122"/>
              </a:rPr>
              <a:t>) (SI)</a:t>
            </a:r>
            <a:endParaRPr kumimoji="1" lang="en-US" altLang="zh-CN" dirty="0">
              <a:solidFill>
                <a:srgbClr val="0000FF"/>
              </a:solidFill>
              <a:latin typeface="Times New Roman" panose="02020603050405020304" pitchFamily="18" charset="0"/>
              <a:ea typeface="华文中宋" panose="02010600040101010101" pitchFamily="2" charset="-122"/>
            </a:endParaRPr>
          </a:p>
          <a:p>
            <a:pPr algn="just">
              <a:lnSpc>
                <a:spcPct val="120000"/>
              </a:lnSpc>
            </a:pPr>
            <a:r>
              <a:rPr kumimoji="1" lang="en-US" altLang="zh-CN" dirty="0">
                <a:solidFill>
                  <a:srgbClr val="0000FF"/>
                </a:solidFill>
                <a:latin typeface="Times New Roman" panose="02020603050405020304" pitchFamily="18" charset="0"/>
                <a:ea typeface="华文中宋" panose="02010600040101010101" pitchFamily="2" charset="-122"/>
              </a:rPr>
              <a:t>      </a:t>
            </a:r>
            <a:r>
              <a:rPr kumimoji="1" lang="zh-CN" altLang="en-US" dirty="0">
                <a:solidFill>
                  <a:srgbClr val="0000FF"/>
                </a:solidFill>
                <a:latin typeface="Times New Roman" panose="02020603050405020304" pitchFamily="18" charset="0"/>
                <a:ea typeface="华文中宋" panose="02010600040101010101" pitchFamily="2" charset="-122"/>
              </a:rPr>
              <a:t>当 </a:t>
            </a:r>
            <a:r>
              <a:rPr kumimoji="1" lang="zh-CN" altLang="en-US"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kumimoji="1" lang="zh-CN" altLang="zh-CN" baseline="-25000" dirty="0">
                <a:solidFill>
                  <a:srgbClr val="0000FF"/>
                </a:solidFill>
                <a:latin typeface="Times New Roman" panose="02020603050405020304" pitchFamily="18" charset="0"/>
                <a:ea typeface="华文中宋" panose="02010600040101010101" pitchFamily="2" charset="-122"/>
              </a:rPr>
              <a:t>3</a:t>
            </a:r>
            <a:r>
              <a:rPr kumimoji="1" lang="en-US" altLang="zh-CN" i="1" dirty="0">
                <a:solidFill>
                  <a:srgbClr val="0000FF"/>
                </a:solidFill>
                <a:latin typeface="Times New Roman" panose="02020603050405020304" pitchFamily="18" charset="0"/>
                <a:ea typeface="华文中宋" panose="02010600040101010101" pitchFamily="2" charset="-122"/>
              </a:rPr>
              <a:t> </a:t>
            </a:r>
            <a:r>
              <a:rPr kumimoji="1" lang="zh-CN" altLang="en-US" dirty="0">
                <a:solidFill>
                  <a:srgbClr val="0000FF"/>
                </a:solidFill>
                <a:latin typeface="Times New Roman" panose="02020603050405020304" pitchFamily="18" charset="0"/>
                <a:ea typeface="华文中宋" panose="02010600040101010101" pitchFamily="2" charset="-122"/>
              </a:rPr>
              <a:t>等于多少时，</a:t>
            </a:r>
            <a:r>
              <a:rPr kumimoji="1" lang="en-US" altLang="zh-CN" i="1" dirty="0">
                <a:solidFill>
                  <a:srgbClr val="0000FF"/>
                </a:solidFill>
                <a:latin typeface="Times New Roman" panose="02020603050405020304" pitchFamily="18" charset="0"/>
                <a:ea typeface="华文中宋" panose="02010600040101010101" pitchFamily="2" charset="-122"/>
              </a:rPr>
              <a:t>x</a:t>
            </a:r>
            <a:r>
              <a:rPr kumimoji="1" lang="en-US" altLang="zh-CN" baseline="-25000" dirty="0">
                <a:solidFill>
                  <a:srgbClr val="0000FF"/>
                </a:solidFill>
                <a:latin typeface="Times New Roman" panose="02020603050405020304" pitchFamily="18" charset="0"/>
                <a:ea typeface="华文中宋" panose="02010600040101010101" pitchFamily="2" charset="-122"/>
              </a:rPr>
              <a:t>1</a:t>
            </a:r>
            <a:r>
              <a:rPr kumimoji="1" lang="en-US" altLang="zh-CN" dirty="0">
                <a:solidFill>
                  <a:srgbClr val="0000FF"/>
                </a:solidFill>
                <a:latin typeface="Times New Roman" panose="02020603050405020304" pitchFamily="18" charset="0"/>
                <a:ea typeface="华文中宋" panose="02010600040101010101" pitchFamily="2" charset="-122"/>
              </a:rPr>
              <a:t>, </a:t>
            </a:r>
            <a:r>
              <a:rPr kumimoji="1" lang="en-US" altLang="zh-CN" i="1" dirty="0">
                <a:solidFill>
                  <a:srgbClr val="0000FF"/>
                </a:solidFill>
                <a:latin typeface="Times New Roman" panose="02020603050405020304" pitchFamily="18" charset="0"/>
                <a:ea typeface="华文中宋" panose="02010600040101010101" pitchFamily="2" charset="-122"/>
              </a:rPr>
              <a:t>x</a:t>
            </a:r>
            <a:r>
              <a:rPr kumimoji="1" lang="en-US" altLang="zh-CN" baseline="-25000" dirty="0">
                <a:solidFill>
                  <a:srgbClr val="0000FF"/>
                </a:solidFill>
                <a:latin typeface="Times New Roman" panose="02020603050405020304" pitchFamily="18" charset="0"/>
                <a:ea typeface="华文中宋" panose="02010600040101010101" pitchFamily="2" charset="-122"/>
              </a:rPr>
              <a:t>2</a:t>
            </a:r>
            <a:r>
              <a:rPr kumimoji="1" lang="en-US" altLang="zh-CN" dirty="0">
                <a:solidFill>
                  <a:srgbClr val="0000FF"/>
                </a:solidFill>
                <a:latin typeface="Times New Roman" panose="02020603050405020304" pitchFamily="18" charset="0"/>
                <a:ea typeface="华文中宋" panose="02010600040101010101" pitchFamily="2" charset="-122"/>
              </a:rPr>
              <a:t>, </a:t>
            </a:r>
            <a:r>
              <a:rPr kumimoji="1" lang="en-US" altLang="zh-CN" i="1" dirty="0">
                <a:solidFill>
                  <a:srgbClr val="0000FF"/>
                </a:solidFill>
                <a:latin typeface="Times New Roman" panose="02020603050405020304" pitchFamily="18" charset="0"/>
                <a:ea typeface="华文中宋" panose="02010600040101010101" pitchFamily="2" charset="-122"/>
              </a:rPr>
              <a:t>x</a:t>
            </a:r>
            <a:r>
              <a:rPr kumimoji="1" lang="en-US" altLang="zh-CN" baseline="-25000" dirty="0">
                <a:solidFill>
                  <a:srgbClr val="0000FF"/>
                </a:solidFill>
                <a:latin typeface="Times New Roman" panose="02020603050405020304" pitchFamily="18" charset="0"/>
                <a:ea typeface="华文中宋" panose="02010600040101010101" pitchFamily="2" charset="-122"/>
              </a:rPr>
              <a:t>3 </a:t>
            </a:r>
            <a:r>
              <a:rPr kumimoji="1" lang="zh-CN" altLang="en-US" dirty="0">
                <a:solidFill>
                  <a:srgbClr val="0000FF"/>
                </a:solidFill>
                <a:latin typeface="Times New Roman" panose="02020603050405020304" pitchFamily="18" charset="0"/>
                <a:ea typeface="华文中宋" panose="02010600040101010101" pitchFamily="2" charset="-122"/>
              </a:rPr>
              <a:t>的合振幅最大？最小？</a:t>
            </a:r>
            <a:endParaRPr kumimoji="1" lang="zh-CN" altLang="zh-CN" dirty="0">
              <a:solidFill>
                <a:srgbClr val="0000FF"/>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450"/>
                                        </p:tgtEl>
                                        <p:attrNameLst>
                                          <p:attrName>style.visibility</p:attrName>
                                        </p:attrNameLst>
                                      </p:cBhvr>
                                      <p:to>
                                        <p:strVal val="visible"/>
                                      </p:to>
                                    </p:set>
                                    <p:animEffect transition="in" filter="wipe(left)">
                                      <p:cBhvr>
                                        <p:cTn id="7" dur="500"/>
                                        <p:tgtEl>
                                          <p:spTgt spid="1044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4459"/>
                                        </p:tgtEl>
                                        <p:attrNameLst>
                                          <p:attrName>style.visibility</p:attrName>
                                        </p:attrNameLst>
                                      </p:cBhvr>
                                      <p:to>
                                        <p:strVal val="visible"/>
                                      </p:to>
                                    </p:set>
                                    <p:animEffect transition="in" filter="wipe(left)">
                                      <p:cBhvr>
                                        <p:cTn id="12" dur="500"/>
                                        <p:tgtEl>
                                          <p:spTgt spid="104459"/>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04451"/>
                                        </p:tgtEl>
                                        <p:attrNameLst>
                                          <p:attrName>style.visibility</p:attrName>
                                        </p:attrNameLst>
                                      </p:cBhvr>
                                      <p:to>
                                        <p:strVal val="visible"/>
                                      </p:to>
                                    </p:set>
                                    <p:animEffect transition="in" filter="wipe(left)">
                                      <p:cBhvr>
                                        <p:cTn id="16" dur="500"/>
                                        <p:tgtEl>
                                          <p:spTgt spid="10445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4452"/>
                                        </p:tgtEl>
                                        <p:attrNameLst>
                                          <p:attrName>style.visibility</p:attrName>
                                        </p:attrNameLst>
                                      </p:cBhvr>
                                      <p:to>
                                        <p:strVal val="visible"/>
                                      </p:to>
                                    </p:set>
                                    <p:animEffect transition="in" filter="wipe(left)">
                                      <p:cBhvr>
                                        <p:cTn id="21" dur="500"/>
                                        <p:tgtEl>
                                          <p:spTgt spid="10445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4453"/>
                                        </p:tgtEl>
                                        <p:attrNameLst>
                                          <p:attrName>style.visibility</p:attrName>
                                        </p:attrNameLst>
                                      </p:cBhvr>
                                      <p:to>
                                        <p:strVal val="visible"/>
                                      </p:to>
                                    </p:set>
                                    <p:animEffect transition="in" filter="wipe(left)">
                                      <p:cBhvr>
                                        <p:cTn id="26" dur="500"/>
                                        <p:tgtEl>
                                          <p:spTgt spid="10445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04454"/>
                                        </p:tgtEl>
                                        <p:attrNameLst>
                                          <p:attrName>style.visibility</p:attrName>
                                        </p:attrNameLst>
                                      </p:cBhvr>
                                      <p:to>
                                        <p:strVal val="visible"/>
                                      </p:to>
                                    </p:set>
                                    <p:animEffect transition="in" filter="wipe(left)">
                                      <p:cBhvr>
                                        <p:cTn id="31" dur="500"/>
                                        <p:tgtEl>
                                          <p:spTgt spid="10445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04455"/>
                                        </p:tgtEl>
                                        <p:attrNameLst>
                                          <p:attrName>style.visibility</p:attrName>
                                        </p:attrNameLst>
                                      </p:cBhvr>
                                      <p:to>
                                        <p:strVal val="visible"/>
                                      </p:to>
                                    </p:set>
                                    <p:animEffect transition="in" filter="wipe(left)">
                                      <p:cBhvr>
                                        <p:cTn id="36" dur="500"/>
                                        <p:tgtEl>
                                          <p:spTgt spid="10445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04456"/>
                                        </p:tgtEl>
                                        <p:attrNameLst>
                                          <p:attrName>style.visibility</p:attrName>
                                        </p:attrNameLst>
                                      </p:cBhvr>
                                      <p:to>
                                        <p:strVal val="visible"/>
                                      </p:to>
                                    </p:set>
                                    <p:animEffect transition="in" filter="wipe(left)">
                                      <p:cBhvr>
                                        <p:cTn id="41" dur="500"/>
                                        <p:tgtEl>
                                          <p:spTgt spid="104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456" name="Object 8"/>
          <p:cNvGraphicFramePr>
            <a:graphicFrameLocks noChangeAspect="1"/>
          </p:cNvGraphicFramePr>
          <p:nvPr/>
        </p:nvGraphicFramePr>
        <p:xfrm>
          <a:off x="683568" y="2636912"/>
          <a:ext cx="4176712" cy="492125"/>
        </p:xfrm>
        <a:graphic>
          <a:graphicData uri="http://schemas.openxmlformats.org/presentationml/2006/ole">
            <mc:AlternateContent xmlns:mc="http://schemas.openxmlformats.org/markup-compatibility/2006">
              <mc:Choice xmlns:v="urn:schemas-microsoft-com:vml" Requires="v">
                <p:oleObj spid="_x0000_s50193" name="Equation" r:id="rId1" imgW="2018665" imgH="234315" progId="Equation.DSMT4">
                  <p:embed/>
                </p:oleObj>
              </mc:Choice>
              <mc:Fallback>
                <p:oleObj name="Equation" r:id="rId1" imgW="2018665" imgH="234315" progId="Equation.DSMT4">
                  <p:embed/>
                  <p:pic>
                    <p:nvPicPr>
                      <p:cNvPr id="0" name="Object 8"/>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636912"/>
                        <a:ext cx="417671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57" name="Text Box 9"/>
          <p:cNvSpPr txBox="1">
            <a:spLocks noChangeArrowheads="1"/>
          </p:cNvSpPr>
          <p:nvPr/>
        </p:nvSpPr>
        <p:spPr bwMode="auto">
          <a:xfrm>
            <a:off x="395536" y="3506587"/>
            <a:ext cx="4032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sz="2800">
                <a:solidFill>
                  <a:srgbClr val="0000FF"/>
                </a:solidFill>
                <a:latin typeface="Times New Roman" panose="02020603050405020304" pitchFamily="18" charset="0"/>
                <a:ea typeface="华文中宋" panose="02010600040101010101" pitchFamily="2" charset="-122"/>
              </a:rPr>
              <a:t>(2) </a:t>
            </a:r>
            <a:r>
              <a:rPr kumimoji="1" lang="zh-CN" altLang="en-US" sz="2800">
                <a:solidFill>
                  <a:srgbClr val="0000FF"/>
                </a:solidFill>
                <a:latin typeface="Times New Roman" panose="02020603050405020304" pitchFamily="18" charset="0"/>
                <a:ea typeface="华文中宋" panose="02010600040101010101" pitchFamily="2" charset="-122"/>
              </a:rPr>
              <a:t>当</a:t>
            </a:r>
            <a:r>
              <a:rPr kumimoji="1" lang="zh-CN" altLang="en-US" sz="2800">
                <a:solidFill>
                  <a:srgbClr val="0000FF"/>
                </a:solidFill>
                <a:latin typeface="Times New Roman" panose="02020603050405020304" pitchFamily="18" charset="0"/>
              </a:rPr>
              <a:t> </a:t>
            </a:r>
            <a:r>
              <a:rPr kumimoji="1" lang="zh-CN" altLang="zh-CN" sz="2800" i="1">
                <a:solidFill>
                  <a:srgbClr val="0000FF"/>
                </a:solidFill>
                <a:latin typeface="Symbol" panose="05050102010706020507" pitchFamily="18" charset="2"/>
              </a:rPr>
              <a:t>f</a:t>
            </a:r>
            <a:r>
              <a:rPr kumimoji="1" lang="zh-CN" altLang="zh-CN" sz="2800" baseline="-25000">
                <a:solidFill>
                  <a:srgbClr val="0000FF"/>
                </a:solidFill>
                <a:latin typeface="Times New Roman" panose="02020603050405020304" pitchFamily="18" charset="0"/>
              </a:rPr>
              <a:t>3 </a:t>
            </a:r>
            <a:r>
              <a:rPr kumimoji="1" lang="zh-CN" altLang="zh-CN" sz="2800">
                <a:solidFill>
                  <a:srgbClr val="0000FF"/>
                </a:solidFill>
                <a:latin typeface="Times New Roman" panose="02020603050405020304" pitchFamily="18" charset="0"/>
              </a:rPr>
              <a:t>= </a:t>
            </a:r>
            <a:r>
              <a:rPr kumimoji="1" lang="zh-CN" altLang="zh-CN" sz="2800" i="1">
                <a:solidFill>
                  <a:srgbClr val="0000FF"/>
                </a:solidFill>
                <a:latin typeface="Symbol" panose="05050102010706020507" pitchFamily="18" charset="2"/>
              </a:rPr>
              <a:t>f</a:t>
            </a:r>
            <a:r>
              <a:rPr kumimoji="1" lang="zh-CN" altLang="zh-CN" sz="2800">
                <a:solidFill>
                  <a:srgbClr val="0000FF"/>
                </a:solidFill>
                <a:latin typeface="Symbol" panose="05050102010706020507" pitchFamily="18" charset="2"/>
              </a:rPr>
              <a:t> </a:t>
            </a:r>
            <a:r>
              <a:rPr kumimoji="1" lang="zh-CN" altLang="zh-CN" sz="2800">
                <a:solidFill>
                  <a:srgbClr val="0000FF"/>
                </a:solidFill>
                <a:latin typeface="Times New Roman" panose="02020603050405020304" pitchFamily="18" charset="0"/>
                <a:ea typeface="华文中宋" panose="02010600040101010101" pitchFamily="2" charset="-122"/>
              </a:rPr>
              <a:t>= 0.12</a:t>
            </a:r>
            <a:r>
              <a:rPr kumimoji="1" lang="zh-CN" altLang="zh-CN" sz="280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sz="2800">
                <a:solidFill>
                  <a:srgbClr val="0000FF"/>
                </a:solidFill>
                <a:latin typeface="Times New Roman" panose="02020603050405020304" pitchFamily="18" charset="0"/>
                <a:ea typeface="华文中宋" panose="02010600040101010101" pitchFamily="2" charset="-122"/>
                <a:sym typeface="Symbol" panose="05050102010706020507" pitchFamily="18" charset="2"/>
              </a:rPr>
              <a:t> </a:t>
            </a:r>
            <a:r>
              <a:rPr kumimoji="1" lang="zh-CN" altLang="en-US" sz="2800">
                <a:solidFill>
                  <a:srgbClr val="0000FF"/>
                </a:solidFill>
                <a:latin typeface="Times New Roman" panose="02020603050405020304" pitchFamily="18" charset="0"/>
                <a:ea typeface="华文中宋" panose="02010600040101010101" pitchFamily="2" charset="-122"/>
                <a:sym typeface="Symbol" panose="05050102010706020507" pitchFamily="18" charset="2"/>
              </a:rPr>
              <a:t>时，</a:t>
            </a:r>
            <a:r>
              <a:rPr kumimoji="1" lang="zh-CN" altLang="zh-CN" sz="2800">
                <a:latin typeface="Times New Roman" panose="02020603050405020304" pitchFamily="18" charset="0"/>
                <a:ea typeface="华文中宋" panose="02010600040101010101" pitchFamily="2" charset="-122"/>
              </a:rPr>
              <a:t> </a:t>
            </a:r>
            <a:endParaRPr kumimoji="1" lang="zh-CN" altLang="en-US" sz="2800">
              <a:latin typeface="Times New Roman" panose="02020603050405020304" pitchFamily="18" charset="0"/>
              <a:ea typeface="华文中宋" panose="02010600040101010101" pitchFamily="2" charset="-122"/>
            </a:endParaRPr>
          </a:p>
        </p:txBody>
      </p:sp>
      <p:graphicFrame>
        <p:nvGraphicFramePr>
          <p:cNvPr id="104458" name="Object 10"/>
          <p:cNvGraphicFramePr>
            <a:graphicFrameLocks noChangeAspect="1"/>
          </p:cNvGraphicFramePr>
          <p:nvPr/>
        </p:nvGraphicFramePr>
        <p:xfrm>
          <a:off x="4299198" y="3535162"/>
          <a:ext cx="3168650" cy="558800"/>
        </p:xfrm>
        <a:graphic>
          <a:graphicData uri="http://schemas.openxmlformats.org/presentationml/2006/ole">
            <mc:AlternateContent xmlns:mc="http://schemas.openxmlformats.org/markup-compatibility/2006">
              <mc:Choice xmlns:v="urn:schemas-microsoft-com:vml" Requires="v">
                <p:oleObj spid="_x0000_s50194" name="Equation" r:id="rId3" imgW="1516380" imgH="267335" progId="Equation.DSMT4">
                  <p:embed/>
                </p:oleObj>
              </mc:Choice>
              <mc:Fallback>
                <p:oleObj name="Equation" r:id="rId3" imgW="1516380" imgH="267335" progId="Equation.DSMT4">
                  <p:embed/>
                  <p:pic>
                    <p:nvPicPr>
                      <p:cNvPr id="0" name="Object 10"/>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9198" y="3535162"/>
                        <a:ext cx="3168650"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79" name="Text Box 31"/>
          <p:cNvSpPr txBox="1">
            <a:spLocks noChangeArrowheads="1"/>
          </p:cNvSpPr>
          <p:nvPr/>
        </p:nvSpPr>
        <p:spPr bwMode="auto">
          <a:xfrm>
            <a:off x="900361" y="4097137"/>
            <a:ext cx="4321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solidFill>
                  <a:srgbClr val="0000FF"/>
                </a:solidFill>
                <a:latin typeface="Times New Roman" panose="02020603050405020304" pitchFamily="18" charset="0"/>
                <a:ea typeface="华文中宋" panose="02010600040101010101" pitchFamily="2" charset="-122"/>
              </a:rPr>
              <a:t>当</a:t>
            </a:r>
            <a:r>
              <a:rPr kumimoji="1" lang="zh-CN" altLang="en-US" sz="2800">
                <a:solidFill>
                  <a:srgbClr val="0000FF"/>
                </a:solidFill>
                <a:latin typeface="Times New Roman" panose="02020603050405020304" pitchFamily="18" charset="0"/>
              </a:rPr>
              <a:t> </a:t>
            </a:r>
            <a:r>
              <a:rPr kumimoji="1" lang="zh-CN" altLang="zh-CN" sz="2800" i="1">
                <a:solidFill>
                  <a:srgbClr val="0000FF"/>
                </a:solidFill>
                <a:latin typeface="Symbol" panose="05050102010706020507" pitchFamily="18" charset="2"/>
              </a:rPr>
              <a:t>f</a:t>
            </a:r>
            <a:r>
              <a:rPr kumimoji="1" lang="zh-CN" altLang="zh-CN" sz="2800" baseline="-25000">
                <a:solidFill>
                  <a:srgbClr val="0000FF"/>
                </a:solidFill>
                <a:latin typeface="Times New Roman" panose="02020603050405020304" pitchFamily="18" charset="0"/>
              </a:rPr>
              <a:t>3 </a:t>
            </a:r>
            <a:r>
              <a:rPr kumimoji="1" lang="zh-CN" altLang="zh-CN" sz="2800">
                <a:solidFill>
                  <a:srgbClr val="0000FF"/>
                </a:solidFill>
                <a:latin typeface="Times New Roman" panose="02020603050405020304" pitchFamily="18" charset="0"/>
              </a:rPr>
              <a:t>= </a:t>
            </a:r>
            <a:r>
              <a:rPr kumimoji="1" lang="zh-CN" altLang="zh-CN" sz="2800" i="1">
                <a:solidFill>
                  <a:srgbClr val="0000FF"/>
                </a:solidFill>
                <a:latin typeface="Symbol" panose="05050102010706020507" pitchFamily="18" charset="2"/>
              </a:rPr>
              <a:t>f</a:t>
            </a:r>
            <a:r>
              <a:rPr kumimoji="1" lang="zh-CN" altLang="zh-CN" sz="2800">
                <a:solidFill>
                  <a:srgbClr val="0000FF"/>
                </a:solidFill>
                <a:latin typeface="Symbol" panose="05050102010706020507" pitchFamily="18" charset="2"/>
              </a:rPr>
              <a:t> </a:t>
            </a:r>
            <a:r>
              <a:rPr kumimoji="1" lang="en-US" altLang="zh-CN" sz="2800">
                <a:solidFill>
                  <a:srgbClr val="0000FF"/>
                </a:solidFill>
                <a:latin typeface="Symbol" panose="05050102010706020507" pitchFamily="18" charset="2"/>
              </a:rPr>
              <a:t>- </a:t>
            </a:r>
            <a:r>
              <a:rPr kumimoji="1" lang="en-US" altLang="zh-CN" sz="2800">
                <a:solidFill>
                  <a:srgbClr val="0000FF"/>
                </a:solidFill>
                <a:latin typeface="Symbol" panose="05050102010706020507" pitchFamily="18" charset="2"/>
                <a:sym typeface="Symbol" panose="05050102010706020507" pitchFamily="18" charset="2"/>
              </a:rPr>
              <a:t> </a:t>
            </a:r>
            <a:r>
              <a:rPr kumimoji="1" lang="zh-CN" altLang="zh-CN" sz="2800">
                <a:solidFill>
                  <a:srgbClr val="0000FF"/>
                </a:solidFill>
                <a:latin typeface="Times New Roman" panose="02020603050405020304" pitchFamily="18" charset="0"/>
                <a:ea typeface="华文中宋" panose="02010600040101010101" pitchFamily="2" charset="-122"/>
              </a:rPr>
              <a:t>= </a:t>
            </a:r>
            <a:r>
              <a:rPr kumimoji="1" lang="en-US" altLang="zh-CN" sz="2800">
                <a:solidFill>
                  <a:srgbClr val="0000FF"/>
                </a:solidFill>
                <a:latin typeface="宋体" panose="02010600030101010101" pitchFamily="2" charset="-122"/>
              </a:rPr>
              <a:t>-</a:t>
            </a:r>
            <a:r>
              <a:rPr kumimoji="1" lang="zh-CN" altLang="zh-CN" sz="2800">
                <a:solidFill>
                  <a:srgbClr val="0000FF"/>
                </a:solidFill>
                <a:latin typeface="Times New Roman" panose="02020603050405020304" pitchFamily="18" charset="0"/>
                <a:ea typeface="华文中宋" panose="02010600040101010101" pitchFamily="2" charset="-122"/>
              </a:rPr>
              <a:t>0.88</a:t>
            </a:r>
            <a:r>
              <a:rPr kumimoji="1" lang="zh-CN" altLang="zh-CN" sz="280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sz="2800">
                <a:solidFill>
                  <a:srgbClr val="0000FF"/>
                </a:solidFill>
                <a:latin typeface="Times New Roman" panose="02020603050405020304" pitchFamily="18" charset="0"/>
                <a:ea typeface="华文中宋" panose="02010600040101010101" pitchFamily="2" charset="-122"/>
                <a:sym typeface="Symbol" panose="05050102010706020507" pitchFamily="18" charset="2"/>
              </a:rPr>
              <a:t> </a:t>
            </a:r>
            <a:r>
              <a:rPr kumimoji="1" lang="zh-CN" altLang="en-US" sz="2800">
                <a:solidFill>
                  <a:srgbClr val="0000FF"/>
                </a:solidFill>
                <a:latin typeface="Times New Roman" panose="02020603050405020304" pitchFamily="18" charset="0"/>
                <a:ea typeface="华文中宋" panose="02010600040101010101" pitchFamily="2" charset="-122"/>
                <a:sym typeface="Symbol" panose="05050102010706020507" pitchFamily="18" charset="2"/>
              </a:rPr>
              <a:t>时，</a:t>
            </a:r>
            <a:r>
              <a:rPr kumimoji="1" lang="zh-CN" altLang="zh-CN" sz="2800">
                <a:latin typeface="Times New Roman" panose="02020603050405020304" pitchFamily="18" charset="0"/>
                <a:ea typeface="华文中宋" panose="02010600040101010101" pitchFamily="2" charset="-122"/>
              </a:rPr>
              <a:t> </a:t>
            </a:r>
            <a:endParaRPr kumimoji="1" lang="zh-CN" altLang="en-US" sz="2800">
              <a:latin typeface="Times New Roman" panose="02020603050405020304" pitchFamily="18" charset="0"/>
              <a:ea typeface="华文中宋" panose="02010600040101010101" pitchFamily="2" charset="-122"/>
            </a:endParaRPr>
          </a:p>
        </p:txBody>
      </p:sp>
      <p:graphicFrame>
        <p:nvGraphicFramePr>
          <p:cNvPr id="104480" name="Object 32"/>
          <p:cNvGraphicFramePr>
            <a:graphicFrameLocks noChangeAspect="1"/>
          </p:cNvGraphicFramePr>
          <p:nvPr/>
        </p:nvGraphicFramePr>
        <p:xfrm>
          <a:off x="5018336" y="4068562"/>
          <a:ext cx="2703512" cy="620712"/>
        </p:xfrm>
        <a:graphic>
          <a:graphicData uri="http://schemas.openxmlformats.org/presentationml/2006/ole">
            <mc:AlternateContent xmlns:mc="http://schemas.openxmlformats.org/markup-compatibility/2006">
              <mc:Choice xmlns:v="urn:schemas-microsoft-com:vml" Requires="v">
                <p:oleObj spid="_x0000_s50195" name="Equation" r:id="rId5" imgW="1293495" imgH="300990" progId="Equation.DSMT4">
                  <p:embed/>
                </p:oleObj>
              </mc:Choice>
              <mc:Fallback>
                <p:oleObj name="Equation" r:id="rId5" imgW="1293495" imgH="300990" progId="Equation.DSMT4">
                  <p:embed/>
                  <p:pic>
                    <p:nvPicPr>
                      <p:cNvPr id="0" name="Object 32"/>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8336" y="4068562"/>
                        <a:ext cx="2703512" cy="62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 name="Text Box 3"/>
          <p:cNvSpPr txBox="1">
            <a:spLocks noChangeArrowheads="1"/>
          </p:cNvSpPr>
          <p:nvPr/>
        </p:nvSpPr>
        <p:spPr bwMode="auto">
          <a:xfrm>
            <a:off x="152400" y="25849"/>
            <a:ext cx="8839200" cy="2269276"/>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lnSpc>
                <a:spcPct val="120000"/>
              </a:lnSpc>
            </a:pPr>
            <a:r>
              <a:rPr kumimoji="1" lang="zh-CN" altLang="en-US" dirty="0">
                <a:solidFill>
                  <a:srgbClr val="0000FF"/>
                </a:solidFill>
                <a:latin typeface="Times New Roman" panose="02020603050405020304" pitchFamily="18" charset="0"/>
                <a:ea typeface="华文中宋" panose="02010600040101010101" pitchFamily="2" charset="-122"/>
              </a:rPr>
              <a:t>例</a:t>
            </a:r>
            <a:r>
              <a:rPr kumimoji="1" lang="en-US" altLang="zh-CN" dirty="0">
                <a:solidFill>
                  <a:srgbClr val="0000FF"/>
                </a:solidFill>
                <a:latin typeface="Times New Roman" panose="02020603050405020304" pitchFamily="18" charset="0"/>
                <a:ea typeface="华文中宋" panose="02010600040101010101" pitchFamily="2" charset="-122"/>
              </a:rPr>
              <a:t>4. </a:t>
            </a:r>
            <a:r>
              <a:rPr kumimoji="1" lang="zh-CN" altLang="en-US" dirty="0">
                <a:solidFill>
                  <a:srgbClr val="0000FF"/>
                </a:solidFill>
                <a:latin typeface="Times New Roman" panose="02020603050405020304" pitchFamily="18" charset="0"/>
                <a:ea typeface="华文中宋" panose="02010600040101010101" pitchFamily="2" charset="-122"/>
              </a:rPr>
              <a:t>一质点同时参与两个同方向同频率的谐振动，其振动规律为 </a:t>
            </a:r>
            <a:r>
              <a:rPr kumimoji="1" lang="en-US" altLang="zh-CN" i="1" dirty="0">
                <a:solidFill>
                  <a:srgbClr val="0000FF"/>
                </a:solidFill>
                <a:latin typeface="Times New Roman" panose="02020603050405020304" pitchFamily="18" charset="0"/>
                <a:ea typeface="华文中宋" panose="02010600040101010101" pitchFamily="2" charset="-122"/>
              </a:rPr>
              <a:t>x</a:t>
            </a:r>
            <a:r>
              <a:rPr kumimoji="1" lang="en-US" altLang="zh-CN" baseline="-25000" dirty="0">
                <a:solidFill>
                  <a:srgbClr val="0000FF"/>
                </a:solidFill>
                <a:latin typeface="Times New Roman" panose="02020603050405020304" pitchFamily="18" charset="0"/>
                <a:ea typeface="华文中宋" panose="02010600040101010101" pitchFamily="2" charset="-122"/>
              </a:rPr>
              <a:t>1</a:t>
            </a:r>
            <a:r>
              <a:rPr kumimoji="1" lang="en-US" altLang="zh-CN" dirty="0">
                <a:solidFill>
                  <a:srgbClr val="0000FF"/>
                </a:solidFill>
                <a:latin typeface="Times New Roman" panose="02020603050405020304" pitchFamily="18" charset="0"/>
                <a:ea typeface="华文中宋" panose="02010600040101010101" pitchFamily="2" charset="-122"/>
              </a:rPr>
              <a:t>= 0.4cos(3</a:t>
            </a:r>
            <a:r>
              <a:rPr kumimoji="1" lang="en-US" altLang="zh-CN" i="1" dirty="0">
                <a:solidFill>
                  <a:srgbClr val="0000FF"/>
                </a:solidFill>
                <a:latin typeface="Times New Roman" panose="02020603050405020304" pitchFamily="18" charset="0"/>
                <a:ea typeface="华文中宋" panose="02010600040101010101" pitchFamily="2" charset="-122"/>
              </a:rPr>
              <a:t>t</a:t>
            </a:r>
            <a:r>
              <a:rPr kumimoji="1" lang="en-US" altLang="zh-CN" dirty="0">
                <a:solidFill>
                  <a:srgbClr val="0000FF"/>
                </a:solidFill>
                <a:latin typeface="Times New Roman" panose="02020603050405020304" pitchFamily="18" charset="0"/>
                <a:ea typeface="华文中宋" panose="02010600040101010101" pitchFamily="2" charset="-122"/>
              </a:rPr>
              <a:t> + </a:t>
            </a:r>
            <a:r>
              <a:rPr kumimoji="1" lang="en-US" altLang="zh-CN"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dirty="0">
                <a:solidFill>
                  <a:srgbClr val="0000FF"/>
                </a:solidFill>
                <a:latin typeface="Times New Roman" panose="02020603050405020304" pitchFamily="18" charset="0"/>
                <a:ea typeface="华文中宋" panose="02010600040101010101" pitchFamily="2" charset="-122"/>
              </a:rPr>
              <a:t>/3)</a:t>
            </a:r>
            <a:r>
              <a:rPr kumimoji="1" lang="zh-CN" altLang="en-US" dirty="0">
                <a:solidFill>
                  <a:srgbClr val="0000FF"/>
                </a:solidFill>
                <a:latin typeface="Times New Roman" panose="02020603050405020304" pitchFamily="18" charset="0"/>
                <a:ea typeface="华文中宋" panose="02010600040101010101" pitchFamily="2" charset="-122"/>
              </a:rPr>
              <a:t>，</a:t>
            </a:r>
            <a:r>
              <a:rPr kumimoji="1" lang="en-US" altLang="zh-CN" i="1" dirty="0">
                <a:solidFill>
                  <a:srgbClr val="0000FF"/>
                </a:solidFill>
                <a:latin typeface="Times New Roman" panose="02020603050405020304" pitchFamily="18" charset="0"/>
                <a:ea typeface="华文中宋" panose="02010600040101010101" pitchFamily="2" charset="-122"/>
              </a:rPr>
              <a:t>x</a:t>
            </a:r>
            <a:r>
              <a:rPr kumimoji="1" lang="en-US" altLang="zh-CN" baseline="-25000" dirty="0">
                <a:solidFill>
                  <a:srgbClr val="0000FF"/>
                </a:solidFill>
                <a:latin typeface="Times New Roman" panose="02020603050405020304" pitchFamily="18" charset="0"/>
                <a:ea typeface="华文中宋" panose="02010600040101010101" pitchFamily="2" charset="-122"/>
              </a:rPr>
              <a:t>2</a:t>
            </a:r>
            <a:r>
              <a:rPr kumimoji="1" lang="en-US" altLang="zh-CN" dirty="0">
                <a:solidFill>
                  <a:srgbClr val="0000FF"/>
                </a:solidFill>
                <a:latin typeface="Times New Roman" panose="02020603050405020304" pitchFamily="18" charset="0"/>
                <a:ea typeface="华文中宋" panose="02010600040101010101" pitchFamily="2" charset="-122"/>
              </a:rPr>
              <a:t>= 0.3cos(3</a:t>
            </a:r>
            <a:r>
              <a:rPr kumimoji="1" lang="en-US" altLang="zh-CN" i="1" dirty="0">
                <a:solidFill>
                  <a:srgbClr val="0000FF"/>
                </a:solidFill>
                <a:latin typeface="Times New Roman" panose="02020603050405020304" pitchFamily="18" charset="0"/>
                <a:ea typeface="华文中宋" panose="02010600040101010101" pitchFamily="2" charset="-122"/>
              </a:rPr>
              <a:t>t </a:t>
            </a:r>
            <a:r>
              <a:rPr kumimoji="1" lang="en-US" altLang="zh-CN" dirty="0">
                <a:solidFill>
                  <a:srgbClr val="0000FF"/>
                </a:solidFill>
                <a:latin typeface="宋体" panose="02010600030101010101" pitchFamily="2" charset="-122"/>
              </a:rPr>
              <a:t>-</a:t>
            </a:r>
            <a:r>
              <a:rPr kumimoji="1" lang="en-US" altLang="zh-CN" dirty="0">
                <a:solidFill>
                  <a:srgbClr val="0000FF"/>
                </a:solidFill>
                <a:latin typeface="Times New Roman" panose="02020603050405020304" pitchFamily="18" charset="0"/>
              </a:rPr>
              <a:t> </a:t>
            </a:r>
            <a:r>
              <a:rPr kumimoji="1" lang="en-US" altLang="zh-CN" dirty="0">
                <a:solidFill>
                  <a:srgbClr val="0000FF"/>
                </a:solidFill>
                <a:sym typeface="Symbol" panose="05050102010706020507" pitchFamily="18" charset="2"/>
              </a:rPr>
              <a:t></a:t>
            </a:r>
            <a:r>
              <a:rPr kumimoji="1" lang="en-US" altLang="zh-CN" dirty="0">
                <a:solidFill>
                  <a:srgbClr val="0000FF"/>
                </a:solidFill>
                <a:latin typeface="Times New Roman" panose="02020603050405020304" pitchFamily="18" charset="0"/>
                <a:ea typeface="华文中宋" panose="02010600040101010101" pitchFamily="2" charset="-122"/>
              </a:rPr>
              <a:t>/6) (SI)</a:t>
            </a:r>
            <a:r>
              <a:rPr kumimoji="1" lang="zh-CN" altLang="en-US" dirty="0">
                <a:solidFill>
                  <a:srgbClr val="0000FF"/>
                </a:solidFill>
                <a:latin typeface="Times New Roman" panose="02020603050405020304" pitchFamily="18" charset="0"/>
                <a:ea typeface="华文中宋" panose="02010600040101010101" pitchFamily="2" charset="-122"/>
              </a:rPr>
              <a:t>。</a:t>
            </a:r>
            <a:endParaRPr kumimoji="1" lang="zh-CN" altLang="en-US" dirty="0">
              <a:solidFill>
                <a:srgbClr val="0000FF"/>
              </a:solidFill>
              <a:latin typeface="Times New Roman" panose="02020603050405020304" pitchFamily="18" charset="0"/>
              <a:ea typeface="华文中宋" panose="02010600040101010101" pitchFamily="2" charset="-122"/>
            </a:endParaRPr>
          </a:p>
          <a:p>
            <a:pPr algn="just">
              <a:lnSpc>
                <a:spcPct val="120000"/>
              </a:lnSpc>
            </a:pPr>
            <a:r>
              <a:rPr kumimoji="1" lang="zh-CN" altLang="en-US" dirty="0">
                <a:solidFill>
                  <a:srgbClr val="0000FF"/>
                </a:solidFill>
                <a:latin typeface="Times New Roman" panose="02020603050405020304" pitchFamily="18" charset="0"/>
                <a:ea typeface="华文中宋" panose="02010600040101010101" pitchFamily="2" charset="-122"/>
              </a:rPr>
              <a:t>求：</a:t>
            </a:r>
            <a:r>
              <a:rPr kumimoji="1" lang="en-US" altLang="zh-CN" dirty="0">
                <a:solidFill>
                  <a:srgbClr val="0000FF"/>
                </a:solidFill>
                <a:latin typeface="Times New Roman" panose="02020603050405020304" pitchFamily="18" charset="0"/>
                <a:ea typeface="华文中宋" panose="02010600040101010101" pitchFamily="2" charset="-122"/>
              </a:rPr>
              <a:t>(1) </a:t>
            </a:r>
            <a:r>
              <a:rPr kumimoji="1" lang="zh-CN" altLang="en-US" dirty="0">
                <a:solidFill>
                  <a:srgbClr val="0000FF"/>
                </a:solidFill>
                <a:latin typeface="Times New Roman" panose="02020603050405020304" pitchFamily="18" charset="0"/>
                <a:ea typeface="华文中宋" panose="02010600040101010101" pitchFamily="2" charset="-122"/>
              </a:rPr>
              <a:t>合振动的振动函数；</a:t>
            </a:r>
            <a:endParaRPr kumimoji="1" lang="zh-CN" altLang="en-US" dirty="0">
              <a:solidFill>
                <a:srgbClr val="0000FF"/>
              </a:solidFill>
              <a:latin typeface="Times New Roman" panose="02020603050405020304" pitchFamily="18" charset="0"/>
              <a:ea typeface="华文中宋" panose="02010600040101010101" pitchFamily="2" charset="-122"/>
            </a:endParaRPr>
          </a:p>
          <a:p>
            <a:pPr algn="just">
              <a:lnSpc>
                <a:spcPct val="120000"/>
              </a:lnSpc>
            </a:pPr>
            <a:r>
              <a:rPr kumimoji="1" lang="en-US" altLang="zh-CN" dirty="0">
                <a:solidFill>
                  <a:srgbClr val="0000FF"/>
                </a:solidFill>
                <a:latin typeface="Times New Roman" panose="02020603050405020304" pitchFamily="18" charset="0"/>
                <a:ea typeface="华文中宋" panose="02010600040101010101" pitchFamily="2" charset="-122"/>
              </a:rPr>
              <a:t>(2) </a:t>
            </a:r>
            <a:r>
              <a:rPr kumimoji="1" lang="zh-CN" altLang="en-US" dirty="0">
                <a:solidFill>
                  <a:srgbClr val="0000FF"/>
                </a:solidFill>
                <a:latin typeface="Times New Roman" panose="02020603050405020304" pitchFamily="18" charset="0"/>
                <a:ea typeface="华文中宋" panose="02010600040101010101" pitchFamily="2" charset="-122"/>
              </a:rPr>
              <a:t>另有一同方向同频率的谐振动 </a:t>
            </a:r>
            <a:r>
              <a:rPr kumimoji="1" lang="en-US" altLang="zh-CN" i="1" dirty="0">
                <a:solidFill>
                  <a:srgbClr val="0000FF"/>
                </a:solidFill>
                <a:latin typeface="Times New Roman" panose="02020603050405020304" pitchFamily="18" charset="0"/>
                <a:ea typeface="华文中宋" panose="02010600040101010101" pitchFamily="2" charset="-122"/>
              </a:rPr>
              <a:t>x</a:t>
            </a:r>
            <a:r>
              <a:rPr kumimoji="1" lang="en-US" altLang="zh-CN" baseline="-25000" dirty="0">
                <a:solidFill>
                  <a:srgbClr val="0000FF"/>
                </a:solidFill>
                <a:latin typeface="Times New Roman" panose="02020603050405020304" pitchFamily="18" charset="0"/>
                <a:ea typeface="华文中宋" panose="02010600040101010101" pitchFamily="2" charset="-122"/>
              </a:rPr>
              <a:t>3</a:t>
            </a:r>
            <a:r>
              <a:rPr kumimoji="1" lang="en-US" altLang="zh-CN" dirty="0">
                <a:solidFill>
                  <a:srgbClr val="0000FF"/>
                </a:solidFill>
                <a:latin typeface="Times New Roman" panose="02020603050405020304" pitchFamily="18" charset="0"/>
                <a:ea typeface="华文中宋" panose="02010600040101010101" pitchFamily="2" charset="-122"/>
              </a:rPr>
              <a:t> = 0.5cos(3</a:t>
            </a:r>
            <a:r>
              <a:rPr kumimoji="1" lang="en-US" altLang="zh-CN" i="1" dirty="0">
                <a:solidFill>
                  <a:srgbClr val="0000FF"/>
                </a:solidFill>
                <a:latin typeface="Times New Roman" panose="02020603050405020304" pitchFamily="18" charset="0"/>
                <a:ea typeface="华文中宋" panose="02010600040101010101" pitchFamily="2" charset="-122"/>
              </a:rPr>
              <a:t>t</a:t>
            </a:r>
            <a:r>
              <a:rPr kumimoji="1" lang="en-US" altLang="zh-CN" dirty="0">
                <a:solidFill>
                  <a:srgbClr val="0000FF"/>
                </a:solidFill>
                <a:latin typeface="Times New Roman" panose="02020603050405020304" pitchFamily="18" charset="0"/>
                <a:ea typeface="华文中宋" panose="02010600040101010101" pitchFamily="2" charset="-122"/>
              </a:rPr>
              <a:t> + </a:t>
            </a:r>
            <a:r>
              <a:rPr kumimoji="1" lang="en-US" altLang="zh-CN" i="1" dirty="0">
                <a:solidFill>
                  <a:srgbClr val="0000FF"/>
                </a:solidFill>
                <a:sym typeface="Symbol" panose="05050102010706020507" pitchFamily="18" charset="2"/>
              </a:rPr>
              <a:t></a:t>
            </a:r>
            <a:r>
              <a:rPr kumimoji="1" lang="zh-CN" altLang="zh-CN" baseline="-25000" dirty="0">
                <a:solidFill>
                  <a:srgbClr val="0000FF"/>
                </a:solidFill>
                <a:latin typeface="Times New Roman" panose="02020603050405020304" pitchFamily="18" charset="0"/>
                <a:ea typeface="华文中宋" panose="02010600040101010101" pitchFamily="2" charset="-122"/>
              </a:rPr>
              <a:t>3</a:t>
            </a:r>
            <a:r>
              <a:rPr kumimoji="1" lang="en-US" altLang="zh-CN" dirty="0">
                <a:solidFill>
                  <a:srgbClr val="0000FF"/>
                </a:solidFill>
                <a:latin typeface="Times New Roman" panose="02020603050405020304" pitchFamily="18" charset="0"/>
                <a:ea typeface="华文中宋" panose="02010600040101010101" pitchFamily="2" charset="-122"/>
              </a:rPr>
              <a:t>) (SI)</a:t>
            </a:r>
            <a:endParaRPr kumimoji="1" lang="en-US" altLang="zh-CN" dirty="0">
              <a:solidFill>
                <a:srgbClr val="0000FF"/>
              </a:solidFill>
              <a:latin typeface="Times New Roman" panose="02020603050405020304" pitchFamily="18" charset="0"/>
              <a:ea typeface="华文中宋" panose="02010600040101010101" pitchFamily="2" charset="-122"/>
            </a:endParaRPr>
          </a:p>
          <a:p>
            <a:pPr algn="just">
              <a:lnSpc>
                <a:spcPct val="120000"/>
              </a:lnSpc>
            </a:pPr>
            <a:r>
              <a:rPr kumimoji="1" lang="en-US" altLang="zh-CN" dirty="0">
                <a:solidFill>
                  <a:srgbClr val="0000FF"/>
                </a:solidFill>
                <a:latin typeface="Times New Roman" panose="02020603050405020304" pitchFamily="18" charset="0"/>
                <a:ea typeface="华文中宋" panose="02010600040101010101" pitchFamily="2" charset="-122"/>
              </a:rPr>
              <a:t>      </a:t>
            </a:r>
            <a:r>
              <a:rPr kumimoji="1" lang="zh-CN" altLang="en-US" dirty="0">
                <a:solidFill>
                  <a:srgbClr val="0000FF"/>
                </a:solidFill>
                <a:latin typeface="Times New Roman" panose="02020603050405020304" pitchFamily="18" charset="0"/>
                <a:ea typeface="华文中宋" panose="02010600040101010101" pitchFamily="2" charset="-122"/>
              </a:rPr>
              <a:t>当 </a:t>
            </a:r>
            <a:r>
              <a:rPr kumimoji="1" lang="zh-CN" altLang="en-US"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kumimoji="1" lang="zh-CN" altLang="zh-CN" baseline="-25000" dirty="0">
                <a:solidFill>
                  <a:srgbClr val="0000FF"/>
                </a:solidFill>
                <a:latin typeface="Times New Roman" panose="02020603050405020304" pitchFamily="18" charset="0"/>
                <a:ea typeface="华文中宋" panose="02010600040101010101" pitchFamily="2" charset="-122"/>
              </a:rPr>
              <a:t>3</a:t>
            </a:r>
            <a:r>
              <a:rPr kumimoji="1" lang="en-US" altLang="zh-CN" i="1" dirty="0">
                <a:solidFill>
                  <a:srgbClr val="0000FF"/>
                </a:solidFill>
                <a:latin typeface="Times New Roman" panose="02020603050405020304" pitchFamily="18" charset="0"/>
                <a:ea typeface="华文中宋" panose="02010600040101010101" pitchFamily="2" charset="-122"/>
              </a:rPr>
              <a:t> </a:t>
            </a:r>
            <a:r>
              <a:rPr kumimoji="1" lang="zh-CN" altLang="en-US" dirty="0">
                <a:solidFill>
                  <a:srgbClr val="0000FF"/>
                </a:solidFill>
                <a:latin typeface="Times New Roman" panose="02020603050405020304" pitchFamily="18" charset="0"/>
                <a:ea typeface="华文中宋" panose="02010600040101010101" pitchFamily="2" charset="-122"/>
              </a:rPr>
              <a:t>等于多少时，</a:t>
            </a:r>
            <a:r>
              <a:rPr kumimoji="1" lang="en-US" altLang="zh-CN" i="1" dirty="0">
                <a:solidFill>
                  <a:srgbClr val="0000FF"/>
                </a:solidFill>
                <a:latin typeface="Times New Roman" panose="02020603050405020304" pitchFamily="18" charset="0"/>
                <a:ea typeface="华文中宋" panose="02010600040101010101" pitchFamily="2" charset="-122"/>
              </a:rPr>
              <a:t>x</a:t>
            </a:r>
            <a:r>
              <a:rPr kumimoji="1" lang="en-US" altLang="zh-CN" baseline="-25000" dirty="0">
                <a:solidFill>
                  <a:srgbClr val="0000FF"/>
                </a:solidFill>
                <a:latin typeface="Times New Roman" panose="02020603050405020304" pitchFamily="18" charset="0"/>
                <a:ea typeface="华文中宋" panose="02010600040101010101" pitchFamily="2" charset="-122"/>
              </a:rPr>
              <a:t>1</a:t>
            </a:r>
            <a:r>
              <a:rPr kumimoji="1" lang="en-US" altLang="zh-CN" dirty="0">
                <a:solidFill>
                  <a:srgbClr val="0000FF"/>
                </a:solidFill>
                <a:latin typeface="Times New Roman" panose="02020603050405020304" pitchFamily="18" charset="0"/>
                <a:ea typeface="华文中宋" panose="02010600040101010101" pitchFamily="2" charset="-122"/>
              </a:rPr>
              <a:t>, </a:t>
            </a:r>
            <a:r>
              <a:rPr kumimoji="1" lang="en-US" altLang="zh-CN" i="1" dirty="0">
                <a:solidFill>
                  <a:srgbClr val="0000FF"/>
                </a:solidFill>
                <a:latin typeface="Times New Roman" panose="02020603050405020304" pitchFamily="18" charset="0"/>
                <a:ea typeface="华文中宋" panose="02010600040101010101" pitchFamily="2" charset="-122"/>
              </a:rPr>
              <a:t>x</a:t>
            </a:r>
            <a:r>
              <a:rPr kumimoji="1" lang="en-US" altLang="zh-CN" baseline="-25000" dirty="0">
                <a:solidFill>
                  <a:srgbClr val="0000FF"/>
                </a:solidFill>
                <a:latin typeface="Times New Roman" panose="02020603050405020304" pitchFamily="18" charset="0"/>
                <a:ea typeface="华文中宋" panose="02010600040101010101" pitchFamily="2" charset="-122"/>
              </a:rPr>
              <a:t>2</a:t>
            </a:r>
            <a:r>
              <a:rPr kumimoji="1" lang="en-US" altLang="zh-CN" dirty="0">
                <a:solidFill>
                  <a:srgbClr val="0000FF"/>
                </a:solidFill>
                <a:latin typeface="Times New Roman" panose="02020603050405020304" pitchFamily="18" charset="0"/>
                <a:ea typeface="华文中宋" panose="02010600040101010101" pitchFamily="2" charset="-122"/>
              </a:rPr>
              <a:t>, </a:t>
            </a:r>
            <a:r>
              <a:rPr kumimoji="1" lang="en-US" altLang="zh-CN" i="1" dirty="0">
                <a:solidFill>
                  <a:srgbClr val="0000FF"/>
                </a:solidFill>
                <a:latin typeface="Times New Roman" panose="02020603050405020304" pitchFamily="18" charset="0"/>
                <a:ea typeface="华文中宋" panose="02010600040101010101" pitchFamily="2" charset="-122"/>
              </a:rPr>
              <a:t>x</a:t>
            </a:r>
            <a:r>
              <a:rPr kumimoji="1" lang="en-US" altLang="zh-CN" baseline="-25000" dirty="0">
                <a:solidFill>
                  <a:srgbClr val="0000FF"/>
                </a:solidFill>
                <a:latin typeface="Times New Roman" panose="02020603050405020304" pitchFamily="18" charset="0"/>
                <a:ea typeface="华文中宋" panose="02010600040101010101" pitchFamily="2" charset="-122"/>
              </a:rPr>
              <a:t>3 </a:t>
            </a:r>
            <a:r>
              <a:rPr kumimoji="1" lang="zh-CN" altLang="en-US" dirty="0">
                <a:solidFill>
                  <a:srgbClr val="0000FF"/>
                </a:solidFill>
                <a:latin typeface="Times New Roman" panose="02020603050405020304" pitchFamily="18" charset="0"/>
                <a:ea typeface="华文中宋" panose="02010600040101010101" pitchFamily="2" charset="-122"/>
              </a:rPr>
              <a:t>的合振幅最大？最小？</a:t>
            </a:r>
            <a:endParaRPr kumimoji="1" lang="zh-CN" altLang="zh-CN" dirty="0">
              <a:solidFill>
                <a:srgbClr val="0000FF"/>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4456"/>
                                        </p:tgtEl>
                                        <p:attrNameLst>
                                          <p:attrName>style.visibility</p:attrName>
                                        </p:attrNameLst>
                                      </p:cBhvr>
                                      <p:to>
                                        <p:strVal val="visible"/>
                                      </p:to>
                                    </p:set>
                                    <p:animEffect transition="in" filter="wipe(left)">
                                      <p:cBhvr>
                                        <p:cTn id="7" dur="500"/>
                                        <p:tgtEl>
                                          <p:spTgt spid="1044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4457"/>
                                        </p:tgtEl>
                                        <p:attrNameLst>
                                          <p:attrName>style.visibility</p:attrName>
                                        </p:attrNameLst>
                                      </p:cBhvr>
                                      <p:to>
                                        <p:strVal val="visible"/>
                                      </p:to>
                                    </p:set>
                                    <p:animEffect transition="in" filter="wipe(left)">
                                      <p:cBhvr>
                                        <p:cTn id="12" dur="500"/>
                                        <p:tgtEl>
                                          <p:spTgt spid="1044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4458"/>
                                        </p:tgtEl>
                                        <p:attrNameLst>
                                          <p:attrName>style.visibility</p:attrName>
                                        </p:attrNameLst>
                                      </p:cBhvr>
                                      <p:to>
                                        <p:strVal val="visible"/>
                                      </p:to>
                                    </p:set>
                                    <p:animEffect transition="in" filter="wipe(left)">
                                      <p:cBhvr>
                                        <p:cTn id="17" dur="500"/>
                                        <p:tgtEl>
                                          <p:spTgt spid="1044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4479"/>
                                        </p:tgtEl>
                                        <p:attrNameLst>
                                          <p:attrName>style.visibility</p:attrName>
                                        </p:attrNameLst>
                                      </p:cBhvr>
                                      <p:to>
                                        <p:strVal val="visible"/>
                                      </p:to>
                                    </p:set>
                                    <p:animEffect transition="in" filter="wipe(left)">
                                      <p:cBhvr>
                                        <p:cTn id="22" dur="500"/>
                                        <p:tgtEl>
                                          <p:spTgt spid="10447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4480"/>
                                        </p:tgtEl>
                                        <p:attrNameLst>
                                          <p:attrName>style.visibility</p:attrName>
                                        </p:attrNameLst>
                                      </p:cBhvr>
                                      <p:to>
                                        <p:strVal val="visible"/>
                                      </p:to>
                                    </p:set>
                                    <p:animEffect transition="in" filter="wipe(left)">
                                      <p:cBhvr>
                                        <p:cTn id="27" dur="500"/>
                                        <p:tgtEl>
                                          <p:spTgt spid="104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7" grpId="0" autoUpdateAnimBg="0"/>
      <p:bldP spid="10447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2"/>
          <p:cNvSpPr txBox="1">
            <a:spLocks noChangeArrowheads="1"/>
          </p:cNvSpPr>
          <p:nvPr/>
        </p:nvSpPr>
        <p:spPr bwMode="blackWhite">
          <a:xfrm>
            <a:off x="0" y="152400"/>
            <a:ext cx="899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rgbClr val="FF0000"/>
                </a:solidFill>
                <a:latin typeface="楷体_GB2312" panose="02010609030101010101" pitchFamily="49" charset="-122"/>
                <a:ea typeface="楷体_GB2312" panose="02010609030101010101" pitchFamily="49" charset="-122"/>
              </a:rPr>
              <a:t>例</a:t>
            </a:r>
            <a:r>
              <a:rPr kumimoji="1" lang="en-US" altLang="zh-CN" sz="2800" b="1" dirty="0">
                <a:solidFill>
                  <a:srgbClr val="FF0000"/>
                </a:solidFill>
                <a:latin typeface="楷体_GB2312" panose="02010609030101010101" pitchFamily="49" charset="-122"/>
                <a:ea typeface="楷体_GB2312" panose="02010609030101010101" pitchFamily="49" charset="-122"/>
              </a:rPr>
              <a:t>5:</a:t>
            </a:r>
            <a:r>
              <a:rPr lang="zh-CN" altLang="en-US" sz="2800" b="1" dirty="0"/>
              <a:t>一质点同时参与了三个简谐振动，它们的振动方程分别为</a:t>
            </a:r>
            <a:r>
              <a:rPr lang="en-US" altLang="zh-CN" sz="2800" b="1" dirty="0"/>
              <a:t>x</a:t>
            </a:r>
            <a:r>
              <a:rPr lang="en-US" altLang="zh-CN" sz="2800" b="1" baseline="-25000" dirty="0"/>
              <a:t>1</a:t>
            </a:r>
            <a:r>
              <a:rPr lang="en-US" altLang="zh-CN" sz="2800" b="1" dirty="0"/>
              <a:t>=</a:t>
            </a:r>
            <a:r>
              <a:rPr lang="en-US" altLang="zh-CN" sz="2800" b="1" dirty="0" err="1"/>
              <a:t>Acos</a:t>
            </a:r>
            <a:r>
              <a:rPr lang="en-US" altLang="zh-CN" sz="2800" b="1" dirty="0"/>
              <a:t>(</a:t>
            </a:r>
            <a:r>
              <a:rPr lang="en-US" altLang="zh-CN" sz="2800" b="1" dirty="0">
                <a:sym typeface="Symbol" panose="05050102010706020507" pitchFamily="18" charset="2"/>
              </a:rPr>
              <a:t>t+/3), </a:t>
            </a:r>
            <a:r>
              <a:rPr lang="en-US" altLang="zh-CN" sz="2800" b="1" dirty="0"/>
              <a:t>x</a:t>
            </a:r>
            <a:r>
              <a:rPr lang="en-US" altLang="zh-CN" sz="2800" b="1" baseline="-25000" dirty="0"/>
              <a:t>2</a:t>
            </a:r>
            <a:r>
              <a:rPr lang="en-US" altLang="zh-CN" sz="2800" b="1" dirty="0"/>
              <a:t>=</a:t>
            </a:r>
            <a:r>
              <a:rPr lang="en-US" altLang="zh-CN" sz="2800" b="1" dirty="0" err="1"/>
              <a:t>Acos</a:t>
            </a:r>
            <a:r>
              <a:rPr lang="en-US" altLang="zh-CN" sz="2800" b="1" dirty="0"/>
              <a:t>(</a:t>
            </a:r>
            <a:r>
              <a:rPr lang="en-US" altLang="zh-CN" sz="2800" b="1" dirty="0">
                <a:sym typeface="Symbol" panose="05050102010706020507" pitchFamily="18" charset="2"/>
              </a:rPr>
              <a:t>t+5/3), </a:t>
            </a:r>
            <a:r>
              <a:rPr lang="en-US" altLang="zh-CN" sz="2800" b="1" dirty="0"/>
              <a:t>x</a:t>
            </a:r>
            <a:r>
              <a:rPr lang="en-US" altLang="zh-CN" sz="2800" b="1" baseline="-25000" dirty="0"/>
              <a:t>3</a:t>
            </a:r>
            <a:r>
              <a:rPr lang="en-US" altLang="zh-CN" sz="2800" b="1" dirty="0"/>
              <a:t>=</a:t>
            </a:r>
            <a:r>
              <a:rPr lang="en-US" altLang="zh-CN" sz="2800" b="1" dirty="0" err="1"/>
              <a:t>Acos</a:t>
            </a:r>
            <a:r>
              <a:rPr lang="en-US" altLang="zh-CN" sz="2800" b="1" dirty="0"/>
              <a:t>(</a:t>
            </a:r>
            <a:r>
              <a:rPr lang="en-US" altLang="zh-CN" sz="2800" b="1" dirty="0">
                <a:sym typeface="Symbol" panose="05050102010706020507" pitchFamily="18" charset="2"/>
              </a:rPr>
              <a:t>t+),</a:t>
            </a:r>
            <a:r>
              <a:rPr lang="zh-CN" altLang="en-US" sz="2800" b="1" dirty="0">
                <a:sym typeface="Symbol" panose="05050102010706020507" pitchFamily="18" charset="2"/>
              </a:rPr>
              <a:t>求其合运动方程。</a:t>
            </a:r>
            <a:endParaRPr lang="zh-CN" altLang="en-US" sz="2800" b="1" dirty="0"/>
          </a:p>
          <a:p>
            <a:pPr eaLnBrk="1" hangingPunct="1"/>
            <a:endParaRPr lang="en-US" altLang="zh-CN" sz="2800" b="1" dirty="0"/>
          </a:p>
        </p:txBody>
      </p:sp>
      <p:sp>
        <p:nvSpPr>
          <p:cNvPr id="15363" name="Text Box 3"/>
          <p:cNvSpPr txBox="1">
            <a:spLocks noChangeArrowheads="1"/>
          </p:cNvSpPr>
          <p:nvPr/>
        </p:nvSpPr>
        <p:spPr bwMode="blackWhite">
          <a:xfrm>
            <a:off x="5715000" y="1676400"/>
            <a:ext cx="9128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solidFill>
                  <a:srgbClr val="FF3300"/>
                </a:solidFill>
              </a:rPr>
              <a:t>X=0</a:t>
            </a:r>
            <a:endParaRPr lang="en-US" altLang="zh-CN" sz="3200" b="1">
              <a:solidFill>
                <a:srgbClr val="FF3300"/>
              </a:solidFill>
            </a:endParaRPr>
          </a:p>
        </p:txBody>
      </p:sp>
      <p:grpSp>
        <p:nvGrpSpPr>
          <p:cNvPr id="2" name="Group 32"/>
          <p:cNvGrpSpPr/>
          <p:nvPr/>
        </p:nvGrpSpPr>
        <p:grpSpPr bwMode="auto">
          <a:xfrm>
            <a:off x="457200" y="2098675"/>
            <a:ext cx="4832350" cy="3006725"/>
            <a:chOff x="288" y="1322"/>
            <a:chExt cx="3044" cy="1894"/>
          </a:xfrm>
        </p:grpSpPr>
        <p:sp>
          <p:nvSpPr>
            <p:cNvPr id="18453" name="Text Box 8"/>
            <p:cNvSpPr txBox="1">
              <a:spLocks noChangeArrowheads="1"/>
            </p:cNvSpPr>
            <p:nvPr/>
          </p:nvSpPr>
          <p:spPr bwMode="blackWhite">
            <a:xfrm>
              <a:off x="1334" y="199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a:t>o</a:t>
              </a:r>
              <a:endParaRPr lang="en-US" altLang="zh-CN" b="1"/>
            </a:p>
          </p:txBody>
        </p:sp>
        <p:grpSp>
          <p:nvGrpSpPr>
            <p:cNvPr id="18454" name="Group 31"/>
            <p:cNvGrpSpPr/>
            <p:nvPr/>
          </p:nvGrpSpPr>
          <p:grpSpPr bwMode="auto">
            <a:xfrm>
              <a:off x="288" y="1322"/>
              <a:ext cx="3044" cy="1894"/>
              <a:chOff x="288" y="1322"/>
              <a:chExt cx="3044" cy="1894"/>
            </a:xfrm>
          </p:grpSpPr>
          <p:sp>
            <p:nvSpPr>
              <p:cNvPr id="18455" name="Oval 6"/>
              <p:cNvSpPr>
                <a:spLocks noChangeArrowheads="1"/>
              </p:cNvSpPr>
              <p:nvPr/>
            </p:nvSpPr>
            <p:spPr bwMode="blackWhite">
              <a:xfrm>
                <a:off x="1392" y="2352"/>
                <a:ext cx="96" cy="96"/>
              </a:xfrm>
              <a:prstGeom prst="ellipse">
                <a:avLst/>
              </a:prstGeom>
              <a:solidFill>
                <a:schemeClr val="accent1"/>
              </a:solidFill>
              <a:ln w="9525">
                <a:solidFill>
                  <a:schemeClr val="tx1"/>
                </a:solidFill>
                <a:round/>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8456" name="Group 26"/>
              <p:cNvGrpSpPr/>
              <p:nvPr/>
            </p:nvGrpSpPr>
            <p:grpSpPr bwMode="auto">
              <a:xfrm>
                <a:off x="288" y="1322"/>
                <a:ext cx="3044" cy="1894"/>
                <a:chOff x="288" y="1322"/>
                <a:chExt cx="3044" cy="1894"/>
              </a:xfrm>
            </p:grpSpPr>
            <p:sp>
              <p:nvSpPr>
                <p:cNvPr id="18457" name="Line 5"/>
                <p:cNvSpPr>
                  <a:spLocks noChangeShapeType="1"/>
                </p:cNvSpPr>
                <p:nvPr/>
              </p:nvSpPr>
              <p:spPr bwMode="blackWhite">
                <a:xfrm>
                  <a:off x="288" y="2400"/>
                  <a:ext cx="2832" cy="0"/>
                </a:xfrm>
                <a:prstGeom prst="line">
                  <a:avLst/>
                </a:prstGeom>
                <a:noFill/>
                <a:ln w="38100">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8" name="Text Box 7"/>
                <p:cNvSpPr txBox="1">
                  <a:spLocks noChangeArrowheads="1"/>
                </p:cNvSpPr>
                <p:nvPr/>
              </p:nvSpPr>
              <p:spPr bwMode="blackWhite">
                <a:xfrm>
                  <a:off x="3120" y="235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a:t>x</a:t>
                  </a:r>
                  <a:endParaRPr lang="en-US" altLang="zh-CN" b="1"/>
                </a:p>
              </p:txBody>
            </p:sp>
            <p:sp>
              <p:nvSpPr>
                <p:cNvPr id="18459" name="Oval 9"/>
                <p:cNvSpPr>
                  <a:spLocks noChangeArrowheads="1"/>
                </p:cNvSpPr>
                <p:nvPr/>
              </p:nvSpPr>
              <p:spPr bwMode="blackWhite">
                <a:xfrm>
                  <a:off x="624" y="1488"/>
                  <a:ext cx="1728" cy="1728"/>
                </a:xfrm>
                <a:prstGeom prst="ellipse">
                  <a:avLst/>
                </a:prstGeom>
                <a:noFill/>
                <a:ln w="31750">
                  <a:solidFill>
                    <a:srgbClr val="00008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460" name="Line 10"/>
                <p:cNvSpPr>
                  <a:spLocks noChangeShapeType="1"/>
                </p:cNvSpPr>
                <p:nvPr/>
              </p:nvSpPr>
              <p:spPr bwMode="blackWhite">
                <a:xfrm flipV="1">
                  <a:off x="1488" y="1584"/>
                  <a:ext cx="432" cy="768"/>
                </a:xfrm>
                <a:prstGeom prst="line">
                  <a:avLst/>
                </a:prstGeom>
                <a:noFill/>
                <a:ln w="38100">
                  <a:solidFill>
                    <a:srgbClr val="FF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1" name="Arc 11"/>
                <p:cNvSpPr/>
                <p:nvPr/>
              </p:nvSpPr>
              <p:spPr bwMode="blackWhite">
                <a:xfrm>
                  <a:off x="1584" y="2208"/>
                  <a:ext cx="48" cy="192"/>
                </a:xfrm>
                <a:custGeom>
                  <a:avLst/>
                  <a:gdLst>
                    <a:gd name="T0" fmla="*/ 0 w 21600"/>
                    <a:gd name="T1" fmla="*/ 0 h 21600"/>
                    <a:gd name="T2" fmla="*/ 0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3366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8435" name="Object 3"/>
                <p:cNvGraphicFramePr>
                  <a:graphicFrameLocks noChangeAspect="1"/>
                </p:cNvGraphicFramePr>
                <p:nvPr/>
              </p:nvGraphicFramePr>
              <p:xfrm>
                <a:off x="1776" y="1920"/>
                <a:ext cx="220" cy="528"/>
              </p:xfrm>
              <a:graphic>
                <a:graphicData uri="http://schemas.openxmlformats.org/presentationml/2006/ole">
                  <mc:AlternateContent xmlns:mc="http://schemas.openxmlformats.org/markup-compatibility/2006">
                    <mc:Choice xmlns:v="urn:schemas-microsoft-com:vml" Requires="v">
                      <p:oleObj spid="_x0000_s18529" name="公式" r:id="rId1" imgW="189865" imgH="457200" progId="Equation.3">
                        <p:embed/>
                      </p:oleObj>
                    </mc:Choice>
                    <mc:Fallback>
                      <p:oleObj name="公式" r:id="rId1" imgW="189865" imgH="4572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776" y="1920"/>
                              <a:ext cx="220"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62" name="Text Box 20"/>
                <p:cNvSpPr txBox="1">
                  <a:spLocks noChangeArrowheads="1"/>
                </p:cNvSpPr>
                <p:nvPr/>
              </p:nvSpPr>
              <p:spPr bwMode="blackWhite">
                <a:xfrm>
                  <a:off x="2006" y="132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a:t>A</a:t>
                  </a:r>
                  <a:endParaRPr lang="en-US" altLang="zh-CN" b="1"/>
                </a:p>
              </p:txBody>
            </p:sp>
          </p:grpSp>
        </p:grpSp>
      </p:grpSp>
      <p:grpSp>
        <p:nvGrpSpPr>
          <p:cNvPr id="5" name="Group 30"/>
          <p:cNvGrpSpPr/>
          <p:nvPr/>
        </p:nvGrpSpPr>
        <p:grpSpPr bwMode="auto">
          <a:xfrm>
            <a:off x="1443038" y="3276600"/>
            <a:ext cx="2009775" cy="2133600"/>
            <a:chOff x="909" y="2064"/>
            <a:chExt cx="1266" cy="1344"/>
          </a:xfrm>
        </p:grpSpPr>
        <p:grpSp>
          <p:nvGrpSpPr>
            <p:cNvPr id="18449" name="Group 27"/>
            <p:cNvGrpSpPr/>
            <p:nvPr/>
          </p:nvGrpSpPr>
          <p:grpSpPr bwMode="auto">
            <a:xfrm>
              <a:off x="909" y="2064"/>
              <a:ext cx="1011" cy="1056"/>
              <a:chOff x="909" y="2064"/>
              <a:chExt cx="1011" cy="1056"/>
            </a:xfrm>
          </p:grpSpPr>
          <p:sp>
            <p:nvSpPr>
              <p:cNvPr id="18451" name="Line 13"/>
              <p:cNvSpPr>
                <a:spLocks noChangeShapeType="1"/>
              </p:cNvSpPr>
              <p:nvPr/>
            </p:nvSpPr>
            <p:spPr bwMode="blackWhite">
              <a:xfrm>
                <a:off x="1440" y="2400"/>
                <a:ext cx="480" cy="720"/>
              </a:xfrm>
              <a:prstGeom prst="line">
                <a:avLst/>
              </a:prstGeom>
              <a:noFill/>
              <a:ln w="38100">
                <a:solidFill>
                  <a:srgbClr val="FF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2" name="Arc 14"/>
              <p:cNvSpPr/>
              <p:nvPr/>
            </p:nvSpPr>
            <p:spPr bwMode="blackWhite">
              <a:xfrm>
                <a:off x="1104" y="2064"/>
                <a:ext cx="672" cy="672"/>
              </a:xfrm>
              <a:custGeom>
                <a:avLst/>
                <a:gdLst>
                  <a:gd name="T0" fmla="*/ 8 w 43200"/>
                  <a:gd name="T1" fmla="*/ 10 h 43200"/>
                  <a:gd name="T2" fmla="*/ 10 w 43200"/>
                  <a:gd name="T3" fmla="*/ 5 h 43200"/>
                  <a:gd name="T4" fmla="*/ 5 w 43200"/>
                  <a:gd name="T5" fmla="*/ 5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1068" y="41013"/>
                    </a:moveTo>
                    <a:cubicBezTo>
                      <a:pt x="28119" y="42452"/>
                      <a:pt x="24881"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31068" y="41013"/>
                    </a:moveTo>
                    <a:cubicBezTo>
                      <a:pt x="28119" y="42452"/>
                      <a:pt x="24881" y="43199"/>
                      <a:pt x="21600" y="43200"/>
                    </a:cubicBezTo>
                    <a:cubicBezTo>
                      <a:pt x="9670" y="43200"/>
                      <a:pt x="0" y="33529"/>
                      <a:pt x="0" y="21600"/>
                    </a:cubicBezTo>
                    <a:cubicBezTo>
                      <a:pt x="0" y="9670"/>
                      <a:pt x="9670" y="0"/>
                      <a:pt x="21600" y="0"/>
                    </a:cubicBezTo>
                    <a:cubicBezTo>
                      <a:pt x="33529" y="-1"/>
                      <a:pt x="43199" y="9670"/>
                      <a:pt x="43200" y="21599"/>
                    </a:cubicBezTo>
                    <a:lnTo>
                      <a:pt x="21600" y="21600"/>
                    </a:lnTo>
                    <a:close/>
                  </a:path>
                </a:pathLst>
              </a:custGeom>
              <a:noFill/>
              <a:ln w="19050">
                <a:solidFill>
                  <a:schemeClr val="tx1"/>
                </a:solidFill>
                <a:round/>
                <a:headEnd type="triangl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8434" name="Object 2"/>
              <p:cNvGraphicFramePr>
                <a:graphicFrameLocks noChangeAspect="1"/>
              </p:cNvGraphicFramePr>
              <p:nvPr/>
            </p:nvGraphicFramePr>
            <p:xfrm>
              <a:off x="909" y="2496"/>
              <a:ext cx="323" cy="528"/>
            </p:xfrm>
            <a:graphic>
              <a:graphicData uri="http://schemas.openxmlformats.org/presentationml/2006/ole">
                <mc:AlternateContent xmlns:mc="http://schemas.openxmlformats.org/markup-compatibility/2006">
                  <mc:Choice xmlns:v="urn:schemas-microsoft-com:vml" Requires="v">
                    <p:oleObj spid="_x0000_s18530" name="公式" r:id="rId3" imgW="278765" imgH="457200" progId="Equation.3">
                      <p:embed/>
                    </p:oleObj>
                  </mc:Choice>
                  <mc:Fallback>
                    <p:oleObj name="公式" r:id="rId3" imgW="278765"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White">
                          <a:xfrm>
                            <a:off x="909" y="2496"/>
                            <a:ext cx="323"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8450" name="Text Box 21"/>
            <p:cNvSpPr txBox="1">
              <a:spLocks noChangeArrowheads="1"/>
            </p:cNvSpPr>
            <p:nvPr/>
          </p:nvSpPr>
          <p:spPr bwMode="blackWhite">
            <a:xfrm>
              <a:off x="1920" y="312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a:t>A</a:t>
              </a:r>
              <a:endParaRPr lang="en-US" altLang="zh-CN" b="1"/>
            </a:p>
          </p:txBody>
        </p:sp>
      </p:grpSp>
      <p:grpSp>
        <p:nvGrpSpPr>
          <p:cNvPr id="7" name="Group 28"/>
          <p:cNvGrpSpPr/>
          <p:nvPr/>
        </p:nvGrpSpPr>
        <p:grpSpPr bwMode="auto">
          <a:xfrm>
            <a:off x="609600" y="3276600"/>
            <a:ext cx="1600200" cy="533400"/>
            <a:chOff x="384" y="2064"/>
            <a:chExt cx="1008" cy="336"/>
          </a:xfrm>
        </p:grpSpPr>
        <p:sp>
          <p:nvSpPr>
            <p:cNvPr id="18447" name="Text Box 22"/>
            <p:cNvSpPr txBox="1">
              <a:spLocks noChangeArrowheads="1"/>
            </p:cNvSpPr>
            <p:nvPr/>
          </p:nvSpPr>
          <p:spPr bwMode="blackWhite">
            <a:xfrm>
              <a:off x="384" y="2064"/>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a:t>A</a:t>
              </a:r>
              <a:endParaRPr lang="en-US" altLang="zh-CN" b="1"/>
            </a:p>
          </p:txBody>
        </p:sp>
        <p:sp>
          <p:nvSpPr>
            <p:cNvPr id="18448" name="Line 19"/>
            <p:cNvSpPr>
              <a:spLocks noChangeShapeType="1"/>
            </p:cNvSpPr>
            <p:nvPr/>
          </p:nvSpPr>
          <p:spPr bwMode="blackWhite">
            <a:xfrm flipH="1">
              <a:off x="624" y="2400"/>
              <a:ext cx="768" cy="0"/>
            </a:xfrm>
            <a:prstGeom prst="line">
              <a:avLst/>
            </a:prstGeom>
            <a:noFill/>
            <a:ln w="38100">
              <a:solidFill>
                <a:srgbClr val="3366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33"/>
          <p:cNvGrpSpPr/>
          <p:nvPr/>
        </p:nvGrpSpPr>
        <p:grpSpPr bwMode="auto">
          <a:xfrm>
            <a:off x="2362200" y="2438400"/>
            <a:ext cx="2236788" cy="2671763"/>
            <a:chOff x="1488" y="1536"/>
            <a:chExt cx="1409" cy="1683"/>
          </a:xfrm>
        </p:grpSpPr>
        <p:grpSp>
          <p:nvGrpSpPr>
            <p:cNvPr id="18442" name="Group 29"/>
            <p:cNvGrpSpPr/>
            <p:nvPr/>
          </p:nvGrpSpPr>
          <p:grpSpPr bwMode="auto">
            <a:xfrm>
              <a:off x="2100" y="1536"/>
              <a:ext cx="797" cy="1683"/>
              <a:chOff x="2100" y="1536"/>
              <a:chExt cx="797" cy="1683"/>
            </a:xfrm>
          </p:grpSpPr>
          <p:sp>
            <p:nvSpPr>
              <p:cNvPr id="18444" name="Line 16"/>
              <p:cNvSpPr>
                <a:spLocks noChangeShapeType="1"/>
              </p:cNvSpPr>
              <p:nvPr/>
            </p:nvSpPr>
            <p:spPr bwMode="blackWhite">
              <a:xfrm rot="19860000" flipH="1">
                <a:off x="2124" y="1536"/>
                <a:ext cx="0" cy="891"/>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5" name="Line 18"/>
              <p:cNvSpPr>
                <a:spLocks noChangeShapeType="1"/>
              </p:cNvSpPr>
              <p:nvPr/>
            </p:nvSpPr>
            <p:spPr bwMode="blackWhite">
              <a:xfrm rot="1534309" flipH="1">
                <a:off x="2100" y="2307"/>
                <a:ext cx="48" cy="912"/>
              </a:xfrm>
              <a:prstGeom prst="line">
                <a:avLst/>
              </a:prstGeom>
              <a:noFill/>
              <a:ln w="19050"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6" name="Text Box 23"/>
              <p:cNvSpPr txBox="1">
                <a:spLocks noChangeArrowheads="1"/>
              </p:cNvSpPr>
              <p:nvPr/>
            </p:nvSpPr>
            <p:spPr bwMode="auto">
              <a:xfrm>
                <a:off x="2352" y="2064"/>
                <a:ext cx="5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a:t>x</a:t>
                </a:r>
                <a:r>
                  <a:rPr lang="en-US" altLang="zh-CN" b="1" baseline="-25000"/>
                  <a:t>1</a:t>
                </a:r>
                <a:r>
                  <a:rPr lang="en-US" altLang="zh-CN" b="1"/>
                  <a:t>+x</a:t>
                </a:r>
                <a:r>
                  <a:rPr lang="en-US" altLang="zh-CN" b="1" baseline="-25000"/>
                  <a:t>2</a:t>
                </a:r>
                <a:endParaRPr lang="en-US" altLang="zh-CN" b="1"/>
              </a:p>
            </p:txBody>
          </p:sp>
        </p:grpSp>
        <p:sp>
          <p:nvSpPr>
            <p:cNvPr id="18443" name="Line 17"/>
            <p:cNvSpPr>
              <a:spLocks noChangeShapeType="1"/>
            </p:cNvSpPr>
            <p:nvPr/>
          </p:nvSpPr>
          <p:spPr bwMode="blackWhite">
            <a:xfrm>
              <a:off x="1488" y="2400"/>
              <a:ext cx="864" cy="0"/>
            </a:xfrm>
            <a:prstGeom prst="line">
              <a:avLst/>
            </a:prstGeom>
            <a:noFill/>
            <a:ln w="38100">
              <a:solidFill>
                <a:srgbClr val="FF0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outHorizont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right)">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8" fill="hold" grpId="0" nodeType="clickEffect">
                                  <p:stCondLst>
                                    <p:cond delay="0"/>
                                  </p:stCondLst>
                                  <p:iterate type="lt">
                                    <p:tmPct val="100000"/>
                                  </p:iterate>
                                  <p:childTnLst>
                                    <p:set>
                                      <p:cBhvr>
                                        <p:cTn id="27" dur="1" fill="hold">
                                          <p:stCondLst>
                                            <p:cond delay="0"/>
                                          </p:stCondLst>
                                        </p:cTn>
                                        <p:tgtEl>
                                          <p:spTgt spid="15363"/>
                                        </p:tgtEl>
                                        <p:attrNameLst>
                                          <p:attrName>style.visibility</p:attrName>
                                        </p:attrNameLst>
                                      </p:cBhvr>
                                      <p:to>
                                        <p:strVal val="visible"/>
                                      </p:to>
                                    </p:set>
                                    <p:animEffect transition="in" filter="slide(fromLeft)">
                                      <p:cBhvr>
                                        <p:cTn id="28" dur="75"/>
                                        <p:tgtEl>
                                          <p:spTgt spid="15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5" name="Text Box 7"/>
          <p:cNvSpPr txBox="1">
            <a:spLocks noChangeArrowheads="1"/>
          </p:cNvSpPr>
          <p:nvPr/>
        </p:nvSpPr>
        <p:spPr bwMode="auto">
          <a:xfrm>
            <a:off x="1835150" y="2420938"/>
            <a:ext cx="60483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6000" b="1">
                <a:solidFill>
                  <a:srgbClr val="FF0000"/>
                </a:solidFill>
                <a:latin typeface="Times New Roman" panose="02020603050405020304" pitchFamily="18" charset="0"/>
                <a:ea typeface="楷体_GB2312" panose="02010609030101010101" pitchFamily="49" charset="-122"/>
              </a:rPr>
              <a:t>机械波知识要点</a:t>
            </a:r>
            <a:endParaRPr kumimoji="1" lang="zh-CN" altLang="en-US" sz="6000" b="1">
              <a:solidFill>
                <a:srgbClr val="FF0000"/>
              </a:solidFill>
              <a:latin typeface="Times New Roman" panose="02020603050405020304" pitchFamily="18" charset="0"/>
              <a:ea typeface="楷体_GB2312" panose="0201060903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ChangeArrowheads="1"/>
          </p:cNvSpPr>
          <p:nvPr/>
        </p:nvSpPr>
        <p:spPr bwMode="auto">
          <a:xfrm>
            <a:off x="457200" y="115888"/>
            <a:ext cx="82296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3200" b="1">
                <a:solidFill>
                  <a:srgbClr val="FF0000"/>
                </a:solidFill>
              </a:rPr>
              <a:t>1.  </a:t>
            </a:r>
            <a:r>
              <a:rPr lang="zh-CN" altLang="en-US" sz="3200" b="1">
                <a:solidFill>
                  <a:srgbClr val="FF0000"/>
                </a:solidFill>
              </a:rPr>
              <a:t>熟练掌握简谐波的描述</a:t>
            </a:r>
            <a:endParaRPr lang="zh-CN" altLang="en-US" sz="3200" b="1">
              <a:solidFill>
                <a:srgbClr val="FF0000"/>
              </a:solidFill>
            </a:endParaRPr>
          </a:p>
          <a:p>
            <a:pPr eaLnBrk="1" hangingPunct="1">
              <a:spcBef>
                <a:spcPct val="20000"/>
              </a:spcBef>
            </a:pPr>
            <a:endParaRPr lang="en-US" altLang="zh-CN" b="1">
              <a:solidFill>
                <a:srgbClr val="FF0000"/>
              </a:solidFill>
            </a:endParaRPr>
          </a:p>
        </p:txBody>
      </p:sp>
      <p:grpSp>
        <p:nvGrpSpPr>
          <p:cNvPr id="2" name="组合 16"/>
          <p:cNvGrpSpPr/>
          <p:nvPr/>
        </p:nvGrpSpPr>
        <p:grpSpPr bwMode="auto">
          <a:xfrm>
            <a:off x="539750" y="908050"/>
            <a:ext cx="8258175" cy="3235325"/>
            <a:chOff x="611187" y="1916832"/>
            <a:chExt cx="8258176" cy="3234606"/>
          </a:xfrm>
        </p:grpSpPr>
        <p:sp>
          <p:nvSpPr>
            <p:cNvPr id="21515" name="Text Box 3"/>
            <p:cNvSpPr txBox="1">
              <a:spLocks noChangeArrowheads="1"/>
            </p:cNvSpPr>
            <p:nvPr/>
          </p:nvSpPr>
          <p:spPr bwMode="auto">
            <a:xfrm>
              <a:off x="611187" y="1916832"/>
              <a:ext cx="3960813"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lang="zh-CN" altLang="en-US" sz="2800" b="1"/>
                <a:t>平面简谐波的波函数：</a:t>
              </a:r>
              <a:endParaRPr lang="zh-CN" altLang="en-US" sz="2800" b="1"/>
            </a:p>
          </p:txBody>
        </p:sp>
        <p:graphicFrame>
          <p:nvGraphicFramePr>
            <p:cNvPr id="124933" name="Object 5"/>
            <p:cNvGraphicFramePr>
              <a:graphicFrameLocks noChangeAspect="1"/>
            </p:cNvGraphicFramePr>
            <p:nvPr/>
          </p:nvGraphicFramePr>
          <p:xfrm>
            <a:off x="906463" y="3314700"/>
            <a:ext cx="3836987" cy="1003300"/>
          </p:xfrm>
          <a:graphic>
            <a:graphicData uri="http://schemas.openxmlformats.org/presentationml/2006/ole">
              <mc:AlternateContent xmlns:mc="http://schemas.openxmlformats.org/markup-compatibility/2006">
                <mc:Choice xmlns:v="urn:schemas-microsoft-com:vml" Requires="v">
                  <p:oleObj spid="_x0000_s21641" name="Equation" r:id="rId1" imgW="1739900" imgH="457200" progId="Equation.DSMT4">
                    <p:embed/>
                  </p:oleObj>
                </mc:Choice>
                <mc:Fallback>
                  <p:oleObj name="Equation" r:id="rId1" imgW="1739900" imgH="4572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463" y="3314700"/>
                          <a:ext cx="3836987"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16" name="Oval 13"/>
            <p:cNvSpPr>
              <a:spLocks noChangeArrowheads="1"/>
            </p:cNvSpPr>
            <p:nvPr/>
          </p:nvSpPr>
          <p:spPr bwMode="auto">
            <a:xfrm>
              <a:off x="1557338" y="3487738"/>
              <a:ext cx="339725" cy="647700"/>
            </a:xfrm>
            <a:prstGeom prst="ellipse">
              <a:avLst/>
            </a:prstGeom>
            <a:noFill/>
            <a:ln w="25400">
              <a:solidFill>
                <a:srgbClr val="FF0066"/>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21517" name="Oval 14"/>
            <p:cNvSpPr>
              <a:spLocks noChangeArrowheads="1"/>
            </p:cNvSpPr>
            <p:nvPr/>
          </p:nvSpPr>
          <p:spPr bwMode="auto">
            <a:xfrm>
              <a:off x="3097213" y="3486150"/>
              <a:ext cx="339725" cy="647700"/>
            </a:xfrm>
            <a:prstGeom prst="ellipse">
              <a:avLst/>
            </a:prstGeom>
            <a:noFill/>
            <a:ln w="25400">
              <a:solidFill>
                <a:srgbClr val="0000FF"/>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21518" name="Oval 15"/>
            <p:cNvSpPr>
              <a:spLocks noChangeArrowheads="1"/>
            </p:cNvSpPr>
            <p:nvPr/>
          </p:nvSpPr>
          <p:spPr bwMode="auto">
            <a:xfrm>
              <a:off x="2503488" y="3578225"/>
              <a:ext cx="339725" cy="574675"/>
            </a:xfrm>
            <a:prstGeom prst="ellipse">
              <a:avLst/>
            </a:prstGeom>
            <a:noFill/>
            <a:ln w="25400">
              <a:solidFill>
                <a:srgbClr val="FF0066"/>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21519" name="Oval 16"/>
            <p:cNvSpPr>
              <a:spLocks noChangeArrowheads="1"/>
            </p:cNvSpPr>
            <p:nvPr/>
          </p:nvSpPr>
          <p:spPr bwMode="auto">
            <a:xfrm>
              <a:off x="3419475" y="3924300"/>
              <a:ext cx="339725" cy="503238"/>
            </a:xfrm>
            <a:prstGeom prst="ellipse">
              <a:avLst/>
            </a:prstGeom>
            <a:noFill/>
            <a:ln w="25400">
              <a:solidFill>
                <a:srgbClr val="0000FF"/>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21520" name="Oval 17"/>
            <p:cNvSpPr>
              <a:spLocks noChangeArrowheads="1"/>
            </p:cNvSpPr>
            <p:nvPr/>
          </p:nvSpPr>
          <p:spPr bwMode="auto">
            <a:xfrm>
              <a:off x="4178300" y="3559175"/>
              <a:ext cx="339725" cy="647700"/>
            </a:xfrm>
            <a:prstGeom prst="ellipse">
              <a:avLst/>
            </a:prstGeom>
            <a:noFill/>
            <a:ln w="25400">
              <a:solidFill>
                <a:srgbClr val="FF0066"/>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grpSp>
          <p:nvGrpSpPr>
            <p:cNvPr id="21521" name="Group 23"/>
            <p:cNvGrpSpPr/>
            <p:nvPr/>
          </p:nvGrpSpPr>
          <p:grpSpPr bwMode="auto">
            <a:xfrm>
              <a:off x="4283968" y="1988840"/>
              <a:ext cx="4103688" cy="1008062"/>
              <a:chOff x="2608" y="1207"/>
              <a:chExt cx="2585" cy="635"/>
            </a:xfrm>
          </p:grpSpPr>
          <p:sp>
            <p:nvSpPr>
              <p:cNvPr id="21524" name="AutoShape 18"/>
              <p:cNvSpPr>
                <a:spLocks noChangeArrowheads="1"/>
              </p:cNvSpPr>
              <p:nvPr/>
            </p:nvSpPr>
            <p:spPr bwMode="auto">
              <a:xfrm>
                <a:off x="2608" y="1207"/>
                <a:ext cx="2494" cy="635"/>
              </a:xfrm>
              <a:prstGeom prst="wedgeRoundRectCallout">
                <a:avLst>
                  <a:gd name="adj1" fmla="val -69407"/>
                  <a:gd name="adj2" fmla="val 97088"/>
                  <a:gd name="adj3" fmla="val 16667"/>
                </a:avLst>
              </a:prstGeom>
              <a:solidFill>
                <a:schemeClr val="accent1"/>
              </a:solidFill>
              <a:ln w="25400">
                <a:solidFill>
                  <a:schemeClr val="tx1"/>
                </a:solidFill>
                <a:miter lim="800000"/>
                <a:tailEnd type="none" w="med" len="lg"/>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21525" name="Text Box 4"/>
              <p:cNvSpPr txBox="1">
                <a:spLocks noChangeArrowheads="1"/>
              </p:cNvSpPr>
              <p:nvPr/>
            </p:nvSpPr>
            <p:spPr bwMode="auto">
              <a:xfrm>
                <a:off x="2653" y="1298"/>
                <a:ext cx="2540"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pPr>
                <a:r>
                  <a:rPr lang="en-US" altLang="zh-CN" b="1">
                    <a:solidFill>
                      <a:srgbClr val="FF0066"/>
                    </a:solidFill>
                  </a:rPr>
                  <a:t>“-”</a:t>
                </a:r>
                <a:r>
                  <a:rPr lang="zh-CN" altLang="en-US" b="1"/>
                  <a:t>表示波沿</a:t>
                </a:r>
                <a:r>
                  <a:rPr lang="en-US" altLang="zh-CN" b="1" i="1">
                    <a:latin typeface="Times New Roman" panose="02020603050405020304" pitchFamily="18" charset="0"/>
                  </a:rPr>
                  <a:t>x</a:t>
                </a:r>
                <a:r>
                  <a:rPr lang="zh-CN" altLang="en-US" b="1"/>
                  <a:t>轴正向传波；</a:t>
                </a:r>
                <a:endParaRPr lang="zh-CN" altLang="en-US" b="1"/>
              </a:p>
              <a:p>
                <a:pPr eaLnBrk="1" hangingPunct="1">
                  <a:lnSpc>
                    <a:spcPct val="70000"/>
                  </a:lnSpc>
                  <a:spcBef>
                    <a:spcPct val="50000"/>
                  </a:spcBef>
                </a:pPr>
                <a:r>
                  <a:rPr lang="zh-CN" altLang="en-US" b="1">
                    <a:solidFill>
                      <a:srgbClr val="FF0066"/>
                    </a:solidFill>
                  </a:rPr>
                  <a:t>“</a:t>
                </a:r>
                <a:r>
                  <a:rPr lang="en-US" altLang="zh-CN" b="1">
                    <a:solidFill>
                      <a:srgbClr val="FF0066"/>
                    </a:solidFill>
                  </a:rPr>
                  <a:t>+”</a:t>
                </a:r>
                <a:r>
                  <a:rPr lang="zh-CN" altLang="en-US" b="1"/>
                  <a:t>表示波沿</a:t>
                </a:r>
                <a:r>
                  <a:rPr lang="en-US" altLang="zh-CN" b="1" i="1">
                    <a:latin typeface="Times New Roman" panose="02020603050405020304" pitchFamily="18" charset="0"/>
                  </a:rPr>
                  <a:t>x</a:t>
                </a:r>
                <a:r>
                  <a:rPr lang="zh-CN" altLang="en-US" b="1"/>
                  <a:t>轴负向传播</a:t>
                </a:r>
                <a:endParaRPr lang="zh-CN" altLang="en-US" b="1"/>
              </a:p>
            </p:txBody>
          </p:sp>
        </p:grpSp>
        <p:sp>
          <p:nvSpPr>
            <p:cNvPr id="21522" name="AutoShape 20"/>
            <p:cNvSpPr/>
            <p:nvPr/>
          </p:nvSpPr>
          <p:spPr bwMode="auto">
            <a:xfrm rot="-5400000">
              <a:off x="2844006" y="2991644"/>
              <a:ext cx="430213" cy="2879725"/>
            </a:xfrm>
            <a:prstGeom prst="leftBrace">
              <a:avLst>
                <a:gd name="adj1" fmla="val 55781"/>
                <a:gd name="adj2" fmla="val 50000"/>
              </a:avLst>
            </a:prstGeom>
            <a:noFill/>
            <a:ln w="25400">
              <a:solidFill>
                <a:schemeClr val="tx1"/>
              </a:solidFill>
              <a:round/>
              <a:tailEnd type="none" w="med" len="lg"/>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21523" name="Text Box 21"/>
            <p:cNvSpPr txBox="1">
              <a:spLocks noChangeArrowheads="1"/>
            </p:cNvSpPr>
            <p:nvPr/>
          </p:nvSpPr>
          <p:spPr bwMode="auto">
            <a:xfrm>
              <a:off x="2339975" y="4503738"/>
              <a:ext cx="16573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lang="zh-CN" altLang="en-US" sz="2800" b="1">
                  <a:solidFill>
                    <a:schemeClr val="hlink"/>
                  </a:solidFill>
                  <a:ea typeface="隶书" panose="02010509060101010101" pitchFamily="49" charset="-122"/>
                </a:rPr>
                <a:t>五大要素</a:t>
              </a:r>
              <a:endParaRPr lang="zh-CN" altLang="en-US" sz="2800" b="1">
                <a:solidFill>
                  <a:schemeClr val="hlink"/>
                </a:solidFill>
                <a:ea typeface="隶书" panose="02010509060101010101" pitchFamily="49" charset="-122"/>
              </a:endParaRPr>
            </a:p>
          </p:txBody>
        </p:sp>
        <p:graphicFrame>
          <p:nvGraphicFramePr>
            <p:cNvPr id="124950" name="Object 22"/>
            <p:cNvGraphicFramePr>
              <a:graphicFrameLocks noChangeAspect="1"/>
            </p:cNvGraphicFramePr>
            <p:nvPr/>
          </p:nvGraphicFramePr>
          <p:xfrm>
            <a:off x="4591050" y="4359275"/>
            <a:ext cx="3887788" cy="674688"/>
          </p:xfrm>
          <a:graphic>
            <a:graphicData uri="http://schemas.openxmlformats.org/presentationml/2006/ole">
              <mc:AlternateContent xmlns:mc="http://schemas.openxmlformats.org/markup-compatibility/2006">
                <mc:Choice xmlns:v="urn:schemas-microsoft-com:vml" Requires="v">
                  <p:oleObj spid="_x0000_s21642" name="公式" r:id="rId3" imgW="1435100" imgH="228600" progId="Equation.3">
                    <p:embed/>
                  </p:oleObj>
                </mc:Choice>
                <mc:Fallback>
                  <p:oleObj name="公式" r:id="rId3" imgW="1435100" imgH="228600" progId="Equation.3">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l="8482" t="235"/>
                        <a:stretch>
                          <a:fillRect/>
                        </a:stretch>
                      </p:blipFill>
                      <p:spPr bwMode="auto">
                        <a:xfrm>
                          <a:off x="4591050" y="4359275"/>
                          <a:ext cx="3887788" cy="674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4952" name="Object 24"/>
            <p:cNvGraphicFramePr>
              <a:graphicFrameLocks noChangeAspect="1"/>
            </p:cNvGraphicFramePr>
            <p:nvPr/>
          </p:nvGraphicFramePr>
          <p:xfrm>
            <a:off x="4667250" y="3284538"/>
            <a:ext cx="4202113" cy="1084262"/>
          </p:xfrm>
          <a:graphic>
            <a:graphicData uri="http://schemas.openxmlformats.org/presentationml/2006/ole">
              <mc:AlternateContent xmlns:mc="http://schemas.openxmlformats.org/markup-compatibility/2006">
                <mc:Choice xmlns:v="urn:schemas-microsoft-com:vml" Requires="v">
                  <p:oleObj spid="_x0000_s21643" name="Equation" r:id="rId5" imgW="1663700" imgH="393700" progId="Equation.DSMT4">
                    <p:embed/>
                  </p:oleObj>
                </mc:Choice>
                <mc:Fallback>
                  <p:oleObj name="Equation" r:id="rId5" imgW="1663700" imgH="393700" progId="Equation.DSMT4">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l="8482" t="235"/>
                        <a:stretch>
                          <a:fillRect/>
                        </a:stretch>
                      </p:blipFill>
                      <p:spPr bwMode="auto">
                        <a:xfrm>
                          <a:off x="4667250" y="3284538"/>
                          <a:ext cx="4202113" cy="1084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8" name="Text Box 3"/>
          <p:cNvSpPr txBox="1">
            <a:spLocks noChangeArrowheads="1"/>
          </p:cNvSpPr>
          <p:nvPr/>
        </p:nvSpPr>
        <p:spPr bwMode="auto">
          <a:xfrm>
            <a:off x="692150" y="4360863"/>
            <a:ext cx="8201025" cy="142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lang="zh-CN" altLang="en-US" sz="2800" b="1"/>
              <a:t>波函数的物理意义：</a:t>
            </a:r>
            <a:r>
              <a:rPr kumimoji="1" lang="zh-CN" altLang="en-US" sz="2800" b="1">
                <a:latin typeface="Times New Roman" panose="02020603050405020304" pitchFamily="18" charset="0"/>
              </a:rPr>
              <a:t>反映了时间和空间的周期 性。</a:t>
            </a:r>
            <a:endParaRPr kumimoji="1" lang="zh-CN" altLang="en-US" sz="2800" b="1">
              <a:latin typeface="Times New Roman" panose="02020603050405020304" pitchFamily="18" charset="0"/>
            </a:endParaRPr>
          </a:p>
          <a:p>
            <a:pPr eaLnBrk="1" hangingPunct="1">
              <a:lnSpc>
                <a:spcPct val="130000"/>
              </a:lnSpc>
              <a:spcBef>
                <a:spcPct val="50000"/>
              </a:spcBef>
            </a:pP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18"/>
                                        </p:tgtEl>
                                        <p:attrNameLst>
                                          <p:attrName>style.visibility</p:attrName>
                                        </p:attrNameLst>
                                      </p:cBhvr>
                                      <p:to>
                                        <p:strVal val="visible"/>
                                      </p:to>
                                    </p:set>
                                    <p:anim calcmode="discrete" valueType="clr">
                                      <p:cBhvr override="childStyle">
                                        <p:cTn id="12" dur="80"/>
                                        <p:tgtEl>
                                          <p:spTgt spid="18"/>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18"/>
                                        </p:tgtEl>
                                        <p:attrNameLst>
                                          <p:attrName>fillcolor</p:attrName>
                                        </p:attrNameLst>
                                      </p:cBhvr>
                                      <p:tavLst>
                                        <p:tav tm="0">
                                          <p:val>
                                            <p:clrVal>
                                              <a:schemeClr val="accent2"/>
                                            </p:clrVal>
                                          </p:val>
                                        </p:tav>
                                        <p:tav tm="50000">
                                          <p:val>
                                            <p:clrVal>
                                              <a:schemeClr val="hlink"/>
                                            </p:clrVal>
                                          </p:val>
                                        </p:tav>
                                      </p:tavLst>
                                    </p:anim>
                                    <p:set>
                                      <p:cBhvr>
                                        <p:cTn id="14" dur="80"/>
                                        <p:tgtEl>
                                          <p:spTgt spid="1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4" name="Rectangle 4"/>
          <p:cNvSpPr>
            <a:spLocks noChangeArrowheads="1"/>
          </p:cNvSpPr>
          <p:nvPr/>
        </p:nvSpPr>
        <p:spPr bwMode="auto">
          <a:xfrm>
            <a:off x="457200" y="549275"/>
            <a:ext cx="82296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3200" b="1">
                <a:solidFill>
                  <a:srgbClr val="FF0000"/>
                </a:solidFill>
              </a:rPr>
              <a:t>2.  </a:t>
            </a:r>
            <a:r>
              <a:rPr lang="zh-CN" altLang="en-US" sz="3200" b="1">
                <a:solidFill>
                  <a:srgbClr val="FF0000"/>
                </a:solidFill>
              </a:rPr>
              <a:t>记住能量密度、能流以及能流密度公式</a:t>
            </a:r>
            <a:endParaRPr lang="zh-CN" altLang="en-US" sz="3200" b="1">
              <a:solidFill>
                <a:srgbClr val="FF0000"/>
              </a:solidFill>
            </a:endParaRPr>
          </a:p>
          <a:p>
            <a:pPr eaLnBrk="1" hangingPunct="1">
              <a:spcBef>
                <a:spcPct val="20000"/>
              </a:spcBef>
            </a:pPr>
            <a:endParaRPr lang="en-US" altLang="zh-CN" b="1">
              <a:solidFill>
                <a:srgbClr val="FF0000"/>
              </a:solidFill>
            </a:endParaRPr>
          </a:p>
        </p:txBody>
      </p:sp>
      <p:sp>
        <p:nvSpPr>
          <p:cNvPr id="158725" name="Text Box 5"/>
          <p:cNvSpPr txBox="1">
            <a:spLocks noChangeArrowheads="1"/>
          </p:cNvSpPr>
          <p:nvPr/>
        </p:nvSpPr>
        <p:spPr bwMode="auto">
          <a:xfrm>
            <a:off x="971550" y="1628775"/>
            <a:ext cx="39608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lang="zh-CN" altLang="en-US" sz="2800" b="1"/>
              <a:t>平均能量密度：</a:t>
            </a:r>
            <a:endParaRPr lang="zh-CN" altLang="en-US" sz="2800" b="1"/>
          </a:p>
        </p:txBody>
      </p:sp>
      <p:graphicFrame>
        <p:nvGraphicFramePr>
          <p:cNvPr id="158726" name="Object 6"/>
          <p:cNvGraphicFramePr>
            <a:graphicFrameLocks noChangeAspect="1"/>
          </p:cNvGraphicFramePr>
          <p:nvPr/>
        </p:nvGraphicFramePr>
        <p:xfrm>
          <a:off x="4010025" y="1557338"/>
          <a:ext cx="1973263" cy="941387"/>
        </p:xfrm>
        <a:graphic>
          <a:graphicData uri="http://schemas.openxmlformats.org/presentationml/2006/ole">
            <mc:AlternateContent xmlns:mc="http://schemas.openxmlformats.org/markup-compatibility/2006">
              <mc:Choice xmlns:v="urn:schemas-microsoft-com:vml" Requires="v">
                <p:oleObj spid="_x0000_s22641" name="公式" r:id="rId1" imgW="970280" imgH="457200" progId="Equation.3">
                  <p:embed/>
                </p:oleObj>
              </mc:Choice>
              <mc:Fallback>
                <p:oleObj name="公式" r:id="rId1" imgW="970280" imgH="4572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0025" y="1557338"/>
                        <a:ext cx="1973263" cy="941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8727" name="Text Box 7"/>
          <p:cNvSpPr txBox="1">
            <a:spLocks noChangeArrowheads="1"/>
          </p:cNvSpPr>
          <p:nvPr/>
        </p:nvSpPr>
        <p:spPr bwMode="auto">
          <a:xfrm>
            <a:off x="971550" y="2636838"/>
            <a:ext cx="39608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lang="zh-CN" altLang="en-US" sz="2800" b="1"/>
              <a:t>平均能流：</a:t>
            </a:r>
            <a:endParaRPr lang="zh-CN" altLang="en-US" sz="2800" b="1"/>
          </a:p>
        </p:txBody>
      </p:sp>
      <p:graphicFrame>
        <p:nvGraphicFramePr>
          <p:cNvPr id="158728" name="Object 8"/>
          <p:cNvGraphicFramePr>
            <a:graphicFrameLocks noChangeAspect="1"/>
          </p:cNvGraphicFramePr>
          <p:nvPr/>
        </p:nvGraphicFramePr>
        <p:xfrm>
          <a:off x="4060825" y="2741613"/>
          <a:ext cx="1730375" cy="576262"/>
        </p:xfrm>
        <a:graphic>
          <a:graphicData uri="http://schemas.openxmlformats.org/presentationml/2006/ole">
            <mc:AlternateContent xmlns:mc="http://schemas.openxmlformats.org/markup-compatibility/2006">
              <mc:Choice xmlns:v="urn:schemas-microsoft-com:vml" Requires="v">
                <p:oleObj spid="_x0000_s22642" name="公式" r:id="rId3" imgW="847725" imgH="278765" progId="Equation.3">
                  <p:embed/>
                </p:oleObj>
              </mc:Choice>
              <mc:Fallback>
                <p:oleObj name="公式" r:id="rId3" imgW="847725" imgH="278765"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0825" y="2741613"/>
                        <a:ext cx="173037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8729" name="Text Box 9"/>
          <p:cNvSpPr txBox="1">
            <a:spLocks noChangeArrowheads="1"/>
          </p:cNvSpPr>
          <p:nvPr/>
        </p:nvSpPr>
        <p:spPr bwMode="auto">
          <a:xfrm>
            <a:off x="971550" y="3644900"/>
            <a:ext cx="51133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lang="zh-CN" altLang="en-US" sz="2800" b="1"/>
              <a:t>平均能流密度</a:t>
            </a:r>
            <a:r>
              <a:rPr lang="en-US" altLang="zh-CN" sz="2800" b="1"/>
              <a:t>—</a:t>
            </a:r>
            <a:r>
              <a:rPr lang="zh-CN" altLang="en-US" sz="2800" b="1"/>
              <a:t>波的强度：</a:t>
            </a:r>
            <a:endParaRPr lang="zh-CN" altLang="en-US" sz="2800" b="1"/>
          </a:p>
        </p:txBody>
      </p:sp>
      <p:graphicFrame>
        <p:nvGraphicFramePr>
          <p:cNvPr id="158730" name="Object 10"/>
          <p:cNvGraphicFramePr>
            <a:graphicFrameLocks noChangeAspect="1"/>
          </p:cNvGraphicFramePr>
          <p:nvPr/>
        </p:nvGraphicFramePr>
        <p:xfrm>
          <a:off x="5292725" y="3573463"/>
          <a:ext cx="2884488" cy="939800"/>
        </p:xfrm>
        <a:graphic>
          <a:graphicData uri="http://schemas.openxmlformats.org/presentationml/2006/ole">
            <mc:AlternateContent xmlns:mc="http://schemas.openxmlformats.org/markup-compatibility/2006">
              <mc:Choice xmlns:v="urn:schemas-microsoft-com:vml" Requires="v">
                <p:oleObj spid="_x0000_s22643" name="公式" r:id="rId5" imgW="1416050" imgH="457200" progId="Equation.3">
                  <p:embed/>
                </p:oleObj>
              </mc:Choice>
              <mc:Fallback>
                <p:oleObj name="公式" r:id="rId5" imgW="1416050" imgH="4572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2725" y="3573463"/>
                        <a:ext cx="2884488" cy="939800"/>
                      </a:xfrm>
                      <a:prstGeom prst="rect">
                        <a:avLst/>
                      </a:prstGeom>
                      <a:noFill/>
                      <a:ln w="38100">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8731" name="Rectangle 11"/>
          <p:cNvSpPr>
            <a:spLocks noChangeArrowheads="1"/>
          </p:cNvSpPr>
          <p:nvPr/>
        </p:nvSpPr>
        <p:spPr bwMode="auto">
          <a:xfrm>
            <a:off x="446088" y="4581525"/>
            <a:ext cx="82296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3200" b="1">
                <a:solidFill>
                  <a:srgbClr val="FF0000"/>
                </a:solidFill>
              </a:rPr>
              <a:t>3.  </a:t>
            </a:r>
            <a:r>
              <a:rPr lang="zh-CN" altLang="en-US" sz="3200" b="1">
                <a:solidFill>
                  <a:srgbClr val="FF0000"/>
                </a:solidFill>
              </a:rPr>
              <a:t>记住惠更斯原理的内容</a:t>
            </a:r>
            <a:endParaRPr lang="zh-CN" altLang="en-US" sz="3200" b="1">
              <a:solidFill>
                <a:srgbClr val="FF0000"/>
              </a:solidFill>
            </a:endParaRPr>
          </a:p>
          <a:p>
            <a:pPr eaLnBrk="1" hangingPunct="1">
              <a:spcBef>
                <a:spcPct val="20000"/>
              </a:spcBef>
            </a:pPr>
            <a:endParaRPr lang="en-US" altLang="zh-CN" b="1">
              <a:solidFill>
                <a:srgbClr val="FF0000"/>
              </a:solidFill>
            </a:endParaRPr>
          </a:p>
        </p:txBody>
      </p:sp>
      <p:sp>
        <p:nvSpPr>
          <p:cNvPr id="158732" name="Text Box 12"/>
          <p:cNvSpPr txBox="1">
            <a:spLocks noChangeArrowheads="1"/>
          </p:cNvSpPr>
          <p:nvPr/>
        </p:nvSpPr>
        <p:spPr bwMode="auto">
          <a:xfrm>
            <a:off x="1044575" y="5157788"/>
            <a:ext cx="7272338"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pPr>
            <a:r>
              <a:rPr lang="zh-CN" altLang="en-US" b="1"/>
              <a:t>媒质中波阵面上的各点都可以看做子波波源，其后任一时刻这些子波的包迹就是新的波阵面</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8725"/>
                                        </p:tgtEl>
                                        <p:attrNameLst>
                                          <p:attrName>style.visibility</p:attrName>
                                        </p:attrNameLst>
                                      </p:cBhvr>
                                      <p:to>
                                        <p:strVal val="visible"/>
                                      </p:to>
                                    </p:set>
                                    <p:animEffect transition="in" filter="blinds(horizontal)">
                                      <p:cBhvr>
                                        <p:cTn id="7" dur="500"/>
                                        <p:tgtEl>
                                          <p:spTgt spid="1587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8726"/>
                                        </p:tgtEl>
                                        <p:attrNameLst>
                                          <p:attrName>style.visibility</p:attrName>
                                        </p:attrNameLst>
                                      </p:cBhvr>
                                      <p:to>
                                        <p:strVal val="visible"/>
                                      </p:to>
                                    </p:set>
                                    <p:animEffect transition="in" filter="blinds(horizontal)">
                                      <p:cBhvr>
                                        <p:cTn id="12" dur="500"/>
                                        <p:tgtEl>
                                          <p:spTgt spid="15872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8727"/>
                                        </p:tgtEl>
                                        <p:attrNameLst>
                                          <p:attrName>style.visibility</p:attrName>
                                        </p:attrNameLst>
                                      </p:cBhvr>
                                      <p:to>
                                        <p:strVal val="visible"/>
                                      </p:to>
                                    </p:set>
                                    <p:animEffect transition="in" filter="blinds(horizontal)">
                                      <p:cBhvr>
                                        <p:cTn id="17" dur="500"/>
                                        <p:tgtEl>
                                          <p:spTgt spid="15872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8728"/>
                                        </p:tgtEl>
                                        <p:attrNameLst>
                                          <p:attrName>style.visibility</p:attrName>
                                        </p:attrNameLst>
                                      </p:cBhvr>
                                      <p:to>
                                        <p:strVal val="visible"/>
                                      </p:to>
                                    </p:set>
                                    <p:animEffect transition="in" filter="blinds(horizontal)">
                                      <p:cBhvr>
                                        <p:cTn id="22" dur="500"/>
                                        <p:tgtEl>
                                          <p:spTgt spid="15872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8729"/>
                                        </p:tgtEl>
                                        <p:attrNameLst>
                                          <p:attrName>style.visibility</p:attrName>
                                        </p:attrNameLst>
                                      </p:cBhvr>
                                      <p:to>
                                        <p:strVal val="visible"/>
                                      </p:to>
                                    </p:set>
                                    <p:animEffect transition="in" filter="blinds(horizontal)">
                                      <p:cBhvr>
                                        <p:cTn id="27" dur="500"/>
                                        <p:tgtEl>
                                          <p:spTgt spid="15872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8730"/>
                                        </p:tgtEl>
                                        <p:attrNameLst>
                                          <p:attrName>style.visibility</p:attrName>
                                        </p:attrNameLst>
                                      </p:cBhvr>
                                      <p:to>
                                        <p:strVal val="visible"/>
                                      </p:to>
                                    </p:set>
                                    <p:animEffect transition="in" filter="blinds(horizontal)">
                                      <p:cBhvr>
                                        <p:cTn id="32" dur="500"/>
                                        <p:tgtEl>
                                          <p:spTgt spid="158730"/>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58731"/>
                                        </p:tgtEl>
                                        <p:attrNameLst>
                                          <p:attrName>style.visibility</p:attrName>
                                        </p:attrNameLst>
                                      </p:cBhvr>
                                      <p:to>
                                        <p:strVal val="visible"/>
                                      </p:to>
                                    </p:set>
                                    <p:animEffect transition="in" filter="checkerboard(across)">
                                      <p:cBhvr>
                                        <p:cTn id="37" dur="500"/>
                                        <p:tgtEl>
                                          <p:spTgt spid="158731"/>
                                        </p:tgtEl>
                                      </p:cBhvr>
                                    </p:animEffect>
                                  </p:childTnLst>
                                </p:cTn>
                              </p:par>
                            </p:childTnLst>
                          </p:cTn>
                        </p:par>
                      </p:childTnLst>
                    </p:cTn>
                  </p:par>
                  <p:par>
                    <p:cTn id="38" fill="hold">
                      <p:stCondLst>
                        <p:cond delay="indefinite"/>
                      </p:stCondLst>
                      <p:childTnLst>
                        <p:par>
                          <p:cTn id="39" fill="hold">
                            <p:stCondLst>
                              <p:cond delay="0"/>
                            </p:stCondLst>
                            <p:childTnLst>
                              <p:par>
                                <p:cTn id="40" presetID="27" presetClass="entr" presetSubtype="0" fill="hold" grpId="0" nodeType="clickEffect">
                                  <p:stCondLst>
                                    <p:cond delay="0"/>
                                  </p:stCondLst>
                                  <p:iterate type="lt">
                                    <p:tmPct val="50000"/>
                                  </p:iterate>
                                  <p:childTnLst>
                                    <p:set>
                                      <p:cBhvr>
                                        <p:cTn id="41" dur="1" fill="hold">
                                          <p:stCondLst>
                                            <p:cond delay="0"/>
                                          </p:stCondLst>
                                        </p:cTn>
                                        <p:tgtEl>
                                          <p:spTgt spid="158732"/>
                                        </p:tgtEl>
                                        <p:attrNameLst>
                                          <p:attrName>style.visibility</p:attrName>
                                        </p:attrNameLst>
                                      </p:cBhvr>
                                      <p:to>
                                        <p:strVal val="visible"/>
                                      </p:to>
                                    </p:set>
                                    <p:anim calcmode="discrete" valueType="clr">
                                      <p:cBhvr override="childStyle">
                                        <p:cTn id="42" dur="80"/>
                                        <p:tgtEl>
                                          <p:spTgt spid="158732"/>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158732"/>
                                        </p:tgtEl>
                                        <p:attrNameLst>
                                          <p:attrName>fillcolor</p:attrName>
                                        </p:attrNameLst>
                                      </p:cBhvr>
                                      <p:tavLst>
                                        <p:tav tm="0">
                                          <p:val>
                                            <p:clrVal>
                                              <a:schemeClr val="accent2"/>
                                            </p:clrVal>
                                          </p:val>
                                        </p:tav>
                                        <p:tav tm="50000">
                                          <p:val>
                                            <p:clrVal>
                                              <a:schemeClr val="hlink"/>
                                            </p:clrVal>
                                          </p:val>
                                        </p:tav>
                                      </p:tavLst>
                                    </p:anim>
                                    <p:set>
                                      <p:cBhvr>
                                        <p:cTn id="44" dur="80"/>
                                        <p:tgtEl>
                                          <p:spTgt spid="15873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5" grpId="0"/>
      <p:bldP spid="158727" grpId="0"/>
      <p:bldP spid="158729" grpId="0"/>
      <p:bldP spid="158731" grpId="0"/>
      <p:bldP spid="15873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6" name="Rectangle 4"/>
          <p:cNvSpPr>
            <a:spLocks noChangeArrowheads="1"/>
          </p:cNvSpPr>
          <p:nvPr/>
        </p:nvSpPr>
        <p:spPr bwMode="auto">
          <a:xfrm>
            <a:off x="446088" y="549275"/>
            <a:ext cx="82296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3200" b="1">
                <a:solidFill>
                  <a:srgbClr val="FF0000"/>
                </a:solidFill>
              </a:rPr>
              <a:t>4.  </a:t>
            </a:r>
            <a:r>
              <a:rPr lang="zh-CN" altLang="en-US" sz="3200" b="1">
                <a:solidFill>
                  <a:srgbClr val="FF0000"/>
                </a:solidFill>
              </a:rPr>
              <a:t>熟练掌握简谐波的干涉条件，干涉加强、减弱的条件</a:t>
            </a:r>
            <a:endParaRPr lang="zh-CN" altLang="en-US" sz="3200" b="1">
              <a:solidFill>
                <a:srgbClr val="FF0000"/>
              </a:solidFill>
            </a:endParaRPr>
          </a:p>
          <a:p>
            <a:pPr eaLnBrk="1" hangingPunct="1">
              <a:spcBef>
                <a:spcPct val="20000"/>
              </a:spcBef>
            </a:pPr>
            <a:endParaRPr lang="en-US" altLang="zh-CN" b="1">
              <a:solidFill>
                <a:srgbClr val="FF0000"/>
              </a:solidFill>
            </a:endParaRPr>
          </a:p>
        </p:txBody>
      </p:sp>
      <p:sp>
        <p:nvSpPr>
          <p:cNvPr id="151557" name="Text Box 5"/>
          <p:cNvSpPr txBox="1">
            <a:spLocks noChangeArrowheads="1"/>
          </p:cNvSpPr>
          <p:nvPr/>
        </p:nvSpPr>
        <p:spPr bwMode="auto">
          <a:xfrm>
            <a:off x="971550" y="1916113"/>
            <a:ext cx="2808288"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pPr>
            <a:r>
              <a:rPr lang="zh-CN" altLang="en-US" b="1">
                <a:solidFill>
                  <a:srgbClr val="0000FF"/>
                </a:solidFill>
              </a:rPr>
              <a:t>波的相干条件：</a:t>
            </a:r>
            <a:endParaRPr lang="zh-CN" altLang="en-US" b="1"/>
          </a:p>
        </p:txBody>
      </p:sp>
      <p:sp>
        <p:nvSpPr>
          <p:cNvPr id="151558" name="Text Box 6"/>
          <p:cNvSpPr txBox="1">
            <a:spLocks noChangeArrowheads="1"/>
          </p:cNvSpPr>
          <p:nvPr/>
        </p:nvSpPr>
        <p:spPr bwMode="auto">
          <a:xfrm>
            <a:off x="971550" y="2493963"/>
            <a:ext cx="4824413"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pPr>
            <a:r>
              <a:rPr lang="zh-CN" altLang="en-US" sz="2800" b="1">
                <a:solidFill>
                  <a:srgbClr val="0000FF"/>
                </a:solidFill>
              </a:rPr>
              <a:t>干涉加强或减弱的条件：</a:t>
            </a:r>
            <a:endParaRPr lang="zh-CN" altLang="en-US" sz="2800" b="1">
              <a:solidFill>
                <a:srgbClr val="0000FF"/>
              </a:solidFill>
            </a:endParaRPr>
          </a:p>
        </p:txBody>
      </p:sp>
      <p:graphicFrame>
        <p:nvGraphicFramePr>
          <p:cNvPr id="151559" name="Object 7"/>
          <p:cNvGraphicFramePr>
            <a:graphicFrameLocks noChangeAspect="1"/>
          </p:cNvGraphicFramePr>
          <p:nvPr/>
        </p:nvGraphicFramePr>
        <p:xfrm>
          <a:off x="755650" y="4594225"/>
          <a:ext cx="7993063" cy="1139825"/>
        </p:xfrm>
        <a:graphic>
          <a:graphicData uri="http://schemas.openxmlformats.org/presentationml/2006/ole">
            <mc:AlternateContent xmlns:mc="http://schemas.openxmlformats.org/markup-compatibility/2006">
              <mc:Choice xmlns:v="urn:schemas-microsoft-com:vml" Requires="v">
                <p:oleObj spid="_x0000_s23630" name="Equation" r:id="rId1" imgW="4114800" imgH="591185" progId="Equation.DSMT4">
                  <p:embed/>
                </p:oleObj>
              </mc:Choice>
              <mc:Fallback>
                <p:oleObj name="Equation" r:id="rId1" imgW="4114800" imgH="591185" progId="Equation.DSMT4">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4594225"/>
                        <a:ext cx="7993063" cy="1139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1560" name="Object 8"/>
          <p:cNvGraphicFramePr>
            <a:graphicFrameLocks noChangeAspect="1"/>
          </p:cNvGraphicFramePr>
          <p:nvPr/>
        </p:nvGraphicFramePr>
        <p:xfrm>
          <a:off x="2339975" y="3297238"/>
          <a:ext cx="4127500" cy="995362"/>
        </p:xfrm>
        <a:graphic>
          <a:graphicData uri="http://schemas.openxmlformats.org/presentationml/2006/ole">
            <mc:AlternateContent xmlns:mc="http://schemas.openxmlformats.org/markup-compatibility/2006">
              <mc:Choice xmlns:v="urn:schemas-microsoft-com:vml" Requires="v">
                <p:oleObj spid="_x0000_s23631" name="Equation" r:id="rId3" imgW="1884680" imgH="457200" progId="Equation.DSMT4">
                  <p:embed/>
                </p:oleObj>
              </mc:Choice>
              <mc:Fallback>
                <p:oleObj name="Equation" r:id="rId3" imgW="1884680" imgH="4572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3297238"/>
                        <a:ext cx="4127500" cy="995362"/>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1561" name="Text Box 9"/>
          <p:cNvSpPr txBox="1">
            <a:spLocks noChangeArrowheads="1"/>
          </p:cNvSpPr>
          <p:nvPr/>
        </p:nvSpPr>
        <p:spPr bwMode="auto">
          <a:xfrm>
            <a:off x="4572000" y="2047875"/>
            <a:ext cx="2376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振动方向相同；</a:t>
            </a:r>
            <a:endParaRPr lang="zh-CN" altLang="en-US" b="1"/>
          </a:p>
        </p:txBody>
      </p:sp>
      <p:sp>
        <p:nvSpPr>
          <p:cNvPr id="151563" name="Text Box 11"/>
          <p:cNvSpPr txBox="1">
            <a:spLocks noChangeArrowheads="1"/>
          </p:cNvSpPr>
          <p:nvPr/>
        </p:nvSpPr>
        <p:spPr bwMode="auto">
          <a:xfrm>
            <a:off x="6659563" y="2047875"/>
            <a:ext cx="2089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相位差恒定</a:t>
            </a:r>
            <a:endParaRPr lang="zh-CN" altLang="en-US" b="1"/>
          </a:p>
        </p:txBody>
      </p:sp>
      <p:sp>
        <p:nvSpPr>
          <p:cNvPr id="151564" name="Text Box 12"/>
          <p:cNvSpPr txBox="1">
            <a:spLocks noChangeArrowheads="1"/>
          </p:cNvSpPr>
          <p:nvPr/>
        </p:nvSpPr>
        <p:spPr bwMode="auto">
          <a:xfrm>
            <a:off x="3035300" y="2036763"/>
            <a:ext cx="223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频率相同；</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51557"/>
                                        </p:tgtEl>
                                        <p:attrNameLst>
                                          <p:attrName>style.visibility</p:attrName>
                                        </p:attrNameLst>
                                      </p:cBhvr>
                                      <p:to>
                                        <p:strVal val="visible"/>
                                      </p:to>
                                    </p:set>
                                    <p:anim calcmode="discrete" valueType="clr">
                                      <p:cBhvr override="childStyle">
                                        <p:cTn id="7" dur="80"/>
                                        <p:tgtEl>
                                          <p:spTgt spid="15155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51557"/>
                                        </p:tgtEl>
                                        <p:attrNameLst>
                                          <p:attrName>fillcolor</p:attrName>
                                        </p:attrNameLst>
                                      </p:cBhvr>
                                      <p:tavLst>
                                        <p:tav tm="0">
                                          <p:val>
                                            <p:clrVal>
                                              <a:schemeClr val="accent2"/>
                                            </p:clrVal>
                                          </p:val>
                                        </p:tav>
                                        <p:tav tm="50000">
                                          <p:val>
                                            <p:clrVal>
                                              <a:schemeClr val="hlink"/>
                                            </p:clrVal>
                                          </p:val>
                                        </p:tav>
                                      </p:tavLst>
                                    </p:anim>
                                    <p:set>
                                      <p:cBhvr>
                                        <p:cTn id="9" dur="80"/>
                                        <p:tgtEl>
                                          <p:spTgt spid="15155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151564"/>
                                        </p:tgtEl>
                                        <p:attrNameLst>
                                          <p:attrName>style.visibility</p:attrName>
                                        </p:attrNameLst>
                                      </p:cBhvr>
                                      <p:to>
                                        <p:strVal val="visible"/>
                                      </p:to>
                                    </p:set>
                                    <p:anim calcmode="discrete" valueType="clr">
                                      <p:cBhvr override="childStyle">
                                        <p:cTn id="14" dur="80"/>
                                        <p:tgtEl>
                                          <p:spTgt spid="151564"/>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51564"/>
                                        </p:tgtEl>
                                        <p:attrNameLst>
                                          <p:attrName>fillcolor</p:attrName>
                                        </p:attrNameLst>
                                      </p:cBhvr>
                                      <p:tavLst>
                                        <p:tav tm="0">
                                          <p:val>
                                            <p:clrVal>
                                              <a:schemeClr val="accent2"/>
                                            </p:clrVal>
                                          </p:val>
                                        </p:tav>
                                        <p:tav tm="50000">
                                          <p:val>
                                            <p:clrVal>
                                              <a:schemeClr val="hlink"/>
                                            </p:clrVal>
                                          </p:val>
                                        </p:tav>
                                      </p:tavLst>
                                    </p:anim>
                                    <p:set>
                                      <p:cBhvr>
                                        <p:cTn id="16" dur="80"/>
                                        <p:tgtEl>
                                          <p:spTgt spid="151564"/>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151561"/>
                                        </p:tgtEl>
                                        <p:attrNameLst>
                                          <p:attrName>style.visibility</p:attrName>
                                        </p:attrNameLst>
                                      </p:cBhvr>
                                      <p:to>
                                        <p:strVal val="visible"/>
                                      </p:to>
                                    </p:set>
                                    <p:anim calcmode="discrete" valueType="clr">
                                      <p:cBhvr override="childStyle">
                                        <p:cTn id="21" dur="80"/>
                                        <p:tgtEl>
                                          <p:spTgt spid="151561"/>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51561"/>
                                        </p:tgtEl>
                                        <p:attrNameLst>
                                          <p:attrName>fillcolor</p:attrName>
                                        </p:attrNameLst>
                                      </p:cBhvr>
                                      <p:tavLst>
                                        <p:tav tm="0">
                                          <p:val>
                                            <p:clrVal>
                                              <a:schemeClr val="accent2"/>
                                            </p:clrVal>
                                          </p:val>
                                        </p:tav>
                                        <p:tav tm="50000">
                                          <p:val>
                                            <p:clrVal>
                                              <a:schemeClr val="hlink"/>
                                            </p:clrVal>
                                          </p:val>
                                        </p:tav>
                                      </p:tavLst>
                                    </p:anim>
                                    <p:set>
                                      <p:cBhvr>
                                        <p:cTn id="23" dur="80"/>
                                        <p:tgtEl>
                                          <p:spTgt spid="151561"/>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151563"/>
                                        </p:tgtEl>
                                        <p:attrNameLst>
                                          <p:attrName>style.visibility</p:attrName>
                                        </p:attrNameLst>
                                      </p:cBhvr>
                                      <p:to>
                                        <p:strVal val="visible"/>
                                      </p:to>
                                    </p:set>
                                    <p:anim calcmode="discrete" valueType="clr">
                                      <p:cBhvr override="childStyle">
                                        <p:cTn id="28" dur="80"/>
                                        <p:tgtEl>
                                          <p:spTgt spid="151563"/>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151563"/>
                                        </p:tgtEl>
                                        <p:attrNameLst>
                                          <p:attrName>fillcolor</p:attrName>
                                        </p:attrNameLst>
                                      </p:cBhvr>
                                      <p:tavLst>
                                        <p:tav tm="0">
                                          <p:val>
                                            <p:clrVal>
                                              <a:schemeClr val="accent2"/>
                                            </p:clrVal>
                                          </p:val>
                                        </p:tav>
                                        <p:tav tm="50000">
                                          <p:val>
                                            <p:clrVal>
                                              <a:schemeClr val="hlink"/>
                                            </p:clrVal>
                                          </p:val>
                                        </p:tav>
                                      </p:tavLst>
                                    </p:anim>
                                    <p:set>
                                      <p:cBhvr>
                                        <p:cTn id="30" dur="80"/>
                                        <p:tgtEl>
                                          <p:spTgt spid="151563"/>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151558"/>
                                        </p:tgtEl>
                                        <p:attrNameLst>
                                          <p:attrName>style.visibility</p:attrName>
                                        </p:attrNameLst>
                                      </p:cBhvr>
                                      <p:to>
                                        <p:strVal val="visible"/>
                                      </p:to>
                                    </p:set>
                                    <p:anim calcmode="discrete" valueType="clr">
                                      <p:cBhvr override="childStyle">
                                        <p:cTn id="35" dur="80"/>
                                        <p:tgtEl>
                                          <p:spTgt spid="151558"/>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151558"/>
                                        </p:tgtEl>
                                        <p:attrNameLst>
                                          <p:attrName>fillcolor</p:attrName>
                                        </p:attrNameLst>
                                      </p:cBhvr>
                                      <p:tavLst>
                                        <p:tav tm="0">
                                          <p:val>
                                            <p:clrVal>
                                              <a:schemeClr val="accent2"/>
                                            </p:clrVal>
                                          </p:val>
                                        </p:tav>
                                        <p:tav tm="50000">
                                          <p:val>
                                            <p:clrVal>
                                              <a:schemeClr val="hlink"/>
                                            </p:clrVal>
                                          </p:val>
                                        </p:tav>
                                      </p:tavLst>
                                    </p:anim>
                                    <p:set>
                                      <p:cBhvr>
                                        <p:cTn id="37" dur="80"/>
                                        <p:tgtEl>
                                          <p:spTgt spid="151558"/>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51560"/>
                                        </p:tgtEl>
                                        <p:attrNameLst>
                                          <p:attrName>style.visibility</p:attrName>
                                        </p:attrNameLst>
                                      </p:cBhvr>
                                      <p:to>
                                        <p:strVal val="visible"/>
                                      </p:to>
                                    </p:set>
                                    <p:animEffect transition="in" filter="blinds(horizontal)">
                                      <p:cBhvr>
                                        <p:cTn id="42" dur="500"/>
                                        <p:tgtEl>
                                          <p:spTgt spid="15156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51559"/>
                                        </p:tgtEl>
                                        <p:attrNameLst>
                                          <p:attrName>style.visibility</p:attrName>
                                        </p:attrNameLst>
                                      </p:cBhvr>
                                      <p:to>
                                        <p:strVal val="visible"/>
                                      </p:to>
                                    </p:set>
                                    <p:animEffect transition="in" filter="blinds(horizontal)">
                                      <p:cBhvr>
                                        <p:cTn id="47" dur="500"/>
                                        <p:tgtEl>
                                          <p:spTgt spid="151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7" grpId="0"/>
      <p:bldP spid="151558" grpId="0"/>
      <p:bldP spid="151561" grpId="0"/>
      <p:bldP spid="151563" grpId="0"/>
      <p:bldP spid="15156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0" name="Rectangle 4"/>
          <p:cNvSpPr>
            <a:spLocks noChangeArrowheads="1"/>
          </p:cNvSpPr>
          <p:nvPr/>
        </p:nvSpPr>
        <p:spPr bwMode="auto">
          <a:xfrm>
            <a:off x="446088" y="549275"/>
            <a:ext cx="82296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3200" b="1">
                <a:solidFill>
                  <a:srgbClr val="FF0000"/>
                </a:solidFill>
              </a:rPr>
              <a:t>5.  </a:t>
            </a:r>
            <a:r>
              <a:rPr lang="zh-CN" altLang="en-US" sz="3200" b="1">
                <a:solidFill>
                  <a:srgbClr val="FF0000"/>
                </a:solidFill>
              </a:rPr>
              <a:t>理解驻波的形成，并掌握驻波的特点</a:t>
            </a:r>
            <a:endParaRPr lang="zh-CN" altLang="en-US" sz="3200" b="1">
              <a:solidFill>
                <a:srgbClr val="FF0000"/>
              </a:solidFill>
            </a:endParaRPr>
          </a:p>
          <a:p>
            <a:pPr eaLnBrk="1" hangingPunct="1">
              <a:spcBef>
                <a:spcPct val="20000"/>
              </a:spcBef>
            </a:pPr>
            <a:endParaRPr lang="en-US" altLang="zh-CN" b="1">
              <a:solidFill>
                <a:srgbClr val="FF0000"/>
              </a:solidFill>
            </a:endParaRPr>
          </a:p>
        </p:txBody>
      </p:sp>
      <p:sp>
        <p:nvSpPr>
          <p:cNvPr id="152581" name="Text Box 5"/>
          <p:cNvSpPr txBox="1">
            <a:spLocks noChangeArrowheads="1"/>
          </p:cNvSpPr>
          <p:nvPr/>
        </p:nvSpPr>
        <p:spPr bwMode="auto">
          <a:xfrm>
            <a:off x="971550" y="1092200"/>
            <a:ext cx="7272338"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pPr>
            <a:r>
              <a:rPr lang="zh-CN" altLang="en-US" b="1"/>
              <a:t>两列频率、振幅和振动方向都相同而</a:t>
            </a:r>
            <a:r>
              <a:rPr lang="zh-CN" altLang="en-US" b="1">
                <a:solidFill>
                  <a:srgbClr val="0000FF"/>
                </a:solidFill>
              </a:rPr>
              <a:t>传播方向相反</a:t>
            </a:r>
            <a:r>
              <a:rPr lang="zh-CN" altLang="en-US" b="1"/>
              <a:t>的简谐波叠加形成驻波，其表达式为</a:t>
            </a:r>
            <a:endParaRPr lang="zh-CN" altLang="en-US" b="1"/>
          </a:p>
        </p:txBody>
      </p:sp>
      <p:graphicFrame>
        <p:nvGraphicFramePr>
          <p:cNvPr id="152582" name="Object 6"/>
          <p:cNvGraphicFramePr>
            <a:graphicFrameLocks noChangeAspect="1"/>
          </p:cNvGraphicFramePr>
          <p:nvPr/>
        </p:nvGraphicFramePr>
        <p:xfrm>
          <a:off x="1331913" y="2146300"/>
          <a:ext cx="3575050" cy="995363"/>
        </p:xfrm>
        <a:graphic>
          <a:graphicData uri="http://schemas.openxmlformats.org/presentationml/2006/ole">
            <mc:AlternateContent xmlns:mc="http://schemas.openxmlformats.org/markup-compatibility/2006">
              <mc:Choice xmlns:v="urn:schemas-microsoft-com:vml" Requires="v">
                <p:oleObj spid="_x0000_s24763" name="Equation" r:id="rId1" imgW="1638935" imgH="457200" progId="Equation.DSMT4">
                  <p:embed/>
                </p:oleObj>
              </mc:Choice>
              <mc:Fallback>
                <p:oleObj name="Equation" r:id="rId1" imgW="1638935" imgH="457200" progId="Equation.DSMT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2146300"/>
                        <a:ext cx="3575050" cy="995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2583" name="Object 7"/>
          <p:cNvGraphicFramePr>
            <a:graphicFrameLocks noChangeAspect="1"/>
          </p:cNvGraphicFramePr>
          <p:nvPr/>
        </p:nvGraphicFramePr>
        <p:xfrm>
          <a:off x="2195513" y="3948113"/>
          <a:ext cx="4678362" cy="995362"/>
        </p:xfrm>
        <a:graphic>
          <a:graphicData uri="http://schemas.openxmlformats.org/presentationml/2006/ole">
            <mc:AlternateContent xmlns:mc="http://schemas.openxmlformats.org/markup-compatibility/2006">
              <mc:Choice xmlns:v="urn:schemas-microsoft-com:vml" Requires="v">
                <p:oleObj spid="_x0000_s24764" name="Equation" r:id="rId3" imgW="2141220" imgH="457200" progId="Equation.DSMT4">
                  <p:embed/>
                </p:oleObj>
              </mc:Choice>
              <mc:Fallback>
                <p:oleObj name="Equation" r:id="rId3" imgW="2141220" imgH="457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3948113"/>
                        <a:ext cx="4678362" cy="995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2584" name="Object 8"/>
          <p:cNvGraphicFramePr>
            <a:graphicFrameLocks noChangeAspect="1"/>
          </p:cNvGraphicFramePr>
          <p:nvPr/>
        </p:nvGraphicFramePr>
        <p:xfrm>
          <a:off x="2411413" y="5732463"/>
          <a:ext cx="3703637" cy="995362"/>
        </p:xfrm>
        <a:graphic>
          <a:graphicData uri="http://schemas.openxmlformats.org/presentationml/2006/ole">
            <mc:AlternateContent xmlns:mc="http://schemas.openxmlformats.org/markup-compatibility/2006">
              <mc:Choice xmlns:v="urn:schemas-microsoft-com:vml" Requires="v">
                <p:oleObj spid="_x0000_s24765" name="Equation" r:id="rId5" imgW="1694815" imgH="457200" progId="Equation.DSMT4">
                  <p:embed/>
                </p:oleObj>
              </mc:Choice>
              <mc:Fallback>
                <p:oleObj name="Equation" r:id="rId5" imgW="1694815" imgH="4572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5732463"/>
                        <a:ext cx="3703637" cy="995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2585" name="Text Box 9"/>
          <p:cNvSpPr txBox="1">
            <a:spLocks noChangeArrowheads="1"/>
          </p:cNvSpPr>
          <p:nvPr/>
        </p:nvSpPr>
        <p:spPr bwMode="auto">
          <a:xfrm>
            <a:off x="1116013" y="3314700"/>
            <a:ext cx="1368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00FF"/>
                </a:solidFill>
              </a:rPr>
              <a:t>波节：</a:t>
            </a:r>
            <a:endParaRPr lang="zh-CN" altLang="en-US" sz="2800" b="1">
              <a:solidFill>
                <a:srgbClr val="0000FF"/>
              </a:solidFill>
            </a:endParaRPr>
          </a:p>
        </p:txBody>
      </p:sp>
      <p:sp>
        <p:nvSpPr>
          <p:cNvPr id="152586" name="Text Box 10"/>
          <p:cNvSpPr txBox="1">
            <a:spLocks noChangeArrowheads="1"/>
          </p:cNvSpPr>
          <p:nvPr/>
        </p:nvSpPr>
        <p:spPr bwMode="auto">
          <a:xfrm>
            <a:off x="1116013" y="5170488"/>
            <a:ext cx="1368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00FF"/>
                </a:solidFill>
              </a:rPr>
              <a:t>波腹：</a:t>
            </a:r>
            <a:endParaRPr lang="zh-CN" altLang="en-US" sz="2800" b="1">
              <a:solidFill>
                <a:srgbClr val="0000FF"/>
              </a:solidFill>
            </a:endParaRPr>
          </a:p>
        </p:txBody>
      </p:sp>
      <p:graphicFrame>
        <p:nvGraphicFramePr>
          <p:cNvPr id="152587" name="Object 11"/>
          <p:cNvGraphicFramePr>
            <a:graphicFrameLocks noChangeAspect="1"/>
          </p:cNvGraphicFramePr>
          <p:nvPr/>
        </p:nvGraphicFramePr>
        <p:xfrm>
          <a:off x="2268538" y="3111500"/>
          <a:ext cx="3930650" cy="995363"/>
        </p:xfrm>
        <a:graphic>
          <a:graphicData uri="http://schemas.openxmlformats.org/presentationml/2006/ole">
            <mc:AlternateContent xmlns:mc="http://schemas.openxmlformats.org/markup-compatibility/2006">
              <mc:Choice xmlns:v="urn:schemas-microsoft-com:vml" Requires="v">
                <p:oleObj spid="_x0000_s24766" name="Equation" r:id="rId7" imgW="1795145" imgH="457200" progId="Equation.DSMT4">
                  <p:embed/>
                </p:oleObj>
              </mc:Choice>
              <mc:Fallback>
                <p:oleObj name="Equation" r:id="rId7" imgW="1795145" imgH="4572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8538" y="3111500"/>
                        <a:ext cx="3930650" cy="995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2588" name="Object 12"/>
          <p:cNvGraphicFramePr>
            <a:graphicFrameLocks noChangeAspect="1"/>
          </p:cNvGraphicFramePr>
          <p:nvPr/>
        </p:nvGraphicFramePr>
        <p:xfrm>
          <a:off x="2217738" y="4954588"/>
          <a:ext cx="4613275" cy="995362"/>
        </p:xfrm>
        <a:graphic>
          <a:graphicData uri="http://schemas.openxmlformats.org/presentationml/2006/ole">
            <mc:AlternateContent xmlns:mc="http://schemas.openxmlformats.org/markup-compatibility/2006">
              <mc:Choice xmlns:v="urn:schemas-microsoft-com:vml" Requires="v">
                <p:oleObj spid="_x0000_s24767" name="Equation" r:id="rId9" imgW="2107565" imgH="457200" progId="Equation.DSMT4">
                  <p:embed/>
                </p:oleObj>
              </mc:Choice>
              <mc:Fallback>
                <p:oleObj name="Equation" r:id="rId9" imgW="2107565" imgH="4572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17738" y="4954588"/>
                        <a:ext cx="4613275" cy="995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2589" name="Rectangle 13"/>
          <p:cNvSpPr>
            <a:spLocks noChangeArrowheads="1"/>
          </p:cNvSpPr>
          <p:nvPr/>
        </p:nvSpPr>
        <p:spPr bwMode="auto">
          <a:xfrm>
            <a:off x="2008188" y="2205038"/>
            <a:ext cx="1871662" cy="936625"/>
          </a:xfrm>
          <a:prstGeom prst="rect">
            <a:avLst/>
          </a:prstGeom>
          <a:noFill/>
          <a:ln w="25400">
            <a:solidFill>
              <a:srgbClr val="0000FF"/>
            </a:solidFill>
            <a:miter lim="800000"/>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4588" name="组合 11"/>
          <p:cNvGrpSpPr/>
          <p:nvPr/>
        </p:nvGrpSpPr>
        <p:grpSpPr bwMode="auto">
          <a:xfrm>
            <a:off x="5508625" y="1846263"/>
            <a:ext cx="3384550" cy="1371600"/>
            <a:chOff x="5562600" y="4038600"/>
            <a:chExt cx="3384550" cy="1371600"/>
          </a:xfrm>
        </p:grpSpPr>
        <p:sp>
          <p:nvSpPr>
            <p:cNvPr id="24589" name="AutoShape 21"/>
            <p:cNvSpPr/>
            <p:nvPr/>
          </p:nvSpPr>
          <p:spPr bwMode="auto">
            <a:xfrm>
              <a:off x="5562600" y="4191000"/>
              <a:ext cx="457200" cy="1219200"/>
            </a:xfrm>
            <a:prstGeom prst="leftBrace">
              <a:avLst>
                <a:gd name="adj1" fmla="val 15481"/>
                <a:gd name="adj2" fmla="val 74870"/>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590" name="Text Box 22"/>
            <p:cNvSpPr txBox="1">
              <a:spLocks noChangeArrowheads="1"/>
            </p:cNvSpPr>
            <p:nvPr/>
          </p:nvSpPr>
          <p:spPr bwMode="auto">
            <a:xfrm>
              <a:off x="6019800" y="403860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3300"/>
                  </a:solidFill>
                </a:rPr>
                <a:t>相干波</a:t>
              </a:r>
              <a:endParaRPr lang="zh-CN" altLang="en-US">
                <a:solidFill>
                  <a:srgbClr val="FF3300"/>
                </a:solidFill>
              </a:endParaRPr>
            </a:p>
          </p:txBody>
        </p:sp>
        <p:sp>
          <p:nvSpPr>
            <p:cNvPr id="24591" name="Text Box 23"/>
            <p:cNvSpPr txBox="1">
              <a:spLocks noChangeArrowheads="1"/>
            </p:cNvSpPr>
            <p:nvPr/>
          </p:nvSpPr>
          <p:spPr bwMode="auto">
            <a:xfrm>
              <a:off x="6019800" y="4495800"/>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dirty="0">
                  <a:solidFill>
                    <a:srgbClr val="FF3300"/>
                  </a:solidFill>
                </a:rPr>
                <a:t>振幅相同、波速相同</a:t>
              </a:r>
              <a:endParaRPr lang="zh-CN" altLang="en-US" dirty="0">
                <a:solidFill>
                  <a:srgbClr val="FF3300"/>
                </a:solidFill>
              </a:endParaRPr>
            </a:p>
          </p:txBody>
        </p:sp>
        <p:sp>
          <p:nvSpPr>
            <p:cNvPr id="24592" name="Text Box 24"/>
            <p:cNvSpPr txBox="1">
              <a:spLocks noChangeArrowheads="1"/>
            </p:cNvSpPr>
            <p:nvPr/>
          </p:nvSpPr>
          <p:spPr bwMode="auto">
            <a:xfrm>
              <a:off x="6007100" y="4953000"/>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3300"/>
                  </a:solidFill>
                </a:rPr>
                <a:t>传播方向相反</a:t>
              </a:r>
              <a:endParaRPr lang="zh-CN" altLang="en-US">
                <a:solidFill>
                  <a:srgbClr val="FF33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52581"/>
                                        </p:tgtEl>
                                        <p:attrNameLst>
                                          <p:attrName>style.visibility</p:attrName>
                                        </p:attrNameLst>
                                      </p:cBhvr>
                                      <p:to>
                                        <p:strVal val="visible"/>
                                      </p:to>
                                    </p:set>
                                    <p:anim calcmode="discrete" valueType="clr">
                                      <p:cBhvr override="childStyle">
                                        <p:cTn id="7" dur="80"/>
                                        <p:tgtEl>
                                          <p:spTgt spid="152581"/>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52581"/>
                                        </p:tgtEl>
                                        <p:attrNameLst>
                                          <p:attrName>fillcolor</p:attrName>
                                        </p:attrNameLst>
                                      </p:cBhvr>
                                      <p:tavLst>
                                        <p:tav tm="0">
                                          <p:val>
                                            <p:clrVal>
                                              <a:schemeClr val="accent2"/>
                                            </p:clrVal>
                                          </p:val>
                                        </p:tav>
                                        <p:tav tm="50000">
                                          <p:val>
                                            <p:clrVal>
                                              <a:schemeClr val="hlink"/>
                                            </p:clrVal>
                                          </p:val>
                                        </p:tav>
                                      </p:tavLst>
                                    </p:anim>
                                    <p:set>
                                      <p:cBhvr>
                                        <p:cTn id="9" dur="80"/>
                                        <p:tgtEl>
                                          <p:spTgt spid="152581"/>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152582"/>
                                        </p:tgtEl>
                                        <p:attrNameLst>
                                          <p:attrName>style.visibility</p:attrName>
                                        </p:attrNameLst>
                                      </p:cBhvr>
                                      <p:to>
                                        <p:strVal val="visible"/>
                                      </p:to>
                                    </p:set>
                                    <p:animEffect transition="in" filter="blinds(horizontal)">
                                      <p:cBhvr>
                                        <p:cTn id="14" dur="500"/>
                                        <p:tgtEl>
                                          <p:spTgt spid="152582"/>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52589"/>
                                        </p:tgtEl>
                                        <p:attrNameLst>
                                          <p:attrName>style.visibility</p:attrName>
                                        </p:attrNameLst>
                                      </p:cBhvr>
                                      <p:to>
                                        <p:strVal val="visible"/>
                                      </p:to>
                                    </p:set>
                                    <p:animEffect transition="in" filter="blinds(horizontal)">
                                      <p:cBhvr>
                                        <p:cTn id="19" dur="500"/>
                                        <p:tgtEl>
                                          <p:spTgt spid="152589"/>
                                        </p:tgtEl>
                                      </p:cBhvr>
                                    </p:animEffec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grpId="0" nodeType="clickEffect">
                                  <p:stCondLst>
                                    <p:cond delay="0"/>
                                  </p:stCondLst>
                                  <p:iterate type="lt">
                                    <p:tmPct val="50000"/>
                                  </p:iterate>
                                  <p:childTnLst>
                                    <p:set>
                                      <p:cBhvr>
                                        <p:cTn id="23" dur="1" fill="hold">
                                          <p:stCondLst>
                                            <p:cond delay="0"/>
                                          </p:stCondLst>
                                        </p:cTn>
                                        <p:tgtEl>
                                          <p:spTgt spid="152585"/>
                                        </p:tgtEl>
                                        <p:attrNameLst>
                                          <p:attrName>style.visibility</p:attrName>
                                        </p:attrNameLst>
                                      </p:cBhvr>
                                      <p:to>
                                        <p:strVal val="visible"/>
                                      </p:to>
                                    </p:set>
                                    <p:anim calcmode="discrete" valueType="clr">
                                      <p:cBhvr override="childStyle">
                                        <p:cTn id="24" dur="80"/>
                                        <p:tgtEl>
                                          <p:spTgt spid="152585"/>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152585"/>
                                        </p:tgtEl>
                                        <p:attrNameLst>
                                          <p:attrName>fillcolor</p:attrName>
                                        </p:attrNameLst>
                                      </p:cBhvr>
                                      <p:tavLst>
                                        <p:tav tm="0">
                                          <p:val>
                                            <p:clrVal>
                                              <a:schemeClr val="accent2"/>
                                            </p:clrVal>
                                          </p:val>
                                        </p:tav>
                                        <p:tav tm="50000">
                                          <p:val>
                                            <p:clrVal>
                                              <a:schemeClr val="hlink"/>
                                            </p:clrVal>
                                          </p:val>
                                        </p:tav>
                                      </p:tavLst>
                                    </p:anim>
                                    <p:set>
                                      <p:cBhvr>
                                        <p:cTn id="26" dur="80"/>
                                        <p:tgtEl>
                                          <p:spTgt spid="152585"/>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52587"/>
                                        </p:tgtEl>
                                        <p:attrNameLst>
                                          <p:attrName>style.visibility</p:attrName>
                                        </p:attrNameLst>
                                      </p:cBhvr>
                                      <p:to>
                                        <p:strVal val="visible"/>
                                      </p:to>
                                    </p:set>
                                    <p:animEffect transition="in" filter="blinds(horizontal)">
                                      <p:cBhvr>
                                        <p:cTn id="31" dur="500"/>
                                        <p:tgtEl>
                                          <p:spTgt spid="15258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52583"/>
                                        </p:tgtEl>
                                        <p:attrNameLst>
                                          <p:attrName>style.visibility</p:attrName>
                                        </p:attrNameLst>
                                      </p:cBhvr>
                                      <p:to>
                                        <p:strVal val="visible"/>
                                      </p:to>
                                    </p:set>
                                    <p:animEffect transition="in" filter="blinds(horizontal)">
                                      <p:cBhvr>
                                        <p:cTn id="36" dur="500"/>
                                        <p:tgtEl>
                                          <p:spTgt spid="152583"/>
                                        </p:tgtEl>
                                      </p:cBhvr>
                                    </p:animEffect>
                                  </p:childTnLst>
                                </p:cTn>
                              </p:par>
                            </p:childTnLst>
                          </p:cTn>
                        </p:par>
                      </p:childTnLst>
                    </p:cTn>
                  </p:par>
                  <p:par>
                    <p:cTn id="37" fill="hold">
                      <p:stCondLst>
                        <p:cond delay="indefinite"/>
                      </p:stCondLst>
                      <p:childTnLst>
                        <p:par>
                          <p:cTn id="38" fill="hold">
                            <p:stCondLst>
                              <p:cond delay="0"/>
                            </p:stCondLst>
                            <p:childTnLst>
                              <p:par>
                                <p:cTn id="39" presetID="27" presetClass="entr" presetSubtype="0" fill="hold" grpId="0" nodeType="clickEffect">
                                  <p:stCondLst>
                                    <p:cond delay="0"/>
                                  </p:stCondLst>
                                  <p:iterate type="lt">
                                    <p:tmPct val="50000"/>
                                  </p:iterate>
                                  <p:childTnLst>
                                    <p:set>
                                      <p:cBhvr>
                                        <p:cTn id="40" dur="1" fill="hold">
                                          <p:stCondLst>
                                            <p:cond delay="0"/>
                                          </p:stCondLst>
                                        </p:cTn>
                                        <p:tgtEl>
                                          <p:spTgt spid="152586"/>
                                        </p:tgtEl>
                                        <p:attrNameLst>
                                          <p:attrName>style.visibility</p:attrName>
                                        </p:attrNameLst>
                                      </p:cBhvr>
                                      <p:to>
                                        <p:strVal val="visible"/>
                                      </p:to>
                                    </p:set>
                                    <p:anim calcmode="discrete" valueType="clr">
                                      <p:cBhvr override="childStyle">
                                        <p:cTn id="41" dur="80"/>
                                        <p:tgtEl>
                                          <p:spTgt spid="152586"/>
                                        </p:tgtEl>
                                        <p:attrNameLst>
                                          <p:attrName>style.color</p:attrName>
                                        </p:attrNameLst>
                                      </p:cBhvr>
                                      <p:tavLst>
                                        <p:tav tm="0">
                                          <p:val>
                                            <p:clrVal>
                                              <a:schemeClr val="accent2"/>
                                            </p:clrVal>
                                          </p:val>
                                        </p:tav>
                                        <p:tav tm="50000">
                                          <p:val>
                                            <p:clrVal>
                                              <a:schemeClr val="hlink"/>
                                            </p:clrVal>
                                          </p:val>
                                        </p:tav>
                                      </p:tavLst>
                                    </p:anim>
                                    <p:anim calcmode="discrete" valueType="clr">
                                      <p:cBhvr>
                                        <p:cTn id="42" dur="80"/>
                                        <p:tgtEl>
                                          <p:spTgt spid="152586"/>
                                        </p:tgtEl>
                                        <p:attrNameLst>
                                          <p:attrName>fillcolor</p:attrName>
                                        </p:attrNameLst>
                                      </p:cBhvr>
                                      <p:tavLst>
                                        <p:tav tm="0">
                                          <p:val>
                                            <p:clrVal>
                                              <a:schemeClr val="accent2"/>
                                            </p:clrVal>
                                          </p:val>
                                        </p:tav>
                                        <p:tav tm="50000">
                                          <p:val>
                                            <p:clrVal>
                                              <a:schemeClr val="hlink"/>
                                            </p:clrVal>
                                          </p:val>
                                        </p:tav>
                                      </p:tavLst>
                                    </p:anim>
                                    <p:set>
                                      <p:cBhvr>
                                        <p:cTn id="43" dur="80"/>
                                        <p:tgtEl>
                                          <p:spTgt spid="152586"/>
                                        </p:tgtEl>
                                        <p:attrNameLst>
                                          <p:attrName>fill.type</p:attrName>
                                        </p:attrNameLst>
                                      </p:cBhvr>
                                      <p:to>
                                        <p:strVal val="solid"/>
                                      </p:to>
                                    </p:se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52588"/>
                                        </p:tgtEl>
                                        <p:attrNameLst>
                                          <p:attrName>style.visibility</p:attrName>
                                        </p:attrNameLst>
                                      </p:cBhvr>
                                      <p:to>
                                        <p:strVal val="visible"/>
                                      </p:to>
                                    </p:set>
                                    <p:animEffect transition="in" filter="blinds(horizontal)">
                                      <p:cBhvr>
                                        <p:cTn id="48" dur="500"/>
                                        <p:tgtEl>
                                          <p:spTgt spid="152588"/>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52584"/>
                                        </p:tgtEl>
                                        <p:attrNameLst>
                                          <p:attrName>style.visibility</p:attrName>
                                        </p:attrNameLst>
                                      </p:cBhvr>
                                      <p:to>
                                        <p:strVal val="visible"/>
                                      </p:to>
                                    </p:set>
                                    <p:animEffect transition="in" filter="blinds(horizontal)">
                                      <p:cBhvr>
                                        <p:cTn id="53" dur="500"/>
                                        <p:tgtEl>
                                          <p:spTgt spid="1525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1" grpId="0"/>
      <p:bldP spid="152585" grpId="0"/>
      <p:bldP spid="152586" grpId="0"/>
      <p:bldP spid="15258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4" name="Text Box 4"/>
          <p:cNvSpPr txBox="1">
            <a:spLocks noChangeArrowheads="1"/>
          </p:cNvSpPr>
          <p:nvPr/>
        </p:nvSpPr>
        <p:spPr bwMode="auto">
          <a:xfrm>
            <a:off x="971550" y="836613"/>
            <a:ext cx="51133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FF0066"/>
                </a:solidFill>
              </a:rPr>
              <a:t>驻波的特点：</a:t>
            </a:r>
            <a:endParaRPr lang="zh-CN" altLang="en-US" sz="3200" b="1">
              <a:solidFill>
                <a:srgbClr val="FF0066"/>
              </a:solidFill>
            </a:endParaRPr>
          </a:p>
        </p:txBody>
      </p:sp>
      <p:sp>
        <p:nvSpPr>
          <p:cNvPr id="153605" name="Text Box 5"/>
          <p:cNvSpPr txBox="1">
            <a:spLocks noChangeArrowheads="1"/>
          </p:cNvSpPr>
          <p:nvPr/>
        </p:nvSpPr>
        <p:spPr bwMode="auto">
          <a:xfrm>
            <a:off x="1116013" y="1773238"/>
            <a:ext cx="5832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t>1. </a:t>
            </a:r>
            <a:r>
              <a:rPr lang="zh-CN" altLang="en-US" sz="2800" b="1"/>
              <a:t>相邻波腹（节）之间的距离为</a:t>
            </a:r>
            <a:r>
              <a:rPr lang="zh-CN" altLang="en-US" sz="2800" b="1">
                <a:sym typeface="Symbol" panose="05050102010706020507" pitchFamily="18" charset="2"/>
              </a:rPr>
              <a:t></a:t>
            </a:r>
            <a:r>
              <a:rPr lang="en-US" altLang="zh-CN" sz="2800" b="1">
                <a:sym typeface="Symbol" panose="05050102010706020507" pitchFamily="18" charset="2"/>
              </a:rPr>
              <a:t>/2</a:t>
            </a:r>
            <a:endParaRPr lang="en-US" altLang="zh-CN" sz="2800" b="1">
              <a:sym typeface="Symbol" panose="05050102010706020507" pitchFamily="18" charset="2"/>
            </a:endParaRPr>
          </a:p>
        </p:txBody>
      </p:sp>
      <p:sp>
        <p:nvSpPr>
          <p:cNvPr id="153606" name="Text Box 6"/>
          <p:cNvSpPr txBox="1">
            <a:spLocks noChangeArrowheads="1"/>
          </p:cNvSpPr>
          <p:nvPr/>
        </p:nvSpPr>
        <p:spPr bwMode="auto">
          <a:xfrm>
            <a:off x="1116013" y="2395538"/>
            <a:ext cx="5832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t>2. </a:t>
            </a:r>
            <a:r>
              <a:rPr lang="zh-CN" altLang="en-US" sz="2800" b="1"/>
              <a:t>一波节两侧质元具有相反的相位</a:t>
            </a:r>
            <a:endParaRPr lang="zh-CN" altLang="en-US" sz="2800" b="1">
              <a:sym typeface="Symbol" panose="05050102010706020507" pitchFamily="18" charset="2"/>
            </a:endParaRPr>
          </a:p>
        </p:txBody>
      </p:sp>
      <p:sp>
        <p:nvSpPr>
          <p:cNvPr id="153607" name="Text Box 7"/>
          <p:cNvSpPr txBox="1">
            <a:spLocks noChangeArrowheads="1"/>
          </p:cNvSpPr>
          <p:nvPr/>
        </p:nvSpPr>
        <p:spPr bwMode="auto">
          <a:xfrm>
            <a:off x="1258888" y="2924175"/>
            <a:ext cx="6769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t>3. </a:t>
            </a:r>
            <a:r>
              <a:rPr lang="zh-CN" altLang="en-US" sz="2800" b="1"/>
              <a:t>两相邻波节间的质元具有相同的相位</a:t>
            </a:r>
            <a:endParaRPr lang="zh-CN" altLang="en-US" sz="2800" b="1">
              <a:sym typeface="Symbol" panose="05050102010706020507" pitchFamily="18" charset="2"/>
            </a:endParaRPr>
          </a:p>
        </p:txBody>
      </p:sp>
      <p:sp>
        <p:nvSpPr>
          <p:cNvPr id="153608" name="Text Box 8"/>
          <p:cNvSpPr txBox="1">
            <a:spLocks noChangeArrowheads="1"/>
          </p:cNvSpPr>
          <p:nvPr/>
        </p:nvSpPr>
        <p:spPr bwMode="auto">
          <a:xfrm>
            <a:off x="1116013" y="3619500"/>
            <a:ext cx="5832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t>4. </a:t>
            </a:r>
            <a:r>
              <a:rPr lang="zh-CN" altLang="en-US" sz="2800" b="1"/>
              <a:t>驻波无能量传递</a:t>
            </a:r>
            <a:endParaRPr lang="zh-CN" altLang="en-US" sz="2800" b="1">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53605"/>
                                        </p:tgtEl>
                                        <p:attrNameLst>
                                          <p:attrName>style.visibility</p:attrName>
                                        </p:attrNameLst>
                                      </p:cBhvr>
                                      <p:to>
                                        <p:strVal val="visible"/>
                                      </p:to>
                                    </p:set>
                                    <p:anim calcmode="discrete" valueType="clr">
                                      <p:cBhvr override="childStyle">
                                        <p:cTn id="7" dur="80"/>
                                        <p:tgtEl>
                                          <p:spTgt spid="153605"/>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53605"/>
                                        </p:tgtEl>
                                        <p:attrNameLst>
                                          <p:attrName>fillcolor</p:attrName>
                                        </p:attrNameLst>
                                      </p:cBhvr>
                                      <p:tavLst>
                                        <p:tav tm="0">
                                          <p:val>
                                            <p:clrVal>
                                              <a:schemeClr val="accent2"/>
                                            </p:clrVal>
                                          </p:val>
                                        </p:tav>
                                        <p:tav tm="50000">
                                          <p:val>
                                            <p:clrVal>
                                              <a:schemeClr val="hlink"/>
                                            </p:clrVal>
                                          </p:val>
                                        </p:tav>
                                      </p:tavLst>
                                    </p:anim>
                                    <p:set>
                                      <p:cBhvr>
                                        <p:cTn id="9" dur="80"/>
                                        <p:tgtEl>
                                          <p:spTgt spid="153605"/>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153606"/>
                                        </p:tgtEl>
                                        <p:attrNameLst>
                                          <p:attrName>style.visibility</p:attrName>
                                        </p:attrNameLst>
                                      </p:cBhvr>
                                      <p:to>
                                        <p:strVal val="visible"/>
                                      </p:to>
                                    </p:set>
                                    <p:anim calcmode="discrete" valueType="clr">
                                      <p:cBhvr override="childStyle">
                                        <p:cTn id="14" dur="80"/>
                                        <p:tgtEl>
                                          <p:spTgt spid="153606"/>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53606"/>
                                        </p:tgtEl>
                                        <p:attrNameLst>
                                          <p:attrName>fillcolor</p:attrName>
                                        </p:attrNameLst>
                                      </p:cBhvr>
                                      <p:tavLst>
                                        <p:tav tm="0">
                                          <p:val>
                                            <p:clrVal>
                                              <a:schemeClr val="accent2"/>
                                            </p:clrVal>
                                          </p:val>
                                        </p:tav>
                                        <p:tav tm="50000">
                                          <p:val>
                                            <p:clrVal>
                                              <a:schemeClr val="hlink"/>
                                            </p:clrVal>
                                          </p:val>
                                        </p:tav>
                                      </p:tavLst>
                                    </p:anim>
                                    <p:set>
                                      <p:cBhvr>
                                        <p:cTn id="16" dur="80"/>
                                        <p:tgtEl>
                                          <p:spTgt spid="153606"/>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153607"/>
                                        </p:tgtEl>
                                        <p:attrNameLst>
                                          <p:attrName>style.visibility</p:attrName>
                                        </p:attrNameLst>
                                      </p:cBhvr>
                                      <p:to>
                                        <p:strVal val="visible"/>
                                      </p:to>
                                    </p:set>
                                    <p:anim calcmode="discrete" valueType="clr">
                                      <p:cBhvr override="childStyle">
                                        <p:cTn id="21" dur="80"/>
                                        <p:tgtEl>
                                          <p:spTgt spid="153607"/>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53607"/>
                                        </p:tgtEl>
                                        <p:attrNameLst>
                                          <p:attrName>fillcolor</p:attrName>
                                        </p:attrNameLst>
                                      </p:cBhvr>
                                      <p:tavLst>
                                        <p:tav tm="0">
                                          <p:val>
                                            <p:clrVal>
                                              <a:schemeClr val="accent2"/>
                                            </p:clrVal>
                                          </p:val>
                                        </p:tav>
                                        <p:tav tm="50000">
                                          <p:val>
                                            <p:clrVal>
                                              <a:schemeClr val="hlink"/>
                                            </p:clrVal>
                                          </p:val>
                                        </p:tav>
                                      </p:tavLst>
                                    </p:anim>
                                    <p:set>
                                      <p:cBhvr>
                                        <p:cTn id="23" dur="80"/>
                                        <p:tgtEl>
                                          <p:spTgt spid="153607"/>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153608"/>
                                        </p:tgtEl>
                                        <p:attrNameLst>
                                          <p:attrName>style.visibility</p:attrName>
                                        </p:attrNameLst>
                                      </p:cBhvr>
                                      <p:to>
                                        <p:strVal val="visible"/>
                                      </p:to>
                                    </p:set>
                                    <p:anim calcmode="discrete" valueType="clr">
                                      <p:cBhvr override="childStyle">
                                        <p:cTn id="28" dur="80"/>
                                        <p:tgtEl>
                                          <p:spTgt spid="153608"/>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153608"/>
                                        </p:tgtEl>
                                        <p:attrNameLst>
                                          <p:attrName>fillcolor</p:attrName>
                                        </p:attrNameLst>
                                      </p:cBhvr>
                                      <p:tavLst>
                                        <p:tav tm="0">
                                          <p:val>
                                            <p:clrVal>
                                              <a:schemeClr val="accent2"/>
                                            </p:clrVal>
                                          </p:val>
                                        </p:tav>
                                        <p:tav tm="50000">
                                          <p:val>
                                            <p:clrVal>
                                              <a:schemeClr val="hlink"/>
                                            </p:clrVal>
                                          </p:val>
                                        </p:tav>
                                      </p:tavLst>
                                    </p:anim>
                                    <p:set>
                                      <p:cBhvr>
                                        <p:cTn id="30" dur="80"/>
                                        <p:tgtEl>
                                          <p:spTgt spid="15360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5" grpId="0"/>
      <p:bldP spid="153606" grpId="0"/>
      <p:bldP spid="153607" grpId="0"/>
      <p:bldP spid="15360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8" name="Rectangle 4"/>
          <p:cNvSpPr>
            <a:spLocks noChangeArrowheads="1"/>
          </p:cNvSpPr>
          <p:nvPr/>
        </p:nvSpPr>
        <p:spPr bwMode="auto">
          <a:xfrm>
            <a:off x="446088" y="549275"/>
            <a:ext cx="822960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3200" b="1">
                <a:solidFill>
                  <a:srgbClr val="FF0000"/>
                </a:solidFill>
              </a:rPr>
              <a:t>6.  </a:t>
            </a:r>
            <a:r>
              <a:rPr lang="zh-CN" altLang="en-US" sz="3200" b="1">
                <a:solidFill>
                  <a:srgbClr val="FF0000"/>
                </a:solidFill>
              </a:rPr>
              <a:t>掌握半波损失的概念</a:t>
            </a:r>
            <a:endParaRPr lang="zh-CN" altLang="en-US" b="1">
              <a:solidFill>
                <a:srgbClr val="FF0000"/>
              </a:solidFill>
            </a:endParaRPr>
          </a:p>
        </p:txBody>
      </p:sp>
      <p:sp>
        <p:nvSpPr>
          <p:cNvPr id="154629" name="Text Box 5"/>
          <p:cNvSpPr txBox="1">
            <a:spLocks noChangeArrowheads="1"/>
          </p:cNvSpPr>
          <p:nvPr/>
        </p:nvSpPr>
        <p:spPr bwMode="auto">
          <a:xfrm>
            <a:off x="971550" y="1052513"/>
            <a:ext cx="7632700"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marL="457200" indent="-4572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buFontTx/>
              <a:buAutoNum type="arabicPeriod"/>
            </a:pPr>
            <a:r>
              <a:rPr lang="zh-CN" altLang="en-US" sz="2800" b="1"/>
              <a:t>波从</a:t>
            </a:r>
            <a:r>
              <a:rPr lang="zh-CN" altLang="en-US" sz="2800" b="1">
                <a:solidFill>
                  <a:srgbClr val="0000FF"/>
                </a:solidFill>
              </a:rPr>
              <a:t>波疏媒质到波密</a:t>
            </a:r>
            <a:r>
              <a:rPr lang="zh-CN" altLang="en-US" sz="2800" b="1"/>
              <a:t>媒质，从波密媒质反射回来，在反射处发生了</a:t>
            </a:r>
            <a:r>
              <a:rPr lang="zh-CN" altLang="en-US" sz="2800" b="1">
                <a:sym typeface="Symbol" panose="05050102010706020507" pitchFamily="18" charset="2"/>
              </a:rPr>
              <a:t>的相位突变</a:t>
            </a:r>
            <a:endParaRPr lang="zh-CN" altLang="en-US" sz="2800" b="1">
              <a:sym typeface="Symbol" panose="05050102010706020507" pitchFamily="18" charset="2"/>
            </a:endParaRPr>
          </a:p>
        </p:txBody>
      </p:sp>
      <p:sp>
        <p:nvSpPr>
          <p:cNvPr id="154630" name="Text Box 6"/>
          <p:cNvSpPr txBox="1">
            <a:spLocks noChangeArrowheads="1"/>
          </p:cNvSpPr>
          <p:nvPr/>
        </p:nvSpPr>
        <p:spPr bwMode="auto">
          <a:xfrm>
            <a:off x="971550" y="2276475"/>
            <a:ext cx="76327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marL="457200" indent="-4572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buFontTx/>
              <a:buAutoNum type="arabicPeriod" startAt="2"/>
            </a:pPr>
            <a:r>
              <a:rPr lang="zh-CN" altLang="en-US" sz="2800" b="1"/>
              <a:t>在</a:t>
            </a:r>
            <a:r>
              <a:rPr lang="zh-CN" altLang="en-US" sz="2800" b="1">
                <a:solidFill>
                  <a:srgbClr val="0000FF"/>
                </a:solidFill>
              </a:rPr>
              <a:t>自由端无</a:t>
            </a:r>
            <a:r>
              <a:rPr lang="zh-CN" altLang="en-US" sz="2800" b="1"/>
              <a:t>相位突变，无</a:t>
            </a:r>
            <a:r>
              <a:rPr lang="zh-CN" altLang="en-US" sz="2800" b="1">
                <a:sym typeface="Symbol" panose="05050102010706020507" pitchFamily="18" charset="2"/>
              </a:rPr>
              <a:t>半波损失</a:t>
            </a:r>
            <a:endParaRPr lang="zh-CN" altLang="en-US" sz="2800" b="1">
              <a:sym typeface="Symbol" panose="05050102010706020507" pitchFamily="18" charset="2"/>
            </a:endParaRPr>
          </a:p>
        </p:txBody>
      </p:sp>
      <p:sp>
        <p:nvSpPr>
          <p:cNvPr id="154631" name="Text Box 7"/>
          <p:cNvSpPr txBox="1">
            <a:spLocks noChangeArrowheads="1"/>
          </p:cNvSpPr>
          <p:nvPr/>
        </p:nvSpPr>
        <p:spPr bwMode="auto">
          <a:xfrm>
            <a:off x="971550" y="3463925"/>
            <a:ext cx="76327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marL="457200" indent="-4572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buFontTx/>
              <a:buAutoNum type="arabicPeriod" startAt="4"/>
            </a:pPr>
            <a:r>
              <a:rPr lang="zh-CN" altLang="en-US" sz="2800" b="1"/>
              <a:t>折射无半波损失</a:t>
            </a:r>
            <a:endParaRPr lang="zh-CN" altLang="en-US" sz="2800" b="1">
              <a:sym typeface="Symbol" panose="05050102010706020507" pitchFamily="18" charset="2"/>
            </a:endParaRPr>
          </a:p>
        </p:txBody>
      </p:sp>
      <p:sp>
        <p:nvSpPr>
          <p:cNvPr id="154632" name="Rectangle 8"/>
          <p:cNvSpPr>
            <a:spLocks noChangeArrowheads="1"/>
          </p:cNvSpPr>
          <p:nvPr/>
        </p:nvSpPr>
        <p:spPr bwMode="auto">
          <a:xfrm>
            <a:off x="446088" y="4365625"/>
            <a:ext cx="40544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3200" b="1" dirty="0">
                <a:solidFill>
                  <a:srgbClr val="FF0000"/>
                </a:solidFill>
              </a:rPr>
              <a:t>7.  </a:t>
            </a:r>
            <a:r>
              <a:rPr lang="zh-CN" altLang="en-US" sz="3200" b="1" dirty="0">
                <a:solidFill>
                  <a:srgbClr val="FF0000"/>
                </a:solidFill>
              </a:rPr>
              <a:t>声强级公式</a:t>
            </a:r>
            <a:r>
              <a:rPr lang="en-US" altLang="zh-CN" sz="3200" b="1" dirty="0">
                <a:solidFill>
                  <a:srgbClr val="FF0000"/>
                </a:solidFill>
              </a:rPr>
              <a:t>*</a:t>
            </a:r>
            <a:endParaRPr lang="zh-CN" altLang="en-US" sz="3200" b="1" dirty="0">
              <a:solidFill>
                <a:srgbClr val="FF0000"/>
              </a:solidFill>
            </a:endParaRPr>
          </a:p>
          <a:p>
            <a:pPr eaLnBrk="1" hangingPunct="1">
              <a:spcBef>
                <a:spcPct val="20000"/>
              </a:spcBef>
            </a:pPr>
            <a:endParaRPr lang="en-US" altLang="zh-CN" b="1" dirty="0">
              <a:solidFill>
                <a:srgbClr val="FF0000"/>
              </a:solidFill>
            </a:endParaRPr>
          </a:p>
        </p:txBody>
      </p:sp>
      <p:graphicFrame>
        <p:nvGraphicFramePr>
          <p:cNvPr id="154633" name="Object 9"/>
          <p:cNvGraphicFramePr>
            <a:graphicFrameLocks noChangeAspect="1"/>
          </p:cNvGraphicFramePr>
          <p:nvPr/>
        </p:nvGraphicFramePr>
        <p:xfrm>
          <a:off x="2124075" y="4941888"/>
          <a:ext cx="2376488" cy="1263650"/>
        </p:xfrm>
        <a:graphic>
          <a:graphicData uri="http://schemas.openxmlformats.org/presentationml/2006/ole">
            <mc:AlternateContent xmlns:mc="http://schemas.openxmlformats.org/markup-compatibility/2006">
              <mc:Choice xmlns:v="urn:schemas-microsoft-com:vml" Requires="v">
                <p:oleObj spid="_x0000_s25679" name="Equation" r:id="rId1" imgW="948055" imgH="501650" progId="Equation.DSMT4">
                  <p:embed/>
                </p:oleObj>
              </mc:Choice>
              <mc:Fallback>
                <p:oleObj name="Equation" r:id="rId1" imgW="948055" imgH="501650" progId="Equation.DSMT4">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4941888"/>
                        <a:ext cx="2376488" cy="1263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34" name="Text Box 10"/>
          <p:cNvSpPr txBox="1">
            <a:spLocks noChangeArrowheads="1"/>
          </p:cNvSpPr>
          <p:nvPr/>
        </p:nvSpPr>
        <p:spPr bwMode="auto">
          <a:xfrm>
            <a:off x="2124075" y="6237288"/>
            <a:ext cx="2376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t>单位：</a:t>
            </a:r>
            <a:r>
              <a:rPr lang="en-US" altLang="zh-CN" sz="2000" b="1"/>
              <a:t>dB</a:t>
            </a:r>
            <a:r>
              <a:rPr lang="zh-CN" altLang="en-US" sz="2000" b="1"/>
              <a:t>（分贝）</a:t>
            </a:r>
            <a:endParaRPr lang="zh-CN" altLang="en-US" sz="2000" b="1"/>
          </a:p>
        </p:txBody>
      </p:sp>
      <p:graphicFrame>
        <p:nvGraphicFramePr>
          <p:cNvPr id="154635" name="Object 11"/>
          <p:cNvGraphicFramePr>
            <a:graphicFrameLocks noChangeAspect="1"/>
          </p:cNvGraphicFramePr>
          <p:nvPr/>
        </p:nvGraphicFramePr>
        <p:xfrm>
          <a:off x="5580063" y="5373688"/>
          <a:ext cx="2520950" cy="620712"/>
        </p:xfrm>
        <a:graphic>
          <a:graphicData uri="http://schemas.openxmlformats.org/presentationml/2006/ole">
            <mc:AlternateContent xmlns:mc="http://schemas.openxmlformats.org/markup-compatibility/2006">
              <mc:Choice xmlns:v="urn:schemas-microsoft-com:vml" Requires="v">
                <p:oleObj spid="_x0000_s25680" name="Equation" r:id="rId3" imgW="977900" imgH="241300" progId="Equation.DSMT4">
                  <p:embed/>
                </p:oleObj>
              </mc:Choice>
              <mc:Fallback>
                <p:oleObj name="Equation" r:id="rId3" imgW="977900" imgH="24130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5373688"/>
                        <a:ext cx="2520950"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36" name="Text Box 12"/>
          <p:cNvSpPr txBox="1">
            <a:spLocks noChangeArrowheads="1"/>
          </p:cNvSpPr>
          <p:nvPr/>
        </p:nvSpPr>
        <p:spPr bwMode="auto">
          <a:xfrm>
            <a:off x="971550" y="2882900"/>
            <a:ext cx="76327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marL="457200" indent="-4572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buFontTx/>
              <a:buAutoNum type="arabicPeriod" startAt="3"/>
            </a:pPr>
            <a:r>
              <a:rPr lang="zh-CN" altLang="en-US" sz="2800" b="1"/>
              <a:t>在</a:t>
            </a:r>
            <a:r>
              <a:rPr lang="zh-CN" altLang="en-US" sz="2800" b="1">
                <a:solidFill>
                  <a:srgbClr val="0000FF"/>
                </a:solidFill>
              </a:rPr>
              <a:t>固定端有</a:t>
            </a:r>
            <a:r>
              <a:rPr lang="zh-CN" altLang="en-US" b="1">
                <a:solidFill>
                  <a:srgbClr val="0000FF"/>
                </a:solidFill>
                <a:sym typeface="Symbol" panose="05050102010706020507" pitchFamily="18" charset="2"/>
              </a:rPr>
              <a:t></a:t>
            </a:r>
            <a:r>
              <a:rPr lang="zh-CN" altLang="en-US" sz="2800" b="1"/>
              <a:t>相位突变，有</a:t>
            </a:r>
            <a:r>
              <a:rPr lang="zh-CN" altLang="en-US" sz="2800" b="1">
                <a:sym typeface="Symbol" panose="05050102010706020507" pitchFamily="18" charset="2"/>
              </a:rPr>
              <a:t>半波损失</a:t>
            </a:r>
            <a:endParaRPr lang="zh-CN" altLang="en-US" sz="2800" b="1">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54629"/>
                                        </p:tgtEl>
                                        <p:attrNameLst>
                                          <p:attrName>style.visibility</p:attrName>
                                        </p:attrNameLst>
                                      </p:cBhvr>
                                      <p:to>
                                        <p:strVal val="visible"/>
                                      </p:to>
                                    </p:set>
                                    <p:anim calcmode="discrete" valueType="clr">
                                      <p:cBhvr override="childStyle">
                                        <p:cTn id="7" dur="80"/>
                                        <p:tgtEl>
                                          <p:spTgt spid="154629"/>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54629"/>
                                        </p:tgtEl>
                                        <p:attrNameLst>
                                          <p:attrName>fillcolor</p:attrName>
                                        </p:attrNameLst>
                                      </p:cBhvr>
                                      <p:tavLst>
                                        <p:tav tm="0">
                                          <p:val>
                                            <p:clrVal>
                                              <a:schemeClr val="accent2"/>
                                            </p:clrVal>
                                          </p:val>
                                        </p:tav>
                                        <p:tav tm="50000">
                                          <p:val>
                                            <p:clrVal>
                                              <a:schemeClr val="hlink"/>
                                            </p:clrVal>
                                          </p:val>
                                        </p:tav>
                                      </p:tavLst>
                                    </p:anim>
                                    <p:set>
                                      <p:cBhvr>
                                        <p:cTn id="9" dur="80"/>
                                        <p:tgtEl>
                                          <p:spTgt spid="154629"/>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154630"/>
                                        </p:tgtEl>
                                        <p:attrNameLst>
                                          <p:attrName>style.visibility</p:attrName>
                                        </p:attrNameLst>
                                      </p:cBhvr>
                                      <p:to>
                                        <p:strVal val="visible"/>
                                      </p:to>
                                    </p:set>
                                    <p:anim calcmode="discrete" valueType="clr">
                                      <p:cBhvr override="childStyle">
                                        <p:cTn id="14" dur="80"/>
                                        <p:tgtEl>
                                          <p:spTgt spid="154630"/>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54630"/>
                                        </p:tgtEl>
                                        <p:attrNameLst>
                                          <p:attrName>fillcolor</p:attrName>
                                        </p:attrNameLst>
                                      </p:cBhvr>
                                      <p:tavLst>
                                        <p:tav tm="0">
                                          <p:val>
                                            <p:clrVal>
                                              <a:schemeClr val="accent2"/>
                                            </p:clrVal>
                                          </p:val>
                                        </p:tav>
                                        <p:tav tm="50000">
                                          <p:val>
                                            <p:clrVal>
                                              <a:schemeClr val="hlink"/>
                                            </p:clrVal>
                                          </p:val>
                                        </p:tav>
                                      </p:tavLst>
                                    </p:anim>
                                    <p:set>
                                      <p:cBhvr>
                                        <p:cTn id="16" dur="80"/>
                                        <p:tgtEl>
                                          <p:spTgt spid="154630"/>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154636"/>
                                        </p:tgtEl>
                                        <p:attrNameLst>
                                          <p:attrName>style.visibility</p:attrName>
                                        </p:attrNameLst>
                                      </p:cBhvr>
                                      <p:to>
                                        <p:strVal val="visible"/>
                                      </p:to>
                                    </p:set>
                                    <p:anim calcmode="discrete" valueType="clr">
                                      <p:cBhvr override="childStyle">
                                        <p:cTn id="21" dur="80"/>
                                        <p:tgtEl>
                                          <p:spTgt spid="154636"/>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54636"/>
                                        </p:tgtEl>
                                        <p:attrNameLst>
                                          <p:attrName>fillcolor</p:attrName>
                                        </p:attrNameLst>
                                      </p:cBhvr>
                                      <p:tavLst>
                                        <p:tav tm="0">
                                          <p:val>
                                            <p:clrVal>
                                              <a:schemeClr val="accent2"/>
                                            </p:clrVal>
                                          </p:val>
                                        </p:tav>
                                        <p:tav tm="50000">
                                          <p:val>
                                            <p:clrVal>
                                              <a:schemeClr val="hlink"/>
                                            </p:clrVal>
                                          </p:val>
                                        </p:tav>
                                      </p:tavLst>
                                    </p:anim>
                                    <p:set>
                                      <p:cBhvr>
                                        <p:cTn id="23" dur="80"/>
                                        <p:tgtEl>
                                          <p:spTgt spid="154636"/>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154631"/>
                                        </p:tgtEl>
                                        <p:attrNameLst>
                                          <p:attrName>style.visibility</p:attrName>
                                        </p:attrNameLst>
                                      </p:cBhvr>
                                      <p:to>
                                        <p:strVal val="visible"/>
                                      </p:to>
                                    </p:set>
                                    <p:anim calcmode="discrete" valueType="clr">
                                      <p:cBhvr override="childStyle">
                                        <p:cTn id="28" dur="80"/>
                                        <p:tgtEl>
                                          <p:spTgt spid="154631"/>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154631"/>
                                        </p:tgtEl>
                                        <p:attrNameLst>
                                          <p:attrName>fillcolor</p:attrName>
                                        </p:attrNameLst>
                                      </p:cBhvr>
                                      <p:tavLst>
                                        <p:tav tm="0">
                                          <p:val>
                                            <p:clrVal>
                                              <a:schemeClr val="accent2"/>
                                            </p:clrVal>
                                          </p:val>
                                        </p:tav>
                                        <p:tav tm="50000">
                                          <p:val>
                                            <p:clrVal>
                                              <a:schemeClr val="hlink"/>
                                            </p:clrVal>
                                          </p:val>
                                        </p:tav>
                                      </p:tavLst>
                                    </p:anim>
                                    <p:set>
                                      <p:cBhvr>
                                        <p:cTn id="30" dur="80"/>
                                        <p:tgtEl>
                                          <p:spTgt spid="154631"/>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154632"/>
                                        </p:tgtEl>
                                        <p:attrNameLst>
                                          <p:attrName>style.visibility</p:attrName>
                                        </p:attrNameLst>
                                      </p:cBhvr>
                                      <p:to>
                                        <p:strVal val="visible"/>
                                      </p:to>
                                    </p:set>
                                    <p:anim calcmode="discrete" valueType="clr">
                                      <p:cBhvr override="childStyle">
                                        <p:cTn id="35" dur="80"/>
                                        <p:tgtEl>
                                          <p:spTgt spid="154632"/>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154632"/>
                                        </p:tgtEl>
                                        <p:attrNameLst>
                                          <p:attrName>fillcolor</p:attrName>
                                        </p:attrNameLst>
                                      </p:cBhvr>
                                      <p:tavLst>
                                        <p:tav tm="0">
                                          <p:val>
                                            <p:clrVal>
                                              <a:schemeClr val="accent2"/>
                                            </p:clrVal>
                                          </p:val>
                                        </p:tav>
                                        <p:tav tm="50000">
                                          <p:val>
                                            <p:clrVal>
                                              <a:schemeClr val="hlink"/>
                                            </p:clrVal>
                                          </p:val>
                                        </p:tav>
                                      </p:tavLst>
                                    </p:anim>
                                    <p:set>
                                      <p:cBhvr>
                                        <p:cTn id="37" dur="80"/>
                                        <p:tgtEl>
                                          <p:spTgt spid="154632"/>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54633"/>
                                        </p:tgtEl>
                                        <p:attrNameLst>
                                          <p:attrName>style.visibility</p:attrName>
                                        </p:attrNameLst>
                                      </p:cBhvr>
                                      <p:to>
                                        <p:strVal val="visible"/>
                                      </p:to>
                                    </p:set>
                                    <p:animEffect transition="in" filter="blinds(horizontal)">
                                      <p:cBhvr>
                                        <p:cTn id="42" dur="500"/>
                                        <p:tgtEl>
                                          <p:spTgt spid="154633"/>
                                        </p:tgtEl>
                                      </p:cBhvr>
                                    </p:animEffect>
                                  </p:childTnLst>
                                </p:cTn>
                              </p:par>
                            </p:childTnLst>
                          </p:cTn>
                        </p:par>
                      </p:childTnLst>
                    </p:cTn>
                  </p:par>
                  <p:par>
                    <p:cTn id="43" fill="hold">
                      <p:stCondLst>
                        <p:cond delay="indefinite"/>
                      </p:stCondLst>
                      <p:childTnLst>
                        <p:par>
                          <p:cTn id="44" fill="hold">
                            <p:stCondLst>
                              <p:cond delay="0"/>
                            </p:stCondLst>
                            <p:childTnLst>
                              <p:par>
                                <p:cTn id="45" presetID="27" presetClass="entr" presetSubtype="0" fill="hold" grpId="0" nodeType="clickEffect">
                                  <p:stCondLst>
                                    <p:cond delay="0"/>
                                  </p:stCondLst>
                                  <p:iterate type="lt">
                                    <p:tmPct val="50000"/>
                                  </p:iterate>
                                  <p:childTnLst>
                                    <p:set>
                                      <p:cBhvr>
                                        <p:cTn id="46" dur="1" fill="hold">
                                          <p:stCondLst>
                                            <p:cond delay="0"/>
                                          </p:stCondLst>
                                        </p:cTn>
                                        <p:tgtEl>
                                          <p:spTgt spid="154634"/>
                                        </p:tgtEl>
                                        <p:attrNameLst>
                                          <p:attrName>style.visibility</p:attrName>
                                        </p:attrNameLst>
                                      </p:cBhvr>
                                      <p:to>
                                        <p:strVal val="visible"/>
                                      </p:to>
                                    </p:set>
                                    <p:anim calcmode="discrete" valueType="clr">
                                      <p:cBhvr override="childStyle">
                                        <p:cTn id="47" dur="80"/>
                                        <p:tgtEl>
                                          <p:spTgt spid="154634"/>
                                        </p:tgtEl>
                                        <p:attrNameLst>
                                          <p:attrName>style.color</p:attrName>
                                        </p:attrNameLst>
                                      </p:cBhvr>
                                      <p:tavLst>
                                        <p:tav tm="0">
                                          <p:val>
                                            <p:clrVal>
                                              <a:schemeClr val="accent2"/>
                                            </p:clrVal>
                                          </p:val>
                                        </p:tav>
                                        <p:tav tm="50000">
                                          <p:val>
                                            <p:clrVal>
                                              <a:schemeClr val="hlink"/>
                                            </p:clrVal>
                                          </p:val>
                                        </p:tav>
                                      </p:tavLst>
                                    </p:anim>
                                    <p:anim calcmode="discrete" valueType="clr">
                                      <p:cBhvr>
                                        <p:cTn id="48" dur="80"/>
                                        <p:tgtEl>
                                          <p:spTgt spid="154634"/>
                                        </p:tgtEl>
                                        <p:attrNameLst>
                                          <p:attrName>fillcolor</p:attrName>
                                        </p:attrNameLst>
                                      </p:cBhvr>
                                      <p:tavLst>
                                        <p:tav tm="0">
                                          <p:val>
                                            <p:clrVal>
                                              <a:schemeClr val="accent2"/>
                                            </p:clrVal>
                                          </p:val>
                                        </p:tav>
                                        <p:tav tm="50000">
                                          <p:val>
                                            <p:clrVal>
                                              <a:schemeClr val="hlink"/>
                                            </p:clrVal>
                                          </p:val>
                                        </p:tav>
                                      </p:tavLst>
                                    </p:anim>
                                    <p:set>
                                      <p:cBhvr>
                                        <p:cTn id="49" dur="80"/>
                                        <p:tgtEl>
                                          <p:spTgt spid="154634"/>
                                        </p:tgtEl>
                                        <p:attrNameLst>
                                          <p:attrName>fill.type</p:attrName>
                                        </p:attrNameLst>
                                      </p:cBhvr>
                                      <p:to>
                                        <p:strVal val="solid"/>
                                      </p:to>
                                    </p:se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54635"/>
                                        </p:tgtEl>
                                        <p:attrNameLst>
                                          <p:attrName>style.visibility</p:attrName>
                                        </p:attrNameLst>
                                      </p:cBhvr>
                                      <p:to>
                                        <p:strVal val="visible"/>
                                      </p:to>
                                    </p:set>
                                    <p:animEffect transition="in" filter="blinds(horizontal)">
                                      <p:cBhvr>
                                        <p:cTn id="54" dur="500"/>
                                        <p:tgtEl>
                                          <p:spTgt spid="154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9" grpId="0"/>
      <p:bldP spid="154630" grpId="0"/>
      <p:bldP spid="154631" grpId="0"/>
      <p:bldP spid="154632" grpId="0"/>
      <p:bldP spid="154634" grpId="0"/>
      <p:bldP spid="15463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2" name="Rectangle 4"/>
          <p:cNvSpPr>
            <a:spLocks noChangeArrowheads="1"/>
          </p:cNvSpPr>
          <p:nvPr/>
        </p:nvSpPr>
        <p:spPr bwMode="auto">
          <a:xfrm>
            <a:off x="446088" y="549275"/>
            <a:ext cx="82296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3200" b="1" dirty="0">
                <a:solidFill>
                  <a:srgbClr val="FF0000"/>
                </a:solidFill>
              </a:rPr>
              <a:t>8.  </a:t>
            </a:r>
            <a:r>
              <a:rPr lang="zh-CN" altLang="en-US" sz="3200" b="1" dirty="0">
                <a:solidFill>
                  <a:srgbClr val="FF0000"/>
                </a:solidFill>
              </a:rPr>
              <a:t>多普勒效应中频率的计算</a:t>
            </a:r>
            <a:endParaRPr lang="zh-CN" altLang="en-US" sz="3200" b="1" dirty="0">
              <a:solidFill>
                <a:srgbClr val="FF0000"/>
              </a:solidFill>
            </a:endParaRPr>
          </a:p>
          <a:p>
            <a:pPr eaLnBrk="1" hangingPunct="1">
              <a:spcBef>
                <a:spcPct val="20000"/>
              </a:spcBef>
            </a:pPr>
            <a:endParaRPr lang="en-US" altLang="zh-CN" b="1" dirty="0">
              <a:solidFill>
                <a:srgbClr val="FF0000"/>
              </a:solidFill>
            </a:endParaRPr>
          </a:p>
        </p:txBody>
      </p:sp>
      <p:sp>
        <p:nvSpPr>
          <p:cNvPr id="155653" name="Text Box 5"/>
          <p:cNvSpPr txBox="1">
            <a:spLocks noChangeArrowheads="1"/>
          </p:cNvSpPr>
          <p:nvPr/>
        </p:nvSpPr>
        <p:spPr bwMode="auto">
          <a:xfrm>
            <a:off x="1044575" y="1557338"/>
            <a:ext cx="7204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t>波源和接收器在同一直线上运动时：</a:t>
            </a:r>
            <a:endParaRPr lang="zh-CN" altLang="en-US" sz="2800" b="1"/>
          </a:p>
        </p:txBody>
      </p:sp>
      <p:sp>
        <p:nvSpPr>
          <p:cNvPr id="155655" name="Text Box 7"/>
          <p:cNvSpPr txBox="1">
            <a:spLocks noChangeArrowheads="1"/>
          </p:cNvSpPr>
          <p:nvPr/>
        </p:nvSpPr>
        <p:spPr bwMode="auto">
          <a:xfrm>
            <a:off x="5508625" y="2374900"/>
            <a:ext cx="3311525" cy="1030288"/>
          </a:xfrm>
          <a:prstGeom prst="rect">
            <a:avLst/>
          </a:prstGeom>
          <a:noFill/>
          <a:ln w="25400">
            <a:solidFill>
              <a:srgbClr val="FF0066"/>
            </a:solidFill>
            <a:miter lim="800000"/>
            <a:tailEnd type="none" w="med" len="lg"/>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FF0066"/>
                </a:solidFill>
              </a:rPr>
              <a:t>相互靠近，频率增大；</a:t>
            </a:r>
            <a:endParaRPr lang="zh-CN" altLang="en-US" b="1">
              <a:solidFill>
                <a:srgbClr val="FF0066"/>
              </a:solidFill>
            </a:endParaRPr>
          </a:p>
          <a:p>
            <a:pPr eaLnBrk="1" hangingPunct="1">
              <a:spcBef>
                <a:spcPct val="50000"/>
              </a:spcBef>
            </a:pPr>
            <a:r>
              <a:rPr lang="zh-CN" altLang="en-US" b="1">
                <a:solidFill>
                  <a:srgbClr val="FF0066"/>
                </a:solidFill>
              </a:rPr>
              <a:t>相互远离，频率减小！</a:t>
            </a:r>
            <a:endParaRPr lang="zh-CN" altLang="en-US" b="1">
              <a:solidFill>
                <a:srgbClr val="FF0066"/>
              </a:solidFill>
            </a:endParaRPr>
          </a:p>
        </p:txBody>
      </p:sp>
      <p:graphicFrame>
        <p:nvGraphicFramePr>
          <p:cNvPr id="11" name="Object 1025"/>
          <p:cNvGraphicFramePr>
            <a:graphicFrameLocks noChangeAspect="1"/>
          </p:cNvGraphicFramePr>
          <p:nvPr/>
        </p:nvGraphicFramePr>
        <p:xfrm>
          <a:off x="2771800" y="2270919"/>
          <a:ext cx="2225675" cy="1238250"/>
        </p:xfrm>
        <a:graphic>
          <a:graphicData uri="http://schemas.openxmlformats.org/presentationml/2006/ole">
            <mc:AlternateContent xmlns:mc="http://schemas.openxmlformats.org/markup-compatibility/2006">
              <mc:Choice xmlns:v="urn:schemas-microsoft-com:vml" Requires="v">
                <p:oleObj spid="_x0000_s26697" name="" r:id="rId1" imgW="774065" imgH="431800" progId="Equation.3">
                  <p:embed/>
                </p:oleObj>
              </mc:Choice>
              <mc:Fallback>
                <p:oleObj name="" r:id="rId1" imgW="774065" imgH="431800" progId="Equation.3">
                  <p:embed/>
                  <p:pic>
                    <p:nvPicPr>
                      <p:cNvPr id="0" name="Object 1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2270919"/>
                        <a:ext cx="2225675" cy="1238250"/>
                      </a:xfrm>
                      <a:prstGeom prst="rect">
                        <a:avLst/>
                      </a:prstGeom>
                      <a:gradFill rotWithShape="0">
                        <a:gsLst>
                          <a:gs pos="0">
                            <a:schemeClr val="accent1"/>
                          </a:gs>
                          <a:gs pos="50000">
                            <a:srgbClr val="FFFFFF"/>
                          </a:gs>
                          <a:gs pos="100000">
                            <a:schemeClr val="accent1"/>
                          </a:gs>
                        </a:gsLst>
                        <a:lin ang="5400000" scaled="1"/>
                      </a:gradFill>
                      <a:ln w="12700">
                        <a:solidFill>
                          <a:schemeClr val="tx2"/>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55653"/>
                                        </p:tgtEl>
                                        <p:attrNameLst>
                                          <p:attrName>style.visibility</p:attrName>
                                        </p:attrNameLst>
                                      </p:cBhvr>
                                      <p:to>
                                        <p:strVal val="visible"/>
                                      </p:to>
                                    </p:set>
                                    <p:anim calcmode="discrete" valueType="clr">
                                      <p:cBhvr override="childStyle">
                                        <p:cTn id="7" dur="80"/>
                                        <p:tgtEl>
                                          <p:spTgt spid="15565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55653"/>
                                        </p:tgtEl>
                                        <p:attrNameLst>
                                          <p:attrName>fillcolor</p:attrName>
                                        </p:attrNameLst>
                                      </p:cBhvr>
                                      <p:tavLst>
                                        <p:tav tm="0">
                                          <p:val>
                                            <p:clrVal>
                                              <a:schemeClr val="accent2"/>
                                            </p:clrVal>
                                          </p:val>
                                        </p:tav>
                                        <p:tav tm="50000">
                                          <p:val>
                                            <p:clrVal>
                                              <a:schemeClr val="hlink"/>
                                            </p:clrVal>
                                          </p:val>
                                        </p:tav>
                                      </p:tavLst>
                                    </p:anim>
                                    <p:set>
                                      <p:cBhvr>
                                        <p:cTn id="9" dur="80"/>
                                        <p:tgtEl>
                                          <p:spTgt spid="15565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grpId="0" nodeType="clickEffect">
                                  <p:stCondLst>
                                    <p:cond delay="0"/>
                                  </p:stCondLst>
                                  <p:childTnLst>
                                    <p:set>
                                      <p:cBhvr>
                                        <p:cTn id="13" dur="1" fill="hold">
                                          <p:stCondLst>
                                            <p:cond delay="0"/>
                                          </p:stCondLst>
                                        </p:cTn>
                                        <p:tgtEl>
                                          <p:spTgt spid="155655"/>
                                        </p:tgtEl>
                                        <p:attrNameLst>
                                          <p:attrName>style.visibility</p:attrName>
                                        </p:attrNameLst>
                                      </p:cBhvr>
                                      <p:to>
                                        <p:strVal val="visible"/>
                                      </p:to>
                                    </p:set>
                                    <p:animEffect transition="in" filter="checkerboard(across)">
                                      <p:cBhvr>
                                        <p:cTn id="14" dur="500"/>
                                        <p:tgtEl>
                                          <p:spTgt spid="155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p:bldP spid="15565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6" name="Rectangle 4"/>
          <p:cNvSpPr>
            <a:spLocks noChangeArrowheads="1"/>
          </p:cNvSpPr>
          <p:nvPr/>
        </p:nvSpPr>
        <p:spPr bwMode="auto">
          <a:xfrm>
            <a:off x="446088" y="549275"/>
            <a:ext cx="8518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3200" b="1">
                <a:solidFill>
                  <a:srgbClr val="FF0000"/>
                </a:solidFill>
              </a:rPr>
              <a:t>9.  </a:t>
            </a:r>
            <a:r>
              <a:rPr lang="zh-CN" altLang="en-US" sz="3200" b="1">
                <a:solidFill>
                  <a:srgbClr val="FF0000"/>
                </a:solidFill>
              </a:rPr>
              <a:t>电磁波中需要熟记的公式及电磁波的性质</a:t>
            </a:r>
            <a:endParaRPr lang="zh-CN" altLang="en-US" sz="3200" b="1">
              <a:solidFill>
                <a:srgbClr val="FF0000"/>
              </a:solidFill>
            </a:endParaRPr>
          </a:p>
          <a:p>
            <a:pPr eaLnBrk="1" hangingPunct="1">
              <a:spcBef>
                <a:spcPct val="20000"/>
              </a:spcBef>
            </a:pPr>
            <a:endParaRPr lang="en-US" altLang="zh-CN" b="1">
              <a:solidFill>
                <a:srgbClr val="FF0000"/>
              </a:solidFill>
            </a:endParaRPr>
          </a:p>
        </p:txBody>
      </p:sp>
      <p:sp>
        <p:nvSpPr>
          <p:cNvPr id="156677" name="Text Box 5"/>
          <p:cNvSpPr txBox="1">
            <a:spLocks noChangeArrowheads="1"/>
          </p:cNvSpPr>
          <p:nvPr/>
        </p:nvSpPr>
        <p:spPr bwMode="auto">
          <a:xfrm>
            <a:off x="1039813" y="1341438"/>
            <a:ext cx="7204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00FF"/>
                </a:solidFill>
              </a:rPr>
              <a:t>电磁波：</a:t>
            </a:r>
            <a:r>
              <a:rPr lang="zh-CN" altLang="en-US" sz="2800" b="1"/>
              <a:t>真空中变化的电磁场是一种波动</a:t>
            </a:r>
            <a:endParaRPr lang="zh-CN" altLang="en-US" sz="2800" b="1"/>
          </a:p>
        </p:txBody>
      </p:sp>
      <p:sp>
        <p:nvSpPr>
          <p:cNvPr id="156678" name="Text Box 6"/>
          <p:cNvSpPr txBox="1">
            <a:spLocks noChangeArrowheads="1"/>
          </p:cNvSpPr>
          <p:nvPr/>
        </p:nvSpPr>
        <p:spPr bwMode="auto">
          <a:xfrm>
            <a:off x="1042988" y="2349500"/>
            <a:ext cx="2808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00FF"/>
                </a:solidFill>
              </a:rPr>
              <a:t>真空中的波速：</a:t>
            </a:r>
            <a:endParaRPr lang="zh-CN" altLang="en-US" sz="2800" b="1"/>
          </a:p>
        </p:txBody>
      </p:sp>
      <p:graphicFrame>
        <p:nvGraphicFramePr>
          <p:cNvPr id="156679" name="Object 7"/>
          <p:cNvGraphicFramePr>
            <a:graphicFrameLocks noChangeAspect="1"/>
          </p:cNvGraphicFramePr>
          <p:nvPr/>
        </p:nvGraphicFramePr>
        <p:xfrm>
          <a:off x="3663950" y="2098675"/>
          <a:ext cx="4524375" cy="1190625"/>
        </p:xfrm>
        <a:graphic>
          <a:graphicData uri="http://schemas.openxmlformats.org/presentationml/2006/ole">
            <mc:AlternateContent xmlns:mc="http://schemas.openxmlformats.org/markup-compatibility/2006">
              <mc:Choice xmlns:v="urn:schemas-microsoft-com:vml" Requires="v">
                <p:oleObj spid="_x0000_s27760" name="公式" r:id="rId1" imgW="1688465" imgH="444500" progId="Equation.3">
                  <p:embed/>
                </p:oleObj>
              </mc:Choice>
              <mc:Fallback>
                <p:oleObj name="公式" r:id="rId1" imgW="1688465" imgH="4445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3950" y="2098675"/>
                        <a:ext cx="4524375"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6680" name="Text Box 8"/>
          <p:cNvSpPr txBox="1">
            <a:spLocks noChangeArrowheads="1"/>
          </p:cNvSpPr>
          <p:nvPr/>
        </p:nvSpPr>
        <p:spPr bwMode="auto">
          <a:xfrm>
            <a:off x="1042988" y="3702050"/>
            <a:ext cx="2952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00FF"/>
                </a:solidFill>
              </a:rPr>
              <a:t>介质中的波速：</a:t>
            </a:r>
            <a:endParaRPr lang="zh-CN" altLang="en-US" sz="2800" b="1"/>
          </a:p>
        </p:txBody>
      </p:sp>
      <p:graphicFrame>
        <p:nvGraphicFramePr>
          <p:cNvPr id="156681" name="Object 9"/>
          <p:cNvGraphicFramePr>
            <a:graphicFrameLocks noChangeAspect="1"/>
          </p:cNvGraphicFramePr>
          <p:nvPr/>
        </p:nvGraphicFramePr>
        <p:xfrm>
          <a:off x="3708400" y="3429000"/>
          <a:ext cx="1600200" cy="1190625"/>
        </p:xfrm>
        <a:graphic>
          <a:graphicData uri="http://schemas.openxmlformats.org/presentationml/2006/ole">
            <mc:AlternateContent xmlns:mc="http://schemas.openxmlformats.org/markup-compatibility/2006">
              <mc:Choice xmlns:v="urn:schemas-microsoft-com:vml" Requires="v">
                <p:oleObj spid="_x0000_s27761" name="公式" r:id="rId3" imgW="596900" imgH="444500" progId="Equation.3">
                  <p:embed/>
                </p:oleObj>
              </mc:Choice>
              <mc:Fallback>
                <p:oleObj name="公式" r:id="rId3" imgW="596900" imgH="4445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3429000"/>
                        <a:ext cx="1600200"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6682" name="Text Box 10"/>
          <p:cNvSpPr txBox="1">
            <a:spLocks noChangeArrowheads="1"/>
          </p:cNvSpPr>
          <p:nvPr/>
        </p:nvSpPr>
        <p:spPr bwMode="auto">
          <a:xfrm>
            <a:off x="1042988" y="5070475"/>
            <a:ext cx="6337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00FF"/>
                </a:solidFill>
              </a:rPr>
              <a:t>电磁波的能流密度</a:t>
            </a:r>
            <a:r>
              <a:rPr lang="en-US" altLang="zh-CN" sz="2800" b="1">
                <a:solidFill>
                  <a:srgbClr val="0000FF"/>
                </a:solidFill>
              </a:rPr>
              <a:t>—</a:t>
            </a:r>
            <a:r>
              <a:rPr lang="zh-CN" altLang="en-US" sz="2800" b="1">
                <a:solidFill>
                  <a:srgbClr val="0000FF"/>
                </a:solidFill>
              </a:rPr>
              <a:t>坡印亭矢量：</a:t>
            </a:r>
            <a:endParaRPr lang="zh-CN" altLang="en-US" sz="2800" b="1"/>
          </a:p>
        </p:txBody>
      </p:sp>
      <p:graphicFrame>
        <p:nvGraphicFramePr>
          <p:cNvPr id="156683" name="Object 11"/>
          <p:cNvGraphicFramePr>
            <a:graphicFrameLocks noChangeAspect="1"/>
          </p:cNvGraphicFramePr>
          <p:nvPr/>
        </p:nvGraphicFramePr>
        <p:xfrm>
          <a:off x="3606800" y="5805488"/>
          <a:ext cx="1804988" cy="612775"/>
        </p:xfrm>
        <a:graphic>
          <a:graphicData uri="http://schemas.openxmlformats.org/presentationml/2006/ole">
            <mc:AlternateContent xmlns:mc="http://schemas.openxmlformats.org/markup-compatibility/2006">
              <mc:Choice xmlns:v="urn:schemas-microsoft-com:vml" Requires="v">
                <p:oleObj spid="_x0000_s27762" name="公式" r:id="rId5" imgW="673100" imgH="228600" progId="Equation.3">
                  <p:embed/>
                </p:oleObj>
              </mc:Choice>
              <mc:Fallback>
                <p:oleObj name="公式" r:id="rId5" imgW="673100" imgH="2286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6800" y="5805488"/>
                        <a:ext cx="1804988"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56677"/>
                                        </p:tgtEl>
                                        <p:attrNameLst>
                                          <p:attrName>style.visibility</p:attrName>
                                        </p:attrNameLst>
                                      </p:cBhvr>
                                      <p:to>
                                        <p:strVal val="visible"/>
                                      </p:to>
                                    </p:set>
                                    <p:anim calcmode="discrete" valueType="clr">
                                      <p:cBhvr override="childStyle">
                                        <p:cTn id="7" dur="80"/>
                                        <p:tgtEl>
                                          <p:spTgt spid="15667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56677"/>
                                        </p:tgtEl>
                                        <p:attrNameLst>
                                          <p:attrName>fillcolor</p:attrName>
                                        </p:attrNameLst>
                                      </p:cBhvr>
                                      <p:tavLst>
                                        <p:tav tm="0">
                                          <p:val>
                                            <p:clrVal>
                                              <a:schemeClr val="accent2"/>
                                            </p:clrVal>
                                          </p:val>
                                        </p:tav>
                                        <p:tav tm="50000">
                                          <p:val>
                                            <p:clrVal>
                                              <a:schemeClr val="hlink"/>
                                            </p:clrVal>
                                          </p:val>
                                        </p:tav>
                                      </p:tavLst>
                                    </p:anim>
                                    <p:set>
                                      <p:cBhvr>
                                        <p:cTn id="9" dur="80"/>
                                        <p:tgtEl>
                                          <p:spTgt spid="15667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156678"/>
                                        </p:tgtEl>
                                        <p:attrNameLst>
                                          <p:attrName>style.visibility</p:attrName>
                                        </p:attrNameLst>
                                      </p:cBhvr>
                                      <p:to>
                                        <p:strVal val="visible"/>
                                      </p:to>
                                    </p:set>
                                    <p:anim calcmode="discrete" valueType="clr">
                                      <p:cBhvr override="childStyle">
                                        <p:cTn id="14" dur="80"/>
                                        <p:tgtEl>
                                          <p:spTgt spid="156678"/>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56678"/>
                                        </p:tgtEl>
                                        <p:attrNameLst>
                                          <p:attrName>fillcolor</p:attrName>
                                        </p:attrNameLst>
                                      </p:cBhvr>
                                      <p:tavLst>
                                        <p:tav tm="0">
                                          <p:val>
                                            <p:clrVal>
                                              <a:schemeClr val="accent2"/>
                                            </p:clrVal>
                                          </p:val>
                                        </p:tav>
                                        <p:tav tm="50000">
                                          <p:val>
                                            <p:clrVal>
                                              <a:schemeClr val="hlink"/>
                                            </p:clrVal>
                                          </p:val>
                                        </p:tav>
                                      </p:tavLst>
                                    </p:anim>
                                    <p:set>
                                      <p:cBhvr>
                                        <p:cTn id="16" dur="80"/>
                                        <p:tgtEl>
                                          <p:spTgt spid="156678"/>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56679"/>
                                        </p:tgtEl>
                                        <p:attrNameLst>
                                          <p:attrName>style.visibility</p:attrName>
                                        </p:attrNameLst>
                                      </p:cBhvr>
                                      <p:to>
                                        <p:strVal val="visible"/>
                                      </p:to>
                                    </p:set>
                                    <p:animEffect transition="in" filter="blinds(horizontal)">
                                      <p:cBhvr>
                                        <p:cTn id="21" dur="500"/>
                                        <p:tgtEl>
                                          <p:spTgt spid="156679"/>
                                        </p:tgtEl>
                                      </p:cBhvr>
                                    </p:animEffec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grpId="0" nodeType="clickEffect">
                                  <p:stCondLst>
                                    <p:cond delay="0"/>
                                  </p:stCondLst>
                                  <p:iterate type="lt">
                                    <p:tmPct val="50000"/>
                                  </p:iterate>
                                  <p:childTnLst>
                                    <p:set>
                                      <p:cBhvr>
                                        <p:cTn id="25" dur="1" fill="hold">
                                          <p:stCondLst>
                                            <p:cond delay="0"/>
                                          </p:stCondLst>
                                        </p:cTn>
                                        <p:tgtEl>
                                          <p:spTgt spid="156680"/>
                                        </p:tgtEl>
                                        <p:attrNameLst>
                                          <p:attrName>style.visibility</p:attrName>
                                        </p:attrNameLst>
                                      </p:cBhvr>
                                      <p:to>
                                        <p:strVal val="visible"/>
                                      </p:to>
                                    </p:set>
                                    <p:anim calcmode="discrete" valueType="clr">
                                      <p:cBhvr override="childStyle">
                                        <p:cTn id="26" dur="80"/>
                                        <p:tgtEl>
                                          <p:spTgt spid="156680"/>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156680"/>
                                        </p:tgtEl>
                                        <p:attrNameLst>
                                          <p:attrName>fillcolor</p:attrName>
                                        </p:attrNameLst>
                                      </p:cBhvr>
                                      <p:tavLst>
                                        <p:tav tm="0">
                                          <p:val>
                                            <p:clrVal>
                                              <a:schemeClr val="accent2"/>
                                            </p:clrVal>
                                          </p:val>
                                        </p:tav>
                                        <p:tav tm="50000">
                                          <p:val>
                                            <p:clrVal>
                                              <a:schemeClr val="hlink"/>
                                            </p:clrVal>
                                          </p:val>
                                        </p:tav>
                                      </p:tavLst>
                                    </p:anim>
                                    <p:set>
                                      <p:cBhvr>
                                        <p:cTn id="28" dur="80"/>
                                        <p:tgtEl>
                                          <p:spTgt spid="156680"/>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56681"/>
                                        </p:tgtEl>
                                        <p:attrNameLst>
                                          <p:attrName>style.visibility</p:attrName>
                                        </p:attrNameLst>
                                      </p:cBhvr>
                                      <p:to>
                                        <p:strVal val="visible"/>
                                      </p:to>
                                    </p:set>
                                    <p:animEffect transition="in" filter="blinds(horizontal)">
                                      <p:cBhvr>
                                        <p:cTn id="33" dur="500"/>
                                        <p:tgtEl>
                                          <p:spTgt spid="156681"/>
                                        </p:tgtEl>
                                      </p:cBhvr>
                                    </p:animEffect>
                                  </p:childTnLst>
                                </p:cTn>
                              </p:par>
                            </p:childTnLst>
                          </p:cTn>
                        </p:par>
                      </p:childTnLst>
                    </p:cTn>
                  </p:par>
                  <p:par>
                    <p:cTn id="34" fill="hold">
                      <p:stCondLst>
                        <p:cond delay="indefinite"/>
                      </p:stCondLst>
                      <p:childTnLst>
                        <p:par>
                          <p:cTn id="35" fill="hold">
                            <p:stCondLst>
                              <p:cond delay="0"/>
                            </p:stCondLst>
                            <p:childTnLst>
                              <p:par>
                                <p:cTn id="36" presetID="27" presetClass="entr" presetSubtype="0" fill="hold" grpId="0" nodeType="clickEffect">
                                  <p:stCondLst>
                                    <p:cond delay="0"/>
                                  </p:stCondLst>
                                  <p:iterate type="lt">
                                    <p:tmPct val="50000"/>
                                  </p:iterate>
                                  <p:childTnLst>
                                    <p:set>
                                      <p:cBhvr>
                                        <p:cTn id="37" dur="1" fill="hold">
                                          <p:stCondLst>
                                            <p:cond delay="0"/>
                                          </p:stCondLst>
                                        </p:cTn>
                                        <p:tgtEl>
                                          <p:spTgt spid="156682"/>
                                        </p:tgtEl>
                                        <p:attrNameLst>
                                          <p:attrName>style.visibility</p:attrName>
                                        </p:attrNameLst>
                                      </p:cBhvr>
                                      <p:to>
                                        <p:strVal val="visible"/>
                                      </p:to>
                                    </p:set>
                                    <p:anim calcmode="discrete" valueType="clr">
                                      <p:cBhvr override="childStyle">
                                        <p:cTn id="38" dur="80"/>
                                        <p:tgtEl>
                                          <p:spTgt spid="156682"/>
                                        </p:tgtEl>
                                        <p:attrNameLst>
                                          <p:attrName>style.color</p:attrName>
                                        </p:attrNameLst>
                                      </p:cBhvr>
                                      <p:tavLst>
                                        <p:tav tm="0">
                                          <p:val>
                                            <p:clrVal>
                                              <a:schemeClr val="accent2"/>
                                            </p:clrVal>
                                          </p:val>
                                        </p:tav>
                                        <p:tav tm="50000">
                                          <p:val>
                                            <p:clrVal>
                                              <a:schemeClr val="hlink"/>
                                            </p:clrVal>
                                          </p:val>
                                        </p:tav>
                                      </p:tavLst>
                                    </p:anim>
                                    <p:anim calcmode="discrete" valueType="clr">
                                      <p:cBhvr>
                                        <p:cTn id="39" dur="80"/>
                                        <p:tgtEl>
                                          <p:spTgt spid="156682"/>
                                        </p:tgtEl>
                                        <p:attrNameLst>
                                          <p:attrName>fillcolor</p:attrName>
                                        </p:attrNameLst>
                                      </p:cBhvr>
                                      <p:tavLst>
                                        <p:tav tm="0">
                                          <p:val>
                                            <p:clrVal>
                                              <a:schemeClr val="accent2"/>
                                            </p:clrVal>
                                          </p:val>
                                        </p:tav>
                                        <p:tav tm="50000">
                                          <p:val>
                                            <p:clrVal>
                                              <a:schemeClr val="hlink"/>
                                            </p:clrVal>
                                          </p:val>
                                        </p:tav>
                                      </p:tavLst>
                                    </p:anim>
                                    <p:set>
                                      <p:cBhvr>
                                        <p:cTn id="40" dur="80"/>
                                        <p:tgtEl>
                                          <p:spTgt spid="156682"/>
                                        </p:tgtEl>
                                        <p:attrNameLst>
                                          <p:attrName>fill.type</p:attrName>
                                        </p:attrNameLst>
                                      </p:cBhvr>
                                      <p:to>
                                        <p:strVal val="solid"/>
                                      </p:to>
                                    </p:se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56683"/>
                                        </p:tgtEl>
                                        <p:attrNameLst>
                                          <p:attrName>style.visibility</p:attrName>
                                        </p:attrNameLst>
                                      </p:cBhvr>
                                      <p:to>
                                        <p:strVal val="visible"/>
                                      </p:to>
                                    </p:set>
                                    <p:animEffect transition="in" filter="blinds(horizontal)">
                                      <p:cBhvr>
                                        <p:cTn id="45" dur="500"/>
                                        <p:tgtEl>
                                          <p:spTgt spid="156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7" grpId="0"/>
      <p:bldP spid="156678" grpId="0"/>
      <p:bldP spid="156680" grpId="0"/>
      <p:bldP spid="15668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0" name="Text Box 4"/>
          <p:cNvSpPr txBox="1">
            <a:spLocks noChangeArrowheads="1"/>
          </p:cNvSpPr>
          <p:nvPr/>
        </p:nvSpPr>
        <p:spPr bwMode="auto">
          <a:xfrm>
            <a:off x="971550" y="1412875"/>
            <a:ext cx="7204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00FF"/>
                </a:solidFill>
              </a:rPr>
              <a:t>电磁波的性质：</a:t>
            </a:r>
            <a:endParaRPr lang="zh-CN" altLang="en-US" sz="2800" b="1"/>
          </a:p>
        </p:txBody>
      </p:sp>
      <p:graphicFrame>
        <p:nvGraphicFramePr>
          <p:cNvPr id="157702" name="Object 6"/>
          <p:cNvGraphicFramePr>
            <a:graphicFrameLocks noChangeAspect="1"/>
          </p:cNvGraphicFramePr>
          <p:nvPr/>
        </p:nvGraphicFramePr>
        <p:xfrm>
          <a:off x="1116013" y="2028825"/>
          <a:ext cx="6696075" cy="628650"/>
        </p:xfrm>
        <a:graphic>
          <a:graphicData uri="http://schemas.openxmlformats.org/presentationml/2006/ole">
            <mc:AlternateContent xmlns:mc="http://schemas.openxmlformats.org/markup-compatibility/2006">
              <mc:Choice xmlns:v="urn:schemas-microsoft-com:vml" Requires="v">
                <p:oleObj spid="_x0000_s28817" name="公式" r:id="rId1" imgW="2705100" imgH="254000" progId="Equation.3">
                  <p:embed/>
                </p:oleObj>
              </mc:Choice>
              <mc:Fallback>
                <p:oleObj name="公式" r:id="rId1" imgW="2705100" imgH="2540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2028825"/>
                        <a:ext cx="6696075"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705" name="Object 9"/>
          <p:cNvGraphicFramePr>
            <a:graphicFrameLocks noChangeAspect="1"/>
          </p:cNvGraphicFramePr>
          <p:nvPr/>
        </p:nvGraphicFramePr>
        <p:xfrm>
          <a:off x="1062038" y="3559175"/>
          <a:ext cx="2479675" cy="644525"/>
        </p:xfrm>
        <a:graphic>
          <a:graphicData uri="http://schemas.openxmlformats.org/presentationml/2006/ole">
            <mc:AlternateContent xmlns:mc="http://schemas.openxmlformats.org/markup-compatibility/2006">
              <mc:Choice xmlns:v="urn:schemas-microsoft-com:vml" Requires="v">
                <p:oleObj spid="_x0000_s28818" name="公式" r:id="rId3" imgW="927100" imgH="241300" progId="Equation.3">
                  <p:embed/>
                </p:oleObj>
              </mc:Choice>
              <mc:Fallback>
                <p:oleObj name="公式" r:id="rId3" imgW="927100" imgH="2413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2038" y="3559175"/>
                        <a:ext cx="2479675"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706" name="Object 10"/>
          <p:cNvGraphicFramePr>
            <a:graphicFrameLocks noChangeAspect="1"/>
          </p:cNvGraphicFramePr>
          <p:nvPr/>
        </p:nvGraphicFramePr>
        <p:xfrm>
          <a:off x="1403350" y="2767013"/>
          <a:ext cx="5673725" cy="644525"/>
        </p:xfrm>
        <a:graphic>
          <a:graphicData uri="http://schemas.openxmlformats.org/presentationml/2006/ole">
            <mc:AlternateContent xmlns:mc="http://schemas.openxmlformats.org/markup-compatibility/2006">
              <mc:Choice xmlns:v="urn:schemas-microsoft-com:vml" Requires="v">
                <p:oleObj spid="_x0000_s28819" name="公式" r:id="rId5" imgW="2120900" imgH="241300" progId="Equation.3">
                  <p:embed/>
                </p:oleObj>
              </mc:Choice>
              <mc:Fallback>
                <p:oleObj name="公式" r:id="rId5" imgW="2120900" imgH="2413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2767013"/>
                        <a:ext cx="5673725"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5"/>
          <p:cNvGrpSpPr/>
          <p:nvPr/>
        </p:nvGrpSpPr>
        <p:grpSpPr bwMode="auto">
          <a:xfrm>
            <a:off x="1116013" y="4337050"/>
            <a:ext cx="4756150" cy="701675"/>
            <a:chOff x="1595" y="3079"/>
            <a:chExt cx="2996" cy="442"/>
          </a:xfrm>
        </p:grpSpPr>
        <p:graphicFrame>
          <p:nvGraphicFramePr>
            <p:cNvPr id="28677" name="Object 11"/>
            <p:cNvGraphicFramePr>
              <a:graphicFrameLocks noChangeAspect="1"/>
            </p:cNvGraphicFramePr>
            <p:nvPr/>
          </p:nvGraphicFramePr>
          <p:xfrm>
            <a:off x="1595" y="3094"/>
            <a:ext cx="2996" cy="427"/>
          </p:xfrm>
          <a:graphic>
            <a:graphicData uri="http://schemas.openxmlformats.org/presentationml/2006/ole">
              <mc:AlternateContent xmlns:mc="http://schemas.openxmlformats.org/markup-compatibility/2006">
                <mc:Choice xmlns:v="urn:schemas-microsoft-com:vml" Requires="v">
                  <p:oleObj spid="_x0000_s28820" name="Equation" r:id="rId7" imgW="42672000" imgH="6096000" progId="Equation.DSMT4">
                    <p:embed/>
                  </p:oleObj>
                </mc:Choice>
                <mc:Fallback>
                  <p:oleObj name="Equation" r:id="rId7" imgW="42672000" imgH="6096000" progId="Equation.DSMT4">
                    <p:embed/>
                    <p:pic>
                      <p:nvPicPr>
                        <p:cNvPr id="0" name="Object 11"/>
                        <p:cNvPicPr>
                          <a:picLocks noChangeAspect="1" noChangeArrowheads="1"/>
                        </p:cNvPicPr>
                        <p:nvPr/>
                      </p:nvPicPr>
                      <p:blipFill>
                        <a:blip r:embed="rId8"/>
                        <a:srcRect/>
                        <a:stretch>
                          <a:fillRect/>
                        </a:stretch>
                      </p:blipFill>
                      <p:spPr bwMode="auto">
                        <a:xfrm>
                          <a:off x="1595" y="3094"/>
                          <a:ext cx="2996"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0" name="Rectangle 14"/>
            <p:cNvSpPr>
              <a:spLocks noChangeArrowheads="1"/>
            </p:cNvSpPr>
            <p:nvPr/>
          </p:nvSpPr>
          <p:spPr bwMode="auto">
            <a:xfrm>
              <a:off x="3227" y="3079"/>
              <a:ext cx="1361" cy="408"/>
            </a:xfrm>
            <a:prstGeom prst="rect">
              <a:avLst/>
            </a:prstGeom>
            <a:noFill/>
            <a:ln w="25400">
              <a:solidFill>
                <a:srgbClr val="0000FF"/>
              </a:solidFill>
              <a:miter lim="800000"/>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7702"/>
                                        </p:tgtEl>
                                        <p:attrNameLst>
                                          <p:attrName>style.visibility</p:attrName>
                                        </p:attrNameLst>
                                      </p:cBhvr>
                                      <p:to>
                                        <p:strVal val="visible"/>
                                      </p:to>
                                    </p:set>
                                    <p:animEffect transition="in" filter="blinds(horizontal)">
                                      <p:cBhvr>
                                        <p:cTn id="7" dur="500"/>
                                        <p:tgtEl>
                                          <p:spTgt spid="15770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7706"/>
                                        </p:tgtEl>
                                        <p:attrNameLst>
                                          <p:attrName>style.visibility</p:attrName>
                                        </p:attrNameLst>
                                      </p:cBhvr>
                                      <p:to>
                                        <p:strVal val="visible"/>
                                      </p:to>
                                    </p:set>
                                    <p:animEffect transition="in" filter="blinds(horizontal)">
                                      <p:cBhvr>
                                        <p:cTn id="12" dur="500"/>
                                        <p:tgtEl>
                                          <p:spTgt spid="15770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7705"/>
                                        </p:tgtEl>
                                        <p:attrNameLst>
                                          <p:attrName>style.visibility</p:attrName>
                                        </p:attrNameLst>
                                      </p:cBhvr>
                                      <p:to>
                                        <p:strVal val="visible"/>
                                      </p:to>
                                    </p:set>
                                    <p:animEffect transition="in" filter="blinds(horizontal)">
                                      <p:cBhvr>
                                        <p:cTn id="17" dur="500"/>
                                        <p:tgtEl>
                                          <p:spTgt spid="15770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381000" y="461963"/>
            <a:ext cx="5400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00CC"/>
                </a:solidFill>
                <a:ea typeface="楷体_GB2312" panose="02010609030101010101" pitchFamily="49" charset="-122"/>
              </a:rPr>
              <a:t>本章基本题型：</a:t>
            </a:r>
            <a:endParaRPr lang="zh-CN" altLang="en-US" sz="2800" b="1">
              <a:solidFill>
                <a:srgbClr val="0000CC"/>
              </a:solidFill>
              <a:ea typeface="楷体_GB2312" panose="02010609030101010101" pitchFamily="49" charset="-122"/>
            </a:endParaRPr>
          </a:p>
        </p:txBody>
      </p:sp>
      <p:sp>
        <p:nvSpPr>
          <p:cNvPr id="161797" name="Rectangle 5"/>
          <p:cNvSpPr>
            <a:spLocks noChangeArrowheads="1"/>
          </p:cNvSpPr>
          <p:nvPr/>
        </p:nvSpPr>
        <p:spPr bwMode="blackWhite">
          <a:xfrm>
            <a:off x="533400" y="1387475"/>
            <a:ext cx="7351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rgbClr val="FF0000"/>
                </a:solidFill>
                <a:latin typeface="Times New Roman" panose="02020603050405020304" pitchFamily="18" charset="0"/>
              </a:rPr>
              <a:t>1. </a:t>
            </a:r>
            <a:r>
              <a:rPr kumimoji="1" lang="zh-CN" altLang="en-US" sz="2800" b="1">
                <a:solidFill>
                  <a:srgbClr val="FF0000"/>
                </a:solidFill>
                <a:latin typeface="Times New Roman" panose="02020603050405020304" pitchFamily="18" charset="0"/>
              </a:rPr>
              <a:t>已知波动方程，求有关的物理量</a:t>
            </a:r>
            <a:endParaRPr kumimoji="1" lang="zh-CN" altLang="en-US" sz="2800" b="1">
              <a:solidFill>
                <a:srgbClr val="FF0000"/>
              </a:solidFill>
              <a:latin typeface="Times New Roman" panose="02020603050405020304" pitchFamily="18" charset="0"/>
            </a:endParaRPr>
          </a:p>
        </p:txBody>
      </p:sp>
      <p:sp>
        <p:nvSpPr>
          <p:cNvPr id="161798" name="Text Box 6"/>
          <p:cNvSpPr txBox="1">
            <a:spLocks noChangeArrowheads="1"/>
          </p:cNvSpPr>
          <p:nvPr/>
        </p:nvSpPr>
        <p:spPr bwMode="blackWhite">
          <a:xfrm>
            <a:off x="838200" y="2060575"/>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latin typeface="Times New Roman" panose="02020603050405020304" pitchFamily="18" charset="0"/>
              </a:rPr>
              <a:t>(1) </a:t>
            </a:r>
            <a:r>
              <a:rPr kumimoji="1" lang="zh-CN" altLang="en-US" b="1">
                <a:latin typeface="Times New Roman" panose="02020603050405020304" pitchFamily="18" charset="0"/>
              </a:rPr>
              <a:t>求波长、周期、波速和初相位</a:t>
            </a:r>
            <a:endParaRPr kumimoji="1" lang="zh-CN" altLang="en-US" b="1">
              <a:latin typeface="Times New Roman" panose="02020603050405020304" pitchFamily="18" charset="0"/>
            </a:endParaRPr>
          </a:p>
        </p:txBody>
      </p:sp>
      <p:sp>
        <p:nvSpPr>
          <p:cNvPr id="161799" name="Text Box 7"/>
          <p:cNvSpPr txBox="1">
            <a:spLocks noChangeArrowheads="1"/>
          </p:cNvSpPr>
          <p:nvPr/>
        </p:nvSpPr>
        <p:spPr bwMode="blackWhite">
          <a:xfrm>
            <a:off x="539750" y="4105275"/>
            <a:ext cx="5832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rgbClr val="FF0000"/>
                </a:solidFill>
                <a:latin typeface="Times New Roman" panose="02020603050405020304" pitchFamily="18" charset="0"/>
              </a:rPr>
              <a:t>2. </a:t>
            </a:r>
            <a:r>
              <a:rPr kumimoji="1" lang="zh-CN" altLang="en-US" sz="2800" b="1">
                <a:solidFill>
                  <a:srgbClr val="FF0000"/>
                </a:solidFill>
                <a:latin typeface="Times New Roman" panose="02020603050405020304" pitchFamily="18" charset="0"/>
              </a:rPr>
              <a:t>由已知条件建立波动方程</a:t>
            </a:r>
            <a:endParaRPr kumimoji="1" lang="zh-CN" altLang="en-US" sz="2800" b="1">
              <a:solidFill>
                <a:srgbClr val="FF0000"/>
              </a:solidFill>
              <a:latin typeface="Times New Roman" panose="02020603050405020304" pitchFamily="18" charset="0"/>
            </a:endParaRPr>
          </a:p>
        </p:txBody>
      </p:sp>
      <p:sp>
        <p:nvSpPr>
          <p:cNvPr id="161800" name="Text Box 8"/>
          <p:cNvSpPr txBox="1">
            <a:spLocks noChangeArrowheads="1"/>
          </p:cNvSpPr>
          <p:nvPr/>
        </p:nvSpPr>
        <p:spPr bwMode="blackWhite">
          <a:xfrm>
            <a:off x="838200" y="2667000"/>
            <a:ext cx="510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latin typeface="Times New Roman" panose="02020603050405020304" pitchFamily="18" charset="0"/>
              </a:rPr>
              <a:t>(2) </a:t>
            </a:r>
            <a:r>
              <a:rPr kumimoji="1" lang="zh-CN" altLang="en-US" b="1">
                <a:latin typeface="Times New Roman" panose="02020603050405020304" pitchFamily="18" charset="0"/>
              </a:rPr>
              <a:t>求波动曲线上某一点的振动方程</a:t>
            </a:r>
            <a:endParaRPr kumimoji="1" lang="zh-CN" altLang="en-US" b="1">
              <a:latin typeface="Times New Roman" panose="02020603050405020304" pitchFamily="18" charset="0"/>
            </a:endParaRPr>
          </a:p>
        </p:txBody>
      </p:sp>
      <p:sp>
        <p:nvSpPr>
          <p:cNvPr id="161801" name="Text Box 9"/>
          <p:cNvSpPr txBox="1">
            <a:spLocks noChangeArrowheads="1"/>
          </p:cNvSpPr>
          <p:nvPr/>
        </p:nvSpPr>
        <p:spPr bwMode="blackWhite">
          <a:xfrm>
            <a:off x="838200" y="3259138"/>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latin typeface="Times New Roman" panose="02020603050405020304" pitchFamily="18" charset="0"/>
              </a:rPr>
              <a:t>(3) </a:t>
            </a:r>
            <a:r>
              <a:rPr kumimoji="1" lang="zh-CN" altLang="en-US" b="1">
                <a:latin typeface="Times New Roman" panose="02020603050405020304" pitchFamily="18" charset="0"/>
              </a:rPr>
              <a:t>画出某时刻的波形曲线</a:t>
            </a:r>
            <a:endParaRPr kumimoji="1" lang="zh-CN" altLang="en-US" b="1">
              <a:latin typeface="Times New Roman" panose="02020603050405020304" pitchFamily="18" charset="0"/>
            </a:endParaRPr>
          </a:p>
        </p:txBody>
      </p:sp>
      <p:sp>
        <p:nvSpPr>
          <p:cNvPr id="161802" name="Text Box 10"/>
          <p:cNvSpPr txBox="1">
            <a:spLocks noChangeArrowheads="1"/>
          </p:cNvSpPr>
          <p:nvPr/>
        </p:nvSpPr>
        <p:spPr bwMode="blackWhite">
          <a:xfrm>
            <a:off x="838200" y="4700588"/>
            <a:ext cx="586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latin typeface="Times New Roman" panose="02020603050405020304" pitchFamily="18" charset="0"/>
              </a:rPr>
              <a:t>(1) </a:t>
            </a:r>
            <a:r>
              <a:rPr kumimoji="1" lang="zh-CN" altLang="en-US" b="1">
                <a:latin typeface="Times New Roman" panose="02020603050405020304" pitchFamily="18" charset="0"/>
              </a:rPr>
              <a:t>已知波动曲线上某一点的振动状态</a:t>
            </a:r>
            <a:endParaRPr kumimoji="1" lang="zh-CN" altLang="en-US" b="1">
              <a:latin typeface="Times New Roman" panose="02020603050405020304" pitchFamily="18" charset="0"/>
            </a:endParaRPr>
          </a:p>
        </p:txBody>
      </p:sp>
      <p:sp>
        <p:nvSpPr>
          <p:cNvPr id="161803" name="Text Box 11"/>
          <p:cNvSpPr txBox="1">
            <a:spLocks noChangeArrowheads="1"/>
          </p:cNvSpPr>
          <p:nvPr/>
        </p:nvSpPr>
        <p:spPr bwMode="blackWhite">
          <a:xfrm>
            <a:off x="862013" y="5348288"/>
            <a:ext cx="4748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latin typeface="Times New Roman" panose="02020603050405020304" pitchFamily="18" charset="0"/>
              </a:rPr>
              <a:t>(2) </a:t>
            </a:r>
            <a:r>
              <a:rPr kumimoji="1" lang="zh-CN" altLang="en-US" b="1">
                <a:latin typeface="Times New Roman" panose="02020603050405020304" pitchFamily="18" charset="0"/>
              </a:rPr>
              <a:t>已知某一时刻的波形曲线</a:t>
            </a:r>
            <a:endParaRPr kumimoji="1" lang="zh-CN" altLang="en-US"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1797"/>
                                        </p:tgtEl>
                                        <p:attrNameLst>
                                          <p:attrName>style.visibility</p:attrName>
                                        </p:attrNameLst>
                                      </p:cBhvr>
                                      <p:to>
                                        <p:strVal val="visible"/>
                                      </p:to>
                                    </p:set>
                                    <p:animEffect transition="in" filter="blinds(horizontal)">
                                      <p:cBhvr>
                                        <p:cTn id="7" dur="500"/>
                                        <p:tgtEl>
                                          <p:spTgt spid="161797"/>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161798"/>
                                        </p:tgtEl>
                                        <p:attrNameLst>
                                          <p:attrName>style.visibility</p:attrName>
                                        </p:attrNameLst>
                                      </p:cBhvr>
                                      <p:to>
                                        <p:strVal val="visible"/>
                                      </p:to>
                                    </p:set>
                                    <p:anim calcmode="discrete" valueType="clr">
                                      <p:cBhvr override="childStyle">
                                        <p:cTn id="12" dur="80"/>
                                        <p:tgtEl>
                                          <p:spTgt spid="161798"/>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161798"/>
                                        </p:tgtEl>
                                        <p:attrNameLst>
                                          <p:attrName>fillcolor</p:attrName>
                                        </p:attrNameLst>
                                      </p:cBhvr>
                                      <p:tavLst>
                                        <p:tav tm="0">
                                          <p:val>
                                            <p:clrVal>
                                              <a:schemeClr val="accent2"/>
                                            </p:clrVal>
                                          </p:val>
                                        </p:tav>
                                        <p:tav tm="50000">
                                          <p:val>
                                            <p:clrVal>
                                              <a:schemeClr val="hlink"/>
                                            </p:clrVal>
                                          </p:val>
                                        </p:tav>
                                      </p:tavLst>
                                    </p:anim>
                                    <p:set>
                                      <p:cBhvr>
                                        <p:cTn id="14" dur="80"/>
                                        <p:tgtEl>
                                          <p:spTgt spid="161798"/>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161800"/>
                                        </p:tgtEl>
                                        <p:attrNameLst>
                                          <p:attrName>style.visibility</p:attrName>
                                        </p:attrNameLst>
                                      </p:cBhvr>
                                      <p:to>
                                        <p:strVal val="visible"/>
                                      </p:to>
                                    </p:set>
                                    <p:anim calcmode="discrete" valueType="clr">
                                      <p:cBhvr override="childStyle">
                                        <p:cTn id="19" dur="80"/>
                                        <p:tgtEl>
                                          <p:spTgt spid="161800"/>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161800"/>
                                        </p:tgtEl>
                                        <p:attrNameLst>
                                          <p:attrName>fillcolor</p:attrName>
                                        </p:attrNameLst>
                                      </p:cBhvr>
                                      <p:tavLst>
                                        <p:tav tm="0">
                                          <p:val>
                                            <p:clrVal>
                                              <a:schemeClr val="accent2"/>
                                            </p:clrVal>
                                          </p:val>
                                        </p:tav>
                                        <p:tav tm="50000">
                                          <p:val>
                                            <p:clrVal>
                                              <a:schemeClr val="hlink"/>
                                            </p:clrVal>
                                          </p:val>
                                        </p:tav>
                                      </p:tavLst>
                                    </p:anim>
                                    <p:set>
                                      <p:cBhvr>
                                        <p:cTn id="21" dur="80"/>
                                        <p:tgtEl>
                                          <p:spTgt spid="161800"/>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grpId="0" nodeType="clickEffect">
                                  <p:stCondLst>
                                    <p:cond delay="0"/>
                                  </p:stCondLst>
                                  <p:iterate type="lt">
                                    <p:tmPct val="50000"/>
                                  </p:iterate>
                                  <p:childTnLst>
                                    <p:set>
                                      <p:cBhvr>
                                        <p:cTn id="25" dur="1" fill="hold">
                                          <p:stCondLst>
                                            <p:cond delay="0"/>
                                          </p:stCondLst>
                                        </p:cTn>
                                        <p:tgtEl>
                                          <p:spTgt spid="161801"/>
                                        </p:tgtEl>
                                        <p:attrNameLst>
                                          <p:attrName>style.visibility</p:attrName>
                                        </p:attrNameLst>
                                      </p:cBhvr>
                                      <p:to>
                                        <p:strVal val="visible"/>
                                      </p:to>
                                    </p:set>
                                    <p:anim calcmode="discrete" valueType="clr">
                                      <p:cBhvr override="childStyle">
                                        <p:cTn id="26" dur="80"/>
                                        <p:tgtEl>
                                          <p:spTgt spid="161801"/>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161801"/>
                                        </p:tgtEl>
                                        <p:attrNameLst>
                                          <p:attrName>fillcolor</p:attrName>
                                        </p:attrNameLst>
                                      </p:cBhvr>
                                      <p:tavLst>
                                        <p:tav tm="0">
                                          <p:val>
                                            <p:clrVal>
                                              <a:schemeClr val="accent2"/>
                                            </p:clrVal>
                                          </p:val>
                                        </p:tav>
                                        <p:tav tm="50000">
                                          <p:val>
                                            <p:clrVal>
                                              <a:schemeClr val="hlink"/>
                                            </p:clrVal>
                                          </p:val>
                                        </p:tav>
                                      </p:tavLst>
                                    </p:anim>
                                    <p:set>
                                      <p:cBhvr>
                                        <p:cTn id="28" dur="80"/>
                                        <p:tgtEl>
                                          <p:spTgt spid="161801"/>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grpId="0" nodeType="clickEffect">
                                  <p:stCondLst>
                                    <p:cond delay="0"/>
                                  </p:stCondLst>
                                  <p:iterate type="lt">
                                    <p:tmPct val="50000"/>
                                  </p:iterate>
                                  <p:childTnLst>
                                    <p:set>
                                      <p:cBhvr>
                                        <p:cTn id="32" dur="1" fill="hold">
                                          <p:stCondLst>
                                            <p:cond delay="0"/>
                                          </p:stCondLst>
                                        </p:cTn>
                                        <p:tgtEl>
                                          <p:spTgt spid="161799"/>
                                        </p:tgtEl>
                                        <p:attrNameLst>
                                          <p:attrName>style.visibility</p:attrName>
                                        </p:attrNameLst>
                                      </p:cBhvr>
                                      <p:to>
                                        <p:strVal val="visible"/>
                                      </p:to>
                                    </p:set>
                                    <p:anim calcmode="discrete" valueType="clr">
                                      <p:cBhvr override="childStyle">
                                        <p:cTn id="33" dur="80"/>
                                        <p:tgtEl>
                                          <p:spTgt spid="161799"/>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161799"/>
                                        </p:tgtEl>
                                        <p:attrNameLst>
                                          <p:attrName>fillcolor</p:attrName>
                                        </p:attrNameLst>
                                      </p:cBhvr>
                                      <p:tavLst>
                                        <p:tav tm="0">
                                          <p:val>
                                            <p:clrVal>
                                              <a:schemeClr val="accent2"/>
                                            </p:clrVal>
                                          </p:val>
                                        </p:tav>
                                        <p:tav tm="50000">
                                          <p:val>
                                            <p:clrVal>
                                              <a:schemeClr val="hlink"/>
                                            </p:clrVal>
                                          </p:val>
                                        </p:tav>
                                      </p:tavLst>
                                    </p:anim>
                                    <p:set>
                                      <p:cBhvr>
                                        <p:cTn id="35" dur="80"/>
                                        <p:tgtEl>
                                          <p:spTgt spid="161799"/>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27" presetClass="entr" presetSubtype="0" fill="hold" grpId="0" nodeType="clickEffect">
                                  <p:stCondLst>
                                    <p:cond delay="0"/>
                                  </p:stCondLst>
                                  <p:iterate type="lt">
                                    <p:tmPct val="50000"/>
                                  </p:iterate>
                                  <p:childTnLst>
                                    <p:set>
                                      <p:cBhvr>
                                        <p:cTn id="39" dur="1" fill="hold">
                                          <p:stCondLst>
                                            <p:cond delay="0"/>
                                          </p:stCondLst>
                                        </p:cTn>
                                        <p:tgtEl>
                                          <p:spTgt spid="161802"/>
                                        </p:tgtEl>
                                        <p:attrNameLst>
                                          <p:attrName>style.visibility</p:attrName>
                                        </p:attrNameLst>
                                      </p:cBhvr>
                                      <p:to>
                                        <p:strVal val="visible"/>
                                      </p:to>
                                    </p:set>
                                    <p:anim calcmode="discrete" valueType="clr">
                                      <p:cBhvr override="childStyle">
                                        <p:cTn id="40" dur="80"/>
                                        <p:tgtEl>
                                          <p:spTgt spid="161802"/>
                                        </p:tgtEl>
                                        <p:attrNameLst>
                                          <p:attrName>style.color</p:attrName>
                                        </p:attrNameLst>
                                      </p:cBhvr>
                                      <p:tavLst>
                                        <p:tav tm="0">
                                          <p:val>
                                            <p:clrVal>
                                              <a:schemeClr val="accent2"/>
                                            </p:clrVal>
                                          </p:val>
                                        </p:tav>
                                        <p:tav tm="50000">
                                          <p:val>
                                            <p:clrVal>
                                              <a:schemeClr val="hlink"/>
                                            </p:clrVal>
                                          </p:val>
                                        </p:tav>
                                      </p:tavLst>
                                    </p:anim>
                                    <p:anim calcmode="discrete" valueType="clr">
                                      <p:cBhvr>
                                        <p:cTn id="41" dur="80"/>
                                        <p:tgtEl>
                                          <p:spTgt spid="161802"/>
                                        </p:tgtEl>
                                        <p:attrNameLst>
                                          <p:attrName>fillcolor</p:attrName>
                                        </p:attrNameLst>
                                      </p:cBhvr>
                                      <p:tavLst>
                                        <p:tav tm="0">
                                          <p:val>
                                            <p:clrVal>
                                              <a:schemeClr val="accent2"/>
                                            </p:clrVal>
                                          </p:val>
                                        </p:tav>
                                        <p:tav tm="50000">
                                          <p:val>
                                            <p:clrVal>
                                              <a:schemeClr val="hlink"/>
                                            </p:clrVal>
                                          </p:val>
                                        </p:tav>
                                      </p:tavLst>
                                    </p:anim>
                                    <p:set>
                                      <p:cBhvr>
                                        <p:cTn id="42" dur="80"/>
                                        <p:tgtEl>
                                          <p:spTgt spid="161802"/>
                                        </p:tgtEl>
                                        <p:attrNameLst>
                                          <p:attrName>fill.type</p:attrName>
                                        </p:attrNameLst>
                                      </p:cBhvr>
                                      <p:to>
                                        <p:strVal val="solid"/>
                                      </p:to>
                                    </p:set>
                                  </p:childTnLst>
                                </p:cTn>
                              </p:par>
                            </p:childTnLst>
                          </p:cTn>
                        </p:par>
                      </p:childTnLst>
                    </p:cTn>
                  </p:par>
                  <p:par>
                    <p:cTn id="43" fill="hold">
                      <p:stCondLst>
                        <p:cond delay="indefinite"/>
                      </p:stCondLst>
                      <p:childTnLst>
                        <p:par>
                          <p:cTn id="44" fill="hold">
                            <p:stCondLst>
                              <p:cond delay="0"/>
                            </p:stCondLst>
                            <p:childTnLst>
                              <p:par>
                                <p:cTn id="45" presetID="27" presetClass="entr" presetSubtype="0" fill="hold" grpId="0" nodeType="clickEffect">
                                  <p:stCondLst>
                                    <p:cond delay="0"/>
                                  </p:stCondLst>
                                  <p:iterate type="lt">
                                    <p:tmPct val="50000"/>
                                  </p:iterate>
                                  <p:childTnLst>
                                    <p:set>
                                      <p:cBhvr>
                                        <p:cTn id="46" dur="1" fill="hold">
                                          <p:stCondLst>
                                            <p:cond delay="0"/>
                                          </p:stCondLst>
                                        </p:cTn>
                                        <p:tgtEl>
                                          <p:spTgt spid="161803"/>
                                        </p:tgtEl>
                                        <p:attrNameLst>
                                          <p:attrName>style.visibility</p:attrName>
                                        </p:attrNameLst>
                                      </p:cBhvr>
                                      <p:to>
                                        <p:strVal val="visible"/>
                                      </p:to>
                                    </p:set>
                                    <p:anim calcmode="discrete" valueType="clr">
                                      <p:cBhvr override="childStyle">
                                        <p:cTn id="47" dur="80"/>
                                        <p:tgtEl>
                                          <p:spTgt spid="161803"/>
                                        </p:tgtEl>
                                        <p:attrNameLst>
                                          <p:attrName>style.color</p:attrName>
                                        </p:attrNameLst>
                                      </p:cBhvr>
                                      <p:tavLst>
                                        <p:tav tm="0">
                                          <p:val>
                                            <p:clrVal>
                                              <a:schemeClr val="accent2"/>
                                            </p:clrVal>
                                          </p:val>
                                        </p:tav>
                                        <p:tav tm="50000">
                                          <p:val>
                                            <p:clrVal>
                                              <a:schemeClr val="hlink"/>
                                            </p:clrVal>
                                          </p:val>
                                        </p:tav>
                                      </p:tavLst>
                                    </p:anim>
                                    <p:anim calcmode="discrete" valueType="clr">
                                      <p:cBhvr>
                                        <p:cTn id="48" dur="80"/>
                                        <p:tgtEl>
                                          <p:spTgt spid="161803"/>
                                        </p:tgtEl>
                                        <p:attrNameLst>
                                          <p:attrName>fillcolor</p:attrName>
                                        </p:attrNameLst>
                                      </p:cBhvr>
                                      <p:tavLst>
                                        <p:tav tm="0">
                                          <p:val>
                                            <p:clrVal>
                                              <a:schemeClr val="accent2"/>
                                            </p:clrVal>
                                          </p:val>
                                        </p:tav>
                                        <p:tav tm="50000">
                                          <p:val>
                                            <p:clrVal>
                                              <a:schemeClr val="hlink"/>
                                            </p:clrVal>
                                          </p:val>
                                        </p:tav>
                                      </p:tavLst>
                                    </p:anim>
                                    <p:set>
                                      <p:cBhvr>
                                        <p:cTn id="49" dur="80"/>
                                        <p:tgtEl>
                                          <p:spTgt spid="16180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p:bldP spid="161798" grpId="0"/>
      <p:bldP spid="161799" grpId="0"/>
      <p:bldP spid="161800" grpId="0"/>
      <p:bldP spid="161801" grpId="0"/>
      <p:bldP spid="161802" grpId="0"/>
      <p:bldP spid="16180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p:cNvSpPr txBox="1">
            <a:spLocks noChangeArrowheads="1"/>
          </p:cNvSpPr>
          <p:nvPr/>
        </p:nvSpPr>
        <p:spPr bwMode="blackWhite">
          <a:xfrm>
            <a:off x="900113" y="3216275"/>
            <a:ext cx="3384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rgbClr val="FF0000"/>
                </a:solidFill>
                <a:latin typeface="Times New Roman" panose="02020603050405020304" pitchFamily="18" charset="0"/>
              </a:rPr>
              <a:t>4. </a:t>
            </a:r>
            <a:r>
              <a:rPr kumimoji="1" lang="zh-CN" altLang="en-US" sz="2800" b="1">
                <a:solidFill>
                  <a:srgbClr val="FF0000"/>
                </a:solidFill>
                <a:latin typeface="Times New Roman" panose="02020603050405020304" pitchFamily="18" charset="0"/>
              </a:rPr>
              <a:t>多普勒效应</a:t>
            </a:r>
            <a:endParaRPr kumimoji="1" lang="zh-CN" altLang="en-US" sz="2800" b="1">
              <a:solidFill>
                <a:srgbClr val="FF0000"/>
              </a:solidFill>
              <a:latin typeface="Times New Roman" panose="02020603050405020304" pitchFamily="18" charset="0"/>
            </a:endParaRPr>
          </a:p>
        </p:txBody>
      </p:sp>
      <p:sp>
        <p:nvSpPr>
          <p:cNvPr id="162819" name="Text Box 3"/>
          <p:cNvSpPr txBox="1">
            <a:spLocks noChangeArrowheads="1"/>
          </p:cNvSpPr>
          <p:nvPr/>
        </p:nvSpPr>
        <p:spPr bwMode="blackWhite">
          <a:xfrm>
            <a:off x="1295400" y="3978275"/>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Times New Roman" panose="02020603050405020304" pitchFamily="18" charset="0"/>
              </a:rPr>
              <a:t>一般形式</a:t>
            </a:r>
            <a:endParaRPr kumimoji="1" lang="zh-CN" altLang="en-US" b="1">
              <a:latin typeface="Times New Roman" panose="02020603050405020304" pitchFamily="18" charset="0"/>
            </a:endParaRPr>
          </a:p>
        </p:txBody>
      </p:sp>
      <p:graphicFrame>
        <p:nvGraphicFramePr>
          <p:cNvPr id="162820" name="Object 4"/>
          <p:cNvGraphicFramePr>
            <a:graphicFrameLocks noChangeAspect="1"/>
          </p:cNvGraphicFramePr>
          <p:nvPr/>
        </p:nvGraphicFramePr>
        <p:xfrm>
          <a:off x="3174214" y="3720719"/>
          <a:ext cx="2011363" cy="977900"/>
        </p:xfrm>
        <a:graphic>
          <a:graphicData uri="http://schemas.openxmlformats.org/presentationml/2006/ole">
            <mc:AlternateContent xmlns:mc="http://schemas.openxmlformats.org/markup-compatibility/2006">
              <mc:Choice xmlns:v="urn:schemas-microsoft-com:vml" Requires="v">
                <p:oleObj spid="_x0000_s29775" name="Equation" r:id="rId1" imgW="1036955" imgH="501650" progId="Equation.DSMT4">
                  <p:embed/>
                </p:oleObj>
              </mc:Choice>
              <mc:Fallback>
                <p:oleObj name="Equation" r:id="rId1" imgW="1036955" imgH="50165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3174214" y="3720719"/>
                        <a:ext cx="2011363"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2821" name="Rectangle 5"/>
          <p:cNvSpPr>
            <a:spLocks noChangeArrowheads="1"/>
          </p:cNvSpPr>
          <p:nvPr/>
        </p:nvSpPr>
        <p:spPr bwMode="blackWhite">
          <a:xfrm>
            <a:off x="914400" y="549275"/>
            <a:ext cx="441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FF0000"/>
                </a:solidFill>
                <a:latin typeface="Times New Roman" panose="02020603050405020304" pitchFamily="18" charset="0"/>
              </a:rPr>
              <a:t>3. </a:t>
            </a:r>
            <a:r>
              <a:rPr kumimoji="1" lang="zh-CN" altLang="en-US" sz="2800" b="1" dirty="0">
                <a:solidFill>
                  <a:srgbClr val="FF0000"/>
                </a:solidFill>
                <a:latin typeface="Times New Roman" panose="02020603050405020304" pitchFamily="18" charset="0"/>
              </a:rPr>
              <a:t>波的传播及叠加</a:t>
            </a:r>
            <a:endParaRPr kumimoji="1" lang="zh-CN" altLang="en-US" sz="2800" b="1" dirty="0">
              <a:solidFill>
                <a:srgbClr val="FF0000"/>
              </a:solidFill>
              <a:latin typeface="Times New Roman" panose="02020603050405020304" pitchFamily="18" charset="0"/>
            </a:endParaRPr>
          </a:p>
        </p:txBody>
      </p:sp>
      <p:sp>
        <p:nvSpPr>
          <p:cNvPr id="162822" name="Rectangle 6"/>
          <p:cNvSpPr>
            <a:spLocks noChangeArrowheads="1"/>
          </p:cNvSpPr>
          <p:nvPr/>
        </p:nvSpPr>
        <p:spPr bwMode="blackWhite">
          <a:xfrm>
            <a:off x="914400" y="1768475"/>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latin typeface="Times New Roman" panose="02020603050405020304" pitchFamily="18" charset="0"/>
              </a:rPr>
              <a:t>(2). </a:t>
            </a:r>
            <a:r>
              <a:rPr kumimoji="1" lang="zh-CN" altLang="en-US" b="1">
                <a:latin typeface="Times New Roman" panose="02020603050405020304" pitchFamily="18" charset="0"/>
              </a:rPr>
              <a:t>驻波</a:t>
            </a:r>
            <a:endParaRPr kumimoji="1" lang="zh-CN" altLang="en-US" b="1">
              <a:latin typeface="Times New Roman" panose="02020603050405020304" pitchFamily="18" charset="0"/>
            </a:endParaRPr>
          </a:p>
        </p:txBody>
      </p:sp>
      <p:sp>
        <p:nvSpPr>
          <p:cNvPr id="162823" name="Rectangle 7"/>
          <p:cNvSpPr>
            <a:spLocks noChangeArrowheads="1"/>
          </p:cNvSpPr>
          <p:nvPr/>
        </p:nvSpPr>
        <p:spPr bwMode="blackWhite">
          <a:xfrm>
            <a:off x="914400" y="1158875"/>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latin typeface="Times New Roman" panose="02020603050405020304" pitchFamily="18" charset="0"/>
              </a:rPr>
              <a:t>(1). </a:t>
            </a:r>
            <a:r>
              <a:rPr kumimoji="1" lang="zh-CN" altLang="en-US" b="1">
                <a:latin typeface="Times New Roman" panose="02020603050405020304" pitchFamily="18" charset="0"/>
              </a:rPr>
              <a:t>波的干涉</a:t>
            </a:r>
            <a:endParaRPr kumimoji="1" lang="zh-CN" altLang="en-US" b="1">
              <a:latin typeface="Times New Roman" panose="02020603050405020304" pitchFamily="18" charset="0"/>
            </a:endParaRPr>
          </a:p>
        </p:txBody>
      </p:sp>
      <p:sp>
        <p:nvSpPr>
          <p:cNvPr id="162824" name="Rectangle 8"/>
          <p:cNvSpPr>
            <a:spLocks noChangeArrowheads="1"/>
          </p:cNvSpPr>
          <p:nvPr/>
        </p:nvSpPr>
        <p:spPr bwMode="blackWhite">
          <a:xfrm>
            <a:off x="914400" y="2454275"/>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latin typeface="Times New Roman" panose="02020603050405020304" pitchFamily="18" charset="0"/>
              </a:rPr>
              <a:t>(3). </a:t>
            </a:r>
            <a:r>
              <a:rPr kumimoji="1" lang="zh-CN" altLang="en-US" b="1"/>
              <a:t>半波损失</a:t>
            </a:r>
            <a:endParaRPr kumimoji="1" lang="zh-CN" altLang="en-US" b="1"/>
          </a:p>
        </p:txBody>
      </p:sp>
      <p:sp>
        <p:nvSpPr>
          <p:cNvPr id="162827" name="Text Box 11"/>
          <p:cNvSpPr txBox="1">
            <a:spLocks noChangeArrowheads="1"/>
          </p:cNvSpPr>
          <p:nvPr/>
        </p:nvSpPr>
        <p:spPr bwMode="blackWhite">
          <a:xfrm>
            <a:off x="900113" y="5048250"/>
            <a:ext cx="5688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rgbClr val="FF0000"/>
                </a:solidFill>
                <a:latin typeface="Times New Roman" panose="02020603050405020304" pitchFamily="18" charset="0"/>
              </a:rPr>
              <a:t>5. </a:t>
            </a:r>
            <a:r>
              <a:rPr kumimoji="1" lang="zh-CN" altLang="en-US" sz="2800" b="1">
                <a:solidFill>
                  <a:srgbClr val="FF0000"/>
                </a:solidFill>
                <a:latin typeface="Times New Roman" panose="02020603050405020304" pitchFamily="18" charset="0"/>
              </a:rPr>
              <a:t>坡印亭矢量的计算：</a:t>
            </a:r>
            <a:endParaRPr kumimoji="1" lang="zh-CN" altLang="en-US" sz="2800" b="1">
              <a:solidFill>
                <a:srgbClr val="FF0000"/>
              </a:solidFill>
              <a:latin typeface="Times New Roman" panose="02020603050405020304" pitchFamily="18" charset="0"/>
            </a:endParaRPr>
          </a:p>
        </p:txBody>
      </p:sp>
      <p:graphicFrame>
        <p:nvGraphicFramePr>
          <p:cNvPr id="162828" name="Object 12"/>
          <p:cNvGraphicFramePr>
            <a:graphicFrameLocks noChangeAspect="1"/>
          </p:cNvGraphicFramePr>
          <p:nvPr/>
        </p:nvGraphicFramePr>
        <p:xfrm>
          <a:off x="3635375" y="5624513"/>
          <a:ext cx="1804988" cy="612775"/>
        </p:xfrm>
        <a:graphic>
          <a:graphicData uri="http://schemas.openxmlformats.org/presentationml/2006/ole">
            <mc:AlternateContent xmlns:mc="http://schemas.openxmlformats.org/markup-compatibility/2006">
              <mc:Choice xmlns:v="urn:schemas-microsoft-com:vml" Requires="v">
                <p:oleObj spid="_x0000_s29776" name="公式" r:id="rId3" imgW="791845" imgH="267335" progId="Equation.3">
                  <p:embed/>
                </p:oleObj>
              </mc:Choice>
              <mc:Fallback>
                <p:oleObj name="公式" r:id="rId3" imgW="791845" imgH="267335"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375" y="5624513"/>
                        <a:ext cx="1804988"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62823"/>
                                        </p:tgtEl>
                                        <p:attrNameLst>
                                          <p:attrName>style.visibility</p:attrName>
                                        </p:attrNameLst>
                                      </p:cBhvr>
                                      <p:to>
                                        <p:strVal val="visible"/>
                                      </p:to>
                                    </p:set>
                                    <p:anim calcmode="discrete" valueType="clr">
                                      <p:cBhvr override="childStyle">
                                        <p:cTn id="7" dur="80"/>
                                        <p:tgtEl>
                                          <p:spTgt spid="16282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62823"/>
                                        </p:tgtEl>
                                        <p:attrNameLst>
                                          <p:attrName>fillcolor</p:attrName>
                                        </p:attrNameLst>
                                      </p:cBhvr>
                                      <p:tavLst>
                                        <p:tav tm="0">
                                          <p:val>
                                            <p:clrVal>
                                              <a:schemeClr val="accent2"/>
                                            </p:clrVal>
                                          </p:val>
                                        </p:tav>
                                        <p:tav tm="50000">
                                          <p:val>
                                            <p:clrVal>
                                              <a:schemeClr val="hlink"/>
                                            </p:clrVal>
                                          </p:val>
                                        </p:tav>
                                      </p:tavLst>
                                    </p:anim>
                                    <p:set>
                                      <p:cBhvr>
                                        <p:cTn id="9" dur="80"/>
                                        <p:tgtEl>
                                          <p:spTgt spid="16282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162822"/>
                                        </p:tgtEl>
                                        <p:attrNameLst>
                                          <p:attrName>style.visibility</p:attrName>
                                        </p:attrNameLst>
                                      </p:cBhvr>
                                      <p:to>
                                        <p:strVal val="visible"/>
                                      </p:to>
                                    </p:set>
                                    <p:anim calcmode="discrete" valueType="clr">
                                      <p:cBhvr override="childStyle">
                                        <p:cTn id="14" dur="80"/>
                                        <p:tgtEl>
                                          <p:spTgt spid="162822"/>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62822"/>
                                        </p:tgtEl>
                                        <p:attrNameLst>
                                          <p:attrName>fillcolor</p:attrName>
                                        </p:attrNameLst>
                                      </p:cBhvr>
                                      <p:tavLst>
                                        <p:tav tm="0">
                                          <p:val>
                                            <p:clrVal>
                                              <a:schemeClr val="accent2"/>
                                            </p:clrVal>
                                          </p:val>
                                        </p:tav>
                                        <p:tav tm="50000">
                                          <p:val>
                                            <p:clrVal>
                                              <a:schemeClr val="hlink"/>
                                            </p:clrVal>
                                          </p:val>
                                        </p:tav>
                                      </p:tavLst>
                                    </p:anim>
                                    <p:set>
                                      <p:cBhvr>
                                        <p:cTn id="16" dur="80"/>
                                        <p:tgtEl>
                                          <p:spTgt spid="162822"/>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162824"/>
                                        </p:tgtEl>
                                        <p:attrNameLst>
                                          <p:attrName>style.visibility</p:attrName>
                                        </p:attrNameLst>
                                      </p:cBhvr>
                                      <p:to>
                                        <p:strVal val="visible"/>
                                      </p:to>
                                    </p:set>
                                    <p:anim calcmode="discrete" valueType="clr">
                                      <p:cBhvr override="childStyle">
                                        <p:cTn id="21" dur="80"/>
                                        <p:tgtEl>
                                          <p:spTgt spid="162824"/>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62824"/>
                                        </p:tgtEl>
                                        <p:attrNameLst>
                                          <p:attrName>fillcolor</p:attrName>
                                        </p:attrNameLst>
                                      </p:cBhvr>
                                      <p:tavLst>
                                        <p:tav tm="0">
                                          <p:val>
                                            <p:clrVal>
                                              <a:schemeClr val="accent2"/>
                                            </p:clrVal>
                                          </p:val>
                                        </p:tav>
                                        <p:tav tm="50000">
                                          <p:val>
                                            <p:clrVal>
                                              <a:schemeClr val="hlink"/>
                                            </p:clrVal>
                                          </p:val>
                                        </p:tav>
                                      </p:tavLst>
                                    </p:anim>
                                    <p:set>
                                      <p:cBhvr>
                                        <p:cTn id="23" dur="80"/>
                                        <p:tgtEl>
                                          <p:spTgt spid="162824"/>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62818"/>
                                        </p:tgtEl>
                                        <p:attrNameLst>
                                          <p:attrName>style.visibility</p:attrName>
                                        </p:attrNameLst>
                                      </p:cBhvr>
                                      <p:to>
                                        <p:strVal val="visible"/>
                                      </p:to>
                                    </p:set>
                                    <p:animEffect transition="in" filter="blinds(horizontal)">
                                      <p:cBhvr>
                                        <p:cTn id="28" dur="500"/>
                                        <p:tgtEl>
                                          <p:spTgt spid="162818"/>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62819"/>
                                        </p:tgtEl>
                                        <p:attrNameLst>
                                          <p:attrName>style.visibility</p:attrName>
                                        </p:attrNameLst>
                                      </p:cBhvr>
                                      <p:to>
                                        <p:strVal val="visible"/>
                                      </p:to>
                                    </p:set>
                                    <p:animEffect transition="in" filter="blinds(horizontal)">
                                      <p:cBhvr>
                                        <p:cTn id="33" dur="500"/>
                                        <p:tgtEl>
                                          <p:spTgt spid="162819"/>
                                        </p:tgtEl>
                                      </p:cBhvr>
                                    </p:animEffect>
                                  </p:childTnLst>
                                </p:cTn>
                              </p:par>
                              <p:par>
                                <p:cTn id="34" presetID="3" presetClass="entr" presetSubtype="10" fill="hold" nodeType="withEffect">
                                  <p:stCondLst>
                                    <p:cond delay="0"/>
                                  </p:stCondLst>
                                  <p:childTnLst>
                                    <p:set>
                                      <p:cBhvr>
                                        <p:cTn id="35" dur="1" fill="hold">
                                          <p:stCondLst>
                                            <p:cond delay="0"/>
                                          </p:stCondLst>
                                        </p:cTn>
                                        <p:tgtEl>
                                          <p:spTgt spid="162820"/>
                                        </p:tgtEl>
                                        <p:attrNameLst>
                                          <p:attrName>style.visibility</p:attrName>
                                        </p:attrNameLst>
                                      </p:cBhvr>
                                      <p:to>
                                        <p:strVal val="visible"/>
                                      </p:to>
                                    </p:set>
                                    <p:animEffect transition="in" filter="blinds(horizontal)">
                                      <p:cBhvr>
                                        <p:cTn id="36" dur="500"/>
                                        <p:tgtEl>
                                          <p:spTgt spid="162820"/>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62827"/>
                                        </p:tgtEl>
                                        <p:attrNameLst>
                                          <p:attrName>style.visibility</p:attrName>
                                        </p:attrNameLst>
                                      </p:cBhvr>
                                      <p:to>
                                        <p:strVal val="visible"/>
                                      </p:to>
                                    </p:set>
                                    <p:animEffect transition="in" filter="blinds(horizontal)">
                                      <p:cBhvr>
                                        <p:cTn id="41" dur="500"/>
                                        <p:tgtEl>
                                          <p:spTgt spid="162827"/>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162828"/>
                                        </p:tgtEl>
                                        <p:attrNameLst>
                                          <p:attrName>style.visibility</p:attrName>
                                        </p:attrNameLst>
                                      </p:cBhvr>
                                      <p:to>
                                        <p:strVal val="visible"/>
                                      </p:to>
                                    </p:set>
                                    <p:animEffect transition="in" filter="blinds(horizontal)">
                                      <p:cBhvr>
                                        <p:cTn id="46" dur="500"/>
                                        <p:tgtEl>
                                          <p:spTgt spid="162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8" grpId="0"/>
      <p:bldP spid="162819" grpId="0"/>
      <p:bldP spid="162822" grpId="0"/>
      <p:bldP spid="162823" grpId="0"/>
      <p:bldP spid="162824" grpId="0"/>
      <p:bldP spid="16282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Text Box 4"/>
          <p:cNvSpPr txBox="1">
            <a:spLocks noChangeArrowheads="1"/>
          </p:cNvSpPr>
          <p:nvPr/>
        </p:nvSpPr>
        <p:spPr bwMode="auto">
          <a:xfrm>
            <a:off x="179388" y="549275"/>
            <a:ext cx="8353425"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FF0000"/>
                </a:solidFill>
                <a:latin typeface="Times New Roman" panose="02020603050405020304" pitchFamily="18" charset="0"/>
                <a:ea typeface="楷体_GB2312" panose="02010609030101010101" pitchFamily="49" charset="-122"/>
              </a:rPr>
              <a:t>例</a:t>
            </a:r>
            <a:r>
              <a:rPr lang="en-US" altLang="zh-CN" sz="3200" b="1" dirty="0">
                <a:solidFill>
                  <a:srgbClr val="FF0000"/>
                </a:solidFill>
                <a:latin typeface="Times New Roman" panose="02020603050405020304" pitchFamily="18" charset="0"/>
                <a:ea typeface="楷体_GB2312" panose="02010609030101010101" pitchFamily="49" charset="-122"/>
              </a:rPr>
              <a:t>1</a:t>
            </a:r>
            <a:r>
              <a:rPr lang="zh-CN" altLang="en-US" sz="3200" b="1" dirty="0">
                <a:solidFill>
                  <a:srgbClr val="FF0000"/>
                </a:solidFill>
                <a:latin typeface="Times New Roman" panose="02020603050405020304" pitchFamily="18" charset="0"/>
                <a:ea typeface="楷体_GB2312" panose="02010609030101010101" pitchFamily="49" charset="-122"/>
              </a:rPr>
              <a:t>：</a:t>
            </a:r>
            <a:r>
              <a:rPr kumimoji="1" lang="zh-CN" altLang="en-US" sz="3200" dirty="0">
                <a:latin typeface="黑体" panose="02010609060101010101" pitchFamily="49" charset="-122"/>
                <a:ea typeface="黑体" panose="02010609060101010101" pitchFamily="49" charset="-122"/>
              </a:rPr>
              <a:t>有一以速度</a:t>
            </a:r>
            <a:r>
              <a:rPr kumimoji="1" lang="en-US" altLang="zh-CN" sz="3200" i="1" dirty="0">
                <a:latin typeface="Times New Roman" panose="02020603050405020304" pitchFamily="18" charset="0"/>
                <a:ea typeface="黑体" panose="02010609060101010101" pitchFamily="49" charset="-122"/>
              </a:rPr>
              <a:t>u</a:t>
            </a:r>
            <a:r>
              <a:rPr kumimoji="1" lang="zh-CN" altLang="en-US" sz="3200" dirty="0">
                <a:latin typeface="黑体" panose="02010609060101010101" pitchFamily="49" charset="-122"/>
                <a:ea typeface="黑体" panose="02010609060101010101" pitchFamily="49" charset="-122"/>
              </a:rPr>
              <a:t>沿</a:t>
            </a:r>
            <a:r>
              <a:rPr kumimoji="1" lang="en-US" altLang="zh-CN" sz="3200" i="1" dirty="0">
                <a:latin typeface="Times New Roman" panose="02020603050405020304" pitchFamily="18" charset="0"/>
                <a:ea typeface="黑体" panose="02010609060101010101" pitchFamily="49" charset="-122"/>
              </a:rPr>
              <a:t>x</a:t>
            </a:r>
            <a:r>
              <a:rPr kumimoji="1" lang="zh-CN" altLang="en-US" sz="3200" dirty="0">
                <a:latin typeface="黑体" panose="02010609060101010101" pitchFamily="49" charset="-122"/>
                <a:ea typeface="黑体" panose="02010609060101010101" pitchFamily="49" charset="-122"/>
              </a:rPr>
              <a:t>轴正向传播的平面简谐波，其质点振动的振幅和角频率分别为</a:t>
            </a:r>
            <a:r>
              <a:rPr kumimoji="1" lang="en-US" altLang="zh-CN" sz="3200" i="1" dirty="0">
                <a:latin typeface="Times New Roman" panose="02020603050405020304" pitchFamily="18" charset="0"/>
                <a:ea typeface="黑体" panose="02010609060101010101" pitchFamily="49" charset="-122"/>
              </a:rPr>
              <a:t>A</a:t>
            </a:r>
            <a:r>
              <a:rPr kumimoji="1" lang="zh-CN" altLang="en-US" sz="3200" dirty="0">
                <a:latin typeface="黑体" panose="02010609060101010101" pitchFamily="49" charset="-122"/>
                <a:ea typeface="黑体" panose="02010609060101010101" pitchFamily="49" charset="-122"/>
              </a:rPr>
              <a:t>和</a:t>
            </a:r>
            <a:r>
              <a:rPr kumimoji="1" lang="el-GR" altLang="zh-CN" sz="3200" i="1" dirty="0">
                <a:latin typeface="黑体" panose="02010609060101010101" pitchFamily="49" charset="-122"/>
                <a:ea typeface="黑体" panose="02010609060101010101" pitchFamily="49" charset="-122"/>
              </a:rPr>
              <a:t>ω</a:t>
            </a:r>
            <a:r>
              <a:rPr kumimoji="1" lang="en-US" altLang="zh-CN" sz="3200" dirty="0">
                <a:latin typeface="黑体" panose="02010609060101010101" pitchFamily="49" charset="-122"/>
                <a:ea typeface="黑体" panose="02010609060101010101" pitchFamily="49" charset="-122"/>
              </a:rPr>
              <a:t>, </a:t>
            </a:r>
            <a:r>
              <a:rPr kumimoji="1" lang="zh-CN" altLang="en-US" sz="3200" dirty="0">
                <a:latin typeface="黑体" panose="02010609060101010101" pitchFamily="49" charset="-122"/>
                <a:ea typeface="黑体" panose="02010609060101010101" pitchFamily="49" charset="-122"/>
              </a:rPr>
              <a:t>设某一瞬间的波形如图所示，并以此瞬间为计时起点，分别以</a:t>
            </a:r>
            <a:r>
              <a:rPr kumimoji="1" lang="en-US" altLang="zh-CN" sz="3200" dirty="0">
                <a:latin typeface="黑体" panose="02010609060101010101" pitchFamily="49" charset="-122"/>
                <a:ea typeface="黑体" panose="02010609060101010101" pitchFamily="49" charset="-122"/>
              </a:rPr>
              <a:t>o</a:t>
            </a:r>
            <a:r>
              <a:rPr kumimoji="1" lang="zh-CN" altLang="en-US" sz="3200" dirty="0">
                <a:latin typeface="黑体" panose="02010609060101010101" pitchFamily="49" charset="-122"/>
                <a:ea typeface="黑体" panose="02010609060101010101" pitchFamily="49" charset="-122"/>
              </a:rPr>
              <a:t>和</a:t>
            </a:r>
            <a:r>
              <a:rPr kumimoji="1" lang="en-US" altLang="zh-CN" sz="3200" dirty="0">
                <a:latin typeface="黑体" panose="02010609060101010101" pitchFamily="49" charset="-122"/>
                <a:ea typeface="黑体" panose="02010609060101010101" pitchFamily="49" charset="-122"/>
              </a:rPr>
              <a:t>p</a:t>
            </a:r>
            <a:r>
              <a:rPr kumimoji="1" lang="zh-CN" altLang="en-US" sz="3200" dirty="0">
                <a:latin typeface="黑体" panose="02010609060101010101" pitchFamily="49" charset="-122"/>
                <a:ea typeface="黑体" panose="02010609060101010101" pitchFamily="49" charset="-122"/>
              </a:rPr>
              <a:t>点为坐标原点，写出波动表达式。</a:t>
            </a:r>
            <a:endParaRPr kumimoji="1" lang="zh-CN" altLang="en-US" sz="3200" dirty="0">
              <a:latin typeface="黑体" panose="02010609060101010101" pitchFamily="49" charset="-122"/>
              <a:ea typeface="黑体" panose="02010609060101010101" pitchFamily="49" charset="-122"/>
            </a:endParaRPr>
          </a:p>
        </p:txBody>
      </p:sp>
      <p:graphicFrame>
        <p:nvGraphicFramePr>
          <p:cNvPr id="30722" name="Object 24"/>
          <p:cNvGraphicFramePr>
            <a:graphicFrameLocks noChangeAspect="1"/>
          </p:cNvGraphicFramePr>
          <p:nvPr/>
        </p:nvGraphicFramePr>
        <p:xfrm>
          <a:off x="2049463" y="3524250"/>
          <a:ext cx="5402262" cy="2928938"/>
        </p:xfrm>
        <a:graphic>
          <a:graphicData uri="http://schemas.openxmlformats.org/presentationml/2006/ole">
            <mc:AlternateContent xmlns:mc="http://schemas.openxmlformats.org/markup-compatibility/2006">
              <mc:Choice xmlns:v="urn:schemas-microsoft-com:vml" Requires="v">
                <p:oleObj spid="_x0000_s30760" name="Visio" r:id="rId1" imgW="8390890" imgH="5826760" progId="Visio.Drawing.11">
                  <p:embed/>
                </p:oleObj>
              </mc:Choice>
              <mc:Fallback>
                <p:oleObj name="Visio" r:id="rId1" imgW="8390890" imgH="5826760" progId="Visio.Drawing.11">
                  <p:embed/>
                  <p:pic>
                    <p:nvPicPr>
                      <p:cNvPr id="0" name="Object 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9463" y="3524250"/>
                        <a:ext cx="5402262" cy="292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4" name="Line 25"/>
          <p:cNvSpPr>
            <a:spLocks noChangeShapeType="1"/>
          </p:cNvSpPr>
          <p:nvPr/>
        </p:nvSpPr>
        <p:spPr bwMode="auto">
          <a:xfrm>
            <a:off x="3995738" y="3716338"/>
            <a:ext cx="1008062"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0725" name="Text Box 26"/>
          <p:cNvSpPr txBox="1">
            <a:spLocks noChangeArrowheads="1"/>
          </p:cNvSpPr>
          <p:nvPr/>
        </p:nvSpPr>
        <p:spPr bwMode="auto">
          <a:xfrm>
            <a:off x="4356100" y="32845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i="1">
                <a:latin typeface="Times New Roman" panose="02020603050405020304" pitchFamily="18" charset="0"/>
              </a:rPr>
              <a:t>u</a:t>
            </a:r>
            <a:endParaRPr lang="en-US" altLang="zh-CN" i="1">
              <a:latin typeface="Times New Roman" panose="02020603050405020304" pitchFamily="18"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3"/>
          <p:cNvGrpSpPr/>
          <p:nvPr/>
        </p:nvGrpSpPr>
        <p:grpSpPr bwMode="auto">
          <a:xfrm>
            <a:off x="5940425" y="2781300"/>
            <a:ext cx="3203575" cy="2087563"/>
            <a:chOff x="3742" y="1752"/>
            <a:chExt cx="2018" cy="1315"/>
          </a:xfrm>
        </p:grpSpPr>
        <p:grpSp>
          <p:nvGrpSpPr>
            <p:cNvPr id="31790" name="Group 6"/>
            <p:cNvGrpSpPr/>
            <p:nvPr/>
          </p:nvGrpSpPr>
          <p:grpSpPr bwMode="auto">
            <a:xfrm>
              <a:off x="3852" y="1752"/>
              <a:ext cx="1908" cy="1296"/>
              <a:chOff x="3408" y="1872"/>
              <a:chExt cx="1908" cy="1296"/>
            </a:xfrm>
          </p:grpSpPr>
          <p:grpSp>
            <p:nvGrpSpPr>
              <p:cNvPr id="31793" name="Group 7"/>
              <p:cNvGrpSpPr/>
              <p:nvPr/>
            </p:nvGrpSpPr>
            <p:grpSpPr bwMode="auto">
              <a:xfrm>
                <a:off x="3408" y="1872"/>
                <a:ext cx="1908" cy="1296"/>
                <a:chOff x="3408" y="1872"/>
                <a:chExt cx="1908" cy="1296"/>
              </a:xfrm>
            </p:grpSpPr>
            <p:sp>
              <p:nvSpPr>
                <p:cNvPr id="31796" name="Oval 8"/>
                <p:cNvSpPr>
                  <a:spLocks noChangeArrowheads="1"/>
                </p:cNvSpPr>
                <p:nvPr/>
              </p:nvSpPr>
              <p:spPr bwMode="auto">
                <a:xfrm>
                  <a:off x="3552" y="1872"/>
                  <a:ext cx="1344" cy="1296"/>
                </a:xfrm>
                <a:prstGeom prst="ellipse">
                  <a:avLst/>
                </a:prstGeom>
                <a:solidFill>
                  <a:schemeClr val="accent1"/>
                </a:solidFill>
                <a:ln w="9525">
                  <a:solidFill>
                    <a:schemeClr val="tx1"/>
                  </a:solidFill>
                  <a:prstDash val="lgDash"/>
                  <a:round/>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797" name="Line 9"/>
                <p:cNvSpPr>
                  <a:spLocks noChangeShapeType="1"/>
                </p:cNvSpPr>
                <p:nvPr/>
              </p:nvSpPr>
              <p:spPr bwMode="auto">
                <a:xfrm>
                  <a:off x="3408" y="2544"/>
                  <a:ext cx="172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1752" name="Object 10"/>
                <p:cNvGraphicFramePr>
                  <a:graphicFrameLocks noChangeAspect="1"/>
                </p:cNvGraphicFramePr>
                <p:nvPr/>
              </p:nvGraphicFramePr>
              <p:xfrm>
                <a:off x="4896" y="2016"/>
                <a:ext cx="192" cy="176"/>
              </p:xfrm>
              <a:graphic>
                <a:graphicData uri="http://schemas.openxmlformats.org/presentationml/2006/ole">
                  <mc:AlternateContent xmlns:mc="http://schemas.openxmlformats.org/markup-compatibility/2006">
                    <mc:Choice xmlns:v="urn:schemas-microsoft-com:vml" Requires="v">
                      <p:oleObj spid="_x0000_s32045" name="Equation" r:id="rId1" imgW="152400" imgH="139700" progId="Equation.DSMT4">
                        <p:embed/>
                      </p:oleObj>
                    </mc:Choice>
                    <mc:Fallback>
                      <p:oleObj name="Equation" r:id="rId1" imgW="152400" imgH="139700" progId="Equation.DSMT4">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6" y="2016"/>
                              <a:ext cx="19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98" name="Text Box 11"/>
                <p:cNvSpPr txBox="1">
                  <a:spLocks noChangeArrowheads="1"/>
                </p:cNvSpPr>
                <p:nvPr/>
              </p:nvSpPr>
              <p:spPr bwMode="auto">
                <a:xfrm>
                  <a:off x="5136" y="2448"/>
                  <a:ext cx="1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b="1" i="1">
                      <a:latin typeface="Times New Roman" panose="02020603050405020304" pitchFamily="18" charset="0"/>
                    </a:rPr>
                    <a:t>y</a:t>
                  </a:r>
                  <a:endParaRPr lang="en-US" altLang="zh-CN" sz="1800" b="1" i="1">
                    <a:latin typeface="Times New Roman" panose="02020603050405020304" pitchFamily="18" charset="0"/>
                  </a:endParaRPr>
                </a:p>
              </p:txBody>
            </p:sp>
            <p:sp>
              <p:nvSpPr>
                <p:cNvPr id="31799" name="Text Box 12"/>
                <p:cNvSpPr txBox="1">
                  <a:spLocks noChangeArrowheads="1"/>
                </p:cNvSpPr>
                <p:nvPr/>
              </p:nvSpPr>
              <p:spPr bwMode="auto">
                <a:xfrm>
                  <a:off x="4848" y="2544"/>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b="1" i="1">
                      <a:latin typeface="Times New Roman" panose="02020603050405020304" pitchFamily="18" charset="0"/>
                    </a:rPr>
                    <a:t>A</a:t>
                  </a:r>
                  <a:endParaRPr lang="en-US" altLang="zh-CN" sz="1800" b="1" i="1">
                    <a:latin typeface="Times New Roman" panose="02020603050405020304" pitchFamily="18" charset="0"/>
                  </a:endParaRPr>
                </a:p>
              </p:txBody>
            </p:sp>
          </p:grpSp>
          <p:sp>
            <p:nvSpPr>
              <p:cNvPr id="31794" name="Line 13"/>
              <p:cNvSpPr>
                <a:spLocks noChangeShapeType="1"/>
              </p:cNvSpPr>
              <p:nvPr/>
            </p:nvSpPr>
            <p:spPr bwMode="auto">
              <a:xfrm flipH="1" flipV="1">
                <a:off x="4896" y="2160"/>
                <a:ext cx="48" cy="9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5" name="Text Box 14"/>
              <p:cNvSpPr txBox="1">
                <a:spLocks noChangeArrowheads="1"/>
              </p:cNvSpPr>
              <p:nvPr/>
            </p:nvSpPr>
            <p:spPr bwMode="auto">
              <a:xfrm>
                <a:off x="4176" y="2544"/>
                <a:ext cx="2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i="1">
                    <a:latin typeface="Times New Roman" panose="02020603050405020304" pitchFamily="18" charset="0"/>
                  </a:rPr>
                  <a:t>M</a:t>
                </a:r>
                <a:endParaRPr lang="en-US" altLang="zh-CN" sz="1800" i="1">
                  <a:latin typeface="Times New Roman" panose="02020603050405020304" pitchFamily="18" charset="0"/>
                </a:endParaRPr>
              </a:p>
            </p:txBody>
          </p:sp>
        </p:grpSp>
        <p:sp>
          <p:nvSpPr>
            <p:cNvPr id="31791" name="Line 15"/>
            <p:cNvSpPr>
              <a:spLocks noChangeShapeType="1"/>
            </p:cNvSpPr>
            <p:nvPr/>
          </p:nvSpPr>
          <p:spPr bwMode="auto">
            <a:xfrm flipV="1">
              <a:off x="4649" y="1752"/>
              <a:ext cx="0" cy="1315"/>
            </a:xfrm>
            <a:prstGeom prst="line">
              <a:avLst/>
            </a:prstGeom>
            <a:noFill/>
            <a:ln w="9525">
              <a:solidFill>
                <a:schemeClr val="tx1"/>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1792" name="Text Box 34"/>
            <p:cNvSpPr txBox="1">
              <a:spLocks noChangeArrowheads="1"/>
            </p:cNvSpPr>
            <p:nvPr/>
          </p:nvSpPr>
          <p:spPr bwMode="auto">
            <a:xfrm>
              <a:off x="3742" y="2432"/>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i="1">
                  <a:latin typeface="Times New Roman" panose="02020603050405020304" pitchFamily="18" charset="0"/>
                </a:rPr>
                <a:t>-A</a:t>
              </a:r>
              <a:endParaRPr lang="en-US" altLang="zh-CN" sz="1800" i="1">
                <a:latin typeface="Times New Roman" panose="02020603050405020304" pitchFamily="18" charset="0"/>
              </a:endParaRPr>
            </a:p>
          </p:txBody>
        </p:sp>
      </p:grpSp>
      <p:sp>
        <p:nvSpPr>
          <p:cNvPr id="163844" name="Text Box 4"/>
          <p:cNvSpPr txBox="1">
            <a:spLocks noChangeArrowheads="1"/>
          </p:cNvSpPr>
          <p:nvPr/>
        </p:nvSpPr>
        <p:spPr bwMode="auto">
          <a:xfrm>
            <a:off x="366575" y="1176514"/>
            <a:ext cx="7561262"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1" lang="zh-CN" altLang="en-US" b="1" dirty="0">
                <a:latin typeface="Times New Roman" panose="02020603050405020304" pitchFamily="18" charset="0"/>
              </a:rPr>
              <a:t>以</a:t>
            </a:r>
            <a:r>
              <a:rPr kumimoji="1" lang="en-US" altLang="zh-CN" b="1" dirty="0">
                <a:latin typeface="Times New Roman" panose="02020603050405020304" pitchFamily="18" charset="0"/>
              </a:rPr>
              <a:t>O</a:t>
            </a:r>
            <a:r>
              <a:rPr kumimoji="1" lang="zh-CN" altLang="en-US" b="1" dirty="0">
                <a:latin typeface="Times New Roman" panose="02020603050405020304" pitchFamily="18" charset="0"/>
              </a:rPr>
              <a:t>点为坐标原点，</a:t>
            </a:r>
            <a:r>
              <a:rPr kumimoji="1" lang="en-US" altLang="zh-CN" b="1" dirty="0">
                <a:latin typeface="Times New Roman" panose="02020603050405020304" pitchFamily="18" charset="0"/>
              </a:rPr>
              <a:t>O</a:t>
            </a:r>
            <a:r>
              <a:rPr kumimoji="1" lang="zh-CN" altLang="en-US" b="1" dirty="0">
                <a:latin typeface="Times New Roman" panose="02020603050405020304" pitchFamily="18" charset="0"/>
              </a:rPr>
              <a:t>点振动方程为                                       </a:t>
            </a:r>
            <a:endParaRPr kumimoji="1" lang="zh-CN" altLang="en-US" b="1" dirty="0">
              <a:latin typeface="Times New Roman" panose="02020603050405020304" pitchFamily="18" charset="0"/>
            </a:endParaRPr>
          </a:p>
        </p:txBody>
      </p:sp>
      <p:graphicFrame>
        <p:nvGraphicFramePr>
          <p:cNvPr id="163845" name="Object 5"/>
          <p:cNvGraphicFramePr>
            <a:graphicFrameLocks noChangeAspect="1"/>
          </p:cNvGraphicFramePr>
          <p:nvPr/>
        </p:nvGraphicFramePr>
        <p:xfrm>
          <a:off x="2268538" y="1654323"/>
          <a:ext cx="3167062" cy="638175"/>
        </p:xfrm>
        <a:graphic>
          <a:graphicData uri="http://schemas.openxmlformats.org/presentationml/2006/ole">
            <mc:AlternateContent xmlns:mc="http://schemas.openxmlformats.org/markup-compatibility/2006">
              <mc:Choice xmlns:v="urn:schemas-microsoft-com:vml" Requires="v">
                <p:oleObj spid="_x0000_s32046" name="Equation" r:id="rId3" imgW="880745" imgH="178435" progId="Equation.DSMT4">
                  <p:embed/>
                </p:oleObj>
              </mc:Choice>
              <mc:Fallback>
                <p:oleObj name="Equation" r:id="rId3" imgW="880745" imgH="178435"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268538" y="1654323"/>
                        <a:ext cx="3167062"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858" name="Object 18"/>
          <p:cNvGraphicFramePr>
            <a:graphicFrameLocks noChangeAspect="1"/>
          </p:cNvGraphicFramePr>
          <p:nvPr/>
        </p:nvGraphicFramePr>
        <p:xfrm>
          <a:off x="6500813" y="2349500"/>
          <a:ext cx="685800" cy="384175"/>
        </p:xfrm>
        <a:graphic>
          <a:graphicData uri="http://schemas.openxmlformats.org/presentationml/2006/ole">
            <mc:AlternateContent xmlns:mc="http://schemas.openxmlformats.org/markup-compatibility/2006">
              <mc:Choice xmlns:v="urn:schemas-microsoft-com:vml" Requires="v">
                <p:oleObj spid="_x0000_s32047" name="Equation" r:id="rId5" imgW="316865" imgH="177800" progId="Equation.DSMT4">
                  <p:embed/>
                </p:oleObj>
              </mc:Choice>
              <mc:Fallback>
                <p:oleObj name="Equation" r:id="rId5" imgW="316865" imgH="177800" progId="Equation.DSMT4">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0813" y="2349500"/>
                        <a:ext cx="6858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59" name="Arc 19"/>
          <p:cNvSpPr/>
          <p:nvPr/>
        </p:nvSpPr>
        <p:spPr bwMode="auto">
          <a:xfrm>
            <a:off x="7380288" y="3716338"/>
            <a:ext cx="228600" cy="1524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3866" name="Line 26"/>
          <p:cNvSpPr>
            <a:spLocks noChangeShapeType="1"/>
          </p:cNvSpPr>
          <p:nvPr/>
        </p:nvSpPr>
        <p:spPr bwMode="auto">
          <a:xfrm flipV="1">
            <a:off x="7380288" y="2781300"/>
            <a:ext cx="0" cy="107950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3867" name="Text Box 27"/>
          <p:cNvSpPr txBox="1">
            <a:spLocks noChangeArrowheads="1"/>
          </p:cNvSpPr>
          <p:nvPr/>
        </p:nvSpPr>
        <p:spPr bwMode="auto">
          <a:xfrm>
            <a:off x="7178675" y="2439988"/>
            <a:ext cx="576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a:solidFill>
                  <a:srgbClr val="FF0000"/>
                </a:solidFill>
              </a:rPr>
              <a:t>O</a:t>
            </a:r>
            <a:endParaRPr lang="en-US" altLang="zh-CN" sz="1800">
              <a:solidFill>
                <a:srgbClr val="FF0000"/>
              </a:solidFill>
            </a:endParaRPr>
          </a:p>
        </p:txBody>
      </p:sp>
      <p:grpSp>
        <p:nvGrpSpPr>
          <p:cNvPr id="31758" name="Group 30"/>
          <p:cNvGrpSpPr/>
          <p:nvPr/>
        </p:nvGrpSpPr>
        <p:grpSpPr bwMode="auto">
          <a:xfrm>
            <a:off x="7812088" y="4868863"/>
            <a:ext cx="792162" cy="457200"/>
            <a:chOff x="2517" y="2069"/>
            <a:chExt cx="635" cy="295"/>
          </a:xfrm>
        </p:grpSpPr>
        <p:sp>
          <p:nvSpPr>
            <p:cNvPr id="31788" name="Line 28"/>
            <p:cNvSpPr>
              <a:spLocks noChangeShapeType="1"/>
            </p:cNvSpPr>
            <p:nvPr/>
          </p:nvSpPr>
          <p:spPr bwMode="auto">
            <a:xfrm>
              <a:off x="2517" y="2341"/>
              <a:ext cx="635"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89" name="Text Box 29"/>
            <p:cNvSpPr txBox="1">
              <a:spLocks noChangeArrowheads="1"/>
            </p:cNvSpPr>
            <p:nvPr/>
          </p:nvSpPr>
          <p:spPr bwMode="auto">
            <a:xfrm>
              <a:off x="2744" y="2069"/>
              <a:ext cx="2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i="1">
                  <a:latin typeface="Times New Roman" panose="02020603050405020304" pitchFamily="18" charset="0"/>
                </a:rPr>
                <a:t>u</a:t>
              </a:r>
              <a:endParaRPr lang="en-US" altLang="zh-CN" i="1">
                <a:latin typeface="Times New Roman" panose="02020603050405020304" pitchFamily="18" charset="0"/>
              </a:endParaRPr>
            </a:p>
          </p:txBody>
        </p:sp>
      </p:grpSp>
      <p:graphicFrame>
        <p:nvGraphicFramePr>
          <p:cNvPr id="163871" name="Object 31"/>
          <p:cNvGraphicFramePr>
            <a:graphicFrameLocks noChangeAspect="1"/>
          </p:cNvGraphicFramePr>
          <p:nvPr/>
        </p:nvGraphicFramePr>
        <p:xfrm>
          <a:off x="6864350" y="1508273"/>
          <a:ext cx="1106488" cy="881063"/>
        </p:xfrm>
        <a:graphic>
          <a:graphicData uri="http://schemas.openxmlformats.org/presentationml/2006/ole">
            <mc:AlternateContent xmlns:mc="http://schemas.openxmlformats.org/markup-compatibility/2006">
              <mc:Choice xmlns:v="urn:schemas-microsoft-com:vml" Requires="v">
                <p:oleObj spid="_x0000_s32048" name="公式" r:id="rId7" imgW="579755" imgH="457200" progId="Equation.3">
                  <p:embed/>
                </p:oleObj>
              </mc:Choice>
              <mc:Fallback>
                <p:oleObj name="公式" r:id="rId7" imgW="579755" imgH="457200" progId="Equation.3">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64350" y="1508273"/>
                        <a:ext cx="1106488"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72" name="Text Box 32"/>
          <p:cNvSpPr txBox="1">
            <a:spLocks noChangeArrowheads="1"/>
          </p:cNvSpPr>
          <p:nvPr/>
        </p:nvSpPr>
        <p:spPr bwMode="auto">
          <a:xfrm>
            <a:off x="611188" y="2276623"/>
            <a:ext cx="76327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1" lang="zh-CN" altLang="en-US" b="1">
                <a:latin typeface="Times New Roman" panose="02020603050405020304" pitchFamily="18" charset="0"/>
              </a:rPr>
              <a:t>以</a:t>
            </a:r>
            <a:r>
              <a:rPr kumimoji="1" lang="en-US" altLang="zh-CN" b="1">
                <a:latin typeface="Times New Roman" panose="02020603050405020304" pitchFamily="18" charset="0"/>
              </a:rPr>
              <a:t>O</a:t>
            </a:r>
            <a:r>
              <a:rPr kumimoji="1" lang="zh-CN" altLang="en-US" b="1">
                <a:latin typeface="Times New Roman" panose="02020603050405020304" pitchFamily="18" charset="0"/>
              </a:rPr>
              <a:t>点为坐标原点的波动表达式为                                       </a:t>
            </a:r>
            <a:endParaRPr kumimoji="1" lang="zh-CN" altLang="en-US" b="1">
              <a:latin typeface="Times New Roman" panose="02020603050405020304" pitchFamily="18" charset="0"/>
            </a:endParaRPr>
          </a:p>
        </p:txBody>
      </p:sp>
      <p:graphicFrame>
        <p:nvGraphicFramePr>
          <p:cNvPr id="163873" name="Object 33"/>
          <p:cNvGraphicFramePr>
            <a:graphicFrameLocks noChangeAspect="1"/>
          </p:cNvGraphicFramePr>
          <p:nvPr/>
        </p:nvGraphicFramePr>
        <p:xfrm>
          <a:off x="1187450" y="2806848"/>
          <a:ext cx="3889375" cy="1068388"/>
        </p:xfrm>
        <a:graphic>
          <a:graphicData uri="http://schemas.openxmlformats.org/presentationml/2006/ole">
            <mc:AlternateContent xmlns:mc="http://schemas.openxmlformats.org/markup-compatibility/2006">
              <mc:Choice xmlns:v="urn:schemas-microsoft-com:vml" Requires="v">
                <p:oleObj spid="_x0000_s32049" name="Equation" r:id="rId9" imgW="1237615" imgH="345440" progId="Equation.DSMT4">
                  <p:embed/>
                </p:oleObj>
              </mc:Choice>
              <mc:Fallback>
                <p:oleObj name="Equation" r:id="rId9" imgW="1237615" imgH="345440" progId="Equation.DSMT4">
                  <p:embed/>
                  <p:pic>
                    <p:nvPicPr>
                      <p:cNvPr id="0"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1187450" y="2806848"/>
                        <a:ext cx="3889375" cy="1068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75" name="Text Box 35"/>
          <p:cNvSpPr txBox="1">
            <a:spLocks noChangeArrowheads="1"/>
          </p:cNvSpPr>
          <p:nvPr/>
        </p:nvSpPr>
        <p:spPr bwMode="auto">
          <a:xfrm>
            <a:off x="5940425" y="3500438"/>
            <a:ext cx="576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a:solidFill>
                  <a:srgbClr val="FF0000"/>
                </a:solidFill>
              </a:rPr>
              <a:t>P</a:t>
            </a:r>
            <a:endParaRPr lang="en-US" altLang="zh-CN" sz="1800">
              <a:solidFill>
                <a:srgbClr val="FF0000"/>
              </a:solidFill>
            </a:endParaRPr>
          </a:p>
        </p:txBody>
      </p:sp>
      <p:sp>
        <p:nvSpPr>
          <p:cNvPr id="163876" name="Line 36"/>
          <p:cNvSpPr>
            <a:spLocks noChangeShapeType="1"/>
          </p:cNvSpPr>
          <p:nvPr/>
        </p:nvSpPr>
        <p:spPr bwMode="auto">
          <a:xfrm flipH="1">
            <a:off x="6300788" y="3870325"/>
            <a:ext cx="1079500" cy="0"/>
          </a:xfrm>
          <a:prstGeom prst="line">
            <a:avLst/>
          </a:prstGeom>
          <a:noFill/>
          <a:ln w="38100">
            <a:solidFill>
              <a:srgbClr val="FF0066"/>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3877" name="Arc 37"/>
          <p:cNvSpPr/>
          <p:nvPr/>
        </p:nvSpPr>
        <p:spPr bwMode="auto">
          <a:xfrm>
            <a:off x="6996113" y="3500438"/>
            <a:ext cx="774700" cy="357187"/>
          </a:xfrm>
          <a:custGeom>
            <a:avLst/>
            <a:gdLst>
              <a:gd name="T0" fmla="*/ 2147483647 w 43200"/>
              <a:gd name="T1" fmla="*/ 2147483647 h 23698"/>
              <a:gd name="T2" fmla="*/ 2147483647 w 43200"/>
              <a:gd name="T3" fmla="*/ 2147483647 h 23698"/>
              <a:gd name="T4" fmla="*/ 2147483647 w 43200"/>
              <a:gd name="T5" fmla="*/ 2147483647 h 23698"/>
              <a:gd name="T6" fmla="*/ 0 60000 65536"/>
              <a:gd name="T7" fmla="*/ 0 60000 65536"/>
              <a:gd name="T8" fmla="*/ 0 60000 65536"/>
              <a:gd name="T9" fmla="*/ 0 w 43200"/>
              <a:gd name="T10" fmla="*/ 0 h 23698"/>
              <a:gd name="T11" fmla="*/ 43200 w 43200"/>
              <a:gd name="T12" fmla="*/ 23698 h 23698"/>
            </a:gdLst>
            <a:ahLst/>
            <a:cxnLst>
              <a:cxn ang="T6">
                <a:pos x="T0" y="T1"/>
              </a:cxn>
              <a:cxn ang="T7">
                <a:pos x="T2" y="T3"/>
              </a:cxn>
              <a:cxn ang="T8">
                <a:pos x="T4" y="T5"/>
              </a:cxn>
            </a:cxnLst>
            <a:rect l="T9" t="T10" r="T11" b="T12"/>
            <a:pathLst>
              <a:path w="43200" h="23698" fill="none" extrusionOk="0">
                <a:moveTo>
                  <a:pt x="102" y="23697"/>
                </a:moveTo>
                <a:cubicBezTo>
                  <a:pt x="34" y="23000"/>
                  <a:pt x="0" y="22300"/>
                  <a:pt x="0" y="21600"/>
                </a:cubicBezTo>
                <a:cubicBezTo>
                  <a:pt x="0" y="9670"/>
                  <a:pt x="9670" y="0"/>
                  <a:pt x="21600" y="0"/>
                </a:cubicBezTo>
                <a:cubicBezTo>
                  <a:pt x="33529" y="-1"/>
                  <a:pt x="43199" y="9670"/>
                  <a:pt x="43200" y="21599"/>
                </a:cubicBezTo>
              </a:path>
              <a:path w="43200" h="23698" stroke="0" extrusionOk="0">
                <a:moveTo>
                  <a:pt x="102" y="23697"/>
                </a:moveTo>
                <a:cubicBezTo>
                  <a:pt x="34" y="23000"/>
                  <a:pt x="0" y="22300"/>
                  <a:pt x="0" y="21600"/>
                </a:cubicBezTo>
                <a:cubicBezTo>
                  <a:pt x="0" y="9670"/>
                  <a:pt x="9670" y="0"/>
                  <a:pt x="21600" y="0"/>
                </a:cubicBezTo>
                <a:cubicBezTo>
                  <a:pt x="33529" y="-1"/>
                  <a:pt x="43199" y="9670"/>
                  <a:pt x="43200" y="21599"/>
                </a:cubicBezTo>
                <a:lnTo>
                  <a:pt x="21600" y="21600"/>
                </a:lnTo>
                <a:close/>
              </a:path>
            </a:pathLst>
          </a:custGeom>
          <a:noFill/>
          <a:ln w="9525">
            <a:solidFill>
              <a:srgbClr val="FF0066"/>
            </a:solidFill>
            <a:round/>
            <a:head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63878" name="Object 38"/>
          <p:cNvGraphicFramePr>
            <a:graphicFrameLocks noChangeAspect="1"/>
          </p:cNvGraphicFramePr>
          <p:nvPr/>
        </p:nvGraphicFramePr>
        <p:xfrm>
          <a:off x="1835150" y="3957786"/>
          <a:ext cx="1470025" cy="695325"/>
        </p:xfrm>
        <a:graphic>
          <a:graphicData uri="http://schemas.openxmlformats.org/presentationml/2006/ole">
            <mc:AlternateContent xmlns:mc="http://schemas.openxmlformats.org/markup-compatibility/2006">
              <mc:Choice xmlns:v="urn:schemas-microsoft-com:vml" Requires="v">
                <p:oleObj spid="_x0000_s32050" name="公式" r:id="rId11" imgW="535305" imgH="256540" progId="Equation.3">
                  <p:embed/>
                </p:oleObj>
              </mc:Choice>
              <mc:Fallback>
                <p:oleObj name="公式" r:id="rId11" imgW="535305" imgH="256540" progId="Equation.3">
                  <p:embed/>
                  <p:pic>
                    <p:nvPicPr>
                      <p:cNvPr id="0" name="Object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35150" y="3957786"/>
                        <a:ext cx="1470025" cy="695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80" name="Text Box 40"/>
          <p:cNvSpPr txBox="1">
            <a:spLocks noChangeArrowheads="1"/>
          </p:cNvSpPr>
          <p:nvPr/>
        </p:nvSpPr>
        <p:spPr bwMode="auto">
          <a:xfrm>
            <a:off x="611188" y="4724548"/>
            <a:ext cx="727392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1" lang="zh-CN" altLang="en-US" b="1">
                <a:latin typeface="Times New Roman" panose="02020603050405020304" pitchFamily="18" charset="0"/>
              </a:rPr>
              <a:t>以</a:t>
            </a:r>
            <a:r>
              <a:rPr kumimoji="1" lang="en-US" altLang="zh-CN" b="1">
                <a:latin typeface="Times New Roman" panose="02020603050405020304" pitchFamily="18" charset="0"/>
              </a:rPr>
              <a:t>P</a:t>
            </a:r>
            <a:r>
              <a:rPr kumimoji="1" lang="zh-CN" altLang="en-US" b="1">
                <a:latin typeface="Times New Roman" panose="02020603050405020304" pitchFamily="18" charset="0"/>
              </a:rPr>
              <a:t>点为坐标原点的波动表达式为                                       </a:t>
            </a:r>
            <a:endParaRPr kumimoji="1" lang="zh-CN" altLang="en-US" b="1">
              <a:latin typeface="Times New Roman" panose="02020603050405020304" pitchFamily="18" charset="0"/>
            </a:endParaRPr>
          </a:p>
        </p:txBody>
      </p:sp>
      <p:graphicFrame>
        <p:nvGraphicFramePr>
          <p:cNvPr id="163882" name="Object 42"/>
          <p:cNvGraphicFramePr>
            <a:graphicFrameLocks noChangeAspect="1"/>
          </p:cNvGraphicFramePr>
          <p:nvPr/>
        </p:nvGraphicFramePr>
        <p:xfrm>
          <a:off x="1258888" y="5399236"/>
          <a:ext cx="3743325" cy="1054100"/>
        </p:xfrm>
        <a:graphic>
          <a:graphicData uri="http://schemas.openxmlformats.org/presentationml/2006/ole">
            <mc:AlternateContent xmlns:mc="http://schemas.openxmlformats.org/markup-compatibility/2006">
              <mc:Choice xmlns:v="urn:schemas-microsoft-com:vml" Requires="v">
                <p:oleObj spid="_x0000_s32051" name="Equation" r:id="rId13" imgW="1204595" imgH="345440" progId="Equation.DSMT4">
                  <p:embed/>
                </p:oleObj>
              </mc:Choice>
              <mc:Fallback>
                <p:oleObj name="Equation" r:id="rId13" imgW="1204595" imgH="345440" progId="Equation.DSMT4">
                  <p:embed/>
                  <p:pic>
                    <p:nvPicPr>
                      <p:cNvPr id="0" name="Object 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black">
                      <a:xfrm>
                        <a:off x="1258888" y="5399236"/>
                        <a:ext cx="3743325"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1764" name="Group 70"/>
          <p:cNvGrpSpPr/>
          <p:nvPr/>
        </p:nvGrpSpPr>
        <p:grpSpPr bwMode="auto">
          <a:xfrm>
            <a:off x="6477000" y="5084763"/>
            <a:ext cx="2667000" cy="1446212"/>
            <a:chOff x="4080" y="3203"/>
            <a:chExt cx="1680" cy="911"/>
          </a:xfrm>
        </p:grpSpPr>
        <p:sp>
          <p:nvSpPr>
            <p:cNvPr id="31765" name="AutoShape 44"/>
            <p:cNvSpPr>
              <a:spLocks noChangeAspect="1" noChangeArrowheads="1" noTextEdit="1"/>
            </p:cNvSpPr>
            <p:nvPr/>
          </p:nvSpPr>
          <p:spPr bwMode="auto">
            <a:xfrm>
              <a:off x="4080" y="3203"/>
              <a:ext cx="1680" cy="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766" name="Rectangle 46"/>
            <p:cNvSpPr>
              <a:spLocks noChangeArrowheads="1"/>
            </p:cNvSpPr>
            <p:nvPr/>
          </p:nvSpPr>
          <p:spPr bwMode="auto">
            <a:xfrm>
              <a:off x="5582" y="3687"/>
              <a:ext cx="25"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700" i="1">
                  <a:solidFill>
                    <a:srgbClr val="000000"/>
                  </a:solidFill>
                  <a:latin typeface="Times New Roman" panose="02020603050405020304" pitchFamily="18" charset="0"/>
                </a:rPr>
                <a:t>x</a:t>
              </a:r>
              <a:endParaRPr lang="en-US" altLang="zh-CN"/>
            </a:p>
          </p:txBody>
        </p:sp>
        <p:grpSp>
          <p:nvGrpSpPr>
            <p:cNvPr id="31767" name="Group 61"/>
            <p:cNvGrpSpPr/>
            <p:nvPr/>
          </p:nvGrpSpPr>
          <p:grpSpPr bwMode="auto">
            <a:xfrm>
              <a:off x="4376" y="3348"/>
              <a:ext cx="1039" cy="677"/>
              <a:chOff x="4376" y="3348"/>
              <a:chExt cx="1039" cy="677"/>
            </a:xfrm>
          </p:grpSpPr>
          <p:sp>
            <p:nvSpPr>
              <p:cNvPr id="31783" name="Freeform 47"/>
              <p:cNvSpPr/>
              <p:nvPr/>
            </p:nvSpPr>
            <p:spPr bwMode="auto">
              <a:xfrm>
                <a:off x="4376" y="3360"/>
                <a:ext cx="204" cy="327"/>
              </a:xfrm>
              <a:custGeom>
                <a:avLst/>
                <a:gdLst>
                  <a:gd name="T0" fmla="*/ 3 w 204"/>
                  <a:gd name="T1" fmla="*/ 321 h 327"/>
                  <a:gd name="T2" fmla="*/ 7 w 204"/>
                  <a:gd name="T3" fmla="*/ 310 h 327"/>
                  <a:gd name="T4" fmla="*/ 11 w 204"/>
                  <a:gd name="T5" fmla="*/ 300 h 327"/>
                  <a:gd name="T6" fmla="*/ 16 w 204"/>
                  <a:gd name="T7" fmla="*/ 290 h 327"/>
                  <a:gd name="T8" fmla="*/ 22 w 204"/>
                  <a:gd name="T9" fmla="*/ 280 h 327"/>
                  <a:gd name="T10" fmla="*/ 27 w 204"/>
                  <a:gd name="T11" fmla="*/ 269 h 327"/>
                  <a:gd name="T12" fmla="*/ 31 w 204"/>
                  <a:gd name="T13" fmla="*/ 259 h 327"/>
                  <a:gd name="T14" fmla="*/ 35 w 204"/>
                  <a:gd name="T15" fmla="*/ 249 h 327"/>
                  <a:gd name="T16" fmla="*/ 40 w 204"/>
                  <a:gd name="T17" fmla="*/ 240 h 327"/>
                  <a:gd name="T18" fmla="*/ 44 w 204"/>
                  <a:gd name="T19" fmla="*/ 230 h 327"/>
                  <a:gd name="T20" fmla="*/ 49 w 204"/>
                  <a:gd name="T21" fmla="*/ 219 h 327"/>
                  <a:gd name="T22" fmla="*/ 55 w 204"/>
                  <a:gd name="T23" fmla="*/ 211 h 327"/>
                  <a:gd name="T24" fmla="*/ 60 w 204"/>
                  <a:gd name="T25" fmla="*/ 201 h 327"/>
                  <a:gd name="T26" fmla="*/ 64 w 204"/>
                  <a:gd name="T27" fmla="*/ 192 h 327"/>
                  <a:gd name="T28" fmla="*/ 68 w 204"/>
                  <a:gd name="T29" fmla="*/ 182 h 327"/>
                  <a:gd name="T30" fmla="*/ 73 w 204"/>
                  <a:gd name="T31" fmla="*/ 173 h 327"/>
                  <a:gd name="T32" fmla="*/ 77 w 204"/>
                  <a:gd name="T33" fmla="*/ 165 h 327"/>
                  <a:gd name="T34" fmla="*/ 84 w 204"/>
                  <a:gd name="T35" fmla="*/ 154 h 327"/>
                  <a:gd name="T36" fmla="*/ 88 w 204"/>
                  <a:gd name="T37" fmla="*/ 146 h 327"/>
                  <a:gd name="T38" fmla="*/ 93 w 204"/>
                  <a:gd name="T39" fmla="*/ 137 h 327"/>
                  <a:gd name="T40" fmla="*/ 97 w 204"/>
                  <a:gd name="T41" fmla="*/ 129 h 327"/>
                  <a:gd name="T42" fmla="*/ 101 w 204"/>
                  <a:gd name="T43" fmla="*/ 122 h 327"/>
                  <a:gd name="T44" fmla="*/ 106 w 204"/>
                  <a:gd name="T45" fmla="*/ 113 h 327"/>
                  <a:gd name="T46" fmla="*/ 112 w 204"/>
                  <a:gd name="T47" fmla="*/ 105 h 327"/>
                  <a:gd name="T48" fmla="*/ 117 w 204"/>
                  <a:gd name="T49" fmla="*/ 98 h 327"/>
                  <a:gd name="T50" fmla="*/ 121 w 204"/>
                  <a:gd name="T51" fmla="*/ 91 h 327"/>
                  <a:gd name="T52" fmla="*/ 126 w 204"/>
                  <a:gd name="T53" fmla="*/ 82 h 327"/>
                  <a:gd name="T54" fmla="*/ 130 w 204"/>
                  <a:gd name="T55" fmla="*/ 75 h 327"/>
                  <a:gd name="T56" fmla="*/ 134 w 204"/>
                  <a:gd name="T57" fmla="*/ 69 h 327"/>
                  <a:gd name="T58" fmla="*/ 139 w 204"/>
                  <a:gd name="T59" fmla="*/ 63 h 327"/>
                  <a:gd name="T60" fmla="*/ 145 w 204"/>
                  <a:gd name="T61" fmla="*/ 57 h 327"/>
                  <a:gd name="T62" fmla="*/ 150 w 204"/>
                  <a:gd name="T63" fmla="*/ 50 h 327"/>
                  <a:gd name="T64" fmla="*/ 154 w 204"/>
                  <a:gd name="T65" fmla="*/ 45 h 327"/>
                  <a:gd name="T66" fmla="*/ 158 w 204"/>
                  <a:gd name="T67" fmla="*/ 40 h 327"/>
                  <a:gd name="T68" fmla="*/ 163 w 204"/>
                  <a:gd name="T69" fmla="*/ 34 h 327"/>
                  <a:gd name="T70" fmla="*/ 167 w 204"/>
                  <a:gd name="T71" fmla="*/ 29 h 327"/>
                  <a:gd name="T72" fmla="*/ 174 w 204"/>
                  <a:gd name="T73" fmla="*/ 24 h 327"/>
                  <a:gd name="T74" fmla="*/ 178 w 204"/>
                  <a:gd name="T75" fmla="*/ 19 h 327"/>
                  <a:gd name="T76" fmla="*/ 187 w 204"/>
                  <a:gd name="T77" fmla="*/ 12 h 327"/>
                  <a:gd name="T78" fmla="*/ 191 w 204"/>
                  <a:gd name="T79" fmla="*/ 9 h 327"/>
                  <a:gd name="T80" fmla="*/ 194 w 204"/>
                  <a:gd name="T81" fmla="*/ 7 h 327"/>
                  <a:gd name="T82" fmla="*/ 200 w 204"/>
                  <a:gd name="T83" fmla="*/ 2 h 3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04"/>
                  <a:gd name="T127" fmla="*/ 0 h 327"/>
                  <a:gd name="T128" fmla="*/ 204 w 204"/>
                  <a:gd name="T129" fmla="*/ 327 h 3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04" h="327">
                    <a:moveTo>
                      <a:pt x="0" y="327"/>
                    </a:moveTo>
                    <a:lnTo>
                      <a:pt x="0" y="324"/>
                    </a:lnTo>
                    <a:lnTo>
                      <a:pt x="3" y="321"/>
                    </a:lnTo>
                    <a:lnTo>
                      <a:pt x="5" y="317"/>
                    </a:lnTo>
                    <a:lnTo>
                      <a:pt x="5" y="314"/>
                    </a:lnTo>
                    <a:lnTo>
                      <a:pt x="7" y="310"/>
                    </a:lnTo>
                    <a:lnTo>
                      <a:pt x="9" y="307"/>
                    </a:lnTo>
                    <a:lnTo>
                      <a:pt x="11" y="303"/>
                    </a:lnTo>
                    <a:lnTo>
                      <a:pt x="11" y="300"/>
                    </a:lnTo>
                    <a:lnTo>
                      <a:pt x="14" y="297"/>
                    </a:lnTo>
                    <a:lnTo>
                      <a:pt x="16" y="293"/>
                    </a:lnTo>
                    <a:lnTo>
                      <a:pt x="16" y="290"/>
                    </a:lnTo>
                    <a:lnTo>
                      <a:pt x="18" y="286"/>
                    </a:lnTo>
                    <a:lnTo>
                      <a:pt x="20" y="283"/>
                    </a:lnTo>
                    <a:lnTo>
                      <a:pt x="22" y="280"/>
                    </a:lnTo>
                    <a:lnTo>
                      <a:pt x="22" y="276"/>
                    </a:lnTo>
                    <a:lnTo>
                      <a:pt x="24" y="273"/>
                    </a:lnTo>
                    <a:lnTo>
                      <a:pt x="27" y="269"/>
                    </a:lnTo>
                    <a:lnTo>
                      <a:pt x="27" y="266"/>
                    </a:lnTo>
                    <a:lnTo>
                      <a:pt x="29" y="262"/>
                    </a:lnTo>
                    <a:lnTo>
                      <a:pt x="31" y="259"/>
                    </a:lnTo>
                    <a:lnTo>
                      <a:pt x="33" y="255"/>
                    </a:lnTo>
                    <a:lnTo>
                      <a:pt x="33" y="252"/>
                    </a:lnTo>
                    <a:lnTo>
                      <a:pt x="35" y="249"/>
                    </a:lnTo>
                    <a:lnTo>
                      <a:pt x="38" y="245"/>
                    </a:lnTo>
                    <a:lnTo>
                      <a:pt x="38" y="243"/>
                    </a:lnTo>
                    <a:lnTo>
                      <a:pt x="40" y="240"/>
                    </a:lnTo>
                    <a:lnTo>
                      <a:pt x="42" y="237"/>
                    </a:lnTo>
                    <a:lnTo>
                      <a:pt x="44" y="233"/>
                    </a:lnTo>
                    <a:lnTo>
                      <a:pt x="44" y="230"/>
                    </a:lnTo>
                    <a:lnTo>
                      <a:pt x="46" y="226"/>
                    </a:lnTo>
                    <a:lnTo>
                      <a:pt x="49" y="223"/>
                    </a:lnTo>
                    <a:lnTo>
                      <a:pt x="49" y="219"/>
                    </a:lnTo>
                    <a:lnTo>
                      <a:pt x="51" y="216"/>
                    </a:lnTo>
                    <a:lnTo>
                      <a:pt x="53" y="213"/>
                    </a:lnTo>
                    <a:lnTo>
                      <a:pt x="55" y="211"/>
                    </a:lnTo>
                    <a:lnTo>
                      <a:pt x="55" y="208"/>
                    </a:lnTo>
                    <a:lnTo>
                      <a:pt x="57" y="204"/>
                    </a:lnTo>
                    <a:lnTo>
                      <a:pt x="60" y="201"/>
                    </a:lnTo>
                    <a:lnTo>
                      <a:pt x="62" y="197"/>
                    </a:lnTo>
                    <a:lnTo>
                      <a:pt x="62" y="194"/>
                    </a:lnTo>
                    <a:lnTo>
                      <a:pt x="64" y="192"/>
                    </a:lnTo>
                    <a:lnTo>
                      <a:pt x="66" y="189"/>
                    </a:lnTo>
                    <a:lnTo>
                      <a:pt x="66" y="185"/>
                    </a:lnTo>
                    <a:lnTo>
                      <a:pt x="68" y="182"/>
                    </a:lnTo>
                    <a:lnTo>
                      <a:pt x="71" y="178"/>
                    </a:lnTo>
                    <a:lnTo>
                      <a:pt x="73" y="177"/>
                    </a:lnTo>
                    <a:lnTo>
                      <a:pt x="73" y="173"/>
                    </a:lnTo>
                    <a:lnTo>
                      <a:pt x="75" y="170"/>
                    </a:lnTo>
                    <a:lnTo>
                      <a:pt x="77" y="166"/>
                    </a:lnTo>
                    <a:lnTo>
                      <a:pt x="77" y="165"/>
                    </a:lnTo>
                    <a:lnTo>
                      <a:pt x="79" y="161"/>
                    </a:lnTo>
                    <a:lnTo>
                      <a:pt x="82" y="158"/>
                    </a:lnTo>
                    <a:lnTo>
                      <a:pt x="84" y="154"/>
                    </a:lnTo>
                    <a:lnTo>
                      <a:pt x="84" y="153"/>
                    </a:lnTo>
                    <a:lnTo>
                      <a:pt x="86" y="149"/>
                    </a:lnTo>
                    <a:lnTo>
                      <a:pt x="88" y="146"/>
                    </a:lnTo>
                    <a:lnTo>
                      <a:pt x="88" y="144"/>
                    </a:lnTo>
                    <a:lnTo>
                      <a:pt x="90" y="141"/>
                    </a:lnTo>
                    <a:lnTo>
                      <a:pt x="93" y="137"/>
                    </a:lnTo>
                    <a:lnTo>
                      <a:pt x="95" y="135"/>
                    </a:lnTo>
                    <a:lnTo>
                      <a:pt x="95" y="132"/>
                    </a:lnTo>
                    <a:lnTo>
                      <a:pt x="97" y="129"/>
                    </a:lnTo>
                    <a:lnTo>
                      <a:pt x="99" y="127"/>
                    </a:lnTo>
                    <a:lnTo>
                      <a:pt x="99" y="124"/>
                    </a:lnTo>
                    <a:lnTo>
                      <a:pt x="101" y="122"/>
                    </a:lnTo>
                    <a:lnTo>
                      <a:pt x="104" y="118"/>
                    </a:lnTo>
                    <a:lnTo>
                      <a:pt x="106" y="117"/>
                    </a:lnTo>
                    <a:lnTo>
                      <a:pt x="106" y="113"/>
                    </a:lnTo>
                    <a:lnTo>
                      <a:pt x="108" y="110"/>
                    </a:lnTo>
                    <a:lnTo>
                      <a:pt x="110" y="108"/>
                    </a:lnTo>
                    <a:lnTo>
                      <a:pt x="112" y="105"/>
                    </a:lnTo>
                    <a:lnTo>
                      <a:pt x="112" y="103"/>
                    </a:lnTo>
                    <a:lnTo>
                      <a:pt x="115" y="100"/>
                    </a:lnTo>
                    <a:lnTo>
                      <a:pt x="117" y="98"/>
                    </a:lnTo>
                    <a:lnTo>
                      <a:pt x="117" y="96"/>
                    </a:lnTo>
                    <a:lnTo>
                      <a:pt x="119" y="93"/>
                    </a:lnTo>
                    <a:lnTo>
                      <a:pt x="121" y="91"/>
                    </a:lnTo>
                    <a:lnTo>
                      <a:pt x="123" y="87"/>
                    </a:lnTo>
                    <a:lnTo>
                      <a:pt x="123" y="86"/>
                    </a:lnTo>
                    <a:lnTo>
                      <a:pt x="126" y="82"/>
                    </a:lnTo>
                    <a:lnTo>
                      <a:pt x="128" y="81"/>
                    </a:lnTo>
                    <a:lnTo>
                      <a:pt x="128" y="79"/>
                    </a:lnTo>
                    <a:lnTo>
                      <a:pt x="130" y="75"/>
                    </a:lnTo>
                    <a:lnTo>
                      <a:pt x="132" y="74"/>
                    </a:lnTo>
                    <a:lnTo>
                      <a:pt x="134" y="72"/>
                    </a:lnTo>
                    <a:lnTo>
                      <a:pt x="134" y="69"/>
                    </a:lnTo>
                    <a:lnTo>
                      <a:pt x="136" y="67"/>
                    </a:lnTo>
                    <a:lnTo>
                      <a:pt x="139" y="65"/>
                    </a:lnTo>
                    <a:lnTo>
                      <a:pt x="139" y="63"/>
                    </a:lnTo>
                    <a:lnTo>
                      <a:pt x="141" y="60"/>
                    </a:lnTo>
                    <a:lnTo>
                      <a:pt x="143" y="58"/>
                    </a:lnTo>
                    <a:lnTo>
                      <a:pt x="145" y="57"/>
                    </a:lnTo>
                    <a:lnTo>
                      <a:pt x="145" y="55"/>
                    </a:lnTo>
                    <a:lnTo>
                      <a:pt x="147" y="53"/>
                    </a:lnTo>
                    <a:lnTo>
                      <a:pt x="150" y="50"/>
                    </a:lnTo>
                    <a:lnTo>
                      <a:pt x="150" y="48"/>
                    </a:lnTo>
                    <a:lnTo>
                      <a:pt x="152" y="46"/>
                    </a:lnTo>
                    <a:lnTo>
                      <a:pt x="154" y="45"/>
                    </a:lnTo>
                    <a:lnTo>
                      <a:pt x="156" y="43"/>
                    </a:lnTo>
                    <a:lnTo>
                      <a:pt x="156" y="41"/>
                    </a:lnTo>
                    <a:lnTo>
                      <a:pt x="158" y="40"/>
                    </a:lnTo>
                    <a:lnTo>
                      <a:pt x="161" y="38"/>
                    </a:lnTo>
                    <a:lnTo>
                      <a:pt x="163" y="36"/>
                    </a:lnTo>
                    <a:lnTo>
                      <a:pt x="163" y="34"/>
                    </a:lnTo>
                    <a:lnTo>
                      <a:pt x="165" y="33"/>
                    </a:lnTo>
                    <a:lnTo>
                      <a:pt x="167" y="31"/>
                    </a:lnTo>
                    <a:lnTo>
                      <a:pt x="167" y="29"/>
                    </a:lnTo>
                    <a:lnTo>
                      <a:pt x="169" y="28"/>
                    </a:lnTo>
                    <a:lnTo>
                      <a:pt x="172" y="26"/>
                    </a:lnTo>
                    <a:lnTo>
                      <a:pt x="174" y="24"/>
                    </a:lnTo>
                    <a:lnTo>
                      <a:pt x="174" y="22"/>
                    </a:lnTo>
                    <a:lnTo>
                      <a:pt x="176" y="21"/>
                    </a:lnTo>
                    <a:lnTo>
                      <a:pt x="178" y="19"/>
                    </a:lnTo>
                    <a:lnTo>
                      <a:pt x="180" y="17"/>
                    </a:lnTo>
                    <a:lnTo>
                      <a:pt x="183" y="16"/>
                    </a:lnTo>
                    <a:lnTo>
                      <a:pt x="187" y="12"/>
                    </a:lnTo>
                    <a:lnTo>
                      <a:pt x="185" y="12"/>
                    </a:lnTo>
                    <a:lnTo>
                      <a:pt x="187" y="12"/>
                    </a:lnTo>
                    <a:lnTo>
                      <a:pt x="191" y="9"/>
                    </a:lnTo>
                    <a:lnTo>
                      <a:pt x="189" y="9"/>
                    </a:lnTo>
                    <a:lnTo>
                      <a:pt x="191" y="9"/>
                    </a:lnTo>
                    <a:lnTo>
                      <a:pt x="194" y="7"/>
                    </a:lnTo>
                    <a:lnTo>
                      <a:pt x="196" y="5"/>
                    </a:lnTo>
                    <a:lnTo>
                      <a:pt x="198" y="3"/>
                    </a:lnTo>
                    <a:lnTo>
                      <a:pt x="200" y="2"/>
                    </a:lnTo>
                    <a:lnTo>
                      <a:pt x="202" y="0"/>
                    </a:lnTo>
                    <a:lnTo>
                      <a:pt x="204" y="0"/>
                    </a:lnTo>
                  </a:path>
                </a:pathLst>
              </a:custGeom>
              <a:noFill/>
              <a:ln w="11113"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784" name="Freeform 48"/>
              <p:cNvSpPr/>
              <p:nvPr/>
            </p:nvSpPr>
            <p:spPr bwMode="auto">
              <a:xfrm>
                <a:off x="4580" y="3348"/>
                <a:ext cx="229" cy="209"/>
              </a:xfrm>
              <a:custGeom>
                <a:avLst/>
                <a:gdLst>
                  <a:gd name="T0" fmla="*/ 5 w 229"/>
                  <a:gd name="T1" fmla="*/ 9 h 209"/>
                  <a:gd name="T2" fmla="*/ 11 w 229"/>
                  <a:gd name="T3" fmla="*/ 5 h 209"/>
                  <a:gd name="T4" fmla="*/ 18 w 229"/>
                  <a:gd name="T5" fmla="*/ 3 h 209"/>
                  <a:gd name="T6" fmla="*/ 25 w 229"/>
                  <a:gd name="T7" fmla="*/ 2 h 209"/>
                  <a:gd name="T8" fmla="*/ 31 w 229"/>
                  <a:gd name="T9" fmla="*/ 0 h 209"/>
                  <a:gd name="T10" fmla="*/ 38 w 229"/>
                  <a:gd name="T11" fmla="*/ 0 h 209"/>
                  <a:gd name="T12" fmla="*/ 44 w 229"/>
                  <a:gd name="T13" fmla="*/ 0 h 209"/>
                  <a:gd name="T14" fmla="*/ 51 w 229"/>
                  <a:gd name="T15" fmla="*/ 0 h 209"/>
                  <a:gd name="T16" fmla="*/ 58 w 229"/>
                  <a:gd name="T17" fmla="*/ 0 h 209"/>
                  <a:gd name="T18" fmla="*/ 64 w 229"/>
                  <a:gd name="T19" fmla="*/ 2 h 209"/>
                  <a:gd name="T20" fmla="*/ 71 w 229"/>
                  <a:gd name="T21" fmla="*/ 5 h 209"/>
                  <a:gd name="T22" fmla="*/ 77 w 229"/>
                  <a:gd name="T23" fmla="*/ 7 h 209"/>
                  <a:gd name="T24" fmla="*/ 84 w 229"/>
                  <a:gd name="T25" fmla="*/ 10 h 209"/>
                  <a:gd name="T26" fmla="*/ 91 w 229"/>
                  <a:gd name="T27" fmla="*/ 14 h 209"/>
                  <a:gd name="T28" fmla="*/ 95 w 229"/>
                  <a:gd name="T29" fmla="*/ 17 h 209"/>
                  <a:gd name="T30" fmla="*/ 102 w 229"/>
                  <a:gd name="T31" fmla="*/ 22 h 209"/>
                  <a:gd name="T32" fmla="*/ 110 w 229"/>
                  <a:gd name="T33" fmla="*/ 29 h 209"/>
                  <a:gd name="T34" fmla="*/ 112 w 229"/>
                  <a:gd name="T35" fmla="*/ 31 h 209"/>
                  <a:gd name="T36" fmla="*/ 117 w 229"/>
                  <a:gd name="T37" fmla="*/ 36 h 209"/>
                  <a:gd name="T38" fmla="*/ 121 w 229"/>
                  <a:gd name="T39" fmla="*/ 41 h 209"/>
                  <a:gd name="T40" fmla="*/ 126 w 229"/>
                  <a:gd name="T41" fmla="*/ 46 h 209"/>
                  <a:gd name="T42" fmla="*/ 132 w 229"/>
                  <a:gd name="T43" fmla="*/ 52 h 209"/>
                  <a:gd name="T44" fmla="*/ 137 w 229"/>
                  <a:gd name="T45" fmla="*/ 57 h 209"/>
                  <a:gd name="T46" fmla="*/ 141 w 229"/>
                  <a:gd name="T47" fmla="*/ 62 h 209"/>
                  <a:gd name="T48" fmla="*/ 145 w 229"/>
                  <a:gd name="T49" fmla="*/ 69 h 209"/>
                  <a:gd name="T50" fmla="*/ 150 w 229"/>
                  <a:gd name="T51" fmla="*/ 74 h 209"/>
                  <a:gd name="T52" fmla="*/ 154 w 229"/>
                  <a:gd name="T53" fmla="*/ 81 h 209"/>
                  <a:gd name="T54" fmla="*/ 159 w 229"/>
                  <a:gd name="T55" fmla="*/ 87 h 209"/>
                  <a:gd name="T56" fmla="*/ 165 w 229"/>
                  <a:gd name="T57" fmla="*/ 94 h 209"/>
                  <a:gd name="T58" fmla="*/ 170 w 229"/>
                  <a:gd name="T59" fmla="*/ 101 h 209"/>
                  <a:gd name="T60" fmla="*/ 174 w 229"/>
                  <a:gd name="T61" fmla="*/ 110 h 209"/>
                  <a:gd name="T62" fmla="*/ 178 w 229"/>
                  <a:gd name="T63" fmla="*/ 117 h 209"/>
                  <a:gd name="T64" fmla="*/ 183 w 229"/>
                  <a:gd name="T65" fmla="*/ 125 h 209"/>
                  <a:gd name="T66" fmla="*/ 187 w 229"/>
                  <a:gd name="T67" fmla="*/ 132 h 209"/>
                  <a:gd name="T68" fmla="*/ 194 w 229"/>
                  <a:gd name="T69" fmla="*/ 141 h 209"/>
                  <a:gd name="T70" fmla="*/ 198 w 229"/>
                  <a:gd name="T71" fmla="*/ 149 h 209"/>
                  <a:gd name="T72" fmla="*/ 203 w 229"/>
                  <a:gd name="T73" fmla="*/ 158 h 209"/>
                  <a:gd name="T74" fmla="*/ 207 w 229"/>
                  <a:gd name="T75" fmla="*/ 166 h 209"/>
                  <a:gd name="T76" fmla="*/ 211 w 229"/>
                  <a:gd name="T77" fmla="*/ 175 h 209"/>
                  <a:gd name="T78" fmla="*/ 216 w 229"/>
                  <a:gd name="T79" fmla="*/ 185 h 209"/>
                  <a:gd name="T80" fmla="*/ 222 w 229"/>
                  <a:gd name="T81" fmla="*/ 194 h 209"/>
                  <a:gd name="T82" fmla="*/ 227 w 229"/>
                  <a:gd name="T83" fmla="*/ 202 h 20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29"/>
                  <a:gd name="T127" fmla="*/ 0 h 209"/>
                  <a:gd name="T128" fmla="*/ 229 w 229"/>
                  <a:gd name="T129" fmla="*/ 209 h 20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29" h="209">
                    <a:moveTo>
                      <a:pt x="0" y="12"/>
                    </a:moveTo>
                    <a:lnTo>
                      <a:pt x="3" y="10"/>
                    </a:lnTo>
                    <a:lnTo>
                      <a:pt x="5" y="9"/>
                    </a:lnTo>
                    <a:lnTo>
                      <a:pt x="7" y="9"/>
                    </a:lnTo>
                    <a:lnTo>
                      <a:pt x="9" y="7"/>
                    </a:lnTo>
                    <a:lnTo>
                      <a:pt x="11" y="5"/>
                    </a:lnTo>
                    <a:lnTo>
                      <a:pt x="14" y="5"/>
                    </a:lnTo>
                    <a:lnTo>
                      <a:pt x="16" y="3"/>
                    </a:lnTo>
                    <a:lnTo>
                      <a:pt x="18" y="3"/>
                    </a:lnTo>
                    <a:lnTo>
                      <a:pt x="20" y="2"/>
                    </a:lnTo>
                    <a:lnTo>
                      <a:pt x="23" y="2"/>
                    </a:lnTo>
                    <a:lnTo>
                      <a:pt x="25" y="2"/>
                    </a:lnTo>
                    <a:lnTo>
                      <a:pt x="27" y="2"/>
                    </a:lnTo>
                    <a:lnTo>
                      <a:pt x="29" y="0"/>
                    </a:lnTo>
                    <a:lnTo>
                      <a:pt x="31" y="0"/>
                    </a:lnTo>
                    <a:lnTo>
                      <a:pt x="34" y="0"/>
                    </a:lnTo>
                    <a:lnTo>
                      <a:pt x="36" y="0"/>
                    </a:lnTo>
                    <a:lnTo>
                      <a:pt x="38" y="0"/>
                    </a:lnTo>
                    <a:lnTo>
                      <a:pt x="40" y="0"/>
                    </a:lnTo>
                    <a:lnTo>
                      <a:pt x="42" y="0"/>
                    </a:lnTo>
                    <a:lnTo>
                      <a:pt x="44" y="0"/>
                    </a:lnTo>
                    <a:lnTo>
                      <a:pt x="47" y="0"/>
                    </a:lnTo>
                    <a:lnTo>
                      <a:pt x="49" y="0"/>
                    </a:lnTo>
                    <a:lnTo>
                      <a:pt x="51" y="0"/>
                    </a:lnTo>
                    <a:lnTo>
                      <a:pt x="53" y="0"/>
                    </a:lnTo>
                    <a:lnTo>
                      <a:pt x="55" y="0"/>
                    </a:lnTo>
                    <a:lnTo>
                      <a:pt x="58" y="0"/>
                    </a:lnTo>
                    <a:lnTo>
                      <a:pt x="60" y="2"/>
                    </a:lnTo>
                    <a:lnTo>
                      <a:pt x="62" y="2"/>
                    </a:lnTo>
                    <a:lnTo>
                      <a:pt x="64" y="2"/>
                    </a:lnTo>
                    <a:lnTo>
                      <a:pt x="66" y="3"/>
                    </a:lnTo>
                    <a:lnTo>
                      <a:pt x="69" y="3"/>
                    </a:lnTo>
                    <a:lnTo>
                      <a:pt x="71" y="5"/>
                    </a:lnTo>
                    <a:lnTo>
                      <a:pt x="73" y="5"/>
                    </a:lnTo>
                    <a:lnTo>
                      <a:pt x="75" y="7"/>
                    </a:lnTo>
                    <a:lnTo>
                      <a:pt x="77" y="7"/>
                    </a:lnTo>
                    <a:lnTo>
                      <a:pt x="80" y="9"/>
                    </a:lnTo>
                    <a:lnTo>
                      <a:pt x="82" y="10"/>
                    </a:lnTo>
                    <a:lnTo>
                      <a:pt x="84" y="10"/>
                    </a:lnTo>
                    <a:lnTo>
                      <a:pt x="86" y="12"/>
                    </a:lnTo>
                    <a:lnTo>
                      <a:pt x="88" y="14"/>
                    </a:lnTo>
                    <a:lnTo>
                      <a:pt x="91" y="14"/>
                    </a:lnTo>
                    <a:lnTo>
                      <a:pt x="95" y="17"/>
                    </a:lnTo>
                    <a:lnTo>
                      <a:pt x="93" y="17"/>
                    </a:lnTo>
                    <a:lnTo>
                      <a:pt x="95" y="17"/>
                    </a:lnTo>
                    <a:lnTo>
                      <a:pt x="97" y="19"/>
                    </a:lnTo>
                    <a:lnTo>
                      <a:pt x="99" y="21"/>
                    </a:lnTo>
                    <a:lnTo>
                      <a:pt x="102" y="22"/>
                    </a:lnTo>
                    <a:lnTo>
                      <a:pt x="104" y="24"/>
                    </a:lnTo>
                    <a:lnTo>
                      <a:pt x="106" y="26"/>
                    </a:lnTo>
                    <a:lnTo>
                      <a:pt x="110" y="29"/>
                    </a:lnTo>
                    <a:lnTo>
                      <a:pt x="108" y="29"/>
                    </a:lnTo>
                    <a:lnTo>
                      <a:pt x="110" y="29"/>
                    </a:lnTo>
                    <a:lnTo>
                      <a:pt x="112" y="31"/>
                    </a:lnTo>
                    <a:lnTo>
                      <a:pt x="115" y="33"/>
                    </a:lnTo>
                    <a:lnTo>
                      <a:pt x="115" y="34"/>
                    </a:lnTo>
                    <a:lnTo>
                      <a:pt x="117" y="36"/>
                    </a:lnTo>
                    <a:lnTo>
                      <a:pt x="119" y="38"/>
                    </a:lnTo>
                    <a:lnTo>
                      <a:pt x="121" y="40"/>
                    </a:lnTo>
                    <a:lnTo>
                      <a:pt x="121" y="41"/>
                    </a:lnTo>
                    <a:lnTo>
                      <a:pt x="123" y="43"/>
                    </a:lnTo>
                    <a:lnTo>
                      <a:pt x="126" y="45"/>
                    </a:lnTo>
                    <a:lnTo>
                      <a:pt x="126" y="46"/>
                    </a:lnTo>
                    <a:lnTo>
                      <a:pt x="128" y="48"/>
                    </a:lnTo>
                    <a:lnTo>
                      <a:pt x="130" y="50"/>
                    </a:lnTo>
                    <a:lnTo>
                      <a:pt x="132" y="52"/>
                    </a:lnTo>
                    <a:lnTo>
                      <a:pt x="132" y="53"/>
                    </a:lnTo>
                    <a:lnTo>
                      <a:pt x="134" y="55"/>
                    </a:lnTo>
                    <a:lnTo>
                      <a:pt x="137" y="57"/>
                    </a:lnTo>
                    <a:lnTo>
                      <a:pt x="137" y="58"/>
                    </a:lnTo>
                    <a:lnTo>
                      <a:pt x="139" y="60"/>
                    </a:lnTo>
                    <a:lnTo>
                      <a:pt x="141" y="62"/>
                    </a:lnTo>
                    <a:lnTo>
                      <a:pt x="143" y="64"/>
                    </a:lnTo>
                    <a:lnTo>
                      <a:pt x="143" y="67"/>
                    </a:lnTo>
                    <a:lnTo>
                      <a:pt x="145" y="69"/>
                    </a:lnTo>
                    <a:lnTo>
                      <a:pt x="148" y="70"/>
                    </a:lnTo>
                    <a:lnTo>
                      <a:pt x="148" y="72"/>
                    </a:lnTo>
                    <a:lnTo>
                      <a:pt x="150" y="74"/>
                    </a:lnTo>
                    <a:lnTo>
                      <a:pt x="152" y="77"/>
                    </a:lnTo>
                    <a:lnTo>
                      <a:pt x="154" y="79"/>
                    </a:lnTo>
                    <a:lnTo>
                      <a:pt x="154" y="81"/>
                    </a:lnTo>
                    <a:lnTo>
                      <a:pt x="156" y="84"/>
                    </a:lnTo>
                    <a:lnTo>
                      <a:pt x="159" y="86"/>
                    </a:lnTo>
                    <a:lnTo>
                      <a:pt x="159" y="87"/>
                    </a:lnTo>
                    <a:lnTo>
                      <a:pt x="161" y="91"/>
                    </a:lnTo>
                    <a:lnTo>
                      <a:pt x="163" y="93"/>
                    </a:lnTo>
                    <a:lnTo>
                      <a:pt x="165" y="94"/>
                    </a:lnTo>
                    <a:lnTo>
                      <a:pt x="165" y="98"/>
                    </a:lnTo>
                    <a:lnTo>
                      <a:pt x="167" y="99"/>
                    </a:lnTo>
                    <a:lnTo>
                      <a:pt x="170" y="101"/>
                    </a:lnTo>
                    <a:lnTo>
                      <a:pt x="172" y="105"/>
                    </a:lnTo>
                    <a:lnTo>
                      <a:pt x="172" y="106"/>
                    </a:lnTo>
                    <a:lnTo>
                      <a:pt x="174" y="110"/>
                    </a:lnTo>
                    <a:lnTo>
                      <a:pt x="176" y="112"/>
                    </a:lnTo>
                    <a:lnTo>
                      <a:pt x="176" y="115"/>
                    </a:lnTo>
                    <a:lnTo>
                      <a:pt x="178" y="117"/>
                    </a:lnTo>
                    <a:lnTo>
                      <a:pt x="181" y="120"/>
                    </a:lnTo>
                    <a:lnTo>
                      <a:pt x="183" y="122"/>
                    </a:lnTo>
                    <a:lnTo>
                      <a:pt x="183" y="125"/>
                    </a:lnTo>
                    <a:lnTo>
                      <a:pt x="185" y="127"/>
                    </a:lnTo>
                    <a:lnTo>
                      <a:pt x="187" y="130"/>
                    </a:lnTo>
                    <a:lnTo>
                      <a:pt x="187" y="132"/>
                    </a:lnTo>
                    <a:lnTo>
                      <a:pt x="189" y="136"/>
                    </a:lnTo>
                    <a:lnTo>
                      <a:pt x="192" y="139"/>
                    </a:lnTo>
                    <a:lnTo>
                      <a:pt x="194" y="141"/>
                    </a:lnTo>
                    <a:lnTo>
                      <a:pt x="194" y="144"/>
                    </a:lnTo>
                    <a:lnTo>
                      <a:pt x="196" y="146"/>
                    </a:lnTo>
                    <a:lnTo>
                      <a:pt x="198" y="149"/>
                    </a:lnTo>
                    <a:lnTo>
                      <a:pt x="198" y="153"/>
                    </a:lnTo>
                    <a:lnTo>
                      <a:pt x="200" y="154"/>
                    </a:lnTo>
                    <a:lnTo>
                      <a:pt x="203" y="158"/>
                    </a:lnTo>
                    <a:lnTo>
                      <a:pt x="205" y="161"/>
                    </a:lnTo>
                    <a:lnTo>
                      <a:pt x="205" y="163"/>
                    </a:lnTo>
                    <a:lnTo>
                      <a:pt x="207" y="166"/>
                    </a:lnTo>
                    <a:lnTo>
                      <a:pt x="209" y="170"/>
                    </a:lnTo>
                    <a:lnTo>
                      <a:pt x="209" y="173"/>
                    </a:lnTo>
                    <a:lnTo>
                      <a:pt x="211" y="175"/>
                    </a:lnTo>
                    <a:lnTo>
                      <a:pt x="214" y="178"/>
                    </a:lnTo>
                    <a:lnTo>
                      <a:pt x="216" y="182"/>
                    </a:lnTo>
                    <a:lnTo>
                      <a:pt x="216" y="185"/>
                    </a:lnTo>
                    <a:lnTo>
                      <a:pt x="218" y="187"/>
                    </a:lnTo>
                    <a:lnTo>
                      <a:pt x="220" y="190"/>
                    </a:lnTo>
                    <a:lnTo>
                      <a:pt x="222" y="194"/>
                    </a:lnTo>
                    <a:lnTo>
                      <a:pt x="222" y="197"/>
                    </a:lnTo>
                    <a:lnTo>
                      <a:pt x="224" y="199"/>
                    </a:lnTo>
                    <a:lnTo>
                      <a:pt x="227" y="202"/>
                    </a:lnTo>
                    <a:lnTo>
                      <a:pt x="227" y="206"/>
                    </a:lnTo>
                    <a:lnTo>
                      <a:pt x="229" y="209"/>
                    </a:lnTo>
                  </a:path>
                </a:pathLst>
              </a:custGeom>
              <a:noFill/>
              <a:ln w="11113"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785" name="Freeform 49"/>
              <p:cNvSpPr/>
              <p:nvPr/>
            </p:nvSpPr>
            <p:spPr bwMode="auto">
              <a:xfrm>
                <a:off x="4809" y="3557"/>
                <a:ext cx="200" cy="391"/>
              </a:xfrm>
              <a:custGeom>
                <a:avLst/>
                <a:gdLst>
                  <a:gd name="T0" fmla="*/ 4 w 200"/>
                  <a:gd name="T1" fmla="*/ 7 h 391"/>
                  <a:gd name="T2" fmla="*/ 9 w 200"/>
                  <a:gd name="T3" fmla="*/ 16 h 391"/>
                  <a:gd name="T4" fmla="*/ 13 w 200"/>
                  <a:gd name="T5" fmla="*/ 26 h 391"/>
                  <a:gd name="T6" fmla="*/ 17 w 200"/>
                  <a:gd name="T7" fmla="*/ 34 h 391"/>
                  <a:gd name="T8" fmla="*/ 22 w 200"/>
                  <a:gd name="T9" fmla="*/ 45 h 391"/>
                  <a:gd name="T10" fmla="*/ 26 w 200"/>
                  <a:gd name="T11" fmla="*/ 55 h 391"/>
                  <a:gd name="T12" fmla="*/ 31 w 200"/>
                  <a:gd name="T13" fmla="*/ 65 h 391"/>
                  <a:gd name="T14" fmla="*/ 37 w 200"/>
                  <a:gd name="T15" fmla="*/ 76 h 391"/>
                  <a:gd name="T16" fmla="*/ 42 w 200"/>
                  <a:gd name="T17" fmla="*/ 86 h 391"/>
                  <a:gd name="T18" fmla="*/ 46 w 200"/>
                  <a:gd name="T19" fmla="*/ 94 h 391"/>
                  <a:gd name="T20" fmla="*/ 50 w 200"/>
                  <a:gd name="T21" fmla="*/ 105 h 391"/>
                  <a:gd name="T22" fmla="*/ 55 w 200"/>
                  <a:gd name="T23" fmla="*/ 115 h 391"/>
                  <a:gd name="T24" fmla="*/ 59 w 200"/>
                  <a:gd name="T25" fmla="*/ 125 h 391"/>
                  <a:gd name="T26" fmla="*/ 66 w 200"/>
                  <a:gd name="T27" fmla="*/ 136 h 391"/>
                  <a:gd name="T28" fmla="*/ 70 w 200"/>
                  <a:gd name="T29" fmla="*/ 146 h 391"/>
                  <a:gd name="T30" fmla="*/ 75 w 200"/>
                  <a:gd name="T31" fmla="*/ 156 h 391"/>
                  <a:gd name="T32" fmla="*/ 79 w 200"/>
                  <a:gd name="T33" fmla="*/ 167 h 391"/>
                  <a:gd name="T34" fmla="*/ 83 w 200"/>
                  <a:gd name="T35" fmla="*/ 177 h 391"/>
                  <a:gd name="T36" fmla="*/ 88 w 200"/>
                  <a:gd name="T37" fmla="*/ 187 h 391"/>
                  <a:gd name="T38" fmla="*/ 94 w 200"/>
                  <a:gd name="T39" fmla="*/ 197 h 391"/>
                  <a:gd name="T40" fmla="*/ 99 w 200"/>
                  <a:gd name="T41" fmla="*/ 206 h 391"/>
                  <a:gd name="T42" fmla="*/ 103 w 200"/>
                  <a:gd name="T43" fmla="*/ 216 h 391"/>
                  <a:gd name="T44" fmla="*/ 107 w 200"/>
                  <a:gd name="T45" fmla="*/ 226 h 391"/>
                  <a:gd name="T46" fmla="*/ 112 w 200"/>
                  <a:gd name="T47" fmla="*/ 235 h 391"/>
                  <a:gd name="T48" fmla="*/ 116 w 200"/>
                  <a:gd name="T49" fmla="*/ 245 h 391"/>
                  <a:gd name="T50" fmla="*/ 121 w 200"/>
                  <a:gd name="T51" fmla="*/ 256 h 391"/>
                  <a:gd name="T52" fmla="*/ 127 w 200"/>
                  <a:gd name="T53" fmla="*/ 264 h 391"/>
                  <a:gd name="T54" fmla="*/ 132 w 200"/>
                  <a:gd name="T55" fmla="*/ 274 h 391"/>
                  <a:gd name="T56" fmla="*/ 136 w 200"/>
                  <a:gd name="T57" fmla="*/ 283 h 391"/>
                  <a:gd name="T58" fmla="*/ 140 w 200"/>
                  <a:gd name="T59" fmla="*/ 292 h 391"/>
                  <a:gd name="T60" fmla="*/ 145 w 200"/>
                  <a:gd name="T61" fmla="*/ 300 h 391"/>
                  <a:gd name="T62" fmla="*/ 149 w 200"/>
                  <a:gd name="T63" fmla="*/ 309 h 391"/>
                  <a:gd name="T64" fmla="*/ 156 w 200"/>
                  <a:gd name="T65" fmla="*/ 317 h 391"/>
                  <a:gd name="T66" fmla="*/ 160 w 200"/>
                  <a:gd name="T67" fmla="*/ 326 h 391"/>
                  <a:gd name="T68" fmla="*/ 165 w 200"/>
                  <a:gd name="T69" fmla="*/ 334 h 391"/>
                  <a:gd name="T70" fmla="*/ 169 w 200"/>
                  <a:gd name="T71" fmla="*/ 343 h 391"/>
                  <a:gd name="T72" fmla="*/ 173 w 200"/>
                  <a:gd name="T73" fmla="*/ 350 h 391"/>
                  <a:gd name="T74" fmla="*/ 178 w 200"/>
                  <a:gd name="T75" fmla="*/ 358 h 391"/>
                  <a:gd name="T76" fmla="*/ 182 w 200"/>
                  <a:gd name="T77" fmla="*/ 365 h 391"/>
                  <a:gd name="T78" fmla="*/ 189 w 200"/>
                  <a:gd name="T79" fmla="*/ 372 h 391"/>
                  <a:gd name="T80" fmla="*/ 193 w 200"/>
                  <a:gd name="T81" fmla="*/ 379 h 391"/>
                  <a:gd name="T82" fmla="*/ 198 w 200"/>
                  <a:gd name="T83" fmla="*/ 386 h 39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00"/>
                  <a:gd name="T127" fmla="*/ 0 h 391"/>
                  <a:gd name="T128" fmla="*/ 200 w 200"/>
                  <a:gd name="T129" fmla="*/ 391 h 39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00" h="391">
                    <a:moveTo>
                      <a:pt x="0" y="0"/>
                    </a:moveTo>
                    <a:lnTo>
                      <a:pt x="2" y="4"/>
                    </a:lnTo>
                    <a:lnTo>
                      <a:pt x="4" y="7"/>
                    </a:lnTo>
                    <a:lnTo>
                      <a:pt x="4" y="9"/>
                    </a:lnTo>
                    <a:lnTo>
                      <a:pt x="6" y="12"/>
                    </a:lnTo>
                    <a:lnTo>
                      <a:pt x="9" y="16"/>
                    </a:lnTo>
                    <a:lnTo>
                      <a:pt x="9" y="19"/>
                    </a:lnTo>
                    <a:lnTo>
                      <a:pt x="11" y="22"/>
                    </a:lnTo>
                    <a:lnTo>
                      <a:pt x="13" y="26"/>
                    </a:lnTo>
                    <a:lnTo>
                      <a:pt x="15" y="29"/>
                    </a:lnTo>
                    <a:lnTo>
                      <a:pt x="15" y="33"/>
                    </a:lnTo>
                    <a:lnTo>
                      <a:pt x="17" y="34"/>
                    </a:lnTo>
                    <a:lnTo>
                      <a:pt x="20" y="38"/>
                    </a:lnTo>
                    <a:lnTo>
                      <a:pt x="20" y="41"/>
                    </a:lnTo>
                    <a:lnTo>
                      <a:pt x="22" y="45"/>
                    </a:lnTo>
                    <a:lnTo>
                      <a:pt x="24" y="48"/>
                    </a:lnTo>
                    <a:lnTo>
                      <a:pt x="26" y="52"/>
                    </a:lnTo>
                    <a:lnTo>
                      <a:pt x="26" y="55"/>
                    </a:lnTo>
                    <a:lnTo>
                      <a:pt x="28" y="58"/>
                    </a:lnTo>
                    <a:lnTo>
                      <a:pt x="31" y="62"/>
                    </a:lnTo>
                    <a:lnTo>
                      <a:pt x="31" y="65"/>
                    </a:lnTo>
                    <a:lnTo>
                      <a:pt x="33" y="69"/>
                    </a:lnTo>
                    <a:lnTo>
                      <a:pt x="35" y="72"/>
                    </a:lnTo>
                    <a:lnTo>
                      <a:pt x="37" y="76"/>
                    </a:lnTo>
                    <a:lnTo>
                      <a:pt x="37" y="79"/>
                    </a:lnTo>
                    <a:lnTo>
                      <a:pt x="39" y="83"/>
                    </a:lnTo>
                    <a:lnTo>
                      <a:pt x="42" y="86"/>
                    </a:lnTo>
                    <a:lnTo>
                      <a:pt x="44" y="88"/>
                    </a:lnTo>
                    <a:lnTo>
                      <a:pt x="44" y="91"/>
                    </a:lnTo>
                    <a:lnTo>
                      <a:pt x="46" y="94"/>
                    </a:lnTo>
                    <a:lnTo>
                      <a:pt x="48" y="98"/>
                    </a:lnTo>
                    <a:lnTo>
                      <a:pt x="48" y="101"/>
                    </a:lnTo>
                    <a:lnTo>
                      <a:pt x="50" y="105"/>
                    </a:lnTo>
                    <a:lnTo>
                      <a:pt x="53" y="108"/>
                    </a:lnTo>
                    <a:lnTo>
                      <a:pt x="55" y="112"/>
                    </a:lnTo>
                    <a:lnTo>
                      <a:pt x="55" y="115"/>
                    </a:lnTo>
                    <a:lnTo>
                      <a:pt x="57" y="118"/>
                    </a:lnTo>
                    <a:lnTo>
                      <a:pt x="59" y="122"/>
                    </a:lnTo>
                    <a:lnTo>
                      <a:pt x="59" y="125"/>
                    </a:lnTo>
                    <a:lnTo>
                      <a:pt x="61" y="129"/>
                    </a:lnTo>
                    <a:lnTo>
                      <a:pt x="64" y="132"/>
                    </a:lnTo>
                    <a:lnTo>
                      <a:pt x="66" y="136"/>
                    </a:lnTo>
                    <a:lnTo>
                      <a:pt x="66" y="139"/>
                    </a:lnTo>
                    <a:lnTo>
                      <a:pt x="68" y="142"/>
                    </a:lnTo>
                    <a:lnTo>
                      <a:pt x="70" y="146"/>
                    </a:lnTo>
                    <a:lnTo>
                      <a:pt x="70" y="149"/>
                    </a:lnTo>
                    <a:lnTo>
                      <a:pt x="72" y="153"/>
                    </a:lnTo>
                    <a:lnTo>
                      <a:pt x="75" y="156"/>
                    </a:lnTo>
                    <a:lnTo>
                      <a:pt x="77" y="160"/>
                    </a:lnTo>
                    <a:lnTo>
                      <a:pt x="77" y="163"/>
                    </a:lnTo>
                    <a:lnTo>
                      <a:pt x="79" y="167"/>
                    </a:lnTo>
                    <a:lnTo>
                      <a:pt x="81" y="170"/>
                    </a:lnTo>
                    <a:lnTo>
                      <a:pt x="81" y="173"/>
                    </a:lnTo>
                    <a:lnTo>
                      <a:pt x="83" y="177"/>
                    </a:lnTo>
                    <a:lnTo>
                      <a:pt x="86" y="180"/>
                    </a:lnTo>
                    <a:lnTo>
                      <a:pt x="88" y="184"/>
                    </a:lnTo>
                    <a:lnTo>
                      <a:pt x="88" y="187"/>
                    </a:lnTo>
                    <a:lnTo>
                      <a:pt x="90" y="190"/>
                    </a:lnTo>
                    <a:lnTo>
                      <a:pt x="92" y="194"/>
                    </a:lnTo>
                    <a:lnTo>
                      <a:pt x="94" y="197"/>
                    </a:lnTo>
                    <a:lnTo>
                      <a:pt x="94" y="199"/>
                    </a:lnTo>
                    <a:lnTo>
                      <a:pt x="97" y="202"/>
                    </a:lnTo>
                    <a:lnTo>
                      <a:pt x="99" y="206"/>
                    </a:lnTo>
                    <a:lnTo>
                      <a:pt x="99" y="209"/>
                    </a:lnTo>
                    <a:lnTo>
                      <a:pt x="101" y="213"/>
                    </a:lnTo>
                    <a:lnTo>
                      <a:pt x="103" y="216"/>
                    </a:lnTo>
                    <a:lnTo>
                      <a:pt x="105" y="220"/>
                    </a:lnTo>
                    <a:lnTo>
                      <a:pt x="105" y="223"/>
                    </a:lnTo>
                    <a:lnTo>
                      <a:pt x="107" y="226"/>
                    </a:lnTo>
                    <a:lnTo>
                      <a:pt x="110" y="230"/>
                    </a:lnTo>
                    <a:lnTo>
                      <a:pt x="110" y="233"/>
                    </a:lnTo>
                    <a:lnTo>
                      <a:pt x="112" y="235"/>
                    </a:lnTo>
                    <a:lnTo>
                      <a:pt x="114" y="239"/>
                    </a:lnTo>
                    <a:lnTo>
                      <a:pt x="116" y="242"/>
                    </a:lnTo>
                    <a:lnTo>
                      <a:pt x="116" y="245"/>
                    </a:lnTo>
                    <a:lnTo>
                      <a:pt x="118" y="249"/>
                    </a:lnTo>
                    <a:lnTo>
                      <a:pt x="121" y="252"/>
                    </a:lnTo>
                    <a:lnTo>
                      <a:pt x="121" y="256"/>
                    </a:lnTo>
                    <a:lnTo>
                      <a:pt x="123" y="257"/>
                    </a:lnTo>
                    <a:lnTo>
                      <a:pt x="125" y="261"/>
                    </a:lnTo>
                    <a:lnTo>
                      <a:pt x="127" y="264"/>
                    </a:lnTo>
                    <a:lnTo>
                      <a:pt x="127" y="268"/>
                    </a:lnTo>
                    <a:lnTo>
                      <a:pt x="129" y="271"/>
                    </a:lnTo>
                    <a:lnTo>
                      <a:pt x="132" y="274"/>
                    </a:lnTo>
                    <a:lnTo>
                      <a:pt x="132" y="276"/>
                    </a:lnTo>
                    <a:lnTo>
                      <a:pt x="134" y="280"/>
                    </a:lnTo>
                    <a:lnTo>
                      <a:pt x="136" y="283"/>
                    </a:lnTo>
                    <a:lnTo>
                      <a:pt x="138" y="286"/>
                    </a:lnTo>
                    <a:lnTo>
                      <a:pt x="138" y="288"/>
                    </a:lnTo>
                    <a:lnTo>
                      <a:pt x="140" y="292"/>
                    </a:lnTo>
                    <a:lnTo>
                      <a:pt x="143" y="295"/>
                    </a:lnTo>
                    <a:lnTo>
                      <a:pt x="143" y="298"/>
                    </a:lnTo>
                    <a:lnTo>
                      <a:pt x="145" y="300"/>
                    </a:lnTo>
                    <a:lnTo>
                      <a:pt x="147" y="304"/>
                    </a:lnTo>
                    <a:lnTo>
                      <a:pt x="149" y="307"/>
                    </a:lnTo>
                    <a:lnTo>
                      <a:pt x="149" y="309"/>
                    </a:lnTo>
                    <a:lnTo>
                      <a:pt x="151" y="312"/>
                    </a:lnTo>
                    <a:lnTo>
                      <a:pt x="154" y="316"/>
                    </a:lnTo>
                    <a:lnTo>
                      <a:pt x="156" y="317"/>
                    </a:lnTo>
                    <a:lnTo>
                      <a:pt x="156" y="321"/>
                    </a:lnTo>
                    <a:lnTo>
                      <a:pt x="158" y="324"/>
                    </a:lnTo>
                    <a:lnTo>
                      <a:pt x="160" y="326"/>
                    </a:lnTo>
                    <a:lnTo>
                      <a:pt x="160" y="329"/>
                    </a:lnTo>
                    <a:lnTo>
                      <a:pt x="162" y="331"/>
                    </a:lnTo>
                    <a:lnTo>
                      <a:pt x="165" y="334"/>
                    </a:lnTo>
                    <a:lnTo>
                      <a:pt x="167" y="338"/>
                    </a:lnTo>
                    <a:lnTo>
                      <a:pt x="167" y="340"/>
                    </a:lnTo>
                    <a:lnTo>
                      <a:pt x="169" y="343"/>
                    </a:lnTo>
                    <a:lnTo>
                      <a:pt x="171" y="345"/>
                    </a:lnTo>
                    <a:lnTo>
                      <a:pt x="171" y="348"/>
                    </a:lnTo>
                    <a:lnTo>
                      <a:pt x="173" y="350"/>
                    </a:lnTo>
                    <a:lnTo>
                      <a:pt x="176" y="353"/>
                    </a:lnTo>
                    <a:lnTo>
                      <a:pt x="178" y="355"/>
                    </a:lnTo>
                    <a:lnTo>
                      <a:pt x="178" y="358"/>
                    </a:lnTo>
                    <a:lnTo>
                      <a:pt x="180" y="360"/>
                    </a:lnTo>
                    <a:lnTo>
                      <a:pt x="182" y="364"/>
                    </a:lnTo>
                    <a:lnTo>
                      <a:pt x="182" y="365"/>
                    </a:lnTo>
                    <a:lnTo>
                      <a:pt x="184" y="369"/>
                    </a:lnTo>
                    <a:lnTo>
                      <a:pt x="187" y="370"/>
                    </a:lnTo>
                    <a:lnTo>
                      <a:pt x="189" y="372"/>
                    </a:lnTo>
                    <a:lnTo>
                      <a:pt x="189" y="376"/>
                    </a:lnTo>
                    <a:lnTo>
                      <a:pt x="191" y="377"/>
                    </a:lnTo>
                    <a:lnTo>
                      <a:pt x="193" y="379"/>
                    </a:lnTo>
                    <a:lnTo>
                      <a:pt x="193" y="382"/>
                    </a:lnTo>
                    <a:lnTo>
                      <a:pt x="195" y="384"/>
                    </a:lnTo>
                    <a:lnTo>
                      <a:pt x="198" y="386"/>
                    </a:lnTo>
                    <a:lnTo>
                      <a:pt x="200" y="389"/>
                    </a:lnTo>
                    <a:lnTo>
                      <a:pt x="200" y="391"/>
                    </a:lnTo>
                  </a:path>
                </a:pathLst>
              </a:custGeom>
              <a:noFill/>
              <a:ln w="11113"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786" name="Freeform 50"/>
              <p:cNvSpPr/>
              <p:nvPr/>
            </p:nvSpPr>
            <p:spPr bwMode="auto">
              <a:xfrm>
                <a:off x="5012" y="3929"/>
                <a:ext cx="232" cy="96"/>
              </a:xfrm>
              <a:custGeom>
                <a:avLst/>
                <a:gdLst>
                  <a:gd name="T0" fmla="*/ 4 w 232"/>
                  <a:gd name="T1" fmla="*/ 22 h 96"/>
                  <a:gd name="T2" fmla="*/ 9 w 232"/>
                  <a:gd name="T3" fmla="*/ 29 h 96"/>
                  <a:gd name="T4" fmla="*/ 13 w 232"/>
                  <a:gd name="T5" fmla="*/ 36 h 96"/>
                  <a:gd name="T6" fmla="*/ 17 w 232"/>
                  <a:gd name="T7" fmla="*/ 41 h 96"/>
                  <a:gd name="T8" fmla="*/ 22 w 232"/>
                  <a:gd name="T9" fmla="*/ 46 h 96"/>
                  <a:gd name="T10" fmla="*/ 28 w 232"/>
                  <a:gd name="T11" fmla="*/ 52 h 96"/>
                  <a:gd name="T12" fmla="*/ 33 w 232"/>
                  <a:gd name="T13" fmla="*/ 57 h 96"/>
                  <a:gd name="T14" fmla="*/ 37 w 232"/>
                  <a:gd name="T15" fmla="*/ 62 h 96"/>
                  <a:gd name="T16" fmla="*/ 44 w 232"/>
                  <a:gd name="T17" fmla="*/ 67 h 96"/>
                  <a:gd name="T18" fmla="*/ 48 w 232"/>
                  <a:gd name="T19" fmla="*/ 70 h 96"/>
                  <a:gd name="T20" fmla="*/ 52 w 232"/>
                  <a:gd name="T21" fmla="*/ 76 h 96"/>
                  <a:gd name="T22" fmla="*/ 57 w 232"/>
                  <a:gd name="T23" fmla="*/ 79 h 96"/>
                  <a:gd name="T24" fmla="*/ 61 w 232"/>
                  <a:gd name="T25" fmla="*/ 82 h 96"/>
                  <a:gd name="T26" fmla="*/ 68 w 232"/>
                  <a:gd name="T27" fmla="*/ 86 h 96"/>
                  <a:gd name="T28" fmla="*/ 74 w 232"/>
                  <a:gd name="T29" fmla="*/ 89 h 96"/>
                  <a:gd name="T30" fmla="*/ 81 w 232"/>
                  <a:gd name="T31" fmla="*/ 91 h 96"/>
                  <a:gd name="T32" fmla="*/ 88 w 232"/>
                  <a:gd name="T33" fmla="*/ 93 h 96"/>
                  <a:gd name="T34" fmla="*/ 94 w 232"/>
                  <a:gd name="T35" fmla="*/ 96 h 96"/>
                  <a:gd name="T36" fmla="*/ 101 w 232"/>
                  <a:gd name="T37" fmla="*/ 96 h 96"/>
                  <a:gd name="T38" fmla="*/ 107 w 232"/>
                  <a:gd name="T39" fmla="*/ 96 h 96"/>
                  <a:gd name="T40" fmla="*/ 114 w 232"/>
                  <a:gd name="T41" fmla="*/ 96 h 96"/>
                  <a:gd name="T42" fmla="*/ 121 w 232"/>
                  <a:gd name="T43" fmla="*/ 96 h 96"/>
                  <a:gd name="T44" fmla="*/ 127 w 232"/>
                  <a:gd name="T45" fmla="*/ 94 h 96"/>
                  <a:gd name="T46" fmla="*/ 134 w 232"/>
                  <a:gd name="T47" fmla="*/ 93 h 96"/>
                  <a:gd name="T48" fmla="*/ 140 w 232"/>
                  <a:gd name="T49" fmla="*/ 91 h 96"/>
                  <a:gd name="T50" fmla="*/ 147 w 232"/>
                  <a:gd name="T51" fmla="*/ 88 h 96"/>
                  <a:gd name="T52" fmla="*/ 153 w 232"/>
                  <a:gd name="T53" fmla="*/ 84 h 96"/>
                  <a:gd name="T54" fmla="*/ 160 w 232"/>
                  <a:gd name="T55" fmla="*/ 81 h 96"/>
                  <a:gd name="T56" fmla="*/ 164 w 232"/>
                  <a:gd name="T57" fmla="*/ 77 h 96"/>
                  <a:gd name="T58" fmla="*/ 171 w 232"/>
                  <a:gd name="T59" fmla="*/ 72 h 96"/>
                  <a:gd name="T60" fmla="*/ 175 w 232"/>
                  <a:gd name="T61" fmla="*/ 67 h 96"/>
                  <a:gd name="T62" fmla="*/ 180 w 232"/>
                  <a:gd name="T63" fmla="*/ 64 h 96"/>
                  <a:gd name="T64" fmla="*/ 184 w 232"/>
                  <a:gd name="T65" fmla="*/ 58 h 96"/>
                  <a:gd name="T66" fmla="*/ 191 w 232"/>
                  <a:gd name="T67" fmla="*/ 53 h 96"/>
                  <a:gd name="T68" fmla="*/ 195 w 232"/>
                  <a:gd name="T69" fmla="*/ 48 h 96"/>
                  <a:gd name="T70" fmla="*/ 202 w 232"/>
                  <a:gd name="T71" fmla="*/ 41 h 96"/>
                  <a:gd name="T72" fmla="*/ 206 w 232"/>
                  <a:gd name="T73" fmla="*/ 36 h 96"/>
                  <a:gd name="T74" fmla="*/ 210 w 232"/>
                  <a:gd name="T75" fmla="*/ 31 h 96"/>
                  <a:gd name="T76" fmla="*/ 215 w 232"/>
                  <a:gd name="T77" fmla="*/ 24 h 96"/>
                  <a:gd name="T78" fmla="*/ 219 w 232"/>
                  <a:gd name="T79" fmla="*/ 17 h 96"/>
                  <a:gd name="T80" fmla="*/ 224 w 232"/>
                  <a:gd name="T81" fmla="*/ 10 h 96"/>
                  <a:gd name="T82" fmla="*/ 230 w 232"/>
                  <a:gd name="T83" fmla="*/ 4 h 9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32"/>
                  <a:gd name="T127" fmla="*/ 0 h 96"/>
                  <a:gd name="T128" fmla="*/ 232 w 232"/>
                  <a:gd name="T129" fmla="*/ 96 h 9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32" h="96">
                    <a:moveTo>
                      <a:pt x="0" y="19"/>
                    </a:moveTo>
                    <a:lnTo>
                      <a:pt x="2" y="21"/>
                    </a:lnTo>
                    <a:lnTo>
                      <a:pt x="4" y="22"/>
                    </a:lnTo>
                    <a:lnTo>
                      <a:pt x="6" y="26"/>
                    </a:lnTo>
                    <a:lnTo>
                      <a:pt x="6" y="28"/>
                    </a:lnTo>
                    <a:lnTo>
                      <a:pt x="9" y="29"/>
                    </a:lnTo>
                    <a:lnTo>
                      <a:pt x="11" y="31"/>
                    </a:lnTo>
                    <a:lnTo>
                      <a:pt x="11" y="33"/>
                    </a:lnTo>
                    <a:lnTo>
                      <a:pt x="13" y="36"/>
                    </a:lnTo>
                    <a:lnTo>
                      <a:pt x="15" y="38"/>
                    </a:lnTo>
                    <a:lnTo>
                      <a:pt x="17" y="40"/>
                    </a:lnTo>
                    <a:lnTo>
                      <a:pt x="17" y="41"/>
                    </a:lnTo>
                    <a:lnTo>
                      <a:pt x="19" y="43"/>
                    </a:lnTo>
                    <a:lnTo>
                      <a:pt x="22" y="45"/>
                    </a:lnTo>
                    <a:lnTo>
                      <a:pt x="22" y="46"/>
                    </a:lnTo>
                    <a:lnTo>
                      <a:pt x="24" y="48"/>
                    </a:lnTo>
                    <a:lnTo>
                      <a:pt x="26" y="50"/>
                    </a:lnTo>
                    <a:lnTo>
                      <a:pt x="28" y="52"/>
                    </a:lnTo>
                    <a:lnTo>
                      <a:pt x="28" y="53"/>
                    </a:lnTo>
                    <a:lnTo>
                      <a:pt x="30" y="55"/>
                    </a:lnTo>
                    <a:lnTo>
                      <a:pt x="33" y="57"/>
                    </a:lnTo>
                    <a:lnTo>
                      <a:pt x="33" y="58"/>
                    </a:lnTo>
                    <a:lnTo>
                      <a:pt x="35" y="60"/>
                    </a:lnTo>
                    <a:lnTo>
                      <a:pt x="37" y="62"/>
                    </a:lnTo>
                    <a:lnTo>
                      <a:pt x="39" y="64"/>
                    </a:lnTo>
                    <a:lnTo>
                      <a:pt x="41" y="65"/>
                    </a:lnTo>
                    <a:lnTo>
                      <a:pt x="44" y="67"/>
                    </a:lnTo>
                    <a:lnTo>
                      <a:pt x="44" y="69"/>
                    </a:lnTo>
                    <a:lnTo>
                      <a:pt x="46" y="70"/>
                    </a:lnTo>
                    <a:lnTo>
                      <a:pt x="48" y="70"/>
                    </a:lnTo>
                    <a:lnTo>
                      <a:pt x="50" y="72"/>
                    </a:lnTo>
                    <a:lnTo>
                      <a:pt x="50" y="74"/>
                    </a:lnTo>
                    <a:lnTo>
                      <a:pt x="52" y="76"/>
                    </a:lnTo>
                    <a:lnTo>
                      <a:pt x="55" y="76"/>
                    </a:lnTo>
                    <a:lnTo>
                      <a:pt x="59" y="79"/>
                    </a:lnTo>
                    <a:lnTo>
                      <a:pt x="57" y="79"/>
                    </a:lnTo>
                    <a:lnTo>
                      <a:pt x="59" y="79"/>
                    </a:lnTo>
                    <a:lnTo>
                      <a:pt x="63" y="82"/>
                    </a:lnTo>
                    <a:lnTo>
                      <a:pt x="61" y="82"/>
                    </a:lnTo>
                    <a:lnTo>
                      <a:pt x="63" y="82"/>
                    </a:lnTo>
                    <a:lnTo>
                      <a:pt x="66" y="84"/>
                    </a:lnTo>
                    <a:lnTo>
                      <a:pt x="68" y="86"/>
                    </a:lnTo>
                    <a:lnTo>
                      <a:pt x="70" y="86"/>
                    </a:lnTo>
                    <a:lnTo>
                      <a:pt x="72" y="88"/>
                    </a:lnTo>
                    <a:lnTo>
                      <a:pt x="74" y="89"/>
                    </a:lnTo>
                    <a:lnTo>
                      <a:pt x="77" y="89"/>
                    </a:lnTo>
                    <a:lnTo>
                      <a:pt x="79" y="91"/>
                    </a:lnTo>
                    <a:lnTo>
                      <a:pt x="81" y="91"/>
                    </a:lnTo>
                    <a:lnTo>
                      <a:pt x="83" y="93"/>
                    </a:lnTo>
                    <a:lnTo>
                      <a:pt x="85" y="93"/>
                    </a:lnTo>
                    <a:lnTo>
                      <a:pt x="88" y="93"/>
                    </a:lnTo>
                    <a:lnTo>
                      <a:pt x="90" y="94"/>
                    </a:lnTo>
                    <a:lnTo>
                      <a:pt x="92" y="94"/>
                    </a:lnTo>
                    <a:lnTo>
                      <a:pt x="94" y="96"/>
                    </a:lnTo>
                    <a:lnTo>
                      <a:pt x="96" y="96"/>
                    </a:lnTo>
                    <a:lnTo>
                      <a:pt x="98" y="96"/>
                    </a:lnTo>
                    <a:lnTo>
                      <a:pt x="101" y="96"/>
                    </a:lnTo>
                    <a:lnTo>
                      <a:pt x="103" y="96"/>
                    </a:lnTo>
                    <a:lnTo>
                      <a:pt x="105" y="96"/>
                    </a:lnTo>
                    <a:lnTo>
                      <a:pt x="107" y="96"/>
                    </a:lnTo>
                    <a:lnTo>
                      <a:pt x="109" y="96"/>
                    </a:lnTo>
                    <a:lnTo>
                      <a:pt x="112" y="96"/>
                    </a:lnTo>
                    <a:lnTo>
                      <a:pt x="114" y="96"/>
                    </a:lnTo>
                    <a:lnTo>
                      <a:pt x="116" y="96"/>
                    </a:lnTo>
                    <a:lnTo>
                      <a:pt x="118" y="96"/>
                    </a:lnTo>
                    <a:lnTo>
                      <a:pt x="121" y="96"/>
                    </a:lnTo>
                    <a:lnTo>
                      <a:pt x="123" y="96"/>
                    </a:lnTo>
                    <a:lnTo>
                      <a:pt x="125" y="96"/>
                    </a:lnTo>
                    <a:lnTo>
                      <a:pt x="127" y="94"/>
                    </a:lnTo>
                    <a:lnTo>
                      <a:pt x="129" y="94"/>
                    </a:lnTo>
                    <a:lnTo>
                      <a:pt x="131" y="94"/>
                    </a:lnTo>
                    <a:lnTo>
                      <a:pt x="134" y="93"/>
                    </a:lnTo>
                    <a:lnTo>
                      <a:pt x="136" y="93"/>
                    </a:lnTo>
                    <a:lnTo>
                      <a:pt x="138" y="91"/>
                    </a:lnTo>
                    <a:lnTo>
                      <a:pt x="140" y="91"/>
                    </a:lnTo>
                    <a:lnTo>
                      <a:pt x="142" y="89"/>
                    </a:lnTo>
                    <a:lnTo>
                      <a:pt x="145" y="88"/>
                    </a:lnTo>
                    <a:lnTo>
                      <a:pt x="147" y="88"/>
                    </a:lnTo>
                    <a:lnTo>
                      <a:pt x="149" y="86"/>
                    </a:lnTo>
                    <a:lnTo>
                      <a:pt x="151" y="84"/>
                    </a:lnTo>
                    <a:lnTo>
                      <a:pt x="153" y="84"/>
                    </a:lnTo>
                    <a:lnTo>
                      <a:pt x="156" y="82"/>
                    </a:lnTo>
                    <a:lnTo>
                      <a:pt x="158" y="81"/>
                    </a:lnTo>
                    <a:lnTo>
                      <a:pt x="160" y="81"/>
                    </a:lnTo>
                    <a:lnTo>
                      <a:pt x="164" y="77"/>
                    </a:lnTo>
                    <a:lnTo>
                      <a:pt x="162" y="77"/>
                    </a:lnTo>
                    <a:lnTo>
                      <a:pt x="164" y="77"/>
                    </a:lnTo>
                    <a:lnTo>
                      <a:pt x="167" y="76"/>
                    </a:lnTo>
                    <a:lnTo>
                      <a:pt x="169" y="74"/>
                    </a:lnTo>
                    <a:lnTo>
                      <a:pt x="171" y="72"/>
                    </a:lnTo>
                    <a:lnTo>
                      <a:pt x="173" y="70"/>
                    </a:lnTo>
                    <a:lnTo>
                      <a:pt x="173" y="69"/>
                    </a:lnTo>
                    <a:lnTo>
                      <a:pt x="175" y="67"/>
                    </a:lnTo>
                    <a:lnTo>
                      <a:pt x="178" y="67"/>
                    </a:lnTo>
                    <a:lnTo>
                      <a:pt x="180" y="65"/>
                    </a:lnTo>
                    <a:lnTo>
                      <a:pt x="180" y="64"/>
                    </a:lnTo>
                    <a:lnTo>
                      <a:pt x="182" y="62"/>
                    </a:lnTo>
                    <a:lnTo>
                      <a:pt x="184" y="60"/>
                    </a:lnTo>
                    <a:lnTo>
                      <a:pt x="184" y="58"/>
                    </a:lnTo>
                    <a:lnTo>
                      <a:pt x="186" y="57"/>
                    </a:lnTo>
                    <a:lnTo>
                      <a:pt x="189" y="55"/>
                    </a:lnTo>
                    <a:lnTo>
                      <a:pt x="191" y="53"/>
                    </a:lnTo>
                    <a:lnTo>
                      <a:pt x="193" y="52"/>
                    </a:lnTo>
                    <a:lnTo>
                      <a:pt x="195" y="50"/>
                    </a:lnTo>
                    <a:lnTo>
                      <a:pt x="195" y="48"/>
                    </a:lnTo>
                    <a:lnTo>
                      <a:pt x="197" y="46"/>
                    </a:lnTo>
                    <a:lnTo>
                      <a:pt x="200" y="43"/>
                    </a:lnTo>
                    <a:lnTo>
                      <a:pt x="202" y="41"/>
                    </a:lnTo>
                    <a:lnTo>
                      <a:pt x="202" y="40"/>
                    </a:lnTo>
                    <a:lnTo>
                      <a:pt x="204" y="38"/>
                    </a:lnTo>
                    <a:lnTo>
                      <a:pt x="206" y="36"/>
                    </a:lnTo>
                    <a:lnTo>
                      <a:pt x="206" y="34"/>
                    </a:lnTo>
                    <a:lnTo>
                      <a:pt x="208" y="33"/>
                    </a:lnTo>
                    <a:lnTo>
                      <a:pt x="210" y="31"/>
                    </a:lnTo>
                    <a:lnTo>
                      <a:pt x="213" y="28"/>
                    </a:lnTo>
                    <a:lnTo>
                      <a:pt x="213" y="26"/>
                    </a:lnTo>
                    <a:lnTo>
                      <a:pt x="215" y="24"/>
                    </a:lnTo>
                    <a:lnTo>
                      <a:pt x="217" y="22"/>
                    </a:lnTo>
                    <a:lnTo>
                      <a:pt x="219" y="21"/>
                    </a:lnTo>
                    <a:lnTo>
                      <a:pt x="219" y="17"/>
                    </a:lnTo>
                    <a:lnTo>
                      <a:pt x="221" y="16"/>
                    </a:lnTo>
                    <a:lnTo>
                      <a:pt x="224" y="14"/>
                    </a:lnTo>
                    <a:lnTo>
                      <a:pt x="224" y="10"/>
                    </a:lnTo>
                    <a:lnTo>
                      <a:pt x="226" y="9"/>
                    </a:lnTo>
                    <a:lnTo>
                      <a:pt x="228" y="7"/>
                    </a:lnTo>
                    <a:lnTo>
                      <a:pt x="230" y="4"/>
                    </a:lnTo>
                    <a:lnTo>
                      <a:pt x="230" y="2"/>
                    </a:lnTo>
                    <a:lnTo>
                      <a:pt x="232" y="0"/>
                    </a:lnTo>
                  </a:path>
                </a:pathLst>
              </a:custGeom>
              <a:noFill/>
              <a:ln w="11113"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787" name="Freeform 51"/>
              <p:cNvSpPr/>
              <p:nvPr/>
            </p:nvSpPr>
            <p:spPr bwMode="auto">
              <a:xfrm>
                <a:off x="5241" y="3592"/>
                <a:ext cx="174" cy="344"/>
              </a:xfrm>
              <a:custGeom>
                <a:avLst/>
                <a:gdLst>
                  <a:gd name="T0" fmla="*/ 3 w 174"/>
                  <a:gd name="T1" fmla="*/ 341 h 344"/>
                  <a:gd name="T2" fmla="*/ 5 w 174"/>
                  <a:gd name="T3" fmla="*/ 336 h 344"/>
                  <a:gd name="T4" fmla="*/ 9 w 174"/>
                  <a:gd name="T5" fmla="*/ 330 h 344"/>
                  <a:gd name="T6" fmla="*/ 11 w 174"/>
                  <a:gd name="T7" fmla="*/ 327 h 344"/>
                  <a:gd name="T8" fmla="*/ 14 w 174"/>
                  <a:gd name="T9" fmla="*/ 322 h 344"/>
                  <a:gd name="T10" fmla="*/ 18 w 174"/>
                  <a:gd name="T11" fmla="*/ 315 h 344"/>
                  <a:gd name="T12" fmla="*/ 20 w 174"/>
                  <a:gd name="T13" fmla="*/ 310 h 344"/>
                  <a:gd name="T14" fmla="*/ 25 w 174"/>
                  <a:gd name="T15" fmla="*/ 305 h 344"/>
                  <a:gd name="T16" fmla="*/ 27 w 174"/>
                  <a:gd name="T17" fmla="*/ 300 h 344"/>
                  <a:gd name="T18" fmla="*/ 31 w 174"/>
                  <a:gd name="T19" fmla="*/ 295 h 344"/>
                  <a:gd name="T20" fmla="*/ 33 w 174"/>
                  <a:gd name="T21" fmla="*/ 289 h 344"/>
                  <a:gd name="T22" fmla="*/ 38 w 174"/>
                  <a:gd name="T23" fmla="*/ 282 h 344"/>
                  <a:gd name="T24" fmla="*/ 40 w 174"/>
                  <a:gd name="T25" fmla="*/ 277 h 344"/>
                  <a:gd name="T26" fmla="*/ 42 w 174"/>
                  <a:gd name="T27" fmla="*/ 270 h 344"/>
                  <a:gd name="T28" fmla="*/ 47 w 174"/>
                  <a:gd name="T29" fmla="*/ 265 h 344"/>
                  <a:gd name="T30" fmla="*/ 49 w 174"/>
                  <a:gd name="T31" fmla="*/ 258 h 344"/>
                  <a:gd name="T32" fmla="*/ 53 w 174"/>
                  <a:gd name="T33" fmla="*/ 253 h 344"/>
                  <a:gd name="T34" fmla="*/ 55 w 174"/>
                  <a:gd name="T35" fmla="*/ 246 h 344"/>
                  <a:gd name="T36" fmla="*/ 60 w 174"/>
                  <a:gd name="T37" fmla="*/ 241 h 344"/>
                  <a:gd name="T38" fmla="*/ 62 w 174"/>
                  <a:gd name="T39" fmla="*/ 234 h 344"/>
                  <a:gd name="T40" fmla="*/ 64 w 174"/>
                  <a:gd name="T41" fmla="*/ 229 h 344"/>
                  <a:gd name="T42" fmla="*/ 69 w 174"/>
                  <a:gd name="T43" fmla="*/ 222 h 344"/>
                  <a:gd name="T44" fmla="*/ 71 w 174"/>
                  <a:gd name="T45" fmla="*/ 216 h 344"/>
                  <a:gd name="T46" fmla="*/ 75 w 174"/>
                  <a:gd name="T47" fmla="*/ 209 h 344"/>
                  <a:gd name="T48" fmla="*/ 77 w 174"/>
                  <a:gd name="T49" fmla="*/ 204 h 344"/>
                  <a:gd name="T50" fmla="*/ 82 w 174"/>
                  <a:gd name="T51" fmla="*/ 197 h 344"/>
                  <a:gd name="T52" fmla="*/ 84 w 174"/>
                  <a:gd name="T53" fmla="*/ 190 h 344"/>
                  <a:gd name="T54" fmla="*/ 88 w 174"/>
                  <a:gd name="T55" fmla="*/ 183 h 344"/>
                  <a:gd name="T56" fmla="*/ 90 w 174"/>
                  <a:gd name="T57" fmla="*/ 176 h 344"/>
                  <a:gd name="T58" fmla="*/ 93 w 174"/>
                  <a:gd name="T59" fmla="*/ 169 h 344"/>
                  <a:gd name="T60" fmla="*/ 97 w 174"/>
                  <a:gd name="T61" fmla="*/ 164 h 344"/>
                  <a:gd name="T62" fmla="*/ 99 w 174"/>
                  <a:gd name="T63" fmla="*/ 157 h 344"/>
                  <a:gd name="T64" fmla="*/ 104 w 174"/>
                  <a:gd name="T65" fmla="*/ 150 h 344"/>
                  <a:gd name="T66" fmla="*/ 106 w 174"/>
                  <a:gd name="T67" fmla="*/ 144 h 344"/>
                  <a:gd name="T68" fmla="*/ 110 w 174"/>
                  <a:gd name="T69" fmla="*/ 137 h 344"/>
                  <a:gd name="T70" fmla="*/ 112 w 174"/>
                  <a:gd name="T71" fmla="*/ 130 h 344"/>
                  <a:gd name="T72" fmla="*/ 115 w 174"/>
                  <a:gd name="T73" fmla="*/ 123 h 344"/>
                  <a:gd name="T74" fmla="*/ 119 w 174"/>
                  <a:gd name="T75" fmla="*/ 116 h 344"/>
                  <a:gd name="T76" fmla="*/ 121 w 174"/>
                  <a:gd name="T77" fmla="*/ 109 h 344"/>
                  <a:gd name="T78" fmla="*/ 126 w 174"/>
                  <a:gd name="T79" fmla="*/ 102 h 344"/>
                  <a:gd name="T80" fmla="*/ 128 w 174"/>
                  <a:gd name="T81" fmla="*/ 96 h 344"/>
                  <a:gd name="T82" fmla="*/ 132 w 174"/>
                  <a:gd name="T83" fmla="*/ 89 h 344"/>
                  <a:gd name="T84" fmla="*/ 134 w 174"/>
                  <a:gd name="T85" fmla="*/ 82 h 344"/>
                  <a:gd name="T86" fmla="*/ 139 w 174"/>
                  <a:gd name="T87" fmla="*/ 75 h 344"/>
                  <a:gd name="T88" fmla="*/ 141 w 174"/>
                  <a:gd name="T89" fmla="*/ 68 h 344"/>
                  <a:gd name="T90" fmla="*/ 143 w 174"/>
                  <a:gd name="T91" fmla="*/ 61 h 344"/>
                  <a:gd name="T92" fmla="*/ 148 w 174"/>
                  <a:gd name="T93" fmla="*/ 55 h 344"/>
                  <a:gd name="T94" fmla="*/ 150 w 174"/>
                  <a:gd name="T95" fmla="*/ 49 h 344"/>
                  <a:gd name="T96" fmla="*/ 154 w 174"/>
                  <a:gd name="T97" fmla="*/ 43 h 344"/>
                  <a:gd name="T98" fmla="*/ 156 w 174"/>
                  <a:gd name="T99" fmla="*/ 36 h 344"/>
                  <a:gd name="T100" fmla="*/ 161 w 174"/>
                  <a:gd name="T101" fmla="*/ 29 h 344"/>
                  <a:gd name="T102" fmla="*/ 163 w 174"/>
                  <a:gd name="T103" fmla="*/ 22 h 344"/>
                  <a:gd name="T104" fmla="*/ 165 w 174"/>
                  <a:gd name="T105" fmla="*/ 15 h 344"/>
                  <a:gd name="T106" fmla="*/ 170 w 174"/>
                  <a:gd name="T107" fmla="*/ 8 h 344"/>
                  <a:gd name="T108" fmla="*/ 172 w 174"/>
                  <a:gd name="T109" fmla="*/ 3 h 3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74"/>
                  <a:gd name="T166" fmla="*/ 0 h 344"/>
                  <a:gd name="T167" fmla="*/ 174 w 174"/>
                  <a:gd name="T168" fmla="*/ 344 h 3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74" h="344">
                    <a:moveTo>
                      <a:pt x="0" y="344"/>
                    </a:moveTo>
                    <a:lnTo>
                      <a:pt x="3" y="341"/>
                    </a:lnTo>
                    <a:lnTo>
                      <a:pt x="3" y="339"/>
                    </a:lnTo>
                    <a:lnTo>
                      <a:pt x="5" y="336"/>
                    </a:lnTo>
                    <a:lnTo>
                      <a:pt x="7" y="334"/>
                    </a:lnTo>
                    <a:lnTo>
                      <a:pt x="9" y="330"/>
                    </a:lnTo>
                    <a:lnTo>
                      <a:pt x="9" y="329"/>
                    </a:lnTo>
                    <a:lnTo>
                      <a:pt x="11" y="327"/>
                    </a:lnTo>
                    <a:lnTo>
                      <a:pt x="14" y="324"/>
                    </a:lnTo>
                    <a:lnTo>
                      <a:pt x="14" y="322"/>
                    </a:lnTo>
                    <a:lnTo>
                      <a:pt x="16" y="318"/>
                    </a:lnTo>
                    <a:lnTo>
                      <a:pt x="18" y="315"/>
                    </a:lnTo>
                    <a:lnTo>
                      <a:pt x="20" y="313"/>
                    </a:lnTo>
                    <a:lnTo>
                      <a:pt x="20" y="310"/>
                    </a:lnTo>
                    <a:lnTo>
                      <a:pt x="22" y="308"/>
                    </a:lnTo>
                    <a:lnTo>
                      <a:pt x="25" y="305"/>
                    </a:lnTo>
                    <a:lnTo>
                      <a:pt x="25" y="303"/>
                    </a:lnTo>
                    <a:lnTo>
                      <a:pt x="27" y="300"/>
                    </a:lnTo>
                    <a:lnTo>
                      <a:pt x="29" y="296"/>
                    </a:lnTo>
                    <a:lnTo>
                      <a:pt x="31" y="295"/>
                    </a:lnTo>
                    <a:lnTo>
                      <a:pt x="31" y="291"/>
                    </a:lnTo>
                    <a:lnTo>
                      <a:pt x="33" y="289"/>
                    </a:lnTo>
                    <a:lnTo>
                      <a:pt x="36" y="286"/>
                    </a:lnTo>
                    <a:lnTo>
                      <a:pt x="38" y="282"/>
                    </a:lnTo>
                    <a:lnTo>
                      <a:pt x="38" y="281"/>
                    </a:lnTo>
                    <a:lnTo>
                      <a:pt x="40" y="277"/>
                    </a:lnTo>
                    <a:lnTo>
                      <a:pt x="42" y="274"/>
                    </a:lnTo>
                    <a:lnTo>
                      <a:pt x="42" y="270"/>
                    </a:lnTo>
                    <a:lnTo>
                      <a:pt x="44" y="269"/>
                    </a:lnTo>
                    <a:lnTo>
                      <a:pt x="47" y="265"/>
                    </a:lnTo>
                    <a:lnTo>
                      <a:pt x="49" y="262"/>
                    </a:lnTo>
                    <a:lnTo>
                      <a:pt x="49" y="258"/>
                    </a:lnTo>
                    <a:lnTo>
                      <a:pt x="51" y="257"/>
                    </a:lnTo>
                    <a:lnTo>
                      <a:pt x="53" y="253"/>
                    </a:lnTo>
                    <a:lnTo>
                      <a:pt x="53" y="250"/>
                    </a:lnTo>
                    <a:lnTo>
                      <a:pt x="55" y="246"/>
                    </a:lnTo>
                    <a:lnTo>
                      <a:pt x="58" y="245"/>
                    </a:lnTo>
                    <a:lnTo>
                      <a:pt x="60" y="241"/>
                    </a:lnTo>
                    <a:lnTo>
                      <a:pt x="60" y="238"/>
                    </a:lnTo>
                    <a:lnTo>
                      <a:pt x="62" y="234"/>
                    </a:lnTo>
                    <a:lnTo>
                      <a:pt x="64" y="231"/>
                    </a:lnTo>
                    <a:lnTo>
                      <a:pt x="64" y="229"/>
                    </a:lnTo>
                    <a:lnTo>
                      <a:pt x="66" y="226"/>
                    </a:lnTo>
                    <a:lnTo>
                      <a:pt x="69" y="222"/>
                    </a:lnTo>
                    <a:lnTo>
                      <a:pt x="71" y="219"/>
                    </a:lnTo>
                    <a:lnTo>
                      <a:pt x="71" y="216"/>
                    </a:lnTo>
                    <a:lnTo>
                      <a:pt x="73" y="212"/>
                    </a:lnTo>
                    <a:lnTo>
                      <a:pt x="75" y="209"/>
                    </a:lnTo>
                    <a:lnTo>
                      <a:pt x="75" y="207"/>
                    </a:lnTo>
                    <a:lnTo>
                      <a:pt x="77" y="204"/>
                    </a:lnTo>
                    <a:lnTo>
                      <a:pt x="80" y="200"/>
                    </a:lnTo>
                    <a:lnTo>
                      <a:pt x="82" y="197"/>
                    </a:lnTo>
                    <a:lnTo>
                      <a:pt x="82" y="193"/>
                    </a:lnTo>
                    <a:lnTo>
                      <a:pt x="84" y="190"/>
                    </a:lnTo>
                    <a:lnTo>
                      <a:pt x="86" y="186"/>
                    </a:lnTo>
                    <a:lnTo>
                      <a:pt x="88" y="183"/>
                    </a:lnTo>
                    <a:lnTo>
                      <a:pt x="88" y="180"/>
                    </a:lnTo>
                    <a:lnTo>
                      <a:pt x="90" y="176"/>
                    </a:lnTo>
                    <a:lnTo>
                      <a:pt x="93" y="173"/>
                    </a:lnTo>
                    <a:lnTo>
                      <a:pt x="93" y="169"/>
                    </a:lnTo>
                    <a:lnTo>
                      <a:pt x="95" y="168"/>
                    </a:lnTo>
                    <a:lnTo>
                      <a:pt x="97" y="164"/>
                    </a:lnTo>
                    <a:lnTo>
                      <a:pt x="99" y="161"/>
                    </a:lnTo>
                    <a:lnTo>
                      <a:pt x="99" y="157"/>
                    </a:lnTo>
                    <a:lnTo>
                      <a:pt x="101" y="154"/>
                    </a:lnTo>
                    <a:lnTo>
                      <a:pt x="104" y="150"/>
                    </a:lnTo>
                    <a:lnTo>
                      <a:pt x="104" y="147"/>
                    </a:lnTo>
                    <a:lnTo>
                      <a:pt x="106" y="144"/>
                    </a:lnTo>
                    <a:lnTo>
                      <a:pt x="108" y="140"/>
                    </a:lnTo>
                    <a:lnTo>
                      <a:pt x="110" y="137"/>
                    </a:lnTo>
                    <a:lnTo>
                      <a:pt x="110" y="133"/>
                    </a:lnTo>
                    <a:lnTo>
                      <a:pt x="112" y="130"/>
                    </a:lnTo>
                    <a:lnTo>
                      <a:pt x="115" y="127"/>
                    </a:lnTo>
                    <a:lnTo>
                      <a:pt x="115" y="123"/>
                    </a:lnTo>
                    <a:lnTo>
                      <a:pt x="117" y="120"/>
                    </a:lnTo>
                    <a:lnTo>
                      <a:pt x="119" y="116"/>
                    </a:lnTo>
                    <a:lnTo>
                      <a:pt x="121" y="113"/>
                    </a:lnTo>
                    <a:lnTo>
                      <a:pt x="121" y="109"/>
                    </a:lnTo>
                    <a:lnTo>
                      <a:pt x="123" y="106"/>
                    </a:lnTo>
                    <a:lnTo>
                      <a:pt x="126" y="102"/>
                    </a:lnTo>
                    <a:lnTo>
                      <a:pt x="126" y="99"/>
                    </a:lnTo>
                    <a:lnTo>
                      <a:pt x="128" y="96"/>
                    </a:lnTo>
                    <a:lnTo>
                      <a:pt x="130" y="92"/>
                    </a:lnTo>
                    <a:lnTo>
                      <a:pt x="132" y="89"/>
                    </a:lnTo>
                    <a:lnTo>
                      <a:pt x="132" y="85"/>
                    </a:lnTo>
                    <a:lnTo>
                      <a:pt x="134" y="82"/>
                    </a:lnTo>
                    <a:lnTo>
                      <a:pt x="137" y="78"/>
                    </a:lnTo>
                    <a:lnTo>
                      <a:pt x="139" y="75"/>
                    </a:lnTo>
                    <a:lnTo>
                      <a:pt x="139" y="72"/>
                    </a:lnTo>
                    <a:lnTo>
                      <a:pt x="141" y="68"/>
                    </a:lnTo>
                    <a:lnTo>
                      <a:pt x="143" y="65"/>
                    </a:lnTo>
                    <a:lnTo>
                      <a:pt x="143" y="61"/>
                    </a:lnTo>
                    <a:lnTo>
                      <a:pt x="145" y="58"/>
                    </a:lnTo>
                    <a:lnTo>
                      <a:pt x="148" y="55"/>
                    </a:lnTo>
                    <a:lnTo>
                      <a:pt x="150" y="53"/>
                    </a:lnTo>
                    <a:lnTo>
                      <a:pt x="150" y="49"/>
                    </a:lnTo>
                    <a:lnTo>
                      <a:pt x="152" y="46"/>
                    </a:lnTo>
                    <a:lnTo>
                      <a:pt x="154" y="43"/>
                    </a:lnTo>
                    <a:lnTo>
                      <a:pt x="154" y="39"/>
                    </a:lnTo>
                    <a:lnTo>
                      <a:pt x="156" y="36"/>
                    </a:lnTo>
                    <a:lnTo>
                      <a:pt x="159" y="32"/>
                    </a:lnTo>
                    <a:lnTo>
                      <a:pt x="161" y="29"/>
                    </a:lnTo>
                    <a:lnTo>
                      <a:pt x="161" y="25"/>
                    </a:lnTo>
                    <a:lnTo>
                      <a:pt x="163" y="22"/>
                    </a:lnTo>
                    <a:lnTo>
                      <a:pt x="165" y="18"/>
                    </a:lnTo>
                    <a:lnTo>
                      <a:pt x="165" y="15"/>
                    </a:lnTo>
                    <a:lnTo>
                      <a:pt x="167" y="12"/>
                    </a:lnTo>
                    <a:lnTo>
                      <a:pt x="170" y="8"/>
                    </a:lnTo>
                    <a:lnTo>
                      <a:pt x="172" y="5"/>
                    </a:lnTo>
                    <a:lnTo>
                      <a:pt x="172" y="3"/>
                    </a:lnTo>
                    <a:lnTo>
                      <a:pt x="174" y="0"/>
                    </a:lnTo>
                  </a:path>
                </a:pathLst>
              </a:custGeom>
              <a:noFill/>
              <a:ln w="11113"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1768" name="Line 52"/>
            <p:cNvSpPr>
              <a:spLocks noChangeShapeType="1"/>
            </p:cNvSpPr>
            <p:nvPr/>
          </p:nvSpPr>
          <p:spPr bwMode="auto">
            <a:xfrm>
              <a:off x="4124" y="3682"/>
              <a:ext cx="1475" cy="1"/>
            </a:xfrm>
            <a:prstGeom prst="line">
              <a:avLst/>
            </a:prstGeom>
            <a:noFill/>
            <a:ln w="11113"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69" name="Freeform 53"/>
            <p:cNvSpPr/>
            <p:nvPr/>
          </p:nvSpPr>
          <p:spPr bwMode="auto">
            <a:xfrm>
              <a:off x="5591" y="3667"/>
              <a:ext cx="36" cy="29"/>
            </a:xfrm>
            <a:custGeom>
              <a:avLst/>
              <a:gdLst>
                <a:gd name="T0" fmla="*/ 0 w 326"/>
                <a:gd name="T1" fmla="*/ 0 h 326"/>
                <a:gd name="T2" fmla="*/ 0 w 326"/>
                <a:gd name="T3" fmla="*/ 0 h 326"/>
                <a:gd name="T4" fmla="*/ 0 w 326"/>
                <a:gd name="T5" fmla="*/ 0 h 326"/>
                <a:gd name="T6" fmla="*/ 0 w 326"/>
                <a:gd name="T7" fmla="*/ 0 h 326"/>
                <a:gd name="T8" fmla="*/ 0 w 326"/>
                <a:gd name="T9" fmla="*/ 0 h 326"/>
                <a:gd name="T10" fmla="*/ 0 60000 65536"/>
                <a:gd name="T11" fmla="*/ 0 60000 65536"/>
                <a:gd name="T12" fmla="*/ 0 60000 65536"/>
                <a:gd name="T13" fmla="*/ 0 60000 65536"/>
                <a:gd name="T14" fmla="*/ 0 60000 65536"/>
                <a:gd name="T15" fmla="*/ 0 w 326"/>
                <a:gd name="T16" fmla="*/ 0 h 326"/>
                <a:gd name="T17" fmla="*/ 326 w 326"/>
                <a:gd name="T18" fmla="*/ 326 h 326"/>
              </a:gdLst>
              <a:ahLst/>
              <a:cxnLst>
                <a:cxn ang="T10">
                  <a:pos x="T0" y="T1"/>
                </a:cxn>
                <a:cxn ang="T11">
                  <a:pos x="T2" y="T3"/>
                </a:cxn>
                <a:cxn ang="T12">
                  <a:pos x="T4" y="T5"/>
                </a:cxn>
                <a:cxn ang="T13">
                  <a:pos x="T6" y="T7"/>
                </a:cxn>
                <a:cxn ang="T14">
                  <a:pos x="T8" y="T9"/>
                </a:cxn>
              </a:cxnLst>
              <a:rect l="T15" t="T16" r="T17" b="T18"/>
              <a:pathLst>
                <a:path w="326" h="326">
                  <a:moveTo>
                    <a:pt x="326" y="163"/>
                  </a:moveTo>
                  <a:lnTo>
                    <a:pt x="0" y="326"/>
                  </a:lnTo>
                  <a:cubicBezTo>
                    <a:pt x="51" y="223"/>
                    <a:pt x="51" y="102"/>
                    <a:pt x="0" y="0"/>
                  </a:cubicBezTo>
                  <a:lnTo>
                    <a:pt x="326" y="163"/>
                  </a:lnTo>
                  <a:close/>
                </a:path>
              </a:pathLst>
            </a:custGeom>
            <a:solidFill>
              <a:srgbClr val="000000"/>
            </a:solidFill>
            <a:ln w="0">
              <a:solidFill>
                <a:srgbClr val="000000"/>
              </a:solidFill>
              <a:round/>
            </a:ln>
          </p:spPr>
          <p:txBody>
            <a:bodyPr/>
            <a:lstStyle/>
            <a:p>
              <a:endParaRPr lang="zh-CN" altLang="en-US"/>
            </a:p>
          </p:txBody>
        </p:sp>
        <p:sp>
          <p:nvSpPr>
            <p:cNvPr id="31770" name="Line 54"/>
            <p:cNvSpPr>
              <a:spLocks noChangeShapeType="1"/>
            </p:cNvSpPr>
            <p:nvPr/>
          </p:nvSpPr>
          <p:spPr bwMode="auto">
            <a:xfrm flipV="1">
              <a:off x="4369" y="3259"/>
              <a:ext cx="1" cy="820"/>
            </a:xfrm>
            <a:prstGeom prst="line">
              <a:avLst/>
            </a:prstGeom>
            <a:noFill/>
            <a:ln w="11113"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1" name="Freeform 55"/>
            <p:cNvSpPr/>
            <p:nvPr/>
          </p:nvSpPr>
          <p:spPr bwMode="auto">
            <a:xfrm>
              <a:off x="4351" y="3238"/>
              <a:ext cx="37" cy="28"/>
            </a:xfrm>
            <a:custGeom>
              <a:avLst/>
              <a:gdLst>
                <a:gd name="T0" fmla="*/ 0 w 326"/>
                <a:gd name="T1" fmla="*/ 0 h 327"/>
                <a:gd name="T2" fmla="*/ 0 w 326"/>
                <a:gd name="T3" fmla="*/ 0 h 327"/>
                <a:gd name="T4" fmla="*/ 0 w 326"/>
                <a:gd name="T5" fmla="*/ 0 h 327"/>
                <a:gd name="T6" fmla="*/ 0 w 326"/>
                <a:gd name="T7" fmla="*/ 0 h 327"/>
                <a:gd name="T8" fmla="*/ 0 w 326"/>
                <a:gd name="T9" fmla="*/ 0 h 327"/>
                <a:gd name="T10" fmla="*/ 0 60000 65536"/>
                <a:gd name="T11" fmla="*/ 0 60000 65536"/>
                <a:gd name="T12" fmla="*/ 0 60000 65536"/>
                <a:gd name="T13" fmla="*/ 0 60000 65536"/>
                <a:gd name="T14" fmla="*/ 0 60000 65536"/>
                <a:gd name="T15" fmla="*/ 0 w 326"/>
                <a:gd name="T16" fmla="*/ 0 h 327"/>
                <a:gd name="T17" fmla="*/ 326 w 326"/>
                <a:gd name="T18" fmla="*/ 327 h 327"/>
              </a:gdLst>
              <a:ahLst/>
              <a:cxnLst>
                <a:cxn ang="T10">
                  <a:pos x="T0" y="T1"/>
                </a:cxn>
                <a:cxn ang="T11">
                  <a:pos x="T2" y="T3"/>
                </a:cxn>
                <a:cxn ang="T12">
                  <a:pos x="T4" y="T5"/>
                </a:cxn>
                <a:cxn ang="T13">
                  <a:pos x="T6" y="T7"/>
                </a:cxn>
                <a:cxn ang="T14">
                  <a:pos x="T8" y="T9"/>
                </a:cxn>
              </a:cxnLst>
              <a:rect l="T15" t="T16" r="T17" b="T18"/>
              <a:pathLst>
                <a:path w="326" h="327">
                  <a:moveTo>
                    <a:pt x="163" y="0"/>
                  </a:moveTo>
                  <a:lnTo>
                    <a:pt x="326" y="327"/>
                  </a:lnTo>
                  <a:cubicBezTo>
                    <a:pt x="223" y="275"/>
                    <a:pt x="102" y="275"/>
                    <a:pt x="0" y="327"/>
                  </a:cubicBezTo>
                  <a:lnTo>
                    <a:pt x="163" y="0"/>
                  </a:lnTo>
                  <a:close/>
                </a:path>
              </a:pathLst>
            </a:custGeom>
            <a:solidFill>
              <a:srgbClr val="000000"/>
            </a:solidFill>
            <a:ln w="0">
              <a:solidFill>
                <a:srgbClr val="000000"/>
              </a:solidFill>
              <a:round/>
            </a:ln>
          </p:spPr>
          <p:txBody>
            <a:bodyPr/>
            <a:lstStyle/>
            <a:p>
              <a:endParaRPr lang="zh-CN" altLang="en-US"/>
            </a:p>
          </p:txBody>
        </p:sp>
        <p:sp>
          <p:nvSpPr>
            <p:cNvPr id="31772" name="Freeform 56"/>
            <p:cNvSpPr>
              <a:spLocks noEditPoints="1"/>
            </p:cNvSpPr>
            <p:nvPr/>
          </p:nvSpPr>
          <p:spPr bwMode="auto">
            <a:xfrm>
              <a:off x="5115" y="3679"/>
              <a:ext cx="7" cy="338"/>
            </a:xfrm>
            <a:custGeom>
              <a:avLst/>
              <a:gdLst>
                <a:gd name="T0" fmla="*/ 0 w 68"/>
                <a:gd name="T1" fmla="*/ 0 h 3849"/>
                <a:gd name="T2" fmla="*/ 0 w 68"/>
                <a:gd name="T3" fmla="*/ 0 h 3849"/>
                <a:gd name="T4" fmla="*/ 0 w 68"/>
                <a:gd name="T5" fmla="*/ 0 h 3849"/>
                <a:gd name="T6" fmla="*/ 0 w 68"/>
                <a:gd name="T7" fmla="*/ 0 h 3849"/>
                <a:gd name="T8" fmla="*/ 0 w 68"/>
                <a:gd name="T9" fmla="*/ 0 h 3849"/>
                <a:gd name="T10" fmla="*/ 0 w 68"/>
                <a:gd name="T11" fmla="*/ 0 h 3849"/>
                <a:gd name="T12" fmla="*/ 0 w 68"/>
                <a:gd name="T13" fmla="*/ 0 h 3849"/>
                <a:gd name="T14" fmla="*/ 0 w 68"/>
                <a:gd name="T15" fmla="*/ 0 h 3849"/>
                <a:gd name="T16" fmla="*/ 0 w 68"/>
                <a:gd name="T17" fmla="*/ 0 h 3849"/>
                <a:gd name="T18" fmla="*/ 0 w 68"/>
                <a:gd name="T19" fmla="*/ 0 h 3849"/>
                <a:gd name="T20" fmla="*/ 0 w 68"/>
                <a:gd name="T21" fmla="*/ 0 h 3849"/>
                <a:gd name="T22" fmla="*/ 0 w 68"/>
                <a:gd name="T23" fmla="*/ 0 h 3849"/>
                <a:gd name="T24" fmla="*/ 0 w 68"/>
                <a:gd name="T25" fmla="*/ 0 h 3849"/>
                <a:gd name="T26" fmla="*/ 0 w 68"/>
                <a:gd name="T27" fmla="*/ 0 h 3849"/>
                <a:gd name="T28" fmla="*/ 0 w 68"/>
                <a:gd name="T29" fmla="*/ 0 h 3849"/>
                <a:gd name="T30" fmla="*/ 0 w 68"/>
                <a:gd name="T31" fmla="*/ 0 h 3849"/>
                <a:gd name="T32" fmla="*/ 0 w 68"/>
                <a:gd name="T33" fmla="*/ 0 h 3849"/>
                <a:gd name="T34" fmla="*/ 0 w 68"/>
                <a:gd name="T35" fmla="*/ 0 h 3849"/>
                <a:gd name="T36" fmla="*/ 0 w 68"/>
                <a:gd name="T37" fmla="*/ 0 h 3849"/>
                <a:gd name="T38" fmla="*/ 0 w 68"/>
                <a:gd name="T39" fmla="*/ 0 h 3849"/>
                <a:gd name="T40" fmla="*/ 0 w 68"/>
                <a:gd name="T41" fmla="*/ 0 h 3849"/>
                <a:gd name="T42" fmla="*/ 0 w 68"/>
                <a:gd name="T43" fmla="*/ 0 h 3849"/>
                <a:gd name="T44" fmla="*/ 0 w 68"/>
                <a:gd name="T45" fmla="*/ 0 h 3849"/>
                <a:gd name="T46" fmla="*/ 0 w 68"/>
                <a:gd name="T47" fmla="*/ 0 h 3849"/>
                <a:gd name="T48" fmla="*/ 0 w 68"/>
                <a:gd name="T49" fmla="*/ 0 h 3849"/>
                <a:gd name="T50" fmla="*/ 0 w 68"/>
                <a:gd name="T51" fmla="*/ 0 h 3849"/>
                <a:gd name="T52" fmla="*/ 0 w 68"/>
                <a:gd name="T53" fmla="*/ 0 h 3849"/>
                <a:gd name="T54" fmla="*/ 0 w 68"/>
                <a:gd name="T55" fmla="*/ 0 h 3849"/>
                <a:gd name="T56" fmla="*/ 0 w 68"/>
                <a:gd name="T57" fmla="*/ 0 h 3849"/>
                <a:gd name="T58" fmla="*/ 0 w 68"/>
                <a:gd name="T59" fmla="*/ 0 h 3849"/>
                <a:gd name="T60" fmla="*/ 0 w 68"/>
                <a:gd name="T61" fmla="*/ 0 h 3849"/>
                <a:gd name="T62" fmla="*/ 0 w 68"/>
                <a:gd name="T63" fmla="*/ 0 h 3849"/>
                <a:gd name="T64" fmla="*/ 0 w 68"/>
                <a:gd name="T65" fmla="*/ 0 h 3849"/>
                <a:gd name="T66" fmla="*/ 0 w 68"/>
                <a:gd name="T67" fmla="*/ 0 h 3849"/>
                <a:gd name="T68" fmla="*/ 0 w 68"/>
                <a:gd name="T69" fmla="*/ 0 h 3849"/>
                <a:gd name="T70" fmla="*/ 0 w 68"/>
                <a:gd name="T71" fmla="*/ 0 h 3849"/>
                <a:gd name="T72" fmla="*/ 0 w 68"/>
                <a:gd name="T73" fmla="*/ 0 h 3849"/>
                <a:gd name="T74" fmla="*/ 0 w 68"/>
                <a:gd name="T75" fmla="*/ 0 h 3849"/>
                <a:gd name="T76" fmla="*/ 0 w 68"/>
                <a:gd name="T77" fmla="*/ 0 h 3849"/>
                <a:gd name="T78" fmla="*/ 0 w 68"/>
                <a:gd name="T79" fmla="*/ 0 h 3849"/>
                <a:gd name="T80" fmla="*/ 0 w 68"/>
                <a:gd name="T81" fmla="*/ 0 h 3849"/>
                <a:gd name="T82" fmla="*/ 0 w 68"/>
                <a:gd name="T83" fmla="*/ 0 h 384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8"/>
                <a:gd name="T127" fmla="*/ 0 h 3849"/>
                <a:gd name="T128" fmla="*/ 68 w 68"/>
                <a:gd name="T129" fmla="*/ 3849 h 384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8" h="3849">
                  <a:moveTo>
                    <a:pt x="0" y="3820"/>
                  </a:moveTo>
                  <a:lnTo>
                    <a:pt x="1" y="3417"/>
                  </a:lnTo>
                  <a:cubicBezTo>
                    <a:pt x="1" y="3401"/>
                    <a:pt x="14" y="3388"/>
                    <a:pt x="30" y="3388"/>
                  </a:cubicBezTo>
                  <a:cubicBezTo>
                    <a:pt x="46" y="3388"/>
                    <a:pt x="58" y="3401"/>
                    <a:pt x="58" y="3417"/>
                  </a:cubicBezTo>
                  <a:lnTo>
                    <a:pt x="57" y="3820"/>
                  </a:lnTo>
                  <a:cubicBezTo>
                    <a:pt x="57" y="3836"/>
                    <a:pt x="44" y="3849"/>
                    <a:pt x="28" y="3849"/>
                  </a:cubicBezTo>
                  <a:cubicBezTo>
                    <a:pt x="13" y="3849"/>
                    <a:pt x="0" y="3836"/>
                    <a:pt x="0" y="3820"/>
                  </a:cubicBezTo>
                  <a:close/>
                  <a:moveTo>
                    <a:pt x="2" y="3129"/>
                  </a:moveTo>
                  <a:lnTo>
                    <a:pt x="3" y="2726"/>
                  </a:lnTo>
                  <a:cubicBezTo>
                    <a:pt x="3" y="2710"/>
                    <a:pt x="16" y="2697"/>
                    <a:pt x="32" y="2697"/>
                  </a:cubicBezTo>
                  <a:cubicBezTo>
                    <a:pt x="48" y="2697"/>
                    <a:pt x="60" y="2710"/>
                    <a:pt x="60" y="2726"/>
                  </a:cubicBezTo>
                  <a:lnTo>
                    <a:pt x="59" y="3129"/>
                  </a:lnTo>
                  <a:cubicBezTo>
                    <a:pt x="59" y="3145"/>
                    <a:pt x="46" y="3158"/>
                    <a:pt x="30" y="3158"/>
                  </a:cubicBezTo>
                  <a:cubicBezTo>
                    <a:pt x="14" y="3158"/>
                    <a:pt x="2" y="3145"/>
                    <a:pt x="2" y="3129"/>
                  </a:cubicBezTo>
                  <a:close/>
                  <a:moveTo>
                    <a:pt x="4" y="2438"/>
                  </a:moveTo>
                  <a:lnTo>
                    <a:pt x="5" y="2035"/>
                  </a:lnTo>
                  <a:cubicBezTo>
                    <a:pt x="5" y="2019"/>
                    <a:pt x="18" y="2006"/>
                    <a:pt x="34" y="2006"/>
                  </a:cubicBezTo>
                  <a:cubicBezTo>
                    <a:pt x="50" y="2006"/>
                    <a:pt x="62" y="2019"/>
                    <a:pt x="62" y="2035"/>
                  </a:cubicBezTo>
                  <a:lnTo>
                    <a:pt x="61" y="2438"/>
                  </a:lnTo>
                  <a:cubicBezTo>
                    <a:pt x="61" y="2454"/>
                    <a:pt x="48" y="2467"/>
                    <a:pt x="32" y="2467"/>
                  </a:cubicBezTo>
                  <a:cubicBezTo>
                    <a:pt x="16" y="2467"/>
                    <a:pt x="4" y="2454"/>
                    <a:pt x="4" y="2438"/>
                  </a:cubicBezTo>
                  <a:close/>
                  <a:moveTo>
                    <a:pt x="6" y="1747"/>
                  </a:moveTo>
                  <a:lnTo>
                    <a:pt x="7" y="1343"/>
                  </a:lnTo>
                  <a:cubicBezTo>
                    <a:pt x="7" y="1327"/>
                    <a:pt x="20" y="1315"/>
                    <a:pt x="36" y="1315"/>
                  </a:cubicBezTo>
                  <a:cubicBezTo>
                    <a:pt x="52" y="1315"/>
                    <a:pt x="64" y="1328"/>
                    <a:pt x="64" y="1344"/>
                  </a:cubicBezTo>
                  <a:lnTo>
                    <a:pt x="63" y="1747"/>
                  </a:lnTo>
                  <a:cubicBezTo>
                    <a:pt x="63" y="1763"/>
                    <a:pt x="50" y="1775"/>
                    <a:pt x="34" y="1775"/>
                  </a:cubicBezTo>
                  <a:cubicBezTo>
                    <a:pt x="18" y="1775"/>
                    <a:pt x="6" y="1762"/>
                    <a:pt x="6" y="1747"/>
                  </a:cubicBezTo>
                  <a:close/>
                  <a:moveTo>
                    <a:pt x="8" y="1055"/>
                  </a:moveTo>
                  <a:lnTo>
                    <a:pt x="9" y="652"/>
                  </a:lnTo>
                  <a:cubicBezTo>
                    <a:pt x="9" y="636"/>
                    <a:pt x="22" y="623"/>
                    <a:pt x="38" y="623"/>
                  </a:cubicBezTo>
                  <a:cubicBezTo>
                    <a:pt x="54" y="623"/>
                    <a:pt x="66" y="636"/>
                    <a:pt x="66" y="652"/>
                  </a:cubicBezTo>
                  <a:lnTo>
                    <a:pt x="65" y="1056"/>
                  </a:lnTo>
                  <a:cubicBezTo>
                    <a:pt x="65" y="1071"/>
                    <a:pt x="52" y="1084"/>
                    <a:pt x="36" y="1084"/>
                  </a:cubicBezTo>
                  <a:cubicBezTo>
                    <a:pt x="20" y="1084"/>
                    <a:pt x="8" y="1071"/>
                    <a:pt x="8" y="1055"/>
                  </a:cubicBezTo>
                  <a:close/>
                  <a:moveTo>
                    <a:pt x="10" y="364"/>
                  </a:moveTo>
                  <a:lnTo>
                    <a:pt x="10" y="29"/>
                  </a:lnTo>
                  <a:cubicBezTo>
                    <a:pt x="11" y="13"/>
                    <a:pt x="23" y="0"/>
                    <a:pt x="39" y="0"/>
                  </a:cubicBezTo>
                  <a:cubicBezTo>
                    <a:pt x="55" y="0"/>
                    <a:pt x="68" y="13"/>
                    <a:pt x="68" y="29"/>
                  </a:cubicBezTo>
                  <a:lnTo>
                    <a:pt x="67" y="364"/>
                  </a:lnTo>
                  <a:cubicBezTo>
                    <a:pt x="67" y="380"/>
                    <a:pt x="54" y="393"/>
                    <a:pt x="38" y="393"/>
                  </a:cubicBezTo>
                  <a:cubicBezTo>
                    <a:pt x="22" y="393"/>
                    <a:pt x="9" y="380"/>
                    <a:pt x="10" y="364"/>
                  </a:cubicBezTo>
                  <a:close/>
                </a:path>
              </a:pathLst>
            </a:custGeom>
            <a:solidFill>
              <a:srgbClr val="000000"/>
            </a:solidFill>
            <a:ln w="3175">
              <a:solidFill>
                <a:srgbClr val="000000"/>
              </a:solidFill>
              <a:bevel/>
            </a:ln>
          </p:spPr>
          <p:txBody>
            <a:bodyPr/>
            <a:lstStyle/>
            <a:p>
              <a:endParaRPr lang="zh-CN" altLang="en-US"/>
            </a:p>
          </p:txBody>
        </p:sp>
        <p:sp>
          <p:nvSpPr>
            <p:cNvPr id="31773" name="Rectangle 57"/>
            <p:cNvSpPr>
              <a:spLocks noChangeArrowheads="1"/>
            </p:cNvSpPr>
            <p:nvPr/>
          </p:nvSpPr>
          <p:spPr bwMode="auto">
            <a:xfrm>
              <a:off x="4299" y="3682"/>
              <a:ext cx="4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700">
                  <a:solidFill>
                    <a:srgbClr val="000000"/>
                  </a:solidFill>
                  <a:latin typeface="Times New Roman" panose="02020603050405020304" pitchFamily="18" charset="0"/>
                </a:rPr>
                <a:t>O</a:t>
              </a:r>
              <a:endParaRPr lang="en-US" altLang="zh-CN"/>
            </a:p>
          </p:txBody>
        </p:sp>
        <p:sp>
          <p:nvSpPr>
            <p:cNvPr id="31774" name="Rectangle 58"/>
            <p:cNvSpPr>
              <a:spLocks noChangeArrowheads="1"/>
            </p:cNvSpPr>
            <p:nvPr/>
          </p:nvSpPr>
          <p:spPr bwMode="auto">
            <a:xfrm>
              <a:off x="5097" y="3615"/>
              <a:ext cx="31"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700">
                  <a:solidFill>
                    <a:srgbClr val="000000"/>
                  </a:solidFill>
                  <a:latin typeface="Times New Roman" panose="02020603050405020304" pitchFamily="18" charset="0"/>
                </a:rPr>
                <a:t>P</a:t>
              </a:r>
              <a:endParaRPr lang="en-US" altLang="zh-CN"/>
            </a:p>
          </p:txBody>
        </p:sp>
        <p:sp>
          <p:nvSpPr>
            <p:cNvPr id="31775" name="Rectangle 59"/>
            <p:cNvSpPr>
              <a:spLocks noChangeArrowheads="1"/>
            </p:cNvSpPr>
            <p:nvPr/>
          </p:nvSpPr>
          <p:spPr bwMode="auto">
            <a:xfrm>
              <a:off x="4423" y="3222"/>
              <a:ext cx="25"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700" i="1">
                  <a:solidFill>
                    <a:srgbClr val="000000"/>
                  </a:solidFill>
                  <a:latin typeface="Times New Roman" panose="02020603050405020304" pitchFamily="18" charset="0"/>
                </a:rPr>
                <a:t>y</a:t>
              </a:r>
              <a:endParaRPr lang="en-US" altLang="zh-CN"/>
            </a:p>
          </p:txBody>
        </p:sp>
        <p:grpSp>
          <p:nvGrpSpPr>
            <p:cNvPr id="31776" name="Group 62"/>
            <p:cNvGrpSpPr/>
            <p:nvPr/>
          </p:nvGrpSpPr>
          <p:grpSpPr bwMode="auto">
            <a:xfrm>
              <a:off x="4512" y="3358"/>
              <a:ext cx="1039" cy="677"/>
              <a:chOff x="4376" y="3348"/>
              <a:chExt cx="1039" cy="677"/>
            </a:xfrm>
          </p:grpSpPr>
          <p:sp>
            <p:nvSpPr>
              <p:cNvPr id="31778" name="Freeform 63"/>
              <p:cNvSpPr/>
              <p:nvPr/>
            </p:nvSpPr>
            <p:spPr bwMode="auto">
              <a:xfrm>
                <a:off x="4376" y="3360"/>
                <a:ext cx="204" cy="327"/>
              </a:xfrm>
              <a:custGeom>
                <a:avLst/>
                <a:gdLst>
                  <a:gd name="T0" fmla="*/ 3 w 204"/>
                  <a:gd name="T1" fmla="*/ 321 h 327"/>
                  <a:gd name="T2" fmla="*/ 7 w 204"/>
                  <a:gd name="T3" fmla="*/ 310 h 327"/>
                  <a:gd name="T4" fmla="*/ 11 w 204"/>
                  <a:gd name="T5" fmla="*/ 300 h 327"/>
                  <a:gd name="T6" fmla="*/ 16 w 204"/>
                  <a:gd name="T7" fmla="*/ 290 h 327"/>
                  <a:gd name="T8" fmla="*/ 22 w 204"/>
                  <a:gd name="T9" fmla="*/ 280 h 327"/>
                  <a:gd name="T10" fmla="*/ 27 w 204"/>
                  <a:gd name="T11" fmla="*/ 269 h 327"/>
                  <a:gd name="T12" fmla="*/ 31 w 204"/>
                  <a:gd name="T13" fmla="*/ 259 h 327"/>
                  <a:gd name="T14" fmla="*/ 35 w 204"/>
                  <a:gd name="T15" fmla="*/ 249 h 327"/>
                  <a:gd name="T16" fmla="*/ 40 w 204"/>
                  <a:gd name="T17" fmla="*/ 240 h 327"/>
                  <a:gd name="T18" fmla="*/ 44 w 204"/>
                  <a:gd name="T19" fmla="*/ 230 h 327"/>
                  <a:gd name="T20" fmla="*/ 49 w 204"/>
                  <a:gd name="T21" fmla="*/ 219 h 327"/>
                  <a:gd name="T22" fmla="*/ 55 w 204"/>
                  <a:gd name="T23" fmla="*/ 211 h 327"/>
                  <a:gd name="T24" fmla="*/ 60 w 204"/>
                  <a:gd name="T25" fmla="*/ 201 h 327"/>
                  <a:gd name="T26" fmla="*/ 64 w 204"/>
                  <a:gd name="T27" fmla="*/ 192 h 327"/>
                  <a:gd name="T28" fmla="*/ 68 w 204"/>
                  <a:gd name="T29" fmla="*/ 182 h 327"/>
                  <a:gd name="T30" fmla="*/ 73 w 204"/>
                  <a:gd name="T31" fmla="*/ 173 h 327"/>
                  <a:gd name="T32" fmla="*/ 77 w 204"/>
                  <a:gd name="T33" fmla="*/ 165 h 327"/>
                  <a:gd name="T34" fmla="*/ 84 w 204"/>
                  <a:gd name="T35" fmla="*/ 154 h 327"/>
                  <a:gd name="T36" fmla="*/ 88 w 204"/>
                  <a:gd name="T37" fmla="*/ 146 h 327"/>
                  <a:gd name="T38" fmla="*/ 93 w 204"/>
                  <a:gd name="T39" fmla="*/ 137 h 327"/>
                  <a:gd name="T40" fmla="*/ 97 w 204"/>
                  <a:gd name="T41" fmla="*/ 129 h 327"/>
                  <a:gd name="T42" fmla="*/ 101 w 204"/>
                  <a:gd name="T43" fmla="*/ 122 h 327"/>
                  <a:gd name="T44" fmla="*/ 106 w 204"/>
                  <a:gd name="T45" fmla="*/ 113 h 327"/>
                  <a:gd name="T46" fmla="*/ 112 w 204"/>
                  <a:gd name="T47" fmla="*/ 105 h 327"/>
                  <a:gd name="T48" fmla="*/ 117 w 204"/>
                  <a:gd name="T49" fmla="*/ 98 h 327"/>
                  <a:gd name="T50" fmla="*/ 121 w 204"/>
                  <a:gd name="T51" fmla="*/ 91 h 327"/>
                  <a:gd name="T52" fmla="*/ 126 w 204"/>
                  <a:gd name="T53" fmla="*/ 82 h 327"/>
                  <a:gd name="T54" fmla="*/ 130 w 204"/>
                  <a:gd name="T55" fmla="*/ 75 h 327"/>
                  <a:gd name="T56" fmla="*/ 134 w 204"/>
                  <a:gd name="T57" fmla="*/ 69 h 327"/>
                  <a:gd name="T58" fmla="*/ 139 w 204"/>
                  <a:gd name="T59" fmla="*/ 63 h 327"/>
                  <a:gd name="T60" fmla="*/ 145 w 204"/>
                  <a:gd name="T61" fmla="*/ 57 h 327"/>
                  <a:gd name="T62" fmla="*/ 150 w 204"/>
                  <a:gd name="T63" fmla="*/ 50 h 327"/>
                  <a:gd name="T64" fmla="*/ 154 w 204"/>
                  <a:gd name="T65" fmla="*/ 45 h 327"/>
                  <a:gd name="T66" fmla="*/ 158 w 204"/>
                  <a:gd name="T67" fmla="*/ 40 h 327"/>
                  <a:gd name="T68" fmla="*/ 163 w 204"/>
                  <a:gd name="T69" fmla="*/ 34 h 327"/>
                  <a:gd name="T70" fmla="*/ 167 w 204"/>
                  <a:gd name="T71" fmla="*/ 29 h 327"/>
                  <a:gd name="T72" fmla="*/ 174 w 204"/>
                  <a:gd name="T73" fmla="*/ 24 h 327"/>
                  <a:gd name="T74" fmla="*/ 178 w 204"/>
                  <a:gd name="T75" fmla="*/ 19 h 327"/>
                  <a:gd name="T76" fmla="*/ 187 w 204"/>
                  <a:gd name="T77" fmla="*/ 12 h 327"/>
                  <a:gd name="T78" fmla="*/ 191 w 204"/>
                  <a:gd name="T79" fmla="*/ 9 h 327"/>
                  <a:gd name="T80" fmla="*/ 194 w 204"/>
                  <a:gd name="T81" fmla="*/ 7 h 327"/>
                  <a:gd name="T82" fmla="*/ 200 w 204"/>
                  <a:gd name="T83" fmla="*/ 2 h 3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04"/>
                  <a:gd name="T127" fmla="*/ 0 h 327"/>
                  <a:gd name="T128" fmla="*/ 204 w 204"/>
                  <a:gd name="T129" fmla="*/ 327 h 3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04" h="327">
                    <a:moveTo>
                      <a:pt x="0" y="327"/>
                    </a:moveTo>
                    <a:lnTo>
                      <a:pt x="0" y="324"/>
                    </a:lnTo>
                    <a:lnTo>
                      <a:pt x="3" y="321"/>
                    </a:lnTo>
                    <a:lnTo>
                      <a:pt x="5" y="317"/>
                    </a:lnTo>
                    <a:lnTo>
                      <a:pt x="5" y="314"/>
                    </a:lnTo>
                    <a:lnTo>
                      <a:pt x="7" y="310"/>
                    </a:lnTo>
                    <a:lnTo>
                      <a:pt x="9" y="307"/>
                    </a:lnTo>
                    <a:lnTo>
                      <a:pt x="11" y="303"/>
                    </a:lnTo>
                    <a:lnTo>
                      <a:pt x="11" y="300"/>
                    </a:lnTo>
                    <a:lnTo>
                      <a:pt x="14" y="297"/>
                    </a:lnTo>
                    <a:lnTo>
                      <a:pt x="16" y="293"/>
                    </a:lnTo>
                    <a:lnTo>
                      <a:pt x="16" y="290"/>
                    </a:lnTo>
                    <a:lnTo>
                      <a:pt x="18" y="286"/>
                    </a:lnTo>
                    <a:lnTo>
                      <a:pt x="20" y="283"/>
                    </a:lnTo>
                    <a:lnTo>
                      <a:pt x="22" y="280"/>
                    </a:lnTo>
                    <a:lnTo>
                      <a:pt x="22" y="276"/>
                    </a:lnTo>
                    <a:lnTo>
                      <a:pt x="24" y="273"/>
                    </a:lnTo>
                    <a:lnTo>
                      <a:pt x="27" y="269"/>
                    </a:lnTo>
                    <a:lnTo>
                      <a:pt x="27" y="266"/>
                    </a:lnTo>
                    <a:lnTo>
                      <a:pt x="29" y="262"/>
                    </a:lnTo>
                    <a:lnTo>
                      <a:pt x="31" y="259"/>
                    </a:lnTo>
                    <a:lnTo>
                      <a:pt x="33" y="255"/>
                    </a:lnTo>
                    <a:lnTo>
                      <a:pt x="33" y="252"/>
                    </a:lnTo>
                    <a:lnTo>
                      <a:pt x="35" y="249"/>
                    </a:lnTo>
                    <a:lnTo>
                      <a:pt x="38" y="245"/>
                    </a:lnTo>
                    <a:lnTo>
                      <a:pt x="38" y="243"/>
                    </a:lnTo>
                    <a:lnTo>
                      <a:pt x="40" y="240"/>
                    </a:lnTo>
                    <a:lnTo>
                      <a:pt x="42" y="237"/>
                    </a:lnTo>
                    <a:lnTo>
                      <a:pt x="44" y="233"/>
                    </a:lnTo>
                    <a:lnTo>
                      <a:pt x="44" y="230"/>
                    </a:lnTo>
                    <a:lnTo>
                      <a:pt x="46" y="226"/>
                    </a:lnTo>
                    <a:lnTo>
                      <a:pt x="49" y="223"/>
                    </a:lnTo>
                    <a:lnTo>
                      <a:pt x="49" y="219"/>
                    </a:lnTo>
                    <a:lnTo>
                      <a:pt x="51" y="216"/>
                    </a:lnTo>
                    <a:lnTo>
                      <a:pt x="53" y="213"/>
                    </a:lnTo>
                    <a:lnTo>
                      <a:pt x="55" y="211"/>
                    </a:lnTo>
                    <a:lnTo>
                      <a:pt x="55" y="208"/>
                    </a:lnTo>
                    <a:lnTo>
                      <a:pt x="57" y="204"/>
                    </a:lnTo>
                    <a:lnTo>
                      <a:pt x="60" y="201"/>
                    </a:lnTo>
                    <a:lnTo>
                      <a:pt x="62" y="197"/>
                    </a:lnTo>
                    <a:lnTo>
                      <a:pt x="62" y="194"/>
                    </a:lnTo>
                    <a:lnTo>
                      <a:pt x="64" y="192"/>
                    </a:lnTo>
                    <a:lnTo>
                      <a:pt x="66" y="189"/>
                    </a:lnTo>
                    <a:lnTo>
                      <a:pt x="66" y="185"/>
                    </a:lnTo>
                    <a:lnTo>
                      <a:pt x="68" y="182"/>
                    </a:lnTo>
                    <a:lnTo>
                      <a:pt x="71" y="178"/>
                    </a:lnTo>
                    <a:lnTo>
                      <a:pt x="73" y="177"/>
                    </a:lnTo>
                    <a:lnTo>
                      <a:pt x="73" y="173"/>
                    </a:lnTo>
                    <a:lnTo>
                      <a:pt x="75" y="170"/>
                    </a:lnTo>
                    <a:lnTo>
                      <a:pt x="77" y="166"/>
                    </a:lnTo>
                    <a:lnTo>
                      <a:pt x="77" y="165"/>
                    </a:lnTo>
                    <a:lnTo>
                      <a:pt x="79" y="161"/>
                    </a:lnTo>
                    <a:lnTo>
                      <a:pt x="82" y="158"/>
                    </a:lnTo>
                    <a:lnTo>
                      <a:pt x="84" y="154"/>
                    </a:lnTo>
                    <a:lnTo>
                      <a:pt x="84" y="153"/>
                    </a:lnTo>
                    <a:lnTo>
                      <a:pt x="86" y="149"/>
                    </a:lnTo>
                    <a:lnTo>
                      <a:pt x="88" y="146"/>
                    </a:lnTo>
                    <a:lnTo>
                      <a:pt x="88" y="144"/>
                    </a:lnTo>
                    <a:lnTo>
                      <a:pt x="90" y="141"/>
                    </a:lnTo>
                    <a:lnTo>
                      <a:pt x="93" y="137"/>
                    </a:lnTo>
                    <a:lnTo>
                      <a:pt x="95" y="135"/>
                    </a:lnTo>
                    <a:lnTo>
                      <a:pt x="95" y="132"/>
                    </a:lnTo>
                    <a:lnTo>
                      <a:pt x="97" y="129"/>
                    </a:lnTo>
                    <a:lnTo>
                      <a:pt x="99" y="127"/>
                    </a:lnTo>
                    <a:lnTo>
                      <a:pt x="99" y="124"/>
                    </a:lnTo>
                    <a:lnTo>
                      <a:pt x="101" y="122"/>
                    </a:lnTo>
                    <a:lnTo>
                      <a:pt x="104" y="118"/>
                    </a:lnTo>
                    <a:lnTo>
                      <a:pt x="106" y="117"/>
                    </a:lnTo>
                    <a:lnTo>
                      <a:pt x="106" y="113"/>
                    </a:lnTo>
                    <a:lnTo>
                      <a:pt x="108" y="110"/>
                    </a:lnTo>
                    <a:lnTo>
                      <a:pt x="110" y="108"/>
                    </a:lnTo>
                    <a:lnTo>
                      <a:pt x="112" y="105"/>
                    </a:lnTo>
                    <a:lnTo>
                      <a:pt x="112" y="103"/>
                    </a:lnTo>
                    <a:lnTo>
                      <a:pt x="115" y="100"/>
                    </a:lnTo>
                    <a:lnTo>
                      <a:pt x="117" y="98"/>
                    </a:lnTo>
                    <a:lnTo>
                      <a:pt x="117" y="96"/>
                    </a:lnTo>
                    <a:lnTo>
                      <a:pt x="119" y="93"/>
                    </a:lnTo>
                    <a:lnTo>
                      <a:pt x="121" y="91"/>
                    </a:lnTo>
                    <a:lnTo>
                      <a:pt x="123" y="87"/>
                    </a:lnTo>
                    <a:lnTo>
                      <a:pt x="123" y="86"/>
                    </a:lnTo>
                    <a:lnTo>
                      <a:pt x="126" y="82"/>
                    </a:lnTo>
                    <a:lnTo>
                      <a:pt x="128" y="81"/>
                    </a:lnTo>
                    <a:lnTo>
                      <a:pt x="128" y="79"/>
                    </a:lnTo>
                    <a:lnTo>
                      <a:pt x="130" y="75"/>
                    </a:lnTo>
                    <a:lnTo>
                      <a:pt x="132" y="74"/>
                    </a:lnTo>
                    <a:lnTo>
                      <a:pt x="134" y="72"/>
                    </a:lnTo>
                    <a:lnTo>
                      <a:pt x="134" y="69"/>
                    </a:lnTo>
                    <a:lnTo>
                      <a:pt x="136" y="67"/>
                    </a:lnTo>
                    <a:lnTo>
                      <a:pt x="139" y="65"/>
                    </a:lnTo>
                    <a:lnTo>
                      <a:pt x="139" y="63"/>
                    </a:lnTo>
                    <a:lnTo>
                      <a:pt x="141" y="60"/>
                    </a:lnTo>
                    <a:lnTo>
                      <a:pt x="143" y="58"/>
                    </a:lnTo>
                    <a:lnTo>
                      <a:pt x="145" y="57"/>
                    </a:lnTo>
                    <a:lnTo>
                      <a:pt x="145" y="55"/>
                    </a:lnTo>
                    <a:lnTo>
                      <a:pt x="147" y="53"/>
                    </a:lnTo>
                    <a:lnTo>
                      <a:pt x="150" y="50"/>
                    </a:lnTo>
                    <a:lnTo>
                      <a:pt x="150" y="48"/>
                    </a:lnTo>
                    <a:lnTo>
                      <a:pt x="152" y="46"/>
                    </a:lnTo>
                    <a:lnTo>
                      <a:pt x="154" y="45"/>
                    </a:lnTo>
                    <a:lnTo>
                      <a:pt x="156" y="43"/>
                    </a:lnTo>
                    <a:lnTo>
                      <a:pt x="156" y="41"/>
                    </a:lnTo>
                    <a:lnTo>
                      <a:pt x="158" y="40"/>
                    </a:lnTo>
                    <a:lnTo>
                      <a:pt x="161" y="38"/>
                    </a:lnTo>
                    <a:lnTo>
                      <a:pt x="163" y="36"/>
                    </a:lnTo>
                    <a:lnTo>
                      <a:pt x="163" y="34"/>
                    </a:lnTo>
                    <a:lnTo>
                      <a:pt x="165" y="33"/>
                    </a:lnTo>
                    <a:lnTo>
                      <a:pt x="167" y="31"/>
                    </a:lnTo>
                    <a:lnTo>
                      <a:pt x="167" y="29"/>
                    </a:lnTo>
                    <a:lnTo>
                      <a:pt x="169" y="28"/>
                    </a:lnTo>
                    <a:lnTo>
                      <a:pt x="172" y="26"/>
                    </a:lnTo>
                    <a:lnTo>
                      <a:pt x="174" y="24"/>
                    </a:lnTo>
                    <a:lnTo>
                      <a:pt x="174" y="22"/>
                    </a:lnTo>
                    <a:lnTo>
                      <a:pt x="176" y="21"/>
                    </a:lnTo>
                    <a:lnTo>
                      <a:pt x="178" y="19"/>
                    </a:lnTo>
                    <a:lnTo>
                      <a:pt x="180" y="17"/>
                    </a:lnTo>
                    <a:lnTo>
                      <a:pt x="183" y="16"/>
                    </a:lnTo>
                    <a:lnTo>
                      <a:pt x="187" y="12"/>
                    </a:lnTo>
                    <a:lnTo>
                      <a:pt x="185" y="12"/>
                    </a:lnTo>
                    <a:lnTo>
                      <a:pt x="187" y="12"/>
                    </a:lnTo>
                    <a:lnTo>
                      <a:pt x="191" y="9"/>
                    </a:lnTo>
                    <a:lnTo>
                      <a:pt x="189" y="9"/>
                    </a:lnTo>
                    <a:lnTo>
                      <a:pt x="191" y="9"/>
                    </a:lnTo>
                    <a:lnTo>
                      <a:pt x="194" y="7"/>
                    </a:lnTo>
                    <a:lnTo>
                      <a:pt x="196" y="5"/>
                    </a:lnTo>
                    <a:lnTo>
                      <a:pt x="198" y="3"/>
                    </a:lnTo>
                    <a:lnTo>
                      <a:pt x="200" y="2"/>
                    </a:lnTo>
                    <a:lnTo>
                      <a:pt x="202" y="0"/>
                    </a:lnTo>
                    <a:lnTo>
                      <a:pt x="204" y="0"/>
                    </a:lnTo>
                  </a:path>
                </a:pathLst>
              </a:custGeom>
              <a:noFill/>
              <a:ln w="11113" cap="rnd">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779" name="Freeform 64"/>
              <p:cNvSpPr/>
              <p:nvPr/>
            </p:nvSpPr>
            <p:spPr bwMode="auto">
              <a:xfrm>
                <a:off x="4580" y="3348"/>
                <a:ext cx="229" cy="209"/>
              </a:xfrm>
              <a:custGeom>
                <a:avLst/>
                <a:gdLst>
                  <a:gd name="T0" fmla="*/ 5 w 229"/>
                  <a:gd name="T1" fmla="*/ 9 h 209"/>
                  <a:gd name="T2" fmla="*/ 11 w 229"/>
                  <a:gd name="T3" fmla="*/ 5 h 209"/>
                  <a:gd name="T4" fmla="*/ 18 w 229"/>
                  <a:gd name="T5" fmla="*/ 3 h 209"/>
                  <a:gd name="T6" fmla="*/ 25 w 229"/>
                  <a:gd name="T7" fmla="*/ 2 h 209"/>
                  <a:gd name="T8" fmla="*/ 31 w 229"/>
                  <a:gd name="T9" fmla="*/ 0 h 209"/>
                  <a:gd name="T10" fmla="*/ 38 w 229"/>
                  <a:gd name="T11" fmla="*/ 0 h 209"/>
                  <a:gd name="T12" fmla="*/ 44 w 229"/>
                  <a:gd name="T13" fmla="*/ 0 h 209"/>
                  <a:gd name="T14" fmla="*/ 51 w 229"/>
                  <a:gd name="T15" fmla="*/ 0 h 209"/>
                  <a:gd name="T16" fmla="*/ 58 w 229"/>
                  <a:gd name="T17" fmla="*/ 0 h 209"/>
                  <a:gd name="T18" fmla="*/ 64 w 229"/>
                  <a:gd name="T19" fmla="*/ 2 h 209"/>
                  <a:gd name="T20" fmla="*/ 71 w 229"/>
                  <a:gd name="T21" fmla="*/ 5 h 209"/>
                  <a:gd name="T22" fmla="*/ 77 w 229"/>
                  <a:gd name="T23" fmla="*/ 7 h 209"/>
                  <a:gd name="T24" fmla="*/ 84 w 229"/>
                  <a:gd name="T25" fmla="*/ 10 h 209"/>
                  <a:gd name="T26" fmla="*/ 91 w 229"/>
                  <a:gd name="T27" fmla="*/ 14 h 209"/>
                  <a:gd name="T28" fmla="*/ 95 w 229"/>
                  <a:gd name="T29" fmla="*/ 17 h 209"/>
                  <a:gd name="T30" fmla="*/ 102 w 229"/>
                  <a:gd name="T31" fmla="*/ 22 h 209"/>
                  <a:gd name="T32" fmla="*/ 110 w 229"/>
                  <a:gd name="T33" fmla="*/ 29 h 209"/>
                  <a:gd name="T34" fmla="*/ 112 w 229"/>
                  <a:gd name="T35" fmla="*/ 31 h 209"/>
                  <a:gd name="T36" fmla="*/ 117 w 229"/>
                  <a:gd name="T37" fmla="*/ 36 h 209"/>
                  <a:gd name="T38" fmla="*/ 121 w 229"/>
                  <a:gd name="T39" fmla="*/ 41 h 209"/>
                  <a:gd name="T40" fmla="*/ 126 w 229"/>
                  <a:gd name="T41" fmla="*/ 46 h 209"/>
                  <a:gd name="T42" fmla="*/ 132 w 229"/>
                  <a:gd name="T43" fmla="*/ 52 h 209"/>
                  <a:gd name="T44" fmla="*/ 137 w 229"/>
                  <a:gd name="T45" fmla="*/ 57 h 209"/>
                  <a:gd name="T46" fmla="*/ 141 w 229"/>
                  <a:gd name="T47" fmla="*/ 62 h 209"/>
                  <a:gd name="T48" fmla="*/ 145 w 229"/>
                  <a:gd name="T49" fmla="*/ 69 h 209"/>
                  <a:gd name="T50" fmla="*/ 150 w 229"/>
                  <a:gd name="T51" fmla="*/ 74 h 209"/>
                  <a:gd name="T52" fmla="*/ 154 w 229"/>
                  <a:gd name="T53" fmla="*/ 81 h 209"/>
                  <a:gd name="T54" fmla="*/ 159 w 229"/>
                  <a:gd name="T55" fmla="*/ 87 h 209"/>
                  <a:gd name="T56" fmla="*/ 165 w 229"/>
                  <a:gd name="T57" fmla="*/ 94 h 209"/>
                  <a:gd name="T58" fmla="*/ 170 w 229"/>
                  <a:gd name="T59" fmla="*/ 101 h 209"/>
                  <a:gd name="T60" fmla="*/ 174 w 229"/>
                  <a:gd name="T61" fmla="*/ 110 h 209"/>
                  <a:gd name="T62" fmla="*/ 178 w 229"/>
                  <a:gd name="T63" fmla="*/ 117 h 209"/>
                  <a:gd name="T64" fmla="*/ 183 w 229"/>
                  <a:gd name="T65" fmla="*/ 125 h 209"/>
                  <a:gd name="T66" fmla="*/ 187 w 229"/>
                  <a:gd name="T67" fmla="*/ 132 h 209"/>
                  <a:gd name="T68" fmla="*/ 194 w 229"/>
                  <a:gd name="T69" fmla="*/ 141 h 209"/>
                  <a:gd name="T70" fmla="*/ 198 w 229"/>
                  <a:gd name="T71" fmla="*/ 149 h 209"/>
                  <a:gd name="T72" fmla="*/ 203 w 229"/>
                  <a:gd name="T73" fmla="*/ 158 h 209"/>
                  <a:gd name="T74" fmla="*/ 207 w 229"/>
                  <a:gd name="T75" fmla="*/ 166 h 209"/>
                  <a:gd name="T76" fmla="*/ 211 w 229"/>
                  <a:gd name="T77" fmla="*/ 175 h 209"/>
                  <a:gd name="T78" fmla="*/ 216 w 229"/>
                  <a:gd name="T79" fmla="*/ 185 h 209"/>
                  <a:gd name="T80" fmla="*/ 222 w 229"/>
                  <a:gd name="T81" fmla="*/ 194 h 209"/>
                  <a:gd name="T82" fmla="*/ 227 w 229"/>
                  <a:gd name="T83" fmla="*/ 202 h 20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29"/>
                  <a:gd name="T127" fmla="*/ 0 h 209"/>
                  <a:gd name="T128" fmla="*/ 229 w 229"/>
                  <a:gd name="T129" fmla="*/ 209 h 20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29" h="209">
                    <a:moveTo>
                      <a:pt x="0" y="12"/>
                    </a:moveTo>
                    <a:lnTo>
                      <a:pt x="3" y="10"/>
                    </a:lnTo>
                    <a:lnTo>
                      <a:pt x="5" y="9"/>
                    </a:lnTo>
                    <a:lnTo>
                      <a:pt x="7" y="9"/>
                    </a:lnTo>
                    <a:lnTo>
                      <a:pt x="9" y="7"/>
                    </a:lnTo>
                    <a:lnTo>
                      <a:pt x="11" y="5"/>
                    </a:lnTo>
                    <a:lnTo>
                      <a:pt x="14" y="5"/>
                    </a:lnTo>
                    <a:lnTo>
                      <a:pt x="16" y="3"/>
                    </a:lnTo>
                    <a:lnTo>
                      <a:pt x="18" y="3"/>
                    </a:lnTo>
                    <a:lnTo>
                      <a:pt x="20" y="2"/>
                    </a:lnTo>
                    <a:lnTo>
                      <a:pt x="23" y="2"/>
                    </a:lnTo>
                    <a:lnTo>
                      <a:pt x="25" y="2"/>
                    </a:lnTo>
                    <a:lnTo>
                      <a:pt x="27" y="2"/>
                    </a:lnTo>
                    <a:lnTo>
                      <a:pt x="29" y="0"/>
                    </a:lnTo>
                    <a:lnTo>
                      <a:pt x="31" y="0"/>
                    </a:lnTo>
                    <a:lnTo>
                      <a:pt x="34" y="0"/>
                    </a:lnTo>
                    <a:lnTo>
                      <a:pt x="36" y="0"/>
                    </a:lnTo>
                    <a:lnTo>
                      <a:pt x="38" y="0"/>
                    </a:lnTo>
                    <a:lnTo>
                      <a:pt x="40" y="0"/>
                    </a:lnTo>
                    <a:lnTo>
                      <a:pt x="42" y="0"/>
                    </a:lnTo>
                    <a:lnTo>
                      <a:pt x="44" y="0"/>
                    </a:lnTo>
                    <a:lnTo>
                      <a:pt x="47" y="0"/>
                    </a:lnTo>
                    <a:lnTo>
                      <a:pt x="49" y="0"/>
                    </a:lnTo>
                    <a:lnTo>
                      <a:pt x="51" y="0"/>
                    </a:lnTo>
                    <a:lnTo>
                      <a:pt x="53" y="0"/>
                    </a:lnTo>
                    <a:lnTo>
                      <a:pt x="55" y="0"/>
                    </a:lnTo>
                    <a:lnTo>
                      <a:pt x="58" y="0"/>
                    </a:lnTo>
                    <a:lnTo>
                      <a:pt x="60" y="2"/>
                    </a:lnTo>
                    <a:lnTo>
                      <a:pt x="62" y="2"/>
                    </a:lnTo>
                    <a:lnTo>
                      <a:pt x="64" y="2"/>
                    </a:lnTo>
                    <a:lnTo>
                      <a:pt x="66" y="3"/>
                    </a:lnTo>
                    <a:lnTo>
                      <a:pt x="69" y="3"/>
                    </a:lnTo>
                    <a:lnTo>
                      <a:pt x="71" y="5"/>
                    </a:lnTo>
                    <a:lnTo>
                      <a:pt x="73" y="5"/>
                    </a:lnTo>
                    <a:lnTo>
                      <a:pt x="75" y="7"/>
                    </a:lnTo>
                    <a:lnTo>
                      <a:pt x="77" y="7"/>
                    </a:lnTo>
                    <a:lnTo>
                      <a:pt x="80" y="9"/>
                    </a:lnTo>
                    <a:lnTo>
                      <a:pt x="82" y="10"/>
                    </a:lnTo>
                    <a:lnTo>
                      <a:pt x="84" y="10"/>
                    </a:lnTo>
                    <a:lnTo>
                      <a:pt x="86" y="12"/>
                    </a:lnTo>
                    <a:lnTo>
                      <a:pt x="88" y="14"/>
                    </a:lnTo>
                    <a:lnTo>
                      <a:pt x="91" y="14"/>
                    </a:lnTo>
                    <a:lnTo>
                      <a:pt x="95" y="17"/>
                    </a:lnTo>
                    <a:lnTo>
                      <a:pt x="93" y="17"/>
                    </a:lnTo>
                    <a:lnTo>
                      <a:pt x="95" y="17"/>
                    </a:lnTo>
                    <a:lnTo>
                      <a:pt x="97" y="19"/>
                    </a:lnTo>
                    <a:lnTo>
                      <a:pt x="99" y="21"/>
                    </a:lnTo>
                    <a:lnTo>
                      <a:pt x="102" y="22"/>
                    </a:lnTo>
                    <a:lnTo>
                      <a:pt x="104" y="24"/>
                    </a:lnTo>
                    <a:lnTo>
                      <a:pt x="106" y="26"/>
                    </a:lnTo>
                    <a:lnTo>
                      <a:pt x="110" y="29"/>
                    </a:lnTo>
                    <a:lnTo>
                      <a:pt x="108" y="29"/>
                    </a:lnTo>
                    <a:lnTo>
                      <a:pt x="110" y="29"/>
                    </a:lnTo>
                    <a:lnTo>
                      <a:pt x="112" y="31"/>
                    </a:lnTo>
                    <a:lnTo>
                      <a:pt x="115" y="33"/>
                    </a:lnTo>
                    <a:lnTo>
                      <a:pt x="115" y="34"/>
                    </a:lnTo>
                    <a:lnTo>
                      <a:pt x="117" y="36"/>
                    </a:lnTo>
                    <a:lnTo>
                      <a:pt x="119" y="38"/>
                    </a:lnTo>
                    <a:lnTo>
                      <a:pt x="121" y="40"/>
                    </a:lnTo>
                    <a:lnTo>
                      <a:pt x="121" y="41"/>
                    </a:lnTo>
                    <a:lnTo>
                      <a:pt x="123" y="43"/>
                    </a:lnTo>
                    <a:lnTo>
                      <a:pt x="126" y="45"/>
                    </a:lnTo>
                    <a:lnTo>
                      <a:pt x="126" y="46"/>
                    </a:lnTo>
                    <a:lnTo>
                      <a:pt x="128" y="48"/>
                    </a:lnTo>
                    <a:lnTo>
                      <a:pt x="130" y="50"/>
                    </a:lnTo>
                    <a:lnTo>
                      <a:pt x="132" y="52"/>
                    </a:lnTo>
                    <a:lnTo>
                      <a:pt x="132" y="53"/>
                    </a:lnTo>
                    <a:lnTo>
                      <a:pt x="134" y="55"/>
                    </a:lnTo>
                    <a:lnTo>
                      <a:pt x="137" y="57"/>
                    </a:lnTo>
                    <a:lnTo>
                      <a:pt x="137" y="58"/>
                    </a:lnTo>
                    <a:lnTo>
                      <a:pt x="139" y="60"/>
                    </a:lnTo>
                    <a:lnTo>
                      <a:pt x="141" y="62"/>
                    </a:lnTo>
                    <a:lnTo>
                      <a:pt x="143" y="64"/>
                    </a:lnTo>
                    <a:lnTo>
                      <a:pt x="143" y="67"/>
                    </a:lnTo>
                    <a:lnTo>
                      <a:pt x="145" y="69"/>
                    </a:lnTo>
                    <a:lnTo>
                      <a:pt x="148" y="70"/>
                    </a:lnTo>
                    <a:lnTo>
                      <a:pt x="148" y="72"/>
                    </a:lnTo>
                    <a:lnTo>
                      <a:pt x="150" y="74"/>
                    </a:lnTo>
                    <a:lnTo>
                      <a:pt x="152" y="77"/>
                    </a:lnTo>
                    <a:lnTo>
                      <a:pt x="154" y="79"/>
                    </a:lnTo>
                    <a:lnTo>
                      <a:pt x="154" y="81"/>
                    </a:lnTo>
                    <a:lnTo>
                      <a:pt x="156" y="84"/>
                    </a:lnTo>
                    <a:lnTo>
                      <a:pt x="159" y="86"/>
                    </a:lnTo>
                    <a:lnTo>
                      <a:pt x="159" y="87"/>
                    </a:lnTo>
                    <a:lnTo>
                      <a:pt x="161" y="91"/>
                    </a:lnTo>
                    <a:lnTo>
                      <a:pt x="163" y="93"/>
                    </a:lnTo>
                    <a:lnTo>
                      <a:pt x="165" y="94"/>
                    </a:lnTo>
                    <a:lnTo>
                      <a:pt x="165" y="98"/>
                    </a:lnTo>
                    <a:lnTo>
                      <a:pt x="167" y="99"/>
                    </a:lnTo>
                    <a:lnTo>
                      <a:pt x="170" y="101"/>
                    </a:lnTo>
                    <a:lnTo>
                      <a:pt x="172" y="105"/>
                    </a:lnTo>
                    <a:lnTo>
                      <a:pt x="172" y="106"/>
                    </a:lnTo>
                    <a:lnTo>
                      <a:pt x="174" y="110"/>
                    </a:lnTo>
                    <a:lnTo>
                      <a:pt x="176" y="112"/>
                    </a:lnTo>
                    <a:lnTo>
                      <a:pt x="176" y="115"/>
                    </a:lnTo>
                    <a:lnTo>
                      <a:pt x="178" y="117"/>
                    </a:lnTo>
                    <a:lnTo>
                      <a:pt x="181" y="120"/>
                    </a:lnTo>
                    <a:lnTo>
                      <a:pt x="183" y="122"/>
                    </a:lnTo>
                    <a:lnTo>
                      <a:pt x="183" y="125"/>
                    </a:lnTo>
                    <a:lnTo>
                      <a:pt x="185" y="127"/>
                    </a:lnTo>
                    <a:lnTo>
                      <a:pt x="187" y="130"/>
                    </a:lnTo>
                    <a:lnTo>
                      <a:pt x="187" y="132"/>
                    </a:lnTo>
                    <a:lnTo>
                      <a:pt x="189" y="136"/>
                    </a:lnTo>
                    <a:lnTo>
                      <a:pt x="192" y="139"/>
                    </a:lnTo>
                    <a:lnTo>
                      <a:pt x="194" y="141"/>
                    </a:lnTo>
                    <a:lnTo>
                      <a:pt x="194" y="144"/>
                    </a:lnTo>
                    <a:lnTo>
                      <a:pt x="196" y="146"/>
                    </a:lnTo>
                    <a:lnTo>
                      <a:pt x="198" y="149"/>
                    </a:lnTo>
                    <a:lnTo>
                      <a:pt x="198" y="153"/>
                    </a:lnTo>
                    <a:lnTo>
                      <a:pt x="200" y="154"/>
                    </a:lnTo>
                    <a:lnTo>
                      <a:pt x="203" y="158"/>
                    </a:lnTo>
                    <a:lnTo>
                      <a:pt x="205" y="161"/>
                    </a:lnTo>
                    <a:lnTo>
                      <a:pt x="205" y="163"/>
                    </a:lnTo>
                    <a:lnTo>
                      <a:pt x="207" y="166"/>
                    </a:lnTo>
                    <a:lnTo>
                      <a:pt x="209" y="170"/>
                    </a:lnTo>
                    <a:lnTo>
                      <a:pt x="209" y="173"/>
                    </a:lnTo>
                    <a:lnTo>
                      <a:pt x="211" y="175"/>
                    </a:lnTo>
                    <a:lnTo>
                      <a:pt x="214" y="178"/>
                    </a:lnTo>
                    <a:lnTo>
                      <a:pt x="216" y="182"/>
                    </a:lnTo>
                    <a:lnTo>
                      <a:pt x="216" y="185"/>
                    </a:lnTo>
                    <a:lnTo>
                      <a:pt x="218" y="187"/>
                    </a:lnTo>
                    <a:lnTo>
                      <a:pt x="220" y="190"/>
                    </a:lnTo>
                    <a:lnTo>
                      <a:pt x="222" y="194"/>
                    </a:lnTo>
                    <a:lnTo>
                      <a:pt x="222" y="197"/>
                    </a:lnTo>
                    <a:lnTo>
                      <a:pt x="224" y="199"/>
                    </a:lnTo>
                    <a:lnTo>
                      <a:pt x="227" y="202"/>
                    </a:lnTo>
                    <a:lnTo>
                      <a:pt x="227" y="206"/>
                    </a:lnTo>
                    <a:lnTo>
                      <a:pt x="229" y="209"/>
                    </a:lnTo>
                  </a:path>
                </a:pathLst>
              </a:custGeom>
              <a:noFill/>
              <a:ln w="11113" cap="rnd">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780" name="Freeform 65"/>
              <p:cNvSpPr/>
              <p:nvPr/>
            </p:nvSpPr>
            <p:spPr bwMode="auto">
              <a:xfrm>
                <a:off x="4809" y="3557"/>
                <a:ext cx="200" cy="391"/>
              </a:xfrm>
              <a:custGeom>
                <a:avLst/>
                <a:gdLst>
                  <a:gd name="T0" fmla="*/ 4 w 200"/>
                  <a:gd name="T1" fmla="*/ 7 h 391"/>
                  <a:gd name="T2" fmla="*/ 9 w 200"/>
                  <a:gd name="T3" fmla="*/ 16 h 391"/>
                  <a:gd name="T4" fmla="*/ 13 w 200"/>
                  <a:gd name="T5" fmla="*/ 26 h 391"/>
                  <a:gd name="T6" fmla="*/ 17 w 200"/>
                  <a:gd name="T7" fmla="*/ 34 h 391"/>
                  <a:gd name="T8" fmla="*/ 22 w 200"/>
                  <a:gd name="T9" fmla="*/ 45 h 391"/>
                  <a:gd name="T10" fmla="*/ 26 w 200"/>
                  <a:gd name="T11" fmla="*/ 55 h 391"/>
                  <a:gd name="T12" fmla="*/ 31 w 200"/>
                  <a:gd name="T13" fmla="*/ 65 h 391"/>
                  <a:gd name="T14" fmla="*/ 37 w 200"/>
                  <a:gd name="T15" fmla="*/ 76 h 391"/>
                  <a:gd name="T16" fmla="*/ 42 w 200"/>
                  <a:gd name="T17" fmla="*/ 86 h 391"/>
                  <a:gd name="T18" fmla="*/ 46 w 200"/>
                  <a:gd name="T19" fmla="*/ 94 h 391"/>
                  <a:gd name="T20" fmla="*/ 50 w 200"/>
                  <a:gd name="T21" fmla="*/ 105 h 391"/>
                  <a:gd name="T22" fmla="*/ 55 w 200"/>
                  <a:gd name="T23" fmla="*/ 115 h 391"/>
                  <a:gd name="T24" fmla="*/ 59 w 200"/>
                  <a:gd name="T25" fmla="*/ 125 h 391"/>
                  <a:gd name="T26" fmla="*/ 66 w 200"/>
                  <a:gd name="T27" fmla="*/ 136 h 391"/>
                  <a:gd name="T28" fmla="*/ 70 w 200"/>
                  <a:gd name="T29" fmla="*/ 146 h 391"/>
                  <a:gd name="T30" fmla="*/ 75 w 200"/>
                  <a:gd name="T31" fmla="*/ 156 h 391"/>
                  <a:gd name="T32" fmla="*/ 79 w 200"/>
                  <a:gd name="T33" fmla="*/ 167 h 391"/>
                  <a:gd name="T34" fmla="*/ 83 w 200"/>
                  <a:gd name="T35" fmla="*/ 177 h 391"/>
                  <a:gd name="T36" fmla="*/ 88 w 200"/>
                  <a:gd name="T37" fmla="*/ 187 h 391"/>
                  <a:gd name="T38" fmla="*/ 94 w 200"/>
                  <a:gd name="T39" fmla="*/ 197 h 391"/>
                  <a:gd name="T40" fmla="*/ 99 w 200"/>
                  <a:gd name="T41" fmla="*/ 206 h 391"/>
                  <a:gd name="T42" fmla="*/ 103 w 200"/>
                  <a:gd name="T43" fmla="*/ 216 h 391"/>
                  <a:gd name="T44" fmla="*/ 107 w 200"/>
                  <a:gd name="T45" fmla="*/ 226 h 391"/>
                  <a:gd name="T46" fmla="*/ 112 w 200"/>
                  <a:gd name="T47" fmla="*/ 235 h 391"/>
                  <a:gd name="T48" fmla="*/ 116 w 200"/>
                  <a:gd name="T49" fmla="*/ 245 h 391"/>
                  <a:gd name="T50" fmla="*/ 121 w 200"/>
                  <a:gd name="T51" fmla="*/ 256 h 391"/>
                  <a:gd name="T52" fmla="*/ 127 w 200"/>
                  <a:gd name="T53" fmla="*/ 264 h 391"/>
                  <a:gd name="T54" fmla="*/ 132 w 200"/>
                  <a:gd name="T55" fmla="*/ 274 h 391"/>
                  <a:gd name="T56" fmla="*/ 136 w 200"/>
                  <a:gd name="T57" fmla="*/ 283 h 391"/>
                  <a:gd name="T58" fmla="*/ 140 w 200"/>
                  <a:gd name="T59" fmla="*/ 292 h 391"/>
                  <a:gd name="T60" fmla="*/ 145 w 200"/>
                  <a:gd name="T61" fmla="*/ 300 h 391"/>
                  <a:gd name="T62" fmla="*/ 149 w 200"/>
                  <a:gd name="T63" fmla="*/ 309 h 391"/>
                  <a:gd name="T64" fmla="*/ 156 w 200"/>
                  <a:gd name="T65" fmla="*/ 317 h 391"/>
                  <a:gd name="T66" fmla="*/ 160 w 200"/>
                  <a:gd name="T67" fmla="*/ 326 h 391"/>
                  <a:gd name="T68" fmla="*/ 165 w 200"/>
                  <a:gd name="T69" fmla="*/ 334 h 391"/>
                  <a:gd name="T70" fmla="*/ 169 w 200"/>
                  <a:gd name="T71" fmla="*/ 343 h 391"/>
                  <a:gd name="T72" fmla="*/ 173 w 200"/>
                  <a:gd name="T73" fmla="*/ 350 h 391"/>
                  <a:gd name="T74" fmla="*/ 178 w 200"/>
                  <a:gd name="T75" fmla="*/ 358 h 391"/>
                  <a:gd name="T76" fmla="*/ 182 w 200"/>
                  <a:gd name="T77" fmla="*/ 365 h 391"/>
                  <a:gd name="T78" fmla="*/ 189 w 200"/>
                  <a:gd name="T79" fmla="*/ 372 h 391"/>
                  <a:gd name="T80" fmla="*/ 193 w 200"/>
                  <a:gd name="T81" fmla="*/ 379 h 391"/>
                  <a:gd name="T82" fmla="*/ 198 w 200"/>
                  <a:gd name="T83" fmla="*/ 386 h 39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00"/>
                  <a:gd name="T127" fmla="*/ 0 h 391"/>
                  <a:gd name="T128" fmla="*/ 200 w 200"/>
                  <a:gd name="T129" fmla="*/ 391 h 39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00" h="391">
                    <a:moveTo>
                      <a:pt x="0" y="0"/>
                    </a:moveTo>
                    <a:lnTo>
                      <a:pt x="2" y="4"/>
                    </a:lnTo>
                    <a:lnTo>
                      <a:pt x="4" y="7"/>
                    </a:lnTo>
                    <a:lnTo>
                      <a:pt x="4" y="9"/>
                    </a:lnTo>
                    <a:lnTo>
                      <a:pt x="6" y="12"/>
                    </a:lnTo>
                    <a:lnTo>
                      <a:pt x="9" y="16"/>
                    </a:lnTo>
                    <a:lnTo>
                      <a:pt x="9" y="19"/>
                    </a:lnTo>
                    <a:lnTo>
                      <a:pt x="11" y="22"/>
                    </a:lnTo>
                    <a:lnTo>
                      <a:pt x="13" y="26"/>
                    </a:lnTo>
                    <a:lnTo>
                      <a:pt x="15" y="29"/>
                    </a:lnTo>
                    <a:lnTo>
                      <a:pt x="15" y="33"/>
                    </a:lnTo>
                    <a:lnTo>
                      <a:pt x="17" y="34"/>
                    </a:lnTo>
                    <a:lnTo>
                      <a:pt x="20" y="38"/>
                    </a:lnTo>
                    <a:lnTo>
                      <a:pt x="20" y="41"/>
                    </a:lnTo>
                    <a:lnTo>
                      <a:pt x="22" y="45"/>
                    </a:lnTo>
                    <a:lnTo>
                      <a:pt x="24" y="48"/>
                    </a:lnTo>
                    <a:lnTo>
                      <a:pt x="26" y="52"/>
                    </a:lnTo>
                    <a:lnTo>
                      <a:pt x="26" y="55"/>
                    </a:lnTo>
                    <a:lnTo>
                      <a:pt x="28" y="58"/>
                    </a:lnTo>
                    <a:lnTo>
                      <a:pt x="31" y="62"/>
                    </a:lnTo>
                    <a:lnTo>
                      <a:pt x="31" y="65"/>
                    </a:lnTo>
                    <a:lnTo>
                      <a:pt x="33" y="69"/>
                    </a:lnTo>
                    <a:lnTo>
                      <a:pt x="35" y="72"/>
                    </a:lnTo>
                    <a:lnTo>
                      <a:pt x="37" y="76"/>
                    </a:lnTo>
                    <a:lnTo>
                      <a:pt x="37" y="79"/>
                    </a:lnTo>
                    <a:lnTo>
                      <a:pt x="39" y="83"/>
                    </a:lnTo>
                    <a:lnTo>
                      <a:pt x="42" y="86"/>
                    </a:lnTo>
                    <a:lnTo>
                      <a:pt x="44" y="88"/>
                    </a:lnTo>
                    <a:lnTo>
                      <a:pt x="44" y="91"/>
                    </a:lnTo>
                    <a:lnTo>
                      <a:pt x="46" y="94"/>
                    </a:lnTo>
                    <a:lnTo>
                      <a:pt x="48" y="98"/>
                    </a:lnTo>
                    <a:lnTo>
                      <a:pt x="48" y="101"/>
                    </a:lnTo>
                    <a:lnTo>
                      <a:pt x="50" y="105"/>
                    </a:lnTo>
                    <a:lnTo>
                      <a:pt x="53" y="108"/>
                    </a:lnTo>
                    <a:lnTo>
                      <a:pt x="55" y="112"/>
                    </a:lnTo>
                    <a:lnTo>
                      <a:pt x="55" y="115"/>
                    </a:lnTo>
                    <a:lnTo>
                      <a:pt x="57" y="118"/>
                    </a:lnTo>
                    <a:lnTo>
                      <a:pt x="59" y="122"/>
                    </a:lnTo>
                    <a:lnTo>
                      <a:pt x="59" y="125"/>
                    </a:lnTo>
                    <a:lnTo>
                      <a:pt x="61" y="129"/>
                    </a:lnTo>
                    <a:lnTo>
                      <a:pt x="64" y="132"/>
                    </a:lnTo>
                    <a:lnTo>
                      <a:pt x="66" y="136"/>
                    </a:lnTo>
                    <a:lnTo>
                      <a:pt x="66" y="139"/>
                    </a:lnTo>
                    <a:lnTo>
                      <a:pt x="68" y="142"/>
                    </a:lnTo>
                    <a:lnTo>
                      <a:pt x="70" y="146"/>
                    </a:lnTo>
                    <a:lnTo>
                      <a:pt x="70" y="149"/>
                    </a:lnTo>
                    <a:lnTo>
                      <a:pt x="72" y="153"/>
                    </a:lnTo>
                    <a:lnTo>
                      <a:pt x="75" y="156"/>
                    </a:lnTo>
                    <a:lnTo>
                      <a:pt x="77" y="160"/>
                    </a:lnTo>
                    <a:lnTo>
                      <a:pt x="77" y="163"/>
                    </a:lnTo>
                    <a:lnTo>
                      <a:pt x="79" y="167"/>
                    </a:lnTo>
                    <a:lnTo>
                      <a:pt x="81" y="170"/>
                    </a:lnTo>
                    <a:lnTo>
                      <a:pt x="81" y="173"/>
                    </a:lnTo>
                    <a:lnTo>
                      <a:pt x="83" y="177"/>
                    </a:lnTo>
                    <a:lnTo>
                      <a:pt x="86" y="180"/>
                    </a:lnTo>
                    <a:lnTo>
                      <a:pt x="88" y="184"/>
                    </a:lnTo>
                    <a:lnTo>
                      <a:pt x="88" y="187"/>
                    </a:lnTo>
                    <a:lnTo>
                      <a:pt x="90" y="190"/>
                    </a:lnTo>
                    <a:lnTo>
                      <a:pt x="92" y="194"/>
                    </a:lnTo>
                    <a:lnTo>
                      <a:pt x="94" y="197"/>
                    </a:lnTo>
                    <a:lnTo>
                      <a:pt x="94" y="199"/>
                    </a:lnTo>
                    <a:lnTo>
                      <a:pt x="97" y="202"/>
                    </a:lnTo>
                    <a:lnTo>
                      <a:pt x="99" y="206"/>
                    </a:lnTo>
                    <a:lnTo>
                      <a:pt x="99" y="209"/>
                    </a:lnTo>
                    <a:lnTo>
                      <a:pt x="101" y="213"/>
                    </a:lnTo>
                    <a:lnTo>
                      <a:pt x="103" y="216"/>
                    </a:lnTo>
                    <a:lnTo>
                      <a:pt x="105" y="220"/>
                    </a:lnTo>
                    <a:lnTo>
                      <a:pt x="105" y="223"/>
                    </a:lnTo>
                    <a:lnTo>
                      <a:pt x="107" y="226"/>
                    </a:lnTo>
                    <a:lnTo>
                      <a:pt x="110" y="230"/>
                    </a:lnTo>
                    <a:lnTo>
                      <a:pt x="110" y="233"/>
                    </a:lnTo>
                    <a:lnTo>
                      <a:pt x="112" y="235"/>
                    </a:lnTo>
                    <a:lnTo>
                      <a:pt x="114" y="239"/>
                    </a:lnTo>
                    <a:lnTo>
                      <a:pt x="116" y="242"/>
                    </a:lnTo>
                    <a:lnTo>
                      <a:pt x="116" y="245"/>
                    </a:lnTo>
                    <a:lnTo>
                      <a:pt x="118" y="249"/>
                    </a:lnTo>
                    <a:lnTo>
                      <a:pt x="121" y="252"/>
                    </a:lnTo>
                    <a:lnTo>
                      <a:pt x="121" y="256"/>
                    </a:lnTo>
                    <a:lnTo>
                      <a:pt x="123" y="257"/>
                    </a:lnTo>
                    <a:lnTo>
                      <a:pt x="125" y="261"/>
                    </a:lnTo>
                    <a:lnTo>
                      <a:pt x="127" y="264"/>
                    </a:lnTo>
                    <a:lnTo>
                      <a:pt x="127" y="268"/>
                    </a:lnTo>
                    <a:lnTo>
                      <a:pt x="129" y="271"/>
                    </a:lnTo>
                    <a:lnTo>
                      <a:pt x="132" y="274"/>
                    </a:lnTo>
                    <a:lnTo>
                      <a:pt x="132" y="276"/>
                    </a:lnTo>
                    <a:lnTo>
                      <a:pt x="134" y="280"/>
                    </a:lnTo>
                    <a:lnTo>
                      <a:pt x="136" y="283"/>
                    </a:lnTo>
                    <a:lnTo>
                      <a:pt x="138" y="286"/>
                    </a:lnTo>
                    <a:lnTo>
                      <a:pt x="138" y="288"/>
                    </a:lnTo>
                    <a:lnTo>
                      <a:pt x="140" y="292"/>
                    </a:lnTo>
                    <a:lnTo>
                      <a:pt x="143" y="295"/>
                    </a:lnTo>
                    <a:lnTo>
                      <a:pt x="143" y="298"/>
                    </a:lnTo>
                    <a:lnTo>
                      <a:pt x="145" y="300"/>
                    </a:lnTo>
                    <a:lnTo>
                      <a:pt x="147" y="304"/>
                    </a:lnTo>
                    <a:lnTo>
                      <a:pt x="149" y="307"/>
                    </a:lnTo>
                    <a:lnTo>
                      <a:pt x="149" y="309"/>
                    </a:lnTo>
                    <a:lnTo>
                      <a:pt x="151" y="312"/>
                    </a:lnTo>
                    <a:lnTo>
                      <a:pt x="154" y="316"/>
                    </a:lnTo>
                    <a:lnTo>
                      <a:pt x="156" y="317"/>
                    </a:lnTo>
                    <a:lnTo>
                      <a:pt x="156" y="321"/>
                    </a:lnTo>
                    <a:lnTo>
                      <a:pt x="158" y="324"/>
                    </a:lnTo>
                    <a:lnTo>
                      <a:pt x="160" y="326"/>
                    </a:lnTo>
                    <a:lnTo>
                      <a:pt x="160" y="329"/>
                    </a:lnTo>
                    <a:lnTo>
                      <a:pt x="162" y="331"/>
                    </a:lnTo>
                    <a:lnTo>
                      <a:pt x="165" y="334"/>
                    </a:lnTo>
                    <a:lnTo>
                      <a:pt x="167" y="338"/>
                    </a:lnTo>
                    <a:lnTo>
                      <a:pt x="167" y="340"/>
                    </a:lnTo>
                    <a:lnTo>
                      <a:pt x="169" y="343"/>
                    </a:lnTo>
                    <a:lnTo>
                      <a:pt x="171" y="345"/>
                    </a:lnTo>
                    <a:lnTo>
                      <a:pt x="171" y="348"/>
                    </a:lnTo>
                    <a:lnTo>
                      <a:pt x="173" y="350"/>
                    </a:lnTo>
                    <a:lnTo>
                      <a:pt x="176" y="353"/>
                    </a:lnTo>
                    <a:lnTo>
                      <a:pt x="178" y="355"/>
                    </a:lnTo>
                    <a:lnTo>
                      <a:pt x="178" y="358"/>
                    </a:lnTo>
                    <a:lnTo>
                      <a:pt x="180" y="360"/>
                    </a:lnTo>
                    <a:lnTo>
                      <a:pt x="182" y="364"/>
                    </a:lnTo>
                    <a:lnTo>
                      <a:pt x="182" y="365"/>
                    </a:lnTo>
                    <a:lnTo>
                      <a:pt x="184" y="369"/>
                    </a:lnTo>
                    <a:lnTo>
                      <a:pt x="187" y="370"/>
                    </a:lnTo>
                    <a:lnTo>
                      <a:pt x="189" y="372"/>
                    </a:lnTo>
                    <a:lnTo>
                      <a:pt x="189" y="376"/>
                    </a:lnTo>
                    <a:lnTo>
                      <a:pt x="191" y="377"/>
                    </a:lnTo>
                    <a:lnTo>
                      <a:pt x="193" y="379"/>
                    </a:lnTo>
                    <a:lnTo>
                      <a:pt x="193" y="382"/>
                    </a:lnTo>
                    <a:lnTo>
                      <a:pt x="195" y="384"/>
                    </a:lnTo>
                    <a:lnTo>
                      <a:pt x="198" y="386"/>
                    </a:lnTo>
                    <a:lnTo>
                      <a:pt x="200" y="389"/>
                    </a:lnTo>
                    <a:lnTo>
                      <a:pt x="200" y="391"/>
                    </a:lnTo>
                  </a:path>
                </a:pathLst>
              </a:custGeom>
              <a:noFill/>
              <a:ln w="11113" cap="rnd">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781" name="Freeform 66"/>
              <p:cNvSpPr/>
              <p:nvPr/>
            </p:nvSpPr>
            <p:spPr bwMode="auto">
              <a:xfrm>
                <a:off x="5012" y="3929"/>
                <a:ext cx="232" cy="96"/>
              </a:xfrm>
              <a:custGeom>
                <a:avLst/>
                <a:gdLst>
                  <a:gd name="T0" fmla="*/ 4 w 232"/>
                  <a:gd name="T1" fmla="*/ 22 h 96"/>
                  <a:gd name="T2" fmla="*/ 9 w 232"/>
                  <a:gd name="T3" fmla="*/ 29 h 96"/>
                  <a:gd name="T4" fmla="*/ 13 w 232"/>
                  <a:gd name="T5" fmla="*/ 36 h 96"/>
                  <a:gd name="T6" fmla="*/ 17 w 232"/>
                  <a:gd name="T7" fmla="*/ 41 h 96"/>
                  <a:gd name="T8" fmla="*/ 22 w 232"/>
                  <a:gd name="T9" fmla="*/ 46 h 96"/>
                  <a:gd name="T10" fmla="*/ 28 w 232"/>
                  <a:gd name="T11" fmla="*/ 52 h 96"/>
                  <a:gd name="T12" fmla="*/ 33 w 232"/>
                  <a:gd name="T13" fmla="*/ 57 h 96"/>
                  <a:gd name="T14" fmla="*/ 37 w 232"/>
                  <a:gd name="T15" fmla="*/ 62 h 96"/>
                  <a:gd name="T16" fmla="*/ 44 w 232"/>
                  <a:gd name="T17" fmla="*/ 67 h 96"/>
                  <a:gd name="T18" fmla="*/ 48 w 232"/>
                  <a:gd name="T19" fmla="*/ 70 h 96"/>
                  <a:gd name="T20" fmla="*/ 52 w 232"/>
                  <a:gd name="T21" fmla="*/ 76 h 96"/>
                  <a:gd name="T22" fmla="*/ 57 w 232"/>
                  <a:gd name="T23" fmla="*/ 79 h 96"/>
                  <a:gd name="T24" fmla="*/ 61 w 232"/>
                  <a:gd name="T25" fmla="*/ 82 h 96"/>
                  <a:gd name="T26" fmla="*/ 68 w 232"/>
                  <a:gd name="T27" fmla="*/ 86 h 96"/>
                  <a:gd name="T28" fmla="*/ 74 w 232"/>
                  <a:gd name="T29" fmla="*/ 89 h 96"/>
                  <a:gd name="T30" fmla="*/ 81 w 232"/>
                  <a:gd name="T31" fmla="*/ 91 h 96"/>
                  <a:gd name="T32" fmla="*/ 88 w 232"/>
                  <a:gd name="T33" fmla="*/ 93 h 96"/>
                  <a:gd name="T34" fmla="*/ 94 w 232"/>
                  <a:gd name="T35" fmla="*/ 96 h 96"/>
                  <a:gd name="T36" fmla="*/ 101 w 232"/>
                  <a:gd name="T37" fmla="*/ 96 h 96"/>
                  <a:gd name="T38" fmla="*/ 107 w 232"/>
                  <a:gd name="T39" fmla="*/ 96 h 96"/>
                  <a:gd name="T40" fmla="*/ 114 w 232"/>
                  <a:gd name="T41" fmla="*/ 96 h 96"/>
                  <a:gd name="T42" fmla="*/ 121 w 232"/>
                  <a:gd name="T43" fmla="*/ 96 h 96"/>
                  <a:gd name="T44" fmla="*/ 127 w 232"/>
                  <a:gd name="T45" fmla="*/ 94 h 96"/>
                  <a:gd name="T46" fmla="*/ 134 w 232"/>
                  <a:gd name="T47" fmla="*/ 93 h 96"/>
                  <a:gd name="T48" fmla="*/ 140 w 232"/>
                  <a:gd name="T49" fmla="*/ 91 h 96"/>
                  <a:gd name="T50" fmla="*/ 147 w 232"/>
                  <a:gd name="T51" fmla="*/ 88 h 96"/>
                  <a:gd name="T52" fmla="*/ 153 w 232"/>
                  <a:gd name="T53" fmla="*/ 84 h 96"/>
                  <a:gd name="T54" fmla="*/ 160 w 232"/>
                  <a:gd name="T55" fmla="*/ 81 h 96"/>
                  <a:gd name="T56" fmla="*/ 164 w 232"/>
                  <a:gd name="T57" fmla="*/ 77 h 96"/>
                  <a:gd name="T58" fmla="*/ 171 w 232"/>
                  <a:gd name="T59" fmla="*/ 72 h 96"/>
                  <a:gd name="T60" fmla="*/ 175 w 232"/>
                  <a:gd name="T61" fmla="*/ 67 h 96"/>
                  <a:gd name="T62" fmla="*/ 180 w 232"/>
                  <a:gd name="T63" fmla="*/ 64 h 96"/>
                  <a:gd name="T64" fmla="*/ 184 w 232"/>
                  <a:gd name="T65" fmla="*/ 58 h 96"/>
                  <a:gd name="T66" fmla="*/ 191 w 232"/>
                  <a:gd name="T67" fmla="*/ 53 h 96"/>
                  <a:gd name="T68" fmla="*/ 195 w 232"/>
                  <a:gd name="T69" fmla="*/ 48 h 96"/>
                  <a:gd name="T70" fmla="*/ 202 w 232"/>
                  <a:gd name="T71" fmla="*/ 41 h 96"/>
                  <a:gd name="T72" fmla="*/ 206 w 232"/>
                  <a:gd name="T73" fmla="*/ 36 h 96"/>
                  <a:gd name="T74" fmla="*/ 210 w 232"/>
                  <a:gd name="T75" fmla="*/ 31 h 96"/>
                  <a:gd name="T76" fmla="*/ 215 w 232"/>
                  <a:gd name="T77" fmla="*/ 24 h 96"/>
                  <a:gd name="T78" fmla="*/ 219 w 232"/>
                  <a:gd name="T79" fmla="*/ 17 h 96"/>
                  <a:gd name="T80" fmla="*/ 224 w 232"/>
                  <a:gd name="T81" fmla="*/ 10 h 96"/>
                  <a:gd name="T82" fmla="*/ 230 w 232"/>
                  <a:gd name="T83" fmla="*/ 4 h 9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32"/>
                  <a:gd name="T127" fmla="*/ 0 h 96"/>
                  <a:gd name="T128" fmla="*/ 232 w 232"/>
                  <a:gd name="T129" fmla="*/ 96 h 9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32" h="96">
                    <a:moveTo>
                      <a:pt x="0" y="19"/>
                    </a:moveTo>
                    <a:lnTo>
                      <a:pt x="2" y="21"/>
                    </a:lnTo>
                    <a:lnTo>
                      <a:pt x="4" y="22"/>
                    </a:lnTo>
                    <a:lnTo>
                      <a:pt x="6" y="26"/>
                    </a:lnTo>
                    <a:lnTo>
                      <a:pt x="6" y="28"/>
                    </a:lnTo>
                    <a:lnTo>
                      <a:pt x="9" y="29"/>
                    </a:lnTo>
                    <a:lnTo>
                      <a:pt x="11" y="31"/>
                    </a:lnTo>
                    <a:lnTo>
                      <a:pt x="11" y="33"/>
                    </a:lnTo>
                    <a:lnTo>
                      <a:pt x="13" y="36"/>
                    </a:lnTo>
                    <a:lnTo>
                      <a:pt x="15" y="38"/>
                    </a:lnTo>
                    <a:lnTo>
                      <a:pt x="17" y="40"/>
                    </a:lnTo>
                    <a:lnTo>
                      <a:pt x="17" y="41"/>
                    </a:lnTo>
                    <a:lnTo>
                      <a:pt x="19" y="43"/>
                    </a:lnTo>
                    <a:lnTo>
                      <a:pt x="22" y="45"/>
                    </a:lnTo>
                    <a:lnTo>
                      <a:pt x="22" y="46"/>
                    </a:lnTo>
                    <a:lnTo>
                      <a:pt x="24" y="48"/>
                    </a:lnTo>
                    <a:lnTo>
                      <a:pt x="26" y="50"/>
                    </a:lnTo>
                    <a:lnTo>
                      <a:pt x="28" y="52"/>
                    </a:lnTo>
                    <a:lnTo>
                      <a:pt x="28" y="53"/>
                    </a:lnTo>
                    <a:lnTo>
                      <a:pt x="30" y="55"/>
                    </a:lnTo>
                    <a:lnTo>
                      <a:pt x="33" y="57"/>
                    </a:lnTo>
                    <a:lnTo>
                      <a:pt x="33" y="58"/>
                    </a:lnTo>
                    <a:lnTo>
                      <a:pt x="35" y="60"/>
                    </a:lnTo>
                    <a:lnTo>
                      <a:pt x="37" y="62"/>
                    </a:lnTo>
                    <a:lnTo>
                      <a:pt x="39" y="64"/>
                    </a:lnTo>
                    <a:lnTo>
                      <a:pt x="41" y="65"/>
                    </a:lnTo>
                    <a:lnTo>
                      <a:pt x="44" y="67"/>
                    </a:lnTo>
                    <a:lnTo>
                      <a:pt x="44" y="69"/>
                    </a:lnTo>
                    <a:lnTo>
                      <a:pt x="46" y="70"/>
                    </a:lnTo>
                    <a:lnTo>
                      <a:pt x="48" y="70"/>
                    </a:lnTo>
                    <a:lnTo>
                      <a:pt x="50" y="72"/>
                    </a:lnTo>
                    <a:lnTo>
                      <a:pt x="50" y="74"/>
                    </a:lnTo>
                    <a:lnTo>
                      <a:pt x="52" y="76"/>
                    </a:lnTo>
                    <a:lnTo>
                      <a:pt x="55" y="76"/>
                    </a:lnTo>
                    <a:lnTo>
                      <a:pt x="59" y="79"/>
                    </a:lnTo>
                    <a:lnTo>
                      <a:pt x="57" y="79"/>
                    </a:lnTo>
                    <a:lnTo>
                      <a:pt x="59" y="79"/>
                    </a:lnTo>
                    <a:lnTo>
                      <a:pt x="63" y="82"/>
                    </a:lnTo>
                    <a:lnTo>
                      <a:pt x="61" y="82"/>
                    </a:lnTo>
                    <a:lnTo>
                      <a:pt x="63" y="82"/>
                    </a:lnTo>
                    <a:lnTo>
                      <a:pt x="66" y="84"/>
                    </a:lnTo>
                    <a:lnTo>
                      <a:pt x="68" y="86"/>
                    </a:lnTo>
                    <a:lnTo>
                      <a:pt x="70" y="86"/>
                    </a:lnTo>
                    <a:lnTo>
                      <a:pt x="72" y="88"/>
                    </a:lnTo>
                    <a:lnTo>
                      <a:pt x="74" y="89"/>
                    </a:lnTo>
                    <a:lnTo>
                      <a:pt x="77" y="89"/>
                    </a:lnTo>
                    <a:lnTo>
                      <a:pt x="79" y="91"/>
                    </a:lnTo>
                    <a:lnTo>
                      <a:pt x="81" y="91"/>
                    </a:lnTo>
                    <a:lnTo>
                      <a:pt x="83" y="93"/>
                    </a:lnTo>
                    <a:lnTo>
                      <a:pt x="85" y="93"/>
                    </a:lnTo>
                    <a:lnTo>
                      <a:pt x="88" y="93"/>
                    </a:lnTo>
                    <a:lnTo>
                      <a:pt x="90" y="94"/>
                    </a:lnTo>
                    <a:lnTo>
                      <a:pt x="92" y="94"/>
                    </a:lnTo>
                    <a:lnTo>
                      <a:pt x="94" y="96"/>
                    </a:lnTo>
                    <a:lnTo>
                      <a:pt x="96" y="96"/>
                    </a:lnTo>
                    <a:lnTo>
                      <a:pt x="98" y="96"/>
                    </a:lnTo>
                    <a:lnTo>
                      <a:pt x="101" y="96"/>
                    </a:lnTo>
                    <a:lnTo>
                      <a:pt x="103" y="96"/>
                    </a:lnTo>
                    <a:lnTo>
                      <a:pt x="105" y="96"/>
                    </a:lnTo>
                    <a:lnTo>
                      <a:pt x="107" y="96"/>
                    </a:lnTo>
                    <a:lnTo>
                      <a:pt x="109" y="96"/>
                    </a:lnTo>
                    <a:lnTo>
                      <a:pt x="112" y="96"/>
                    </a:lnTo>
                    <a:lnTo>
                      <a:pt x="114" y="96"/>
                    </a:lnTo>
                    <a:lnTo>
                      <a:pt x="116" y="96"/>
                    </a:lnTo>
                    <a:lnTo>
                      <a:pt x="118" y="96"/>
                    </a:lnTo>
                    <a:lnTo>
                      <a:pt x="121" y="96"/>
                    </a:lnTo>
                    <a:lnTo>
                      <a:pt x="123" y="96"/>
                    </a:lnTo>
                    <a:lnTo>
                      <a:pt x="125" y="96"/>
                    </a:lnTo>
                    <a:lnTo>
                      <a:pt x="127" y="94"/>
                    </a:lnTo>
                    <a:lnTo>
                      <a:pt x="129" y="94"/>
                    </a:lnTo>
                    <a:lnTo>
                      <a:pt x="131" y="94"/>
                    </a:lnTo>
                    <a:lnTo>
                      <a:pt x="134" y="93"/>
                    </a:lnTo>
                    <a:lnTo>
                      <a:pt x="136" y="93"/>
                    </a:lnTo>
                    <a:lnTo>
                      <a:pt x="138" y="91"/>
                    </a:lnTo>
                    <a:lnTo>
                      <a:pt x="140" y="91"/>
                    </a:lnTo>
                    <a:lnTo>
                      <a:pt x="142" y="89"/>
                    </a:lnTo>
                    <a:lnTo>
                      <a:pt x="145" y="88"/>
                    </a:lnTo>
                    <a:lnTo>
                      <a:pt x="147" y="88"/>
                    </a:lnTo>
                    <a:lnTo>
                      <a:pt x="149" y="86"/>
                    </a:lnTo>
                    <a:lnTo>
                      <a:pt x="151" y="84"/>
                    </a:lnTo>
                    <a:lnTo>
                      <a:pt x="153" y="84"/>
                    </a:lnTo>
                    <a:lnTo>
                      <a:pt x="156" y="82"/>
                    </a:lnTo>
                    <a:lnTo>
                      <a:pt x="158" y="81"/>
                    </a:lnTo>
                    <a:lnTo>
                      <a:pt x="160" y="81"/>
                    </a:lnTo>
                    <a:lnTo>
                      <a:pt x="164" y="77"/>
                    </a:lnTo>
                    <a:lnTo>
                      <a:pt x="162" y="77"/>
                    </a:lnTo>
                    <a:lnTo>
                      <a:pt x="164" y="77"/>
                    </a:lnTo>
                    <a:lnTo>
                      <a:pt x="167" y="76"/>
                    </a:lnTo>
                    <a:lnTo>
                      <a:pt x="169" y="74"/>
                    </a:lnTo>
                    <a:lnTo>
                      <a:pt x="171" y="72"/>
                    </a:lnTo>
                    <a:lnTo>
                      <a:pt x="173" y="70"/>
                    </a:lnTo>
                    <a:lnTo>
                      <a:pt x="173" y="69"/>
                    </a:lnTo>
                    <a:lnTo>
                      <a:pt x="175" y="67"/>
                    </a:lnTo>
                    <a:lnTo>
                      <a:pt x="178" y="67"/>
                    </a:lnTo>
                    <a:lnTo>
                      <a:pt x="180" y="65"/>
                    </a:lnTo>
                    <a:lnTo>
                      <a:pt x="180" y="64"/>
                    </a:lnTo>
                    <a:lnTo>
                      <a:pt x="182" y="62"/>
                    </a:lnTo>
                    <a:lnTo>
                      <a:pt x="184" y="60"/>
                    </a:lnTo>
                    <a:lnTo>
                      <a:pt x="184" y="58"/>
                    </a:lnTo>
                    <a:lnTo>
                      <a:pt x="186" y="57"/>
                    </a:lnTo>
                    <a:lnTo>
                      <a:pt x="189" y="55"/>
                    </a:lnTo>
                    <a:lnTo>
                      <a:pt x="191" y="53"/>
                    </a:lnTo>
                    <a:lnTo>
                      <a:pt x="193" y="52"/>
                    </a:lnTo>
                    <a:lnTo>
                      <a:pt x="195" y="50"/>
                    </a:lnTo>
                    <a:lnTo>
                      <a:pt x="195" y="48"/>
                    </a:lnTo>
                    <a:lnTo>
                      <a:pt x="197" y="46"/>
                    </a:lnTo>
                    <a:lnTo>
                      <a:pt x="200" y="43"/>
                    </a:lnTo>
                    <a:lnTo>
                      <a:pt x="202" y="41"/>
                    </a:lnTo>
                    <a:lnTo>
                      <a:pt x="202" y="40"/>
                    </a:lnTo>
                    <a:lnTo>
                      <a:pt x="204" y="38"/>
                    </a:lnTo>
                    <a:lnTo>
                      <a:pt x="206" y="36"/>
                    </a:lnTo>
                    <a:lnTo>
                      <a:pt x="206" y="34"/>
                    </a:lnTo>
                    <a:lnTo>
                      <a:pt x="208" y="33"/>
                    </a:lnTo>
                    <a:lnTo>
                      <a:pt x="210" y="31"/>
                    </a:lnTo>
                    <a:lnTo>
                      <a:pt x="213" y="28"/>
                    </a:lnTo>
                    <a:lnTo>
                      <a:pt x="213" y="26"/>
                    </a:lnTo>
                    <a:lnTo>
                      <a:pt x="215" y="24"/>
                    </a:lnTo>
                    <a:lnTo>
                      <a:pt x="217" y="22"/>
                    </a:lnTo>
                    <a:lnTo>
                      <a:pt x="219" y="21"/>
                    </a:lnTo>
                    <a:lnTo>
                      <a:pt x="219" y="17"/>
                    </a:lnTo>
                    <a:lnTo>
                      <a:pt x="221" y="16"/>
                    </a:lnTo>
                    <a:lnTo>
                      <a:pt x="224" y="14"/>
                    </a:lnTo>
                    <a:lnTo>
                      <a:pt x="224" y="10"/>
                    </a:lnTo>
                    <a:lnTo>
                      <a:pt x="226" y="9"/>
                    </a:lnTo>
                    <a:lnTo>
                      <a:pt x="228" y="7"/>
                    </a:lnTo>
                    <a:lnTo>
                      <a:pt x="230" y="4"/>
                    </a:lnTo>
                    <a:lnTo>
                      <a:pt x="230" y="2"/>
                    </a:lnTo>
                    <a:lnTo>
                      <a:pt x="232" y="0"/>
                    </a:lnTo>
                  </a:path>
                </a:pathLst>
              </a:custGeom>
              <a:noFill/>
              <a:ln w="11113" cap="rnd">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782" name="Freeform 67"/>
              <p:cNvSpPr/>
              <p:nvPr/>
            </p:nvSpPr>
            <p:spPr bwMode="auto">
              <a:xfrm>
                <a:off x="5241" y="3592"/>
                <a:ext cx="174" cy="344"/>
              </a:xfrm>
              <a:custGeom>
                <a:avLst/>
                <a:gdLst>
                  <a:gd name="T0" fmla="*/ 3 w 174"/>
                  <a:gd name="T1" fmla="*/ 341 h 344"/>
                  <a:gd name="T2" fmla="*/ 5 w 174"/>
                  <a:gd name="T3" fmla="*/ 336 h 344"/>
                  <a:gd name="T4" fmla="*/ 9 w 174"/>
                  <a:gd name="T5" fmla="*/ 330 h 344"/>
                  <a:gd name="T6" fmla="*/ 11 w 174"/>
                  <a:gd name="T7" fmla="*/ 327 h 344"/>
                  <a:gd name="T8" fmla="*/ 14 w 174"/>
                  <a:gd name="T9" fmla="*/ 322 h 344"/>
                  <a:gd name="T10" fmla="*/ 18 w 174"/>
                  <a:gd name="T11" fmla="*/ 315 h 344"/>
                  <a:gd name="T12" fmla="*/ 20 w 174"/>
                  <a:gd name="T13" fmla="*/ 310 h 344"/>
                  <a:gd name="T14" fmla="*/ 25 w 174"/>
                  <a:gd name="T15" fmla="*/ 305 h 344"/>
                  <a:gd name="T16" fmla="*/ 27 w 174"/>
                  <a:gd name="T17" fmla="*/ 300 h 344"/>
                  <a:gd name="T18" fmla="*/ 31 w 174"/>
                  <a:gd name="T19" fmla="*/ 295 h 344"/>
                  <a:gd name="T20" fmla="*/ 33 w 174"/>
                  <a:gd name="T21" fmla="*/ 289 h 344"/>
                  <a:gd name="T22" fmla="*/ 38 w 174"/>
                  <a:gd name="T23" fmla="*/ 282 h 344"/>
                  <a:gd name="T24" fmla="*/ 40 w 174"/>
                  <a:gd name="T25" fmla="*/ 277 h 344"/>
                  <a:gd name="T26" fmla="*/ 42 w 174"/>
                  <a:gd name="T27" fmla="*/ 270 h 344"/>
                  <a:gd name="T28" fmla="*/ 47 w 174"/>
                  <a:gd name="T29" fmla="*/ 265 h 344"/>
                  <a:gd name="T30" fmla="*/ 49 w 174"/>
                  <a:gd name="T31" fmla="*/ 258 h 344"/>
                  <a:gd name="T32" fmla="*/ 53 w 174"/>
                  <a:gd name="T33" fmla="*/ 253 h 344"/>
                  <a:gd name="T34" fmla="*/ 55 w 174"/>
                  <a:gd name="T35" fmla="*/ 246 h 344"/>
                  <a:gd name="T36" fmla="*/ 60 w 174"/>
                  <a:gd name="T37" fmla="*/ 241 h 344"/>
                  <a:gd name="T38" fmla="*/ 62 w 174"/>
                  <a:gd name="T39" fmla="*/ 234 h 344"/>
                  <a:gd name="T40" fmla="*/ 64 w 174"/>
                  <a:gd name="T41" fmla="*/ 229 h 344"/>
                  <a:gd name="T42" fmla="*/ 69 w 174"/>
                  <a:gd name="T43" fmla="*/ 222 h 344"/>
                  <a:gd name="T44" fmla="*/ 71 w 174"/>
                  <a:gd name="T45" fmla="*/ 216 h 344"/>
                  <a:gd name="T46" fmla="*/ 75 w 174"/>
                  <a:gd name="T47" fmla="*/ 209 h 344"/>
                  <a:gd name="T48" fmla="*/ 77 w 174"/>
                  <a:gd name="T49" fmla="*/ 204 h 344"/>
                  <a:gd name="T50" fmla="*/ 82 w 174"/>
                  <a:gd name="T51" fmla="*/ 197 h 344"/>
                  <a:gd name="T52" fmla="*/ 84 w 174"/>
                  <a:gd name="T53" fmla="*/ 190 h 344"/>
                  <a:gd name="T54" fmla="*/ 88 w 174"/>
                  <a:gd name="T55" fmla="*/ 183 h 344"/>
                  <a:gd name="T56" fmla="*/ 90 w 174"/>
                  <a:gd name="T57" fmla="*/ 176 h 344"/>
                  <a:gd name="T58" fmla="*/ 93 w 174"/>
                  <a:gd name="T59" fmla="*/ 169 h 344"/>
                  <a:gd name="T60" fmla="*/ 97 w 174"/>
                  <a:gd name="T61" fmla="*/ 164 h 344"/>
                  <a:gd name="T62" fmla="*/ 99 w 174"/>
                  <a:gd name="T63" fmla="*/ 157 h 344"/>
                  <a:gd name="T64" fmla="*/ 104 w 174"/>
                  <a:gd name="T65" fmla="*/ 150 h 344"/>
                  <a:gd name="T66" fmla="*/ 106 w 174"/>
                  <a:gd name="T67" fmla="*/ 144 h 344"/>
                  <a:gd name="T68" fmla="*/ 110 w 174"/>
                  <a:gd name="T69" fmla="*/ 137 h 344"/>
                  <a:gd name="T70" fmla="*/ 112 w 174"/>
                  <a:gd name="T71" fmla="*/ 130 h 344"/>
                  <a:gd name="T72" fmla="*/ 115 w 174"/>
                  <a:gd name="T73" fmla="*/ 123 h 344"/>
                  <a:gd name="T74" fmla="*/ 119 w 174"/>
                  <a:gd name="T75" fmla="*/ 116 h 344"/>
                  <a:gd name="T76" fmla="*/ 121 w 174"/>
                  <a:gd name="T77" fmla="*/ 109 h 344"/>
                  <a:gd name="T78" fmla="*/ 126 w 174"/>
                  <a:gd name="T79" fmla="*/ 102 h 344"/>
                  <a:gd name="T80" fmla="*/ 128 w 174"/>
                  <a:gd name="T81" fmla="*/ 96 h 344"/>
                  <a:gd name="T82" fmla="*/ 132 w 174"/>
                  <a:gd name="T83" fmla="*/ 89 h 344"/>
                  <a:gd name="T84" fmla="*/ 134 w 174"/>
                  <a:gd name="T85" fmla="*/ 82 h 344"/>
                  <a:gd name="T86" fmla="*/ 139 w 174"/>
                  <a:gd name="T87" fmla="*/ 75 h 344"/>
                  <a:gd name="T88" fmla="*/ 141 w 174"/>
                  <a:gd name="T89" fmla="*/ 68 h 344"/>
                  <a:gd name="T90" fmla="*/ 143 w 174"/>
                  <a:gd name="T91" fmla="*/ 61 h 344"/>
                  <a:gd name="T92" fmla="*/ 148 w 174"/>
                  <a:gd name="T93" fmla="*/ 55 h 344"/>
                  <a:gd name="T94" fmla="*/ 150 w 174"/>
                  <a:gd name="T95" fmla="*/ 49 h 344"/>
                  <a:gd name="T96" fmla="*/ 154 w 174"/>
                  <a:gd name="T97" fmla="*/ 43 h 344"/>
                  <a:gd name="T98" fmla="*/ 156 w 174"/>
                  <a:gd name="T99" fmla="*/ 36 h 344"/>
                  <a:gd name="T100" fmla="*/ 161 w 174"/>
                  <a:gd name="T101" fmla="*/ 29 h 344"/>
                  <a:gd name="T102" fmla="*/ 163 w 174"/>
                  <a:gd name="T103" fmla="*/ 22 h 344"/>
                  <a:gd name="T104" fmla="*/ 165 w 174"/>
                  <a:gd name="T105" fmla="*/ 15 h 344"/>
                  <a:gd name="T106" fmla="*/ 170 w 174"/>
                  <a:gd name="T107" fmla="*/ 8 h 344"/>
                  <a:gd name="T108" fmla="*/ 172 w 174"/>
                  <a:gd name="T109" fmla="*/ 3 h 3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74"/>
                  <a:gd name="T166" fmla="*/ 0 h 344"/>
                  <a:gd name="T167" fmla="*/ 174 w 174"/>
                  <a:gd name="T168" fmla="*/ 344 h 3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74" h="344">
                    <a:moveTo>
                      <a:pt x="0" y="344"/>
                    </a:moveTo>
                    <a:lnTo>
                      <a:pt x="3" y="341"/>
                    </a:lnTo>
                    <a:lnTo>
                      <a:pt x="3" y="339"/>
                    </a:lnTo>
                    <a:lnTo>
                      <a:pt x="5" y="336"/>
                    </a:lnTo>
                    <a:lnTo>
                      <a:pt x="7" y="334"/>
                    </a:lnTo>
                    <a:lnTo>
                      <a:pt x="9" y="330"/>
                    </a:lnTo>
                    <a:lnTo>
                      <a:pt x="9" y="329"/>
                    </a:lnTo>
                    <a:lnTo>
                      <a:pt x="11" y="327"/>
                    </a:lnTo>
                    <a:lnTo>
                      <a:pt x="14" y="324"/>
                    </a:lnTo>
                    <a:lnTo>
                      <a:pt x="14" y="322"/>
                    </a:lnTo>
                    <a:lnTo>
                      <a:pt x="16" y="318"/>
                    </a:lnTo>
                    <a:lnTo>
                      <a:pt x="18" y="315"/>
                    </a:lnTo>
                    <a:lnTo>
                      <a:pt x="20" y="313"/>
                    </a:lnTo>
                    <a:lnTo>
                      <a:pt x="20" y="310"/>
                    </a:lnTo>
                    <a:lnTo>
                      <a:pt x="22" y="308"/>
                    </a:lnTo>
                    <a:lnTo>
                      <a:pt x="25" y="305"/>
                    </a:lnTo>
                    <a:lnTo>
                      <a:pt x="25" y="303"/>
                    </a:lnTo>
                    <a:lnTo>
                      <a:pt x="27" y="300"/>
                    </a:lnTo>
                    <a:lnTo>
                      <a:pt x="29" y="296"/>
                    </a:lnTo>
                    <a:lnTo>
                      <a:pt x="31" y="295"/>
                    </a:lnTo>
                    <a:lnTo>
                      <a:pt x="31" y="291"/>
                    </a:lnTo>
                    <a:lnTo>
                      <a:pt x="33" y="289"/>
                    </a:lnTo>
                    <a:lnTo>
                      <a:pt x="36" y="286"/>
                    </a:lnTo>
                    <a:lnTo>
                      <a:pt x="38" y="282"/>
                    </a:lnTo>
                    <a:lnTo>
                      <a:pt x="38" y="281"/>
                    </a:lnTo>
                    <a:lnTo>
                      <a:pt x="40" y="277"/>
                    </a:lnTo>
                    <a:lnTo>
                      <a:pt x="42" y="274"/>
                    </a:lnTo>
                    <a:lnTo>
                      <a:pt x="42" y="270"/>
                    </a:lnTo>
                    <a:lnTo>
                      <a:pt x="44" y="269"/>
                    </a:lnTo>
                    <a:lnTo>
                      <a:pt x="47" y="265"/>
                    </a:lnTo>
                    <a:lnTo>
                      <a:pt x="49" y="262"/>
                    </a:lnTo>
                    <a:lnTo>
                      <a:pt x="49" y="258"/>
                    </a:lnTo>
                    <a:lnTo>
                      <a:pt x="51" y="257"/>
                    </a:lnTo>
                    <a:lnTo>
                      <a:pt x="53" y="253"/>
                    </a:lnTo>
                    <a:lnTo>
                      <a:pt x="53" y="250"/>
                    </a:lnTo>
                    <a:lnTo>
                      <a:pt x="55" y="246"/>
                    </a:lnTo>
                    <a:lnTo>
                      <a:pt x="58" y="245"/>
                    </a:lnTo>
                    <a:lnTo>
                      <a:pt x="60" y="241"/>
                    </a:lnTo>
                    <a:lnTo>
                      <a:pt x="60" y="238"/>
                    </a:lnTo>
                    <a:lnTo>
                      <a:pt x="62" y="234"/>
                    </a:lnTo>
                    <a:lnTo>
                      <a:pt x="64" y="231"/>
                    </a:lnTo>
                    <a:lnTo>
                      <a:pt x="64" y="229"/>
                    </a:lnTo>
                    <a:lnTo>
                      <a:pt x="66" y="226"/>
                    </a:lnTo>
                    <a:lnTo>
                      <a:pt x="69" y="222"/>
                    </a:lnTo>
                    <a:lnTo>
                      <a:pt x="71" y="219"/>
                    </a:lnTo>
                    <a:lnTo>
                      <a:pt x="71" y="216"/>
                    </a:lnTo>
                    <a:lnTo>
                      <a:pt x="73" y="212"/>
                    </a:lnTo>
                    <a:lnTo>
                      <a:pt x="75" y="209"/>
                    </a:lnTo>
                    <a:lnTo>
                      <a:pt x="75" y="207"/>
                    </a:lnTo>
                    <a:lnTo>
                      <a:pt x="77" y="204"/>
                    </a:lnTo>
                    <a:lnTo>
                      <a:pt x="80" y="200"/>
                    </a:lnTo>
                    <a:lnTo>
                      <a:pt x="82" y="197"/>
                    </a:lnTo>
                    <a:lnTo>
                      <a:pt x="82" y="193"/>
                    </a:lnTo>
                    <a:lnTo>
                      <a:pt x="84" y="190"/>
                    </a:lnTo>
                    <a:lnTo>
                      <a:pt x="86" y="186"/>
                    </a:lnTo>
                    <a:lnTo>
                      <a:pt x="88" y="183"/>
                    </a:lnTo>
                    <a:lnTo>
                      <a:pt x="88" y="180"/>
                    </a:lnTo>
                    <a:lnTo>
                      <a:pt x="90" y="176"/>
                    </a:lnTo>
                    <a:lnTo>
                      <a:pt x="93" y="173"/>
                    </a:lnTo>
                    <a:lnTo>
                      <a:pt x="93" y="169"/>
                    </a:lnTo>
                    <a:lnTo>
                      <a:pt x="95" y="168"/>
                    </a:lnTo>
                    <a:lnTo>
                      <a:pt x="97" y="164"/>
                    </a:lnTo>
                    <a:lnTo>
                      <a:pt x="99" y="161"/>
                    </a:lnTo>
                    <a:lnTo>
                      <a:pt x="99" y="157"/>
                    </a:lnTo>
                    <a:lnTo>
                      <a:pt x="101" y="154"/>
                    </a:lnTo>
                    <a:lnTo>
                      <a:pt x="104" y="150"/>
                    </a:lnTo>
                    <a:lnTo>
                      <a:pt x="104" y="147"/>
                    </a:lnTo>
                    <a:lnTo>
                      <a:pt x="106" y="144"/>
                    </a:lnTo>
                    <a:lnTo>
                      <a:pt x="108" y="140"/>
                    </a:lnTo>
                    <a:lnTo>
                      <a:pt x="110" y="137"/>
                    </a:lnTo>
                    <a:lnTo>
                      <a:pt x="110" y="133"/>
                    </a:lnTo>
                    <a:lnTo>
                      <a:pt x="112" y="130"/>
                    </a:lnTo>
                    <a:lnTo>
                      <a:pt x="115" y="127"/>
                    </a:lnTo>
                    <a:lnTo>
                      <a:pt x="115" y="123"/>
                    </a:lnTo>
                    <a:lnTo>
                      <a:pt x="117" y="120"/>
                    </a:lnTo>
                    <a:lnTo>
                      <a:pt x="119" y="116"/>
                    </a:lnTo>
                    <a:lnTo>
                      <a:pt x="121" y="113"/>
                    </a:lnTo>
                    <a:lnTo>
                      <a:pt x="121" y="109"/>
                    </a:lnTo>
                    <a:lnTo>
                      <a:pt x="123" y="106"/>
                    </a:lnTo>
                    <a:lnTo>
                      <a:pt x="126" y="102"/>
                    </a:lnTo>
                    <a:lnTo>
                      <a:pt x="126" y="99"/>
                    </a:lnTo>
                    <a:lnTo>
                      <a:pt x="128" y="96"/>
                    </a:lnTo>
                    <a:lnTo>
                      <a:pt x="130" y="92"/>
                    </a:lnTo>
                    <a:lnTo>
                      <a:pt x="132" y="89"/>
                    </a:lnTo>
                    <a:lnTo>
                      <a:pt x="132" y="85"/>
                    </a:lnTo>
                    <a:lnTo>
                      <a:pt x="134" y="82"/>
                    </a:lnTo>
                    <a:lnTo>
                      <a:pt x="137" y="78"/>
                    </a:lnTo>
                    <a:lnTo>
                      <a:pt x="139" y="75"/>
                    </a:lnTo>
                    <a:lnTo>
                      <a:pt x="139" y="72"/>
                    </a:lnTo>
                    <a:lnTo>
                      <a:pt x="141" y="68"/>
                    </a:lnTo>
                    <a:lnTo>
                      <a:pt x="143" y="65"/>
                    </a:lnTo>
                    <a:lnTo>
                      <a:pt x="143" y="61"/>
                    </a:lnTo>
                    <a:lnTo>
                      <a:pt x="145" y="58"/>
                    </a:lnTo>
                    <a:lnTo>
                      <a:pt x="148" y="55"/>
                    </a:lnTo>
                    <a:lnTo>
                      <a:pt x="150" y="53"/>
                    </a:lnTo>
                    <a:lnTo>
                      <a:pt x="150" y="49"/>
                    </a:lnTo>
                    <a:lnTo>
                      <a:pt x="152" y="46"/>
                    </a:lnTo>
                    <a:lnTo>
                      <a:pt x="154" y="43"/>
                    </a:lnTo>
                    <a:lnTo>
                      <a:pt x="154" y="39"/>
                    </a:lnTo>
                    <a:lnTo>
                      <a:pt x="156" y="36"/>
                    </a:lnTo>
                    <a:lnTo>
                      <a:pt x="159" y="32"/>
                    </a:lnTo>
                    <a:lnTo>
                      <a:pt x="161" y="29"/>
                    </a:lnTo>
                    <a:lnTo>
                      <a:pt x="161" y="25"/>
                    </a:lnTo>
                    <a:lnTo>
                      <a:pt x="163" y="22"/>
                    </a:lnTo>
                    <a:lnTo>
                      <a:pt x="165" y="18"/>
                    </a:lnTo>
                    <a:lnTo>
                      <a:pt x="165" y="15"/>
                    </a:lnTo>
                    <a:lnTo>
                      <a:pt x="167" y="12"/>
                    </a:lnTo>
                    <a:lnTo>
                      <a:pt x="170" y="8"/>
                    </a:lnTo>
                    <a:lnTo>
                      <a:pt x="172" y="5"/>
                    </a:lnTo>
                    <a:lnTo>
                      <a:pt x="172" y="3"/>
                    </a:lnTo>
                    <a:lnTo>
                      <a:pt x="174" y="0"/>
                    </a:lnTo>
                  </a:path>
                </a:pathLst>
              </a:custGeom>
              <a:noFill/>
              <a:ln w="11113" cap="rnd">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1777" name="Freeform 69"/>
            <p:cNvSpPr/>
            <p:nvPr/>
          </p:nvSpPr>
          <p:spPr bwMode="auto">
            <a:xfrm>
              <a:off x="4377" y="3702"/>
              <a:ext cx="136" cy="227"/>
            </a:xfrm>
            <a:custGeom>
              <a:avLst/>
              <a:gdLst>
                <a:gd name="T0" fmla="*/ 136 w 136"/>
                <a:gd name="T1" fmla="*/ 0 h 227"/>
                <a:gd name="T2" fmla="*/ 45 w 136"/>
                <a:gd name="T3" fmla="*/ 182 h 227"/>
                <a:gd name="T4" fmla="*/ 0 w 136"/>
                <a:gd name="T5" fmla="*/ 227 h 227"/>
                <a:gd name="T6" fmla="*/ 0 60000 65536"/>
                <a:gd name="T7" fmla="*/ 0 60000 65536"/>
                <a:gd name="T8" fmla="*/ 0 60000 65536"/>
                <a:gd name="T9" fmla="*/ 0 w 136"/>
                <a:gd name="T10" fmla="*/ 0 h 227"/>
                <a:gd name="T11" fmla="*/ 136 w 136"/>
                <a:gd name="T12" fmla="*/ 227 h 227"/>
              </a:gdLst>
              <a:ahLst/>
              <a:cxnLst>
                <a:cxn ang="T6">
                  <a:pos x="T0" y="T1"/>
                </a:cxn>
                <a:cxn ang="T7">
                  <a:pos x="T2" y="T3"/>
                </a:cxn>
                <a:cxn ang="T8">
                  <a:pos x="T4" y="T5"/>
                </a:cxn>
              </a:cxnLst>
              <a:rect l="T9" t="T10" r="T11" b="T12"/>
              <a:pathLst>
                <a:path w="136" h="227">
                  <a:moveTo>
                    <a:pt x="136" y="0"/>
                  </a:moveTo>
                  <a:cubicBezTo>
                    <a:pt x="102" y="72"/>
                    <a:pt x="68" y="144"/>
                    <a:pt x="45" y="182"/>
                  </a:cubicBezTo>
                  <a:cubicBezTo>
                    <a:pt x="22" y="220"/>
                    <a:pt x="7" y="220"/>
                    <a:pt x="0" y="227"/>
                  </a:cubicBezTo>
                </a:path>
              </a:pathLst>
            </a:custGeom>
            <a:noFill/>
            <a:ln w="25400">
              <a:solidFill>
                <a:srgbClr val="FF0000"/>
              </a:solidFill>
              <a:round/>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6" name="Text Box 4"/>
          <p:cNvSpPr txBox="1">
            <a:spLocks noChangeArrowheads="1"/>
          </p:cNvSpPr>
          <p:nvPr/>
        </p:nvSpPr>
        <p:spPr bwMode="auto">
          <a:xfrm>
            <a:off x="323851" y="381016"/>
            <a:ext cx="7561262"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1" lang="zh-CN" altLang="en-US" sz="2800" b="1" dirty="0">
                <a:solidFill>
                  <a:srgbClr val="FF0000"/>
                </a:solidFill>
                <a:latin typeface="Times New Roman" panose="02020603050405020304" pitchFamily="18" charset="0"/>
              </a:rPr>
              <a:t>解</a:t>
            </a:r>
            <a:r>
              <a:rPr kumimoji="1" lang="en-US" altLang="zh-CN" sz="2800" b="1" dirty="0">
                <a:solidFill>
                  <a:srgbClr val="FF0000"/>
                </a:solidFill>
                <a:latin typeface="Times New Roman" panose="02020603050405020304" pitchFamily="18" charset="0"/>
              </a:rPr>
              <a:t>:</a:t>
            </a:r>
            <a:endParaRPr kumimoji="1" lang="zh-CN" altLang="en-US" b="1" dirty="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1835150" y="298525"/>
                <a:ext cx="3498458" cy="72487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m:rPr>
                              <m:sty m:val="p"/>
                            </m:rPr>
                            <a:rPr lang="en-US" altLang="zh-CN" b="0" i="0" smtClean="0">
                              <a:latin typeface="Cambria Math" panose="02040503050406030204" pitchFamily="18" charset="0"/>
                            </a:rPr>
                            <m:t>y</m:t>
                          </m:r>
                          <m:r>
                            <a:rPr lang="zh-CN" altLang="en-US" i="0">
                              <a:latin typeface="Cambria Math" panose="02040503050406030204" pitchFamily="18" charset="0"/>
                            </a:rPr>
                            <m:t>=</m:t>
                          </m:r>
                          <m:r>
                            <a:rPr lang="zh-CN" altLang="en-US" i="1">
                              <a:latin typeface="Cambria Math" panose="02040503050406030204" pitchFamily="18" charset="0"/>
                            </a:rPr>
                            <m:t>𝐴</m:t>
                          </m:r>
                          <m:r>
                            <m:rPr>
                              <m:sty m:val="p"/>
                            </m:rPr>
                            <a:rPr lang="zh-CN" altLang="en-US" i="0">
                              <a:latin typeface="Cambria Math" panose="02040503050406030204" pitchFamily="18" charset="0"/>
                            </a:rPr>
                            <m:t>cos</m:t>
                          </m:r>
                          <m:r>
                            <a:rPr lang="zh-CN" altLang="en-US" i="0">
                              <a:latin typeface="Cambria Math" panose="02040503050406030204" pitchFamily="18" charset="0"/>
                            </a:rPr>
                            <m:t>[</m:t>
                          </m:r>
                          <m:r>
                            <a:rPr lang="zh-CN" altLang="en-US" i="1">
                              <a:latin typeface="Cambria Math" panose="02040503050406030204" pitchFamily="18" charset="0"/>
                            </a:rPr>
                            <m:t>𝜔</m:t>
                          </m:r>
                          <m:r>
                            <a:rPr lang="zh-CN" altLang="en-US" i="0">
                              <a:latin typeface="Cambria Math" panose="02040503050406030204" pitchFamily="18" charset="0"/>
                            </a:rPr>
                            <m:t>(</m:t>
                          </m:r>
                          <m:r>
                            <a:rPr lang="zh-CN" altLang="en-US" i="1">
                              <a:latin typeface="Cambria Math" panose="02040503050406030204" pitchFamily="18" charset="0"/>
                            </a:rPr>
                            <m:t>𝑡</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𝑥</m:t>
                              </m:r>
                            </m:num>
                            <m:den>
                              <m:r>
                                <a:rPr lang="zh-CN" altLang="en-US" i="1">
                                  <a:latin typeface="Cambria Math" panose="02040503050406030204" pitchFamily="18" charset="0"/>
                                </a:rPr>
                                <m:t>𝑢</m:t>
                              </m:r>
                            </m:den>
                          </m:f>
                          <m:r>
                            <a:rPr lang="zh-CN" altLang="en-US" i="0">
                              <a:latin typeface="Cambria Math" panose="02040503050406030204" pitchFamily="18" charset="0"/>
                            </a:rPr>
                            <m:t>)+</m:t>
                          </m:r>
                          <m:r>
                            <a:rPr lang="zh-CN" altLang="en-US" i="1">
                              <a:latin typeface="Cambria Math" panose="02040503050406030204" pitchFamily="18" charset="0"/>
                            </a:rPr>
                            <m:t>𝜑</m:t>
                          </m:r>
                          <m:r>
                            <m:rPr>
                              <m:nor/>
                            </m:rPr>
                            <a:rPr lang="zh-CN" altLang="en-US" dirty="0">
                              <a:latin typeface="Cambria Math" panose="02040503050406030204" pitchFamily="18" charset="0"/>
                            </a:rPr>
                            <m:t> </m:t>
                          </m:r>
                        </m:e>
                      </m:d>
                    </m:oMath>
                  </m:oMathPara>
                </a14:m>
                <a:endParaRPr lang="zh-CN" altLang="en-US" dirty="0"/>
              </a:p>
            </p:txBody>
          </p:sp>
        </mc:Choice>
        <mc:Fallback>
          <p:sp>
            <p:nvSpPr>
              <p:cNvPr id="3" name="矩形 2"/>
              <p:cNvSpPr>
                <a:spLocks noRot="1" noChangeAspect="1" noMove="1" noResize="1" noEditPoints="1" noAdjustHandles="1" noChangeArrowheads="1" noChangeShapeType="1" noTextEdit="1"/>
              </p:cNvSpPr>
              <p:nvPr/>
            </p:nvSpPr>
            <p:spPr>
              <a:xfrm>
                <a:off x="1835150" y="298525"/>
                <a:ext cx="3498458" cy="724878"/>
              </a:xfrm>
              <a:prstGeom prst="rect">
                <a:avLst/>
              </a:prstGeom>
              <a:blipFill rotWithShape="1">
                <a:blip r:embed="rId15"/>
                <a:stretch>
                  <a:fillRect t="-10" r="7" b="5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44"/>
                                        </p:tgtEl>
                                        <p:attrNameLst>
                                          <p:attrName>style.visibility</p:attrName>
                                        </p:attrNameLst>
                                      </p:cBhvr>
                                      <p:to>
                                        <p:strVal val="visible"/>
                                      </p:to>
                                    </p:set>
                                    <p:animEffect transition="in" filter="blinds(horizontal)">
                                      <p:cBhvr>
                                        <p:cTn id="7" dur="500"/>
                                        <p:tgtEl>
                                          <p:spTgt spid="16384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3845"/>
                                        </p:tgtEl>
                                        <p:attrNameLst>
                                          <p:attrName>style.visibility</p:attrName>
                                        </p:attrNameLst>
                                      </p:cBhvr>
                                      <p:to>
                                        <p:strVal val="visible"/>
                                      </p:to>
                                    </p:set>
                                    <p:animEffect transition="in" filter="blinds(horizontal)">
                                      <p:cBhvr>
                                        <p:cTn id="12" dur="500"/>
                                        <p:tgtEl>
                                          <p:spTgt spid="16384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3858"/>
                                        </p:tgtEl>
                                        <p:attrNameLst>
                                          <p:attrName>style.visibility</p:attrName>
                                        </p:attrNameLst>
                                      </p:cBhvr>
                                      <p:to>
                                        <p:strVal val="visible"/>
                                      </p:to>
                                    </p:set>
                                    <p:animEffect transition="in" filter="blinds(horizontal)">
                                      <p:cBhvr>
                                        <p:cTn id="22" dur="500"/>
                                        <p:tgtEl>
                                          <p:spTgt spid="16385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3867"/>
                                        </p:tgtEl>
                                        <p:attrNameLst>
                                          <p:attrName>style.visibility</p:attrName>
                                        </p:attrNameLst>
                                      </p:cBhvr>
                                      <p:to>
                                        <p:strVal val="visible"/>
                                      </p:to>
                                    </p:set>
                                    <p:animEffect transition="in" filter="blinds(horizontal)">
                                      <p:cBhvr>
                                        <p:cTn id="27" dur="500"/>
                                        <p:tgtEl>
                                          <p:spTgt spid="163867"/>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63866"/>
                                        </p:tgtEl>
                                        <p:attrNameLst>
                                          <p:attrName>style.visibility</p:attrName>
                                        </p:attrNameLst>
                                      </p:cBhvr>
                                      <p:to>
                                        <p:strVal val="visible"/>
                                      </p:to>
                                    </p:set>
                                    <p:animEffect transition="in" filter="checkerboard(across)">
                                      <p:cBhvr>
                                        <p:cTn id="32" dur="500"/>
                                        <p:tgtEl>
                                          <p:spTgt spid="16386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63859"/>
                                        </p:tgtEl>
                                        <p:attrNameLst>
                                          <p:attrName>style.visibility</p:attrName>
                                        </p:attrNameLst>
                                      </p:cBhvr>
                                      <p:to>
                                        <p:strVal val="visible"/>
                                      </p:to>
                                    </p:set>
                                    <p:animEffect transition="in" filter="blinds(horizontal)">
                                      <p:cBhvr>
                                        <p:cTn id="37" dur="500"/>
                                        <p:tgtEl>
                                          <p:spTgt spid="16385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63871"/>
                                        </p:tgtEl>
                                        <p:attrNameLst>
                                          <p:attrName>style.visibility</p:attrName>
                                        </p:attrNameLst>
                                      </p:cBhvr>
                                      <p:to>
                                        <p:strVal val="visible"/>
                                      </p:to>
                                    </p:set>
                                    <p:animEffect transition="in" filter="blinds(horizontal)">
                                      <p:cBhvr>
                                        <p:cTn id="42" dur="500"/>
                                        <p:tgtEl>
                                          <p:spTgt spid="16387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3872"/>
                                        </p:tgtEl>
                                        <p:attrNameLst>
                                          <p:attrName>style.visibility</p:attrName>
                                        </p:attrNameLst>
                                      </p:cBhvr>
                                      <p:to>
                                        <p:strVal val="visible"/>
                                      </p:to>
                                    </p:set>
                                    <p:animEffect transition="in" filter="blinds(horizontal)">
                                      <p:cBhvr>
                                        <p:cTn id="47" dur="500"/>
                                        <p:tgtEl>
                                          <p:spTgt spid="16387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63873"/>
                                        </p:tgtEl>
                                        <p:attrNameLst>
                                          <p:attrName>style.visibility</p:attrName>
                                        </p:attrNameLst>
                                      </p:cBhvr>
                                      <p:to>
                                        <p:strVal val="visible"/>
                                      </p:to>
                                    </p:set>
                                    <p:animEffect transition="in" filter="blinds(horizontal)">
                                      <p:cBhvr>
                                        <p:cTn id="52" dur="500"/>
                                        <p:tgtEl>
                                          <p:spTgt spid="16387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63875"/>
                                        </p:tgtEl>
                                        <p:attrNameLst>
                                          <p:attrName>style.visibility</p:attrName>
                                        </p:attrNameLst>
                                      </p:cBhvr>
                                      <p:to>
                                        <p:strVal val="visible"/>
                                      </p:to>
                                    </p:set>
                                    <p:animEffect transition="in" filter="blinds(horizontal)">
                                      <p:cBhvr>
                                        <p:cTn id="57" dur="500"/>
                                        <p:tgtEl>
                                          <p:spTgt spid="163875"/>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nodeType="clickEffect">
                                  <p:stCondLst>
                                    <p:cond delay="0"/>
                                  </p:stCondLst>
                                  <p:childTnLst>
                                    <p:set>
                                      <p:cBhvr>
                                        <p:cTn id="61" dur="1" fill="hold">
                                          <p:stCondLst>
                                            <p:cond delay="0"/>
                                          </p:stCondLst>
                                        </p:cTn>
                                        <p:tgtEl>
                                          <p:spTgt spid="163876"/>
                                        </p:tgtEl>
                                        <p:attrNameLst>
                                          <p:attrName>style.visibility</p:attrName>
                                        </p:attrNameLst>
                                      </p:cBhvr>
                                      <p:to>
                                        <p:strVal val="visible"/>
                                      </p:to>
                                    </p:set>
                                    <p:animEffect transition="in" filter="checkerboard(across)">
                                      <p:cBhvr>
                                        <p:cTn id="62" dur="500"/>
                                        <p:tgtEl>
                                          <p:spTgt spid="163876"/>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63877"/>
                                        </p:tgtEl>
                                        <p:attrNameLst>
                                          <p:attrName>style.visibility</p:attrName>
                                        </p:attrNameLst>
                                      </p:cBhvr>
                                      <p:to>
                                        <p:strVal val="visible"/>
                                      </p:to>
                                    </p:set>
                                    <p:animEffect transition="in" filter="blinds(horizontal)">
                                      <p:cBhvr>
                                        <p:cTn id="67" dur="500"/>
                                        <p:tgtEl>
                                          <p:spTgt spid="163877"/>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163878"/>
                                        </p:tgtEl>
                                        <p:attrNameLst>
                                          <p:attrName>style.visibility</p:attrName>
                                        </p:attrNameLst>
                                      </p:cBhvr>
                                      <p:to>
                                        <p:strVal val="visible"/>
                                      </p:to>
                                    </p:set>
                                    <p:animEffect transition="in" filter="blinds(horizontal)">
                                      <p:cBhvr>
                                        <p:cTn id="72" dur="500"/>
                                        <p:tgtEl>
                                          <p:spTgt spid="163878"/>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63880"/>
                                        </p:tgtEl>
                                        <p:attrNameLst>
                                          <p:attrName>style.visibility</p:attrName>
                                        </p:attrNameLst>
                                      </p:cBhvr>
                                      <p:to>
                                        <p:strVal val="visible"/>
                                      </p:to>
                                    </p:set>
                                    <p:animEffect transition="in" filter="blinds(horizontal)">
                                      <p:cBhvr>
                                        <p:cTn id="77" dur="500"/>
                                        <p:tgtEl>
                                          <p:spTgt spid="163880"/>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163882"/>
                                        </p:tgtEl>
                                        <p:attrNameLst>
                                          <p:attrName>style.visibility</p:attrName>
                                        </p:attrNameLst>
                                      </p:cBhvr>
                                      <p:to>
                                        <p:strVal val="visible"/>
                                      </p:to>
                                    </p:set>
                                    <p:animEffect transition="in" filter="blinds(horizontal)">
                                      <p:cBhvr>
                                        <p:cTn id="82" dur="500"/>
                                        <p:tgtEl>
                                          <p:spTgt spid="163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4" grpId="0"/>
      <p:bldP spid="163867" grpId="0"/>
      <p:bldP spid="163872" grpId="0"/>
      <p:bldP spid="163875" grpId="0"/>
      <p:bldP spid="16388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Text Box 4"/>
          <p:cNvSpPr txBox="1">
            <a:spLocks noChangeArrowheads="1"/>
          </p:cNvSpPr>
          <p:nvPr/>
        </p:nvSpPr>
        <p:spPr bwMode="auto">
          <a:xfrm>
            <a:off x="468313" y="476250"/>
            <a:ext cx="8135937"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pPr>
            <a:r>
              <a:rPr kumimoji="1" lang="zh-CN" altLang="en-US" sz="2800" b="1" dirty="0">
                <a:solidFill>
                  <a:srgbClr val="FF0000"/>
                </a:solidFill>
                <a:latin typeface="楷体_GB2312" panose="02010609030101010101" pitchFamily="49" charset="-122"/>
                <a:ea typeface="楷体_GB2312" panose="02010609030101010101" pitchFamily="49" charset="-122"/>
              </a:rPr>
              <a:t>例</a:t>
            </a:r>
            <a:r>
              <a:rPr kumimoji="1" lang="en-US" altLang="zh-CN" sz="2800" b="1" dirty="0">
                <a:solidFill>
                  <a:srgbClr val="FF0000"/>
                </a:solidFill>
                <a:latin typeface="楷体_GB2312" panose="02010609030101010101" pitchFamily="49" charset="-122"/>
                <a:ea typeface="楷体_GB2312" panose="02010609030101010101" pitchFamily="49" charset="-122"/>
              </a:rPr>
              <a:t>2:</a:t>
            </a:r>
            <a:r>
              <a:rPr kumimoji="1" lang="zh-CN" altLang="en-US" sz="2800" dirty="0">
                <a:latin typeface="黑体" panose="02010609060101010101" pitchFamily="49" charset="-122"/>
                <a:ea typeface="黑体" panose="02010609060101010101" pitchFamily="49" charset="-122"/>
              </a:rPr>
              <a:t>如图所示，</a:t>
            </a:r>
            <a:r>
              <a:rPr kumimoji="1" lang="en-US" altLang="zh-CN" sz="2800" i="1" dirty="0">
                <a:latin typeface="Times New Roman" panose="02020603050405020304" pitchFamily="18" charset="0"/>
                <a:ea typeface="黑体" panose="02010609060101010101" pitchFamily="49" charset="-122"/>
              </a:rPr>
              <a:t>S</a:t>
            </a:r>
            <a:r>
              <a:rPr kumimoji="1" lang="en-US" altLang="zh-CN" sz="2800" baseline="-25000" dirty="0">
                <a:latin typeface="Times New Roman" panose="02020603050405020304" pitchFamily="18" charset="0"/>
                <a:ea typeface="黑体" panose="02010609060101010101" pitchFamily="49" charset="-122"/>
              </a:rPr>
              <a:t>1</a:t>
            </a:r>
            <a:r>
              <a:rPr kumimoji="1" lang="zh-CN" altLang="en-US" sz="2800" dirty="0">
                <a:latin typeface="黑体" panose="02010609060101010101" pitchFamily="49" charset="-122"/>
                <a:ea typeface="黑体" panose="02010609060101010101" pitchFamily="49" charset="-122"/>
              </a:rPr>
              <a:t>、</a:t>
            </a:r>
            <a:r>
              <a:rPr kumimoji="1" lang="en-US" altLang="zh-CN" sz="2800" i="1" dirty="0">
                <a:latin typeface="Times New Roman" panose="02020603050405020304" pitchFamily="18" charset="0"/>
                <a:ea typeface="黑体" panose="02010609060101010101" pitchFamily="49" charset="-122"/>
              </a:rPr>
              <a:t>S</a:t>
            </a:r>
            <a:r>
              <a:rPr kumimoji="1" lang="en-US" altLang="zh-CN" sz="2800" baseline="-25000" dirty="0">
                <a:latin typeface="Times New Roman" panose="02020603050405020304" pitchFamily="18" charset="0"/>
                <a:ea typeface="黑体" panose="02010609060101010101" pitchFamily="49" charset="-122"/>
              </a:rPr>
              <a:t>2</a:t>
            </a:r>
            <a:r>
              <a:rPr kumimoji="1" lang="zh-CN" altLang="en-US" sz="2800" dirty="0">
                <a:latin typeface="黑体" panose="02010609060101010101" pitchFamily="49" charset="-122"/>
                <a:ea typeface="黑体" panose="02010609060101010101" pitchFamily="49" charset="-122"/>
              </a:rPr>
              <a:t>为同一介质中沿其连线方向发射平面简谐波的波源，两者相距</a:t>
            </a:r>
            <a:r>
              <a:rPr kumimoji="1" lang="en-US" altLang="zh-CN" sz="2800" dirty="0">
                <a:latin typeface="黑体" panose="02010609060101010101" pitchFamily="49" charset="-122"/>
                <a:ea typeface="黑体" panose="02010609060101010101" pitchFamily="49" charset="-122"/>
              </a:rPr>
              <a:t>5/4</a:t>
            </a:r>
            <a:r>
              <a:rPr kumimoji="1" lang="zh-CN" altLang="en-US" sz="2800" dirty="0">
                <a:latin typeface="黑体" panose="02010609060101010101" pitchFamily="49" charset="-122"/>
                <a:ea typeface="黑体" panose="02010609060101010101" pitchFamily="49" charset="-122"/>
              </a:rPr>
              <a:t>倍波长作同方向、同频率、同振幅的简谐振动，</a:t>
            </a:r>
            <a:r>
              <a:rPr lang="zh-CN" altLang="en-US" sz="2800" dirty="0">
                <a:latin typeface="黑体" panose="02010609060101010101" pitchFamily="49" charset="-122"/>
                <a:ea typeface="黑体" panose="02010609060101010101" pitchFamily="49" charset="-122"/>
              </a:rPr>
              <a:t>设</a:t>
            </a:r>
            <a:r>
              <a:rPr kumimoji="1" lang="en-US" altLang="zh-CN" sz="2800" i="1" dirty="0">
                <a:latin typeface="Times New Roman" panose="02020603050405020304" pitchFamily="18" charset="0"/>
              </a:rPr>
              <a:t>S</a:t>
            </a:r>
            <a:r>
              <a:rPr kumimoji="1" lang="en-US" altLang="zh-CN" sz="2800" baseline="-25000" dirty="0">
                <a:latin typeface="Times New Roman" panose="02020603050405020304" pitchFamily="18" charset="0"/>
              </a:rPr>
              <a:t>1</a:t>
            </a:r>
            <a:r>
              <a:rPr kumimoji="1" lang="zh-CN" altLang="en-US" sz="2800" dirty="0">
                <a:latin typeface="黑体" panose="02010609060101010101" pitchFamily="49" charset="-122"/>
                <a:ea typeface="黑体" panose="02010609060101010101" pitchFamily="49" charset="-122"/>
              </a:rPr>
              <a:t>经过平衡位置向负方向运动时</a:t>
            </a:r>
            <a:r>
              <a:rPr kumimoji="1" lang="en-US" altLang="zh-CN" sz="2800" dirty="0">
                <a:latin typeface="Times New Roman" panose="02020603050405020304" pitchFamily="18" charset="0"/>
                <a:ea typeface="黑体" panose="02010609060101010101" pitchFamily="49" charset="-122"/>
              </a:rPr>
              <a:t>, </a:t>
            </a:r>
            <a:r>
              <a:rPr kumimoji="1" lang="en-US" altLang="zh-CN" sz="2800" i="1" dirty="0">
                <a:latin typeface="Times New Roman" panose="02020603050405020304" pitchFamily="18" charset="0"/>
              </a:rPr>
              <a:t>S</a:t>
            </a:r>
            <a:r>
              <a:rPr kumimoji="1" lang="en-US" altLang="zh-CN" sz="2800" baseline="-25000" dirty="0">
                <a:latin typeface="Times New Roman" panose="02020603050405020304" pitchFamily="18" charset="0"/>
              </a:rPr>
              <a:t>2</a:t>
            </a:r>
            <a:r>
              <a:rPr kumimoji="1" lang="zh-CN" altLang="en-US" sz="2800" dirty="0">
                <a:latin typeface="黑体" panose="02010609060101010101" pitchFamily="49" charset="-122"/>
                <a:ea typeface="黑体" panose="02010609060101010101" pitchFamily="49" charset="-122"/>
              </a:rPr>
              <a:t>恰处在正向最远端，且介质不吸收波的能量。求：</a:t>
            </a:r>
            <a:endParaRPr kumimoji="1" lang="zh-CN" altLang="en-US" sz="2800" dirty="0">
              <a:latin typeface="黑体" panose="02010609060101010101" pitchFamily="49" charset="-122"/>
              <a:ea typeface="黑体" panose="02010609060101010101" pitchFamily="49" charset="-122"/>
            </a:endParaRPr>
          </a:p>
        </p:txBody>
      </p:sp>
      <p:grpSp>
        <p:nvGrpSpPr>
          <p:cNvPr id="32772" name="Group 29"/>
          <p:cNvGrpSpPr/>
          <p:nvPr/>
        </p:nvGrpSpPr>
        <p:grpSpPr bwMode="auto">
          <a:xfrm>
            <a:off x="2339975" y="4725988"/>
            <a:ext cx="4464050" cy="1608137"/>
            <a:chOff x="1474" y="2977"/>
            <a:chExt cx="2812" cy="1013"/>
          </a:xfrm>
        </p:grpSpPr>
        <p:grpSp>
          <p:nvGrpSpPr>
            <p:cNvPr id="32774" name="Group 27"/>
            <p:cNvGrpSpPr/>
            <p:nvPr/>
          </p:nvGrpSpPr>
          <p:grpSpPr bwMode="auto">
            <a:xfrm>
              <a:off x="1474" y="3294"/>
              <a:ext cx="2812" cy="696"/>
              <a:chOff x="1338" y="3188"/>
              <a:chExt cx="2812" cy="696"/>
            </a:xfrm>
          </p:grpSpPr>
          <p:sp>
            <p:nvSpPr>
              <p:cNvPr id="32775" name="Oval 15"/>
              <p:cNvSpPr>
                <a:spLocks noChangeArrowheads="1"/>
              </p:cNvSpPr>
              <p:nvPr/>
            </p:nvSpPr>
            <p:spPr bwMode="auto">
              <a:xfrm>
                <a:off x="1610" y="3505"/>
                <a:ext cx="91" cy="91"/>
              </a:xfrm>
              <a:prstGeom prst="ellipse">
                <a:avLst/>
              </a:prstGeom>
              <a:solidFill>
                <a:schemeClr val="tx1"/>
              </a:solidFill>
              <a:ln w="25400">
                <a:solidFill>
                  <a:schemeClr val="tx1"/>
                </a:solidFill>
                <a:round/>
                <a:tailEnd type="none" w="med" len="lg"/>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32776" name="Oval 16"/>
              <p:cNvSpPr>
                <a:spLocks noChangeArrowheads="1"/>
              </p:cNvSpPr>
              <p:nvPr/>
            </p:nvSpPr>
            <p:spPr bwMode="auto">
              <a:xfrm>
                <a:off x="3061" y="3505"/>
                <a:ext cx="91" cy="91"/>
              </a:xfrm>
              <a:prstGeom prst="ellipse">
                <a:avLst/>
              </a:prstGeom>
              <a:solidFill>
                <a:schemeClr val="tx1"/>
              </a:solidFill>
              <a:ln w="25400">
                <a:solidFill>
                  <a:schemeClr val="tx1"/>
                </a:solidFill>
                <a:round/>
                <a:tailEnd type="none" w="med" len="lg"/>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32777" name="Line 17"/>
              <p:cNvSpPr>
                <a:spLocks noChangeShapeType="1"/>
              </p:cNvSpPr>
              <p:nvPr/>
            </p:nvSpPr>
            <p:spPr bwMode="auto">
              <a:xfrm>
                <a:off x="1338" y="3551"/>
                <a:ext cx="2449" cy="0"/>
              </a:xfrm>
              <a:prstGeom prst="line">
                <a:avLst/>
              </a:prstGeom>
              <a:noFill/>
              <a:ln w="254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2778" name="Text Box 18"/>
              <p:cNvSpPr txBox="1">
                <a:spLocks noChangeArrowheads="1"/>
              </p:cNvSpPr>
              <p:nvPr/>
            </p:nvSpPr>
            <p:spPr bwMode="auto">
              <a:xfrm>
                <a:off x="1519" y="3596"/>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rPr>
                  <a:t>S</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32779" name="Text Box 19"/>
              <p:cNvSpPr txBox="1">
                <a:spLocks noChangeArrowheads="1"/>
              </p:cNvSpPr>
              <p:nvPr/>
            </p:nvSpPr>
            <p:spPr bwMode="auto">
              <a:xfrm>
                <a:off x="2971" y="3596"/>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rPr>
                  <a:t>S</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32780" name="Line 20"/>
              <p:cNvSpPr>
                <a:spLocks noChangeShapeType="1"/>
              </p:cNvSpPr>
              <p:nvPr/>
            </p:nvSpPr>
            <p:spPr bwMode="auto">
              <a:xfrm flipV="1">
                <a:off x="1655" y="3188"/>
                <a:ext cx="0" cy="363"/>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2781" name="Line 21"/>
              <p:cNvSpPr>
                <a:spLocks noChangeShapeType="1"/>
              </p:cNvSpPr>
              <p:nvPr/>
            </p:nvSpPr>
            <p:spPr bwMode="auto">
              <a:xfrm flipV="1">
                <a:off x="3107" y="3188"/>
                <a:ext cx="0" cy="363"/>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2782" name="Line 22"/>
              <p:cNvSpPr>
                <a:spLocks noChangeShapeType="1"/>
              </p:cNvSpPr>
              <p:nvPr/>
            </p:nvSpPr>
            <p:spPr bwMode="auto">
              <a:xfrm>
                <a:off x="1655" y="3324"/>
                <a:ext cx="1452" cy="0"/>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2783" name="Text Box 26"/>
              <p:cNvSpPr txBox="1">
                <a:spLocks noChangeArrowheads="1"/>
              </p:cNvSpPr>
              <p:nvPr/>
            </p:nvSpPr>
            <p:spPr bwMode="auto">
              <a:xfrm>
                <a:off x="3560" y="3596"/>
                <a:ext cx="5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rPr>
                  <a:t>x</a:t>
                </a:r>
                <a:r>
                  <a:rPr lang="en-US" altLang="zh-CN">
                    <a:latin typeface="Times New Roman" panose="02020603050405020304" pitchFamily="18" charset="0"/>
                  </a:rPr>
                  <a:t>/m</a:t>
                </a:r>
                <a:endParaRPr lang="en-US" altLang="zh-CN">
                  <a:latin typeface="Times New Roman" panose="02020603050405020304" pitchFamily="18" charset="0"/>
                </a:endParaRPr>
              </a:p>
            </p:txBody>
          </p:sp>
        </p:grpSp>
        <p:graphicFrame>
          <p:nvGraphicFramePr>
            <p:cNvPr id="32770" name="Object 25"/>
            <p:cNvGraphicFramePr>
              <a:graphicFrameLocks noChangeAspect="1"/>
            </p:cNvGraphicFramePr>
            <p:nvPr/>
          </p:nvGraphicFramePr>
          <p:xfrm>
            <a:off x="2245" y="2977"/>
            <a:ext cx="369" cy="544"/>
          </p:xfrm>
          <a:graphic>
            <a:graphicData uri="http://schemas.openxmlformats.org/presentationml/2006/ole">
              <mc:AlternateContent xmlns:mc="http://schemas.openxmlformats.org/markup-compatibility/2006">
                <mc:Choice xmlns:v="urn:schemas-microsoft-com:vml" Requires="v">
                  <p:oleObj spid="_x0000_s32819" name="公式" r:id="rId1" imgW="266700" imgH="393065" progId="Equation.3">
                    <p:embed/>
                  </p:oleObj>
                </mc:Choice>
                <mc:Fallback>
                  <p:oleObj name="公式" r:id="rId1" imgW="266700" imgH="393065" progId="Equation.3">
                    <p:embed/>
                    <p:pic>
                      <p:nvPicPr>
                        <p:cNvPr id="0" name="Object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 y="2977"/>
                          <a:ext cx="369" cy="54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8876" name="Text Box 28"/>
          <p:cNvSpPr txBox="1">
            <a:spLocks noChangeArrowheads="1"/>
          </p:cNvSpPr>
          <p:nvPr/>
        </p:nvSpPr>
        <p:spPr bwMode="auto">
          <a:xfrm>
            <a:off x="827088" y="2997200"/>
            <a:ext cx="74168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marL="457200" indent="-4572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20000"/>
              </a:lnSpc>
              <a:buFontTx/>
              <a:buAutoNum type="arabicPeriod"/>
            </a:pPr>
            <a:r>
              <a:rPr kumimoji="1" lang="en-US" altLang="zh-CN" sz="2800" b="1" i="1">
                <a:latin typeface="Times New Roman" panose="02020603050405020304" pitchFamily="18" charset="0"/>
              </a:rPr>
              <a:t>S</a:t>
            </a:r>
            <a:r>
              <a:rPr kumimoji="1" lang="en-US" altLang="zh-CN" sz="2800" b="1" baseline="-25000">
                <a:latin typeface="Times New Roman" panose="02020603050405020304" pitchFamily="18" charset="0"/>
              </a:rPr>
              <a:t>1</a:t>
            </a:r>
            <a:r>
              <a:rPr kumimoji="1" lang="zh-CN" altLang="en-US" sz="2800" b="1"/>
              <a:t>和 </a:t>
            </a:r>
            <a:r>
              <a:rPr kumimoji="1" lang="en-US" altLang="zh-CN" sz="2800" b="1" i="1">
                <a:latin typeface="Times New Roman" panose="02020603050405020304" pitchFamily="18" charset="0"/>
              </a:rPr>
              <a:t>S</a:t>
            </a:r>
            <a:r>
              <a:rPr kumimoji="1" lang="en-US" altLang="zh-CN" sz="2800" b="1" baseline="-25000">
                <a:latin typeface="Times New Roman" panose="02020603050405020304" pitchFamily="18" charset="0"/>
              </a:rPr>
              <a:t>2</a:t>
            </a:r>
            <a:r>
              <a:rPr kumimoji="1" lang="zh-CN" altLang="en-US" sz="2800" b="1"/>
              <a:t>外侧合成波的强度</a:t>
            </a:r>
            <a:endParaRPr kumimoji="1" lang="zh-CN" altLang="en-US" sz="2800" b="1"/>
          </a:p>
          <a:p>
            <a:pPr eaLnBrk="1" hangingPunct="1">
              <a:lnSpc>
                <a:spcPct val="120000"/>
              </a:lnSpc>
              <a:buFontTx/>
              <a:buAutoNum type="arabicPeriod"/>
            </a:pPr>
            <a:r>
              <a:rPr kumimoji="1" lang="en-US" altLang="zh-CN" sz="2800" b="1" i="1">
                <a:latin typeface="Times New Roman" panose="02020603050405020304" pitchFamily="18" charset="0"/>
              </a:rPr>
              <a:t>S</a:t>
            </a:r>
            <a:r>
              <a:rPr kumimoji="1" lang="en-US" altLang="zh-CN" sz="2800" b="1" baseline="-25000">
                <a:latin typeface="Times New Roman" panose="02020603050405020304" pitchFamily="18" charset="0"/>
              </a:rPr>
              <a:t>1</a:t>
            </a:r>
            <a:r>
              <a:rPr kumimoji="1" lang="zh-CN" altLang="en-US" sz="2800" b="1"/>
              <a:t>和</a:t>
            </a:r>
            <a:r>
              <a:rPr kumimoji="1" lang="en-US" altLang="zh-CN" sz="2800" b="1" i="1">
                <a:latin typeface="Times New Roman" panose="02020603050405020304" pitchFamily="18" charset="0"/>
              </a:rPr>
              <a:t>S</a:t>
            </a:r>
            <a:r>
              <a:rPr kumimoji="1" lang="en-US" altLang="zh-CN" sz="2800" b="1" i="1" baseline="-25000">
                <a:latin typeface="Times New Roman" panose="02020603050405020304" pitchFamily="18" charset="0"/>
              </a:rPr>
              <a:t>2</a:t>
            </a:r>
            <a:r>
              <a:rPr kumimoji="1" lang="zh-CN" altLang="en-US" sz="2800" b="1"/>
              <a:t>之间因干涉而静止点的位置，设两列波的振幅都是</a:t>
            </a:r>
            <a:r>
              <a:rPr kumimoji="1" lang="en-US" altLang="zh-CN" sz="2800" b="1" i="1">
                <a:latin typeface="Times New Roman" panose="02020603050405020304" pitchFamily="18" charset="0"/>
              </a:rPr>
              <a:t>A</a:t>
            </a:r>
            <a:r>
              <a:rPr kumimoji="1" lang="en-US" altLang="zh-CN" sz="2800" b="1" baseline="-25000">
                <a:latin typeface="Times New Roman" panose="02020603050405020304" pitchFamily="18" charset="0"/>
              </a:rPr>
              <a:t>0</a:t>
            </a:r>
            <a:r>
              <a:rPr kumimoji="1" lang="zh-CN" altLang="en-US" sz="2800" b="1"/>
              <a:t>，强度都是</a:t>
            </a:r>
            <a:r>
              <a:rPr kumimoji="1" lang="en-US" altLang="zh-CN" sz="2800" b="1" i="1">
                <a:latin typeface="Times New Roman" panose="02020603050405020304" pitchFamily="18" charset="0"/>
              </a:rPr>
              <a:t>I</a:t>
            </a:r>
            <a:r>
              <a:rPr kumimoji="1" lang="en-US" altLang="zh-CN" sz="2800" b="1" baseline="-25000">
                <a:latin typeface="Times New Roman" panose="02020603050405020304" pitchFamily="18" charset="0"/>
              </a:rPr>
              <a:t>0</a:t>
            </a:r>
            <a:r>
              <a:rPr kumimoji="1" lang="en-US" altLang="zh-CN" sz="2800" b="1"/>
              <a:t> </a:t>
            </a:r>
            <a:r>
              <a:rPr kumimoji="1" lang="zh-CN" altLang="en-US" sz="2800" b="1"/>
              <a:t>。</a:t>
            </a:r>
            <a:endParaRPr kumimoji="1" lang="zh-CN" altLang="en-US" sz="2800"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2"/>
          <p:cNvGrpSpPr/>
          <p:nvPr/>
        </p:nvGrpSpPr>
        <p:grpSpPr bwMode="auto">
          <a:xfrm>
            <a:off x="5552257" y="2925018"/>
            <a:ext cx="3184525" cy="2087563"/>
            <a:chOff x="3561" y="1480"/>
            <a:chExt cx="2006" cy="1315"/>
          </a:xfrm>
        </p:grpSpPr>
        <p:grpSp>
          <p:nvGrpSpPr>
            <p:cNvPr id="33823" name="Group 22"/>
            <p:cNvGrpSpPr/>
            <p:nvPr/>
          </p:nvGrpSpPr>
          <p:grpSpPr bwMode="auto">
            <a:xfrm>
              <a:off x="3651" y="1496"/>
              <a:ext cx="1916" cy="1296"/>
              <a:chOff x="3408" y="1872"/>
              <a:chExt cx="1916" cy="1296"/>
            </a:xfrm>
          </p:grpSpPr>
          <p:grpSp>
            <p:nvGrpSpPr>
              <p:cNvPr id="33826" name="Group 23"/>
              <p:cNvGrpSpPr/>
              <p:nvPr/>
            </p:nvGrpSpPr>
            <p:grpSpPr bwMode="auto">
              <a:xfrm>
                <a:off x="3408" y="1872"/>
                <a:ext cx="1916" cy="1296"/>
                <a:chOff x="3408" y="1872"/>
                <a:chExt cx="1916" cy="1296"/>
              </a:xfrm>
            </p:grpSpPr>
            <p:sp>
              <p:nvSpPr>
                <p:cNvPr id="33829" name="Oval 24"/>
                <p:cNvSpPr>
                  <a:spLocks noChangeArrowheads="1"/>
                </p:cNvSpPr>
                <p:nvPr/>
              </p:nvSpPr>
              <p:spPr bwMode="auto">
                <a:xfrm>
                  <a:off x="3552" y="1872"/>
                  <a:ext cx="1344" cy="1296"/>
                </a:xfrm>
                <a:prstGeom prst="ellipse">
                  <a:avLst/>
                </a:prstGeom>
                <a:solidFill>
                  <a:schemeClr val="accent1"/>
                </a:solidFill>
                <a:ln w="9525">
                  <a:solidFill>
                    <a:schemeClr val="tx1"/>
                  </a:solidFill>
                  <a:prstDash val="lgDash"/>
                  <a:round/>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830" name="Line 25"/>
                <p:cNvSpPr>
                  <a:spLocks noChangeShapeType="1"/>
                </p:cNvSpPr>
                <p:nvPr/>
              </p:nvSpPr>
              <p:spPr bwMode="auto">
                <a:xfrm>
                  <a:off x="3408" y="2544"/>
                  <a:ext cx="172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3801" name="Object 26"/>
                <p:cNvGraphicFramePr>
                  <a:graphicFrameLocks noChangeAspect="1"/>
                </p:cNvGraphicFramePr>
                <p:nvPr/>
              </p:nvGraphicFramePr>
              <p:xfrm>
                <a:off x="4896" y="2016"/>
                <a:ext cx="192" cy="176"/>
              </p:xfrm>
              <a:graphic>
                <a:graphicData uri="http://schemas.openxmlformats.org/presentationml/2006/ole">
                  <mc:AlternateContent xmlns:mc="http://schemas.openxmlformats.org/markup-compatibility/2006">
                    <mc:Choice xmlns:v="urn:schemas-microsoft-com:vml" Requires="v">
                      <p:oleObj spid="_x0000_s34105" name="Equation" r:id="rId1" imgW="152400" imgH="139700" progId="Equation.DSMT4">
                        <p:embed/>
                      </p:oleObj>
                    </mc:Choice>
                    <mc:Fallback>
                      <p:oleObj name="Equation" r:id="rId1" imgW="152400" imgH="139700" progId="Equation.DSMT4">
                        <p:embed/>
                        <p:pic>
                          <p:nvPicPr>
                            <p:cNvPr id="0" name="Object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6" y="2016"/>
                              <a:ext cx="19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831" name="Text Box 27"/>
                <p:cNvSpPr txBox="1">
                  <a:spLocks noChangeArrowheads="1"/>
                </p:cNvSpPr>
                <p:nvPr/>
              </p:nvSpPr>
              <p:spPr bwMode="auto">
                <a:xfrm>
                  <a:off x="5136" y="244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b="1" i="1">
                      <a:latin typeface="Times New Roman" panose="02020603050405020304" pitchFamily="18" charset="0"/>
                    </a:rPr>
                    <a:t>x</a:t>
                  </a:r>
                  <a:endParaRPr lang="en-US" altLang="zh-CN" sz="1800" b="1" i="1">
                    <a:latin typeface="Times New Roman" panose="02020603050405020304" pitchFamily="18" charset="0"/>
                  </a:endParaRPr>
                </a:p>
              </p:txBody>
            </p:sp>
            <p:sp>
              <p:nvSpPr>
                <p:cNvPr id="33832" name="Text Box 28"/>
                <p:cNvSpPr txBox="1">
                  <a:spLocks noChangeArrowheads="1"/>
                </p:cNvSpPr>
                <p:nvPr/>
              </p:nvSpPr>
              <p:spPr bwMode="auto">
                <a:xfrm>
                  <a:off x="4848" y="2544"/>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b="1" i="1">
                      <a:latin typeface="Times New Roman" panose="02020603050405020304" pitchFamily="18" charset="0"/>
                    </a:rPr>
                    <a:t>A</a:t>
                  </a:r>
                  <a:endParaRPr lang="en-US" altLang="zh-CN" sz="1800" b="1" i="1">
                    <a:latin typeface="Times New Roman" panose="02020603050405020304" pitchFamily="18" charset="0"/>
                  </a:endParaRPr>
                </a:p>
              </p:txBody>
            </p:sp>
          </p:grpSp>
          <p:sp>
            <p:nvSpPr>
              <p:cNvPr id="33827" name="Line 29"/>
              <p:cNvSpPr>
                <a:spLocks noChangeShapeType="1"/>
              </p:cNvSpPr>
              <p:nvPr/>
            </p:nvSpPr>
            <p:spPr bwMode="auto">
              <a:xfrm flipH="1" flipV="1">
                <a:off x="4896" y="2160"/>
                <a:ext cx="48" cy="9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28" name="Text Box 30"/>
              <p:cNvSpPr txBox="1">
                <a:spLocks noChangeArrowheads="1"/>
              </p:cNvSpPr>
              <p:nvPr/>
            </p:nvSpPr>
            <p:spPr bwMode="auto">
              <a:xfrm>
                <a:off x="4176" y="2544"/>
                <a:ext cx="2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i="1">
                    <a:latin typeface="Times New Roman" panose="02020603050405020304" pitchFamily="18" charset="0"/>
                  </a:rPr>
                  <a:t>M</a:t>
                </a:r>
                <a:endParaRPr lang="en-US" altLang="zh-CN" sz="1800" i="1">
                  <a:latin typeface="Times New Roman" panose="02020603050405020304" pitchFamily="18" charset="0"/>
                </a:endParaRPr>
              </a:p>
            </p:txBody>
          </p:sp>
        </p:grpSp>
        <p:sp>
          <p:nvSpPr>
            <p:cNvPr id="33824" name="Line 31"/>
            <p:cNvSpPr>
              <a:spLocks noChangeShapeType="1"/>
            </p:cNvSpPr>
            <p:nvPr/>
          </p:nvSpPr>
          <p:spPr bwMode="auto">
            <a:xfrm flipV="1">
              <a:off x="4468" y="1480"/>
              <a:ext cx="0" cy="1315"/>
            </a:xfrm>
            <a:prstGeom prst="line">
              <a:avLst/>
            </a:prstGeom>
            <a:noFill/>
            <a:ln w="9525">
              <a:solidFill>
                <a:schemeClr val="tx1"/>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3825" name="Text Box 36"/>
            <p:cNvSpPr txBox="1">
              <a:spLocks noChangeArrowheads="1"/>
            </p:cNvSpPr>
            <p:nvPr/>
          </p:nvSpPr>
          <p:spPr bwMode="auto">
            <a:xfrm>
              <a:off x="3561" y="2144"/>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i="1">
                  <a:latin typeface="Times New Roman" panose="02020603050405020304" pitchFamily="18" charset="0"/>
                </a:rPr>
                <a:t>-A</a:t>
              </a:r>
              <a:endParaRPr lang="en-US" altLang="zh-CN" sz="1800" i="1">
                <a:latin typeface="Times New Roman" panose="02020603050405020304" pitchFamily="18" charset="0"/>
              </a:endParaRPr>
            </a:p>
          </p:txBody>
        </p:sp>
      </p:grpSp>
      <p:graphicFrame>
        <p:nvGraphicFramePr>
          <p:cNvPr id="164896" name="Object 32"/>
          <p:cNvGraphicFramePr>
            <a:graphicFrameLocks noChangeAspect="1"/>
          </p:cNvGraphicFramePr>
          <p:nvPr/>
        </p:nvGraphicFramePr>
        <p:xfrm>
          <a:off x="5912619" y="2467818"/>
          <a:ext cx="685800" cy="384175"/>
        </p:xfrm>
        <a:graphic>
          <a:graphicData uri="http://schemas.openxmlformats.org/presentationml/2006/ole">
            <mc:AlternateContent xmlns:mc="http://schemas.openxmlformats.org/markup-compatibility/2006">
              <mc:Choice xmlns:v="urn:schemas-microsoft-com:vml" Requires="v">
                <p:oleObj spid="_x0000_s34106" name="Equation" r:id="rId3" imgW="316865" imgH="177800" progId="Equation.DSMT4">
                  <p:embed/>
                </p:oleObj>
              </mc:Choice>
              <mc:Fallback>
                <p:oleObj name="Equation" r:id="rId3" imgW="316865" imgH="177800" progId="Equation.DSMT4">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2619" y="2467818"/>
                        <a:ext cx="6858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897" name="Arc 33"/>
          <p:cNvSpPr/>
          <p:nvPr/>
        </p:nvSpPr>
        <p:spPr bwMode="auto">
          <a:xfrm>
            <a:off x="6992119" y="3834656"/>
            <a:ext cx="228600" cy="1524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899" name="Text Box 35"/>
          <p:cNvSpPr txBox="1">
            <a:spLocks noChangeArrowheads="1"/>
          </p:cNvSpPr>
          <p:nvPr/>
        </p:nvSpPr>
        <p:spPr bwMode="auto">
          <a:xfrm>
            <a:off x="6847657" y="2539256"/>
            <a:ext cx="576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a:solidFill>
                  <a:srgbClr val="FF0000"/>
                </a:solidFill>
              </a:rPr>
              <a:t>S</a:t>
            </a:r>
            <a:r>
              <a:rPr lang="en-US" altLang="zh-CN" sz="1800" baseline="-25000">
                <a:solidFill>
                  <a:srgbClr val="FF0000"/>
                </a:solidFill>
              </a:rPr>
              <a:t>1</a:t>
            </a:r>
            <a:endParaRPr lang="en-US" altLang="zh-CN" sz="1800">
              <a:solidFill>
                <a:srgbClr val="FF0000"/>
              </a:solidFill>
            </a:endParaRPr>
          </a:p>
        </p:txBody>
      </p:sp>
      <p:sp>
        <p:nvSpPr>
          <p:cNvPr id="164901" name="Text Box 37"/>
          <p:cNvSpPr txBox="1">
            <a:spLocks noChangeArrowheads="1"/>
          </p:cNvSpPr>
          <p:nvPr/>
        </p:nvSpPr>
        <p:spPr bwMode="auto">
          <a:xfrm>
            <a:off x="8000182" y="3644156"/>
            <a:ext cx="576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a:solidFill>
                  <a:srgbClr val="FF0000"/>
                </a:solidFill>
              </a:rPr>
              <a:t>S</a:t>
            </a:r>
            <a:r>
              <a:rPr lang="en-US" altLang="zh-CN" sz="1800" baseline="-25000">
                <a:solidFill>
                  <a:srgbClr val="FF0000"/>
                </a:solidFill>
              </a:rPr>
              <a:t>2</a:t>
            </a:r>
            <a:endParaRPr lang="en-US" altLang="zh-CN" sz="1800">
              <a:solidFill>
                <a:srgbClr val="FF0000"/>
              </a:solidFill>
            </a:endParaRPr>
          </a:p>
        </p:txBody>
      </p:sp>
      <p:sp>
        <p:nvSpPr>
          <p:cNvPr id="164902" name="Line 38"/>
          <p:cNvSpPr>
            <a:spLocks noChangeShapeType="1"/>
          </p:cNvSpPr>
          <p:nvPr/>
        </p:nvSpPr>
        <p:spPr bwMode="auto">
          <a:xfrm>
            <a:off x="6990532" y="4004518"/>
            <a:ext cx="1081087" cy="0"/>
          </a:xfrm>
          <a:prstGeom prst="line">
            <a:avLst/>
          </a:prstGeom>
          <a:noFill/>
          <a:ln w="38100">
            <a:solidFill>
              <a:srgbClr val="FF0066"/>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64904" name="Object 40"/>
          <p:cNvGraphicFramePr>
            <a:graphicFrameLocks noChangeAspect="1"/>
          </p:cNvGraphicFramePr>
          <p:nvPr/>
        </p:nvGraphicFramePr>
        <p:xfrm>
          <a:off x="1187884" y="1211214"/>
          <a:ext cx="1020762" cy="881063"/>
        </p:xfrm>
        <a:graphic>
          <a:graphicData uri="http://schemas.openxmlformats.org/presentationml/2006/ole">
            <mc:AlternateContent xmlns:mc="http://schemas.openxmlformats.org/markup-compatibility/2006">
              <mc:Choice xmlns:v="urn:schemas-microsoft-com:vml" Requires="v">
                <p:oleObj spid="_x0000_s34107" name="公式" r:id="rId5" imgW="535305" imgH="457200" progId="Equation.3">
                  <p:embed/>
                </p:oleObj>
              </mc:Choice>
              <mc:Fallback>
                <p:oleObj name="公式" r:id="rId5" imgW="535305" imgH="457200" progId="Equation.3">
                  <p:embed/>
                  <p:pic>
                    <p:nvPicPr>
                      <p:cNvPr id="0" name="Object 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884" y="1211214"/>
                        <a:ext cx="1020762"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905" name="Object 41"/>
          <p:cNvGraphicFramePr>
            <a:graphicFrameLocks noChangeAspect="1"/>
          </p:cNvGraphicFramePr>
          <p:nvPr/>
        </p:nvGraphicFramePr>
        <p:xfrm>
          <a:off x="2670609" y="1409652"/>
          <a:ext cx="935037" cy="482600"/>
        </p:xfrm>
        <a:graphic>
          <a:graphicData uri="http://schemas.openxmlformats.org/presentationml/2006/ole">
            <mc:AlternateContent xmlns:mc="http://schemas.openxmlformats.org/markup-compatibility/2006">
              <mc:Choice xmlns:v="urn:schemas-microsoft-com:vml" Requires="v">
                <p:oleObj spid="_x0000_s34108" name="公式" r:id="rId7" imgW="490855" imgH="256540" progId="Equation.3">
                  <p:embed/>
                </p:oleObj>
              </mc:Choice>
              <mc:Fallback>
                <p:oleObj name="公式" r:id="rId7" imgW="490855" imgH="256540" progId="Equation.3">
                  <p:embed/>
                  <p:pic>
                    <p:nvPicPr>
                      <p:cNvPr id="0"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70609" y="1409652"/>
                        <a:ext cx="935037"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907" name="Line 43"/>
          <p:cNvSpPr>
            <a:spLocks noChangeShapeType="1"/>
          </p:cNvSpPr>
          <p:nvPr/>
        </p:nvSpPr>
        <p:spPr bwMode="auto">
          <a:xfrm flipV="1">
            <a:off x="6992119" y="2925018"/>
            <a:ext cx="0" cy="107950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4908" name="Text Box 44"/>
          <p:cNvSpPr txBox="1">
            <a:spLocks noChangeArrowheads="1"/>
          </p:cNvSpPr>
          <p:nvPr/>
        </p:nvSpPr>
        <p:spPr bwMode="auto">
          <a:xfrm>
            <a:off x="583382" y="2132856"/>
            <a:ext cx="434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宋体" panose="02010600030101010101" pitchFamily="2" charset="-122"/>
              </a:rPr>
              <a:t>两列波在干涉</a:t>
            </a:r>
            <a:r>
              <a:rPr lang="zh-CN" altLang="en-US" b="1">
                <a:latin typeface="宋体" panose="02010600030101010101" pitchFamily="2" charset="-122"/>
              </a:rPr>
              <a:t>点的相位差</a:t>
            </a:r>
            <a:endParaRPr lang="el-GR" altLang="zh-CN" b="1">
              <a:latin typeface="宋体" panose="02010600030101010101" pitchFamily="2" charset="-122"/>
            </a:endParaRPr>
          </a:p>
        </p:txBody>
      </p:sp>
      <p:sp>
        <p:nvSpPr>
          <p:cNvPr id="33809" name="Text Box 45"/>
          <p:cNvSpPr txBox="1">
            <a:spLocks noChangeArrowheads="1"/>
          </p:cNvSpPr>
          <p:nvPr/>
        </p:nvSpPr>
        <p:spPr bwMode="auto">
          <a:xfrm>
            <a:off x="611188" y="476250"/>
            <a:ext cx="165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FF0000"/>
                </a:solidFill>
              </a:rPr>
              <a:t>解</a:t>
            </a:r>
            <a:r>
              <a:rPr kumimoji="1" lang="en-US" altLang="zh-CN" sz="2800" b="1">
                <a:solidFill>
                  <a:srgbClr val="FF0000"/>
                </a:solidFill>
              </a:rPr>
              <a:t>:</a:t>
            </a:r>
            <a:endParaRPr kumimoji="1" lang="en-US" altLang="zh-CN" sz="2800" b="1">
              <a:solidFill>
                <a:srgbClr val="FF0000"/>
              </a:solidFill>
            </a:endParaRPr>
          </a:p>
        </p:txBody>
      </p:sp>
      <p:graphicFrame>
        <p:nvGraphicFramePr>
          <p:cNvPr id="164910" name="Object 46"/>
          <p:cNvGraphicFramePr>
            <a:graphicFrameLocks noChangeAspect="1"/>
          </p:cNvGraphicFramePr>
          <p:nvPr/>
        </p:nvGraphicFramePr>
        <p:xfrm>
          <a:off x="583382" y="2604343"/>
          <a:ext cx="5011737" cy="776288"/>
        </p:xfrm>
        <a:graphic>
          <a:graphicData uri="http://schemas.openxmlformats.org/presentationml/2006/ole">
            <mc:AlternateContent xmlns:mc="http://schemas.openxmlformats.org/markup-compatibility/2006">
              <mc:Choice xmlns:v="urn:schemas-microsoft-com:vml" Requires="v">
                <p:oleObj spid="_x0000_s34109" name="Equation" r:id="rId9" imgW="2185670" imgH="345440" progId="Equation.DSMT4">
                  <p:embed/>
                </p:oleObj>
              </mc:Choice>
              <mc:Fallback>
                <p:oleObj name="Equation" r:id="rId9" imgW="2185670" imgH="345440" progId="Equation.DSMT4">
                  <p:embed/>
                  <p:pic>
                    <p:nvPicPr>
                      <p:cNvPr id="0" name="Object 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583382" y="2604343"/>
                        <a:ext cx="5011737" cy="776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911" name="Text Box 47"/>
          <p:cNvSpPr txBox="1">
            <a:spLocks noChangeArrowheads="1"/>
          </p:cNvSpPr>
          <p:nvPr/>
        </p:nvSpPr>
        <p:spPr bwMode="auto">
          <a:xfrm>
            <a:off x="583382" y="3371106"/>
            <a:ext cx="5183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rgbClr val="FF0000"/>
                </a:solidFill>
              </a:rPr>
              <a:t>(1) </a:t>
            </a:r>
            <a:r>
              <a:rPr kumimoji="1" lang="zh-CN" altLang="en-US" b="1">
                <a:solidFill>
                  <a:srgbClr val="FF0000"/>
                </a:solidFill>
              </a:rPr>
              <a:t>在</a:t>
            </a:r>
            <a:r>
              <a:rPr kumimoji="1" lang="en-US" altLang="zh-CN" b="1">
                <a:solidFill>
                  <a:srgbClr val="FF0000"/>
                </a:solidFill>
              </a:rPr>
              <a:t>S</a:t>
            </a:r>
            <a:r>
              <a:rPr kumimoji="1" lang="en-US" altLang="zh-CN" b="1" baseline="-25000">
                <a:solidFill>
                  <a:srgbClr val="FF0000"/>
                </a:solidFill>
              </a:rPr>
              <a:t>1</a:t>
            </a:r>
            <a:r>
              <a:rPr kumimoji="1" lang="zh-CN" altLang="en-US" b="1">
                <a:solidFill>
                  <a:srgbClr val="FF0000"/>
                </a:solidFill>
              </a:rPr>
              <a:t>左侧的</a:t>
            </a:r>
            <a:r>
              <a:rPr kumimoji="1" lang="en-US" altLang="zh-CN" b="1">
                <a:solidFill>
                  <a:srgbClr val="FF0000"/>
                </a:solidFill>
              </a:rPr>
              <a:t>P</a:t>
            </a:r>
            <a:r>
              <a:rPr kumimoji="1" lang="zh-CN" altLang="en-US" b="1">
                <a:solidFill>
                  <a:srgbClr val="FF0000"/>
                </a:solidFill>
              </a:rPr>
              <a:t>点，两列波的波程差</a:t>
            </a:r>
            <a:endParaRPr kumimoji="1" lang="el-GR" altLang="zh-CN" b="1">
              <a:solidFill>
                <a:srgbClr val="FF0000"/>
              </a:solidFill>
            </a:endParaRPr>
          </a:p>
        </p:txBody>
      </p:sp>
      <p:graphicFrame>
        <p:nvGraphicFramePr>
          <p:cNvPr id="164912" name="Object 48"/>
          <p:cNvGraphicFramePr>
            <a:graphicFrameLocks noChangeAspect="1"/>
          </p:cNvGraphicFramePr>
          <p:nvPr/>
        </p:nvGraphicFramePr>
        <p:xfrm>
          <a:off x="2383607" y="3828306"/>
          <a:ext cx="1871662" cy="925512"/>
        </p:xfrm>
        <a:graphic>
          <a:graphicData uri="http://schemas.openxmlformats.org/presentationml/2006/ole">
            <mc:AlternateContent xmlns:mc="http://schemas.openxmlformats.org/markup-compatibility/2006">
              <mc:Choice xmlns:v="urn:schemas-microsoft-com:vml" Requires="v">
                <p:oleObj spid="_x0000_s34110" name="Equation" r:id="rId11" imgW="680085" imgH="345440" progId="Equation.DSMT4">
                  <p:embed/>
                </p:oleObj>
              </mc:Choice>
              <mc:Fallback>
                <p:oleObj name="Equation" r:id="rId11" imgW="680085" imgH="345440" progId="Equation.DSMT4">
                  <p:embed/>
                  <p:pic>
                    <p:nvPicPr>
                      <p:cNvPr id="0" name="Object 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2383607" y="3828306"/>
                        <a:ext cx="1871662" cy="925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4913" name="Object 49"/>
          <p:cNvGraphicFramePr>
            <a:graphicFrameLocks noChangeAspect="1"/>
          </p:cNvGraphicFramePr>
          <p:nvPr/>
        </p:nvGraphicFramePr>
        <p:xfrm>
          <a:off x="799282" y="4693493"/>
          <a:ext cx="4535487" cy="1033463"/>
        </p:xfrm>
        <a:graphic>
          <a:graphicData uri="http://schemas.openxmlformats.org/presentationml/2006/ole">
            <mc:AlternateContent xmlns:mc="http://schemas.openxmlformats.org/markup-compatibility/2006">
              <mc:Choice xmlns:v="urn:schemas-microsoft-com:vml" Requires="v">
                <p:oleObj spid="_x0000_s34111" name="Equation" r:id="rId13" imgW="1483360" imgH="345440" progId="Equation.DSMT4">
                  <p:embed/>
                </p:oleObj>
              </mc:Choice>
              <mc:Fallback>
                <p:oleObj name="Equation" r:id="rId13" imgW="1483360" imgH="345440" progId="Equation.DSMT4">
                  <p:embed/>
                  <p:pic>
                    <p:nvPicPr>
                      <p:cNvPr id="0" name="Object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black">
                      <a:xfrm>
                        <a:off x="799282" y="4693493"/>
                        <a:ext cx="4535487" cy="1033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914" name="Text Box 50"/>
          <p:cNvSpPr txBox="1">
            <a:spLocks noChangeArrowheads="1"/>
          </p:cNvSpPr>
          <p:nvPr/>
        </p:nvSpPr>
        <p:spPr bwMode="auto">
          <a:xfrm>
            <a:off x="726257" y="5772993"/>
            <a:ext cx="7273925"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b="1"/>
              <a:t>满足干涉相消条件，所以在</a:t>
            </a:r>
            <a:r>
              <a:rPr kumimoji="1" lang="en-US" altLang="zh-CN" b="1"/>
              <a:t>S</a:t>
            </a:r>
            <a:r>
              <a:rPr kumimoji="1" lang="en-US" altLang="zh-CN" b="1" baseline="-25000"/>
              <a:t>1</a:t>
            </a:r>
            <a:r>
              <a:rPr kumimoji="1" lang="zh-CN" altLang="en-US" b="1"/>
              <a:t>左侧所有点合成振幅</a:t>
            </a:r>
            <a:r>
              <a:rPr kumimoji="1" lang="en-US" altLang="zh-CN" b="1"/>
              <a:t>A=0,</a:t>
            </a:r>
            <a:r>
              <a:rPr kumimoji="1" lang="zh-CN" altLang="en-US" b="1"/>
              <a:t>合成波强度为零</a:t>
            </a:r>
            <a:endParaRPr kumimoji="1" lang="zh-CN" altLang="en-US" b="1"/>
          </a:p>
        </p:txBody>
      </p:sp>
      <p:grpSp>
        <p:nvGrpSpPr>
          <p:cNvPr id="33812" name="Group 61"/>
          <p:cNvGrpSpPr/>
          <p:nvPr/>
        </p:nvGrpSpPr>
        <p:grpSpPr bwMode="auto">
          <a:xfrm>
            <a:off x="5209357" y="1300213"/>
            <a:ext cx="3527425" cy="1049337"/>
            <a:chOff x="1474" y="2977"/>
            <a:chExt cx="2812" cy="1285"/>
          </a:xfrm>
        </p:grpSpPr>
        <p:grpSp>
          <p:nvGrpSpPr>
            <p:cNvPr id="33813" name="Group 62"/>
            <p:cNvGrpSpPr/>
            <p:nvPr/>
          </p:nvGrpSpPr>
          <p:grpSpPr bwMode="auto">
            <a:xfrm>
              <a:off x="1474" y="3294"/>
              <a:ext cx="2812" cy="968"/>
              <a:chOff x="1338" y="3188"/>
              <a:chExt cx="2812" cy="968"/>
            </a:xfrm>
          </p:grpSpPr>
          <p:sp>
            <p:nvSpPr>
              <p:cNvPr id="33814" name="Oval 63"/>
              <p:cNvSpPr>
                <a:spLocks noChangeArrowheads="1"/>
              </p:cNvSpPr>
              <p:nvPr/>
            </p:nvSpPr>
            <p:spPr bwMode="auto">
              <a:xfrm>
                <a:off x="1610" y="3505"/>
                <a:ext cx="91" cy="91"/>
              </a:xfrm>
              <a:prstGeom prst="ellipse">
                <a:avLst/>
              </a:prstGeom>
              <a:solidFill>
                <a:schemeClr val="tx1"/>
              </a:solidFill>
              <a:ln w="25400">
                <a:solidFill>
                  <a:schemeClr val="tx1"/>
                </a:solidFill>
                <a:round/>
                <a:tailEnd type="none" w="med" len="lg"/>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33815" name="Oval 64"/>
              <p:cNvSpPr>
                <a:spLocks noChangeArrowheads="1"/>
              </p:cNvSpPr>
              <p:nvPr/>
            </p:nvSpPr>
            <p:spPr bwMode="auto">
              <a:xfrm>
                <a:off x="3061" y="3505"/>
                <a:ext cx="91" cy="91"/>
              </a:xfrm>
              <a:prstGeom prst="ellipse">
                <a:avLst/>
              </a:prstGeom>
              <a:solidFill>
                <a:schemeClr val="tx1"/>
              </a:solidFill>
              <a:ln w="25400">
                <a:solidFill>
                  <a:schemeClr val="tx1"/>
                </a:solidFill>
                <a:round/>
                <a:tailEnd type="none" w="med" len="lg"/>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33816" name="Line 65"/>
              <p:cNvSpPr>
                <a:spLocks noChangeShapeType="1"/>
              </p:cNvSpPr>
              <p:nvPr/>
            </p:nvSpPr>
            <p:spPr bwMode="auto">
              <a:xfrm>
                <a:off x="1338" y="3551"/>
                <a:ext cx="2449" cy="0"/>
              </a:xfrm>
              <a:prstGeom prst="line">
                <a:avLst/>
              </a:prstGeom>
              <a:noFill/>
              <a:ln w="254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17" name="Text Box 66"/>
              <p:cNvSpPr txBox="1">
                <a:spLocks noChangeArrowheads="1"/>
              </p:cNvSpPr>
              <p:nvPr/>
            </p:nvSpPr>
            <p:spPr bwMode="auto">
              <a:xfrm>
                <a:off x="1519" y="3596"/>
                <a:ext cx="363"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rPr>
                  <a:t>S</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33818" name="Text Box 67"/>
              <p:cNvSpPr txBox="1">
                <a:spLocks noChangeArrowheads="1"/>
              </p:cNvSpPr>
              <p:nvPr/>
            </p:nvSpPr>
            <p:spPr bwMode="auto">
              <a:xfrm>
                <a:off x="2971" y="3596"/>
                <a:ext cx="36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rPr>
                  <a:t>S</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33819" name="Line 68"/>
              <p:cNvSpPr>
                <a:spLocks noChangeShapeType="1"/>
              </p:cNvSpPr>
              <p:nvPr/>
            </p:nvSpPr>
            <p:spPr bwMode="auto">
              <a:xfrm flipV="1">
                <a:off x="1655" y="3188"/>
                <a:ext cx="0" cy="363"/>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3820" name="Line 69"/>
              <p:cNvSpPr>
                <a:spLocks noChangeShapeType="1"/>
              </p:cNvSpPr>
              <p:nvPr/>
            </p:nvSpPr>
            <p:spPr bwMode="auto">
              <a:xfrm flipV="1">
                <a:off x="3107" y="3188"/>
                <a:ext cx="0" cy="363"/>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3821" name="Line 70"/>
              <p:cNvSpPr>
                <a:spLocks noChangeShapeType="1"/>
              </p:cNvSpPr>
              <p:nvPr/>
            </p:nvSpPr>
            <p:spPr bwMode="auto">
              <a:xfrm>
                <a:off x="1655" y="3324"/>
                <a:ext cx="1452" cy="0"/>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3822" name="Text Box 71"/>
              <p:cNvSpPr txBox="1">
                <a:spLocks noChangeArrowheads="1"/>
              </p:cNvSpPr>
              <p:nvPr/>
            </p:nvSpPr>
            <p:spPr bwMode="auto">
              <a:xfrm>
                <a:off x="3560" y="3596"/>
                <a:ext cx="590"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rPr>
                  <a:t>x</a:t>
                </a:r>
                <a:r>
                  <a:rPr lang="en-US" altLang="zh-CN">
                    <a:latin typeface="Times New Roman" panose="02020603050405020304" pitchFamily="18" charset="0"/>
                  </a:rPr>
                  <a:t>/m</a:t>
                </a:r>
                <a:endParaRPr lang="en-US" altLang="zh-CN">
                  <a:latin typeface="Times New Roman" panose="02020603050405020304" pitchFamily="18" charset="0"/>
                </a:endParaRPr>
              </a:p>
            </p:txBody>
          </p:sp>
        </p:grpSp>
        <p:graphicFrame>
          <p:nvGraphicFramePr>
            <p:cNvPr id="33800" name="Object 72"/>
            <p:cNvGraphicFramePr>
              <a:graphicFrameLocks noChangeAspect="1"/>
            </p:cNvGraphicFramePr>
            <p:nvPr/>
          </p:nvGraphicFramePr>
          <p:xfrm>
            <a:off x="2245" y="2977"/>
            <a:ext cx="369" cy="544"/>
          </p:xfrm>
          <a:graphic>
            <a:graphicData uri="http://schemas.openxmlformats.org/presentationml/2006/ole">
              <mc:AlternateContent xmlns:mc="http://schemas.openxmlformats.org/markup-compatibility/2006">
                <mc:Choice xmlns:v="urn:schemas-microsoft-com:vml" Requires="v">
                  <p:oleObj spid="_x0000_s34112" name="公式" r:id="rId15" imgW="266700" imgH="393065" progId="Equation.3">
                    <p:embed/>
                  </p:oleObj>
                </mc:Choice>
                <mc:Fallback>
                  <p:oleObj name="公式" r:id="rId15" imgW="266700" imgH="393065" progId="Equation.3">
                    <p:embed/>
                    <p:pic>
                      <p:nvPicPr>
                        <p:cNvPr id="0" name="Object 7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45" y="2977"/>
                          <a:ext cx="369" cy="54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1" name="矩形 40"/>
          <p:cNvSpPr/>
          <p:nvPr/>
        </p:nvSpPr>
        <p:spPr>
          <a:xfrm>
            <a:off x="4077828" y="459894"/>
            <a:ext cx="4879775" cy="830997"/>
          </a:xfrm>
          <a:prstGeom prst="rect">
            <a:avLst/>
          </a:prstGeom>
        </p:spPr>
        <p:txBody>
          <a:bodyPr wrap="square">
            <a:spAutoFit/>
          </a:bodyPr>
          <a:lstStyle/>
          <a:p>
            <a:pPr algn="just"/>
            <a:r>
              <a:rPr lang="zh-CN" altLang="en-US" dirty="0">
                <a:latin typeface="黑体" panose="02010609060101010101" pitchFamily="49" charset="-122"/>
                <a:ea typeface="黑体" panose="02010609060101010101" pitchFamily="49" charset="-122"/>
              </a:rPr>
              <a:t>设</a:t>
            </a:r>
            <a:r>
              <a:rPr kumimoji="1" lang="en-US" altLang="zh-CN" i="1" dirty="0">
                <a:latin typeface="Times New Roman" panose="02020603050405020304" pitchFamily="18" charset="0"/>
              </a:rPr>
              <a:t>S</a:t>
            </a:r>
            <a:r>
              <a:rPr kumimoji="1" lang="en-US" altLang="zh-CN" baseline="-25000" dirty="0">
                <a:latin typeface="Times New Roman" panose="02020603050405020304" pitchFamily="18" charset="0"/>
              </a:rPr>
              <a:t>1</a:t>
            </a:r>
            <a:r>
              <a:rPr kumimoji="1" lang="zh-CN" altLang="en-US" dirty="0">
                <a:latin typeface="黑体" panose="02010609060101010101" pitchFamily="49" charset="-122"/>
                <a:ea typeface="黑体" panose="02010609060101010101" pitchFamily="49" charset="-122"/>
              </a:rPr>
              <a:t>经过平衡位置向负方向运动时</a:t>
            </a:r>
            <a:r>
              <a:rPr kumimoji="1" lang="en-US" altLang="zh-CN" dirty="0">
                <a:latin typeface="Times New Roman" panose="02020603050405020304" pitchFamily="18" charset="0"/>
                <a:ea typeface="黑体" panose="02010609060101010101" pitchFamily="49" charset="-122"/>
              </a:rPr>
              <a:t>, </a:t>
            </a:r>
            <a:r>
              <a:rPr kumimoji="1" lang="en-US" altLang="zh-CN" i="1" dirty="0">
                <a:latin typeface="Times New Roman" panose="02020603050405020304" pitchFamily="18" charset="0"/>
              </a:rPr>
              <a:t>S</a:t>
            </a:r>
            <a:r>
              <a:rPr kumimoji="1" lang="en-US" altLang="zh-CN" baseline="-25000" dirty="0">
                <a:latin typeface="Times New Roman" panose="02020603050405020304" pitchFamily="18" charset="0"/>
              </a:rPr>
              <a:t>2</a:t>
            </a:r>
            <a:r>
              <a:rPr kumimoji="1" lang="zh-CN" altLang="en-US" dirty="0">
                <a:latin typeface="黑体" panose="02010609060101010101" pitchFamily="49" charset="-122"/>
                <a:ea typeface="黑体" panose="02010609060101010101" pitchFamily="49" charset="-122"/>
              </a:rPr>
              <a:t>恰处在正向最远端</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4896"/>
                                        </p:tgtEl>
                                        <p:attrNameLst>
                                          <p:attrName>style.visibility</p:attrName>
                                        </p:attrNameLst>
                                      </p:cBhvr>
                                      <p:to>
                                        <p:strVal val="visible"/>
                                      </p:to>
                                    </p:set>
                                    <p:animEffect transition="in" filter="blinds(horizontal)">
                                      <p:cBhvr>
                                        <p:cTn id="12" dur="500"/>
                                        <p:tgtEl>
                                          <p:spTgt spid="16489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4899"/>
                                        </p:tgtEl>
                                        <p:attrNameLst>
                                          <p:attrName>style.visibility</p:attrName>
                                        </p:attrNameLst>
                                      </p:cBhvr>
                                      <p:to>
                                        <p:strVal val="visible"/>
                                      </p:to>
                                    </p:set>
                                    <p:animEffect transition="in" filter="blinds(horizontal)">
                                      <p:cBhvr>
                                        <p:cTn id="17" dur="500"/>
                                        <p:tgtEl>
                                          <p:spTgt spid="16489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64907"/>
                                        </p:tgtEl>
                                        <p:attrNameLst>
                                          <p:attrName>style.visibility</p:attrName>
                                        </p:attrNameLst>
                                      </p:cBhvr>
                                      <p:to>
                                        <p:strVal val="visible"/>
                                      </p:to>
                                    </p:set>
                                    <p:animEffect transition="in" filter="checkerboard(across)">
                                      <p:cBhvr>
                                        <p:cTn id="22" dur="500"/>
                                        <p:tgtEl>
                                          <p:spTgt spid="16490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4897"/>
                                        </p:tgtEl>
                                        <p:attrNameLst>
                                          <p:attrName>style.visibility</p:attrName>
                                        </p:attrNameLst>
                                      </p:cBhvr>
                                      <p:to>
                                        <p:strVal val="visible"/>
                                      </p:to>
                                    </p:set>
                                    <p:animEffect transition="in" filter="blinds(horizontal)">
                                      <p:cBhvr>
                                        <p:cTn id="27" dur="500"/>
                                        <p:tgtEl>
                                          <p:spTgt spid="16489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4904"/>
                                        </p:tgtEl>
                                        <p:attrNameLst>
                                          <p:attrName>style.visibility</p:attrName>
                                        </p:attrNameLst>
                                      </p:cBhvr>
                                      <p:to>
                                        <p:strVal val="visible"/>
                                      </p:to>
                                    </p:set>
                                    <p:animEffect transition="in" filter="blinds(horizontal)">
                                      <p:cBhvr>
                                        <p:cTn id="32" dur="500"/>
                                        <p:tgtEl>
                                          <p:spTgt spid="16490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4901"/>
                                        </p:tgtEl>
                                        <p:attrNameLst>
                                          <p:attrName>style.visibility</p:attrName>
                                        </p:attrNameLst>
                                      </p:cBhvr>
                                      <p:to>
                                        <p:strVal val="visible"/>
                                      </p:to>
                                    </p:set>
                                    <p:animEffect transition="in" filter="blinds(horizontal)">
                                      <p:cBhvr>
                                        <p:cTn id="37" dur="500"/>
                                        <p:tgtEl>
                                          <p:spTgt spid="164901"/>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164902"/>
                                        </p:tgtEl>
                                        <p:attrNameLst>
                                          <p:attrName>style.visibility</p:attrName>
                                        </p:attrNameLst>
                                      </p:cBhvr>
                                      <p:to>
                                        <p:strVal val="visible"/>
                                      </p:to>
                                    </p:set>
                                    <p:animEffect transition="in" filter="checkerboard(across)">
                                      <p:cBhvr>
                                        <p:cTn id="42" dur="500"/>
                                        <p:tgtEl>
                                          <p:spTgt spid="16490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64905"/>
                                        </p:tgtEl>
                                        <p:attrNameLst>
                                          <p:attrName>style.visibility</p:attrName>
                                        </p:attrNameLst>
                                      </p:cBhvr>
                                      <p:to>
                                        <p:strVal val="visible"/>
                                      </p:to>
                                    </p:set>
                                    <p:animEffect transition="in" filter="blinds(horizontal)">
                                      <p:cBhvr>
                                        <p:cTn id="47" dur="500"/>
                                        <p:tgtEl>
                                          <p:spTgt spid="164905"/>
                                        </p:tgtEl>
                                      </p:cBhvr>
                                    </p:animEffect>
                                  </p:childTnLst>
                                </p:cTn>
                              </p:par>
                            </p:childTnLst>
                          </p:cTn>
                        </p:par>
                      </p:childTnLst>
                    </p:cTn>
                  </p:par>
                  <p:par>
                    <p:cTn id="48" fill="hold">
                      <p:stCondLst>
                        <p:cond delay="indefinite"/>
                      </p:stCondLst>
                      <p:childTnLst>
                        <p:par>
                          <p:cTn id="49" fill="hold">
                            <p:stCondLst>
                              <p:cond delay="0"/>
                            </p:stCondLst>
                            <p:childTnLst>
                              <p:par>
                                <p:cTn id="50" presetID="27" presetClass="entr" presetSubtype="0" fill="hold" grpId="0" nodeType="clickEffect">
                                  <p:stCondLst>
                                    <p:cond delay="0"/>
                                  </p:stCondLst>
                                  <p:iterate type="lt">
                                    <p:tmPct val="50000"/>
                                  </p:iterate>
                                  <p:childTnLst>
                                    <p:set>
                                      <p:cBhvr>
                                        <p:cTn id="51" dur="1" fill="hold">
                                          <p:stCondLst>
                                            <p:cond delay="0"/>
                                          </p:stCondLst>
                                        </p:cTn>
                                        <p:tgtEl>
                                          <p:spTgt spid="164908"/>
                                        </p:tgtEl>
                                        <p:attrNameLst>
                                          <p:attrName>style.visibility</p:attrName>
                                        </p:attrNameLst>
                                      </p:cBhvr>
                                      <p:to>
                                        <p:strVal val="visible"/>
                                      </p:to>
                                    </p:set>
                                    <p:anim calcmode="discrete" valueType="clr">
                                      <p:cBhvr override="childStyle">
                                        <p:cTn id="52" dur="80"/>
                                        <p:tgtEl>
                                          <p:spTgt spid="164908"/>
                                        </p:tgtEl>
                                        <p:attrNameLst>
                                          <p:attrName>style.color</p:attrName>
                                        </p:attrNameLst>
                                      </p:cBhvr>
                                      <p:tavLst>
                                        <p:tav tm="0">
                                          <p:val>
                                            <p:clrVal>
                                              <a:schemeClr val="accent2"/>
                                            </p:clrVal>
                                          </p:val>
                                        </p:tav>
                                        <p:tav tm="50000">
                                          <p:val>
                                            <p:clrVal>
                                              <a:schemeClr val="hlink"/>
                                            </p:clrVal>
                                          </p:val>
                                        </p:tav>
                                      </p:tavLst>
                                    </p:anim>
                                    <p:anim calcmode="discrete" valueType="clr">
                                      <p:cBhvr>
                                        <p:cTn id="53" dur="80"/>
                                        <p:tgtEl>
                                          <p:spTgt spid="164908"/>
                                        </p:tgtEl>
                                        <p:attrNameLst>
                                          <p:attrName>fillcolor</p:attrName>
                                        </p:attrNameLst>
                                      </p:cBhvr>
                                      <p:tavLst>
                                        <p:tav tm="0">
                                          <p:val>
                                            <p:clrVal>
                                              <a:schemeClr val="accent2"/>
                                            </p:clrVal>
                                          </p:val>
                                        </p:tav>
                                        <p:tav tm="50000">
                                          <p:val>
                                            <p:clrVal>
                                              <a:schemeClr val="hlink"/>
                                            </p:clrVal>
                                          </p:val>
                                        </p:tav>
                                      </p:tavLst>
                                    </p:anim>
                                    <p:set>
                                      <p:cBhvr>
                                        <p:cTn id="54" dur="80"/>
                                        <p:tgtEl>
                                          <p:spTgt spid="164908"/>
                                        </p:tgtEl>
                                        <p:attrNameLst>
                                          <p:attrName>fill.type</p:attrName>
                                        </p:attrNameLst>
                                      </p:cBhvr>
                                      <p:to>
                                        <p:strVal val="solid"/>
                                      </p:to>
                                    </p:se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64910"/>
                                        </p:tgtEl>
                                        <p:attrNameLst>
                                          <p:attrName>style.visibility</p:attrName>
                                        </p:attrNameLst>
                                      </p:cBhvr>
                                      <p:to>
                                        <p:strVal val="visible"/>
                                      </p:to>
                                    </p:set>
                                    <p:animEffect transition="in" filter="blinds(horizontal)">
                                      <p:cBhvr>
                                        <p:cTn id="59" dur="500"/>
                                        <p:tgtEl>
                                          <p:spTgt spid="164910"/>
                                        </p:tgtEl>
                                      </p:cBhvr>
                                    </p:animEffect>
                                  </p:childTnLst>
                                </p:cTn>
                              </p:par>
                            </p:childTnLst>
                          </p:cTn>
                        </p:par>
                      </p:childTnLst>
                    </p:cTn>
                  </p:par>
                  <p:par>
                    <p:cTn id="60" fill="hold">
                      <p:stCondLst>
                        <p:cond delay="indefinite"/>
                      </p:stCondLst>
                      <p:childTnLst>
                        <p:par>
                          <p:cTn id="61" fill="hold">
                            <p:stCondLst>
                              <p:cond delay="0"/>
                            </p:stCondLst>
                            <p:childTnLst>
                              <p:par>
                                <p:cTn id="62" presetID="27" presetClass="entr" presetSubtype="0" fill="hold" grpId="0" nodeType="clickEffect">
                                  <p:stCondLst>
                                    <p:cond delay="0"/>
                                  </p:stCondLst>
                                  <p:iterate type="lt">
                                    <p:tmPct val="50000"/>
                                  </p:iterate>
                                  <p:childTnLst>
                                    <p:set>
                                      <p:cBhvr>
                                        <p:cTn id="63" dur="1" fill="hold">
                                          <p:stCondLst>
                                            <p:cond delay="0"/>
                                          </p:stCondLst>
                                        </p:cTn>
                                        <p:tgtEl>
                                          <p:spTgt spid="164911"/>
                                        </p:tgtEl>
                                        <p:attrNameLst>
                                          <p:attrName>style.visibility</p:attrName>
                                        </p:attrNameLst>
                                      </p:cBhvr>
                                      <p:to>
                                        <p:strVal val="visible"/>
                                      </p:to>
                                    </p:set>
                                    <p:anim calcmode="discrete" valueType="clr">
                                      <p:cBhvr override="childStyle">
                                        <p:cTn id="64" dur="80"/>
                                        <p:tgtEl>
                                          <p:spTgt spid="164911"/>
                                        </p:tgtEl>
                                        <p:attrNameLst>
                                          <p:attrName>style.color</p:attrName>
                                        </p:attrNameLst>
                                      </p:cBhvr>
                                      <p:tavLst>
                                        <p:tav tm="0">
                                          <p:val>
                                            <p:clrVal>
                                              <a:schemeClr val="accent2"/>
                                            </p:clrVal>
                                          </p:val>
                                        </p:tav>
                                        <p:tav tm="50000">
                                          <p:val>
                                            <p:clrVal>
                                              <a:schemeClr val="hlink"/>
                                            </p:clrVal>
                                          </p:val>
                                        </p:tav>
                                      </p:tavLst>
                                    </p:anim>
                                    <p:anim calcmode="discrete" valueType="clr">
                                      <p:cBhvr>
                                        <p:cTn id="65" dur="80"/>
                                        <p:tgtEl>
                                          <p:spTgt spid="164911"/>
                                        </p:tgtEl>
                                        <p:attrNameLst>
                                          <p:attrName>fillcolor</p:attrName>
                                        </p:attrNameLst>
                                      </p:cBhvr>
                                      <p:tavLst>
                                        <p:tav tm="0">
                                          <p:val>
                                            <p:clrVal>
                                              <a:schemeClr val="accent2"/>
                                            </p:clrVal>
                                          </p:val>
                                        </p:tav>
                                        <p:tav tm="50000">
                                          <p:val>
                                            <p:clrVal>
                                              <a:schemeClr val="hlink"/>
                                            </p:clrVal>
                                          </p:val>
                                        </p:tav>
                                      </p:tavLst>
                                    </p:anim>
                                    <p:set>
                                      <p:cBhvr>
                                        <p:cTn id="66" dur="80"/>
                                        <p:tgtEl>
                                          <p:spTgt spid="164911"/>
                                        </p:tgtEl>
                                        <p:attrNameLst>
                                          <p:attrName>fill.type</p:attrName>
                                        </p:attrNameLst>
                                      </p:cBhvr>
                                      <p:to>
                                        <p:strVal val="solid"/>
                                      </p:to>
                                    </p:se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164912"/>
                                        </p:tgtEl>
                                        <p:attrNameLst>
                                          <p:attrName>style.visibility</p:attrName>
                                        </p:attrNameLst>
                                      </p:cBhvr>
                                      <p:to>
                                        <p:strVal val="visible"/>
                                      </p:to>
                                    </p:set>
                                    <p:animEffect transition="in" filter="blinds(horizontal)">
                                      <p:cBhvr>
                                        <p:cTn id="71" dur="500"/>
                                        <p:tgtEl>
                                          <p:spTgt spid="164912"/>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164913"/>
                                        </p:tgtEl>
                                        <p:attrNameLst>
                                          <p:attrName>style.visibility</p:attrName>
                                        </p:attrNameLst>
                                      </p:cBhvr>
                                      <p:to>
                                        <p:strVal val="visible"/>
                                      </p:to>
                                    </p:set>
                                    <p:animEffect transition="in" filter="blinds(horizontal)">
                                      <p:cBhvr>
                                        <p:cTn id="76" dur="500"/>
                                        <p:tgtEl>
                                          <p:spTgt spid="164913"/>
                                        </p:tgtEl>
                                      </p:cBhvr>
                                    </p:animEffect>
                                  </p:childTnLst>
                                </p:cTn>
                              </p:par>
                            </p:childTnLst>
                          </p:cTn>
                        </p:par>
                      </p:childTnLst>
                    </p:cTn>
                  </p:par>
                  <p:par>
                    <p:cTn id="77" fill="hold">
                      <p:stCondLst>
                        <p:cond delay="indefinite"/>
                      </p:stCondLst>
                      <p:childTnLst>
                        <p:par>
                          <p:cTn id="78" fill="hold">
                            <p:stCondLst>
                              <p:cond delay="0"/>
                            </p:stCondLst>
                            <p:childTnLst>
                              <p:par>
                                <p:cTn id="79" presetID="27" presetClass="entr" presetSubtype="0" fill="hold" grpId="0" nodeType="clickEffect">
                                  <p:stCondLst>
                                    <p:cond delay="0"/>
                                  </p:stCondLst>
                                  <p:iterate type="lt">
                                    <p:tmPct val="50000"/>
                                  </p:iterate>
                                  <p:childTnLst>
                                    <p:set>
                                      <p:cBhvr>
                                        <p:cTn id="80" dur="1" fill="hold">
                                          <p:stCondLst>
                                            <p:cond delay="0"/>
                                          </p:stCondLst>
                                        </p:cTn>
                                        <p:tgtEl>
                                          <p:spTgt spid="164914"/>
                                        </p:tgtEl>
                                        <p:attrNameLst>
                                          <p:attrName>style.visibility</p:attrName>
                                        </p:attrNameLst>
                                      </p:cBhvr>
                                      <p:to>
                                        <p:strVal val="visible"/>
                                      </p:to>
                                    </p:set>
                                    <p:anim calcmode="discrete" valueType="clr">
                                      <p:cBhvr override="childStyle">
                                        <p:cTn id="81" dur="80"/>
                                        <p:tgtEl>
                                          <p:spTgt spid="164914"/>
                                        </p:tgtEl>
                                        <p:attrNameLst>
                                          <p:attrName>style.color</p:attrName>
                                        </p:attrNameLst>
                                      </p:cBhvr>
                                      <p:tavLst>
                                        <p:tav tm="0">
                                          <p:val>
                                            <p:clrVal>
                                              <a:schemeClr val="accent2"/>
                                            </p:clrVal>
                                          </p:val>
                                        </p:tav>
                                        <p:tav tm="50000">
                                          <p:val>
                                            <p:clrVal>
                                              <a:schemeClr val="hlink"/>
                                            </p:clrVal>
                                          </p:val>
                                        </p:tav>
                                      </p:tavLst>
                                    </p:anim>
                                    <p:anim calcmode="discrete" valueType="clr">
                                      <p:cBhvr>
                                        <p:cTn id="82" dur="80"/>
                                        <p:tgtEl>
                                          <p:spTgt spid="164914"/>
                                        </p:tgtEl>
                                        <p:attrNameLst>
                                          <p:attrName>fillcolor</p:attrName>
                                        </p:attrNameLst>
                                      </p:cBhvr>
                                      <p:tavLst>
                                        <p:tav tm="0">
                                          <p:val>
                                            <p:clrVal>
                                              <a:schemeClr val="accent2"/>
                                            </p:clrVal>
                                          </p:val>
                                        </p:tav>
                                        <p:tav tm="50000">
                                          <p:val>
                                            <p:clrVal>
                                              <a:schemeClr val="hlink"/>
                                            </p:clrVal>
                                          </p:val>
                                        </p:tav>
                                      </p:tavLst>
                                    </p:anim>
                                    <p:set>
                                      <p:cBhvr>
                                        <p:cTn id="83" dur="80"/>
                                        <p:tgtEl>
                                          <p:spTgt spid="16491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99" grpId="0"/>
      <p:bldP spid="164901" grpId="0"/>
      <p:bldP spid="164908" grpId="0"/>
      <p:bldP spid="164911" grpId="0"/>
      <p:bldP spid="1649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2" name="Text Box 4"/>
          <p:cNvSpPr txBox="1">
            <a:spLocks noChangeArrowheads="1"/>
          </p:cNvSpPr>
          <p:nvPr/>
        </p:nvSpPr>
        <p:spPr bwMode="auto">
          <a:xfrm>
            <a:off x="755650" y="404813"/>
            <a:ext cx="5183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rgbClr val="FF0000"/>
                </a:solidFill>
              </a:rPr>
              <a:t>(2) </a:t>
            </a:r>
            <a:r>
              <a:rPr kumimoji="1" lang="zh-CN" altLang="en-US" b="1">
                <a:solidFill>
                  <a:srgbClr val="FF0000"/>
                </a:solidFill>
              </a:rPr>
              <a:t>在</a:t>
            </a:r>
            <a:r>
              <a:rPr kumimoji="1" lang="en-US" altLang="zh-CN" b="1">
                <a:solidFill>
                  <a:srgbClr val="FF0000"/>
                </a:solidFill>
              </a:rPr>
              <a:t>S</a:t>
            </a:r>
            <a:r>
              <a:rPr kumimoji="1" lang="en-US" altLang="zh-CN" b="1" baseline="-25000">
                <a:solidFill>
                  <a:srgbClr val="FF0000"/>
                </a:solidFill>
              </a:rPr>
              <a:t>2</a:t>
            </a:r>
            <a:r>
              <a:rPr kumimoji="1" lang="zh-CN" altLang="en-US" b="1">
                <a:solidFill>
                  <a:srgbClr val="FF0000"/>
                </a:solidFill>
              </a:rPr>
              <a:t>右侧的</a:t>
            </a:r>
            <a:r>
              <a:rPr kumimoji="1" lang="en-US" altLang="zh-CN" b="1">
                <a:solidFill>
                  <a:srgbClr val="FF0000"/>
                </a:solidFill>
              </a:rPr>
              <a:t>P</a:t>
            </a:r>
            <a:r>
              <a:rPr kumimoji="1" lang="zh-CN" altLang="en-US" b="1">
                <a:solidFill>
                  <a:srgbClr val="FF0000"/>
                </a:solidFill>
              </a:rPr>
              <a:t>点，两列波的波程差</a:t>
            </a:r>
            <a:endParaRPr kumimoji="1" lang="el-GR" altLang="zh-CN" b="1">
              <a:solidFill>
                <a:srgbClr val="FF0000"/>
              </a:solidFill>
            </a:endParaRPr>
          </a:p>
        </p:txBody>
      </p:sp>
      <p:graphicFrame>
        <p:nvGraphicFramePr>
          <p:cNvPr id="165893" name="Object 5"/>
          <p:cNvGraphicFramePr>
            <a:graphicFrameLocks noChangeAspect="1"/>
          </p:cNvGraphicFramePr>
          <p:nvPr/>
        </p:nvGraphicFramePr>
        <p:xfrm>
          <a:off x="5867400" y="188913"/>
          <a:ext cx="1598613" cy="839787"/>
        </p:xfrm>
        <a:graphic>
          <a:graphicData uri="http://schemas.openxmlformats.org/presentationml/2006/ole">
            <mc:AlternateContent xmlns:mc="http://schemas.openxmlformats.org/markup-compatibility/2006">
              <mc:Choice xmlns:v="urn:schemas-microsoft-com:vml" Requires="v">
                <p:oleObj spid="_x0000_s35141" name="公式" r:id="rId1" imgW="748665" imgH="393700" progId="Equation.3">
                  <p:embed/>
                </p:oleObj>
              </mc:Choice>
              <mc:Fallback>
                <p:oleObj name="公式" r:id="rId1" imgW="748665" imgH="3937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188913"/>
                        <a:ext cx="1598613" cy="839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5894" name="Object 6"/>
          <p:cNvGraphicFramePr>
            <a:graphicFrameLocks noChangeAspect="1"/>
          </p:cNvGraphicFramePr>
          <p:nvPr/>
        </p:nvGraphicFramePr>
        <p:xfrm>
          <a:off x="1979613" y="836613"/>
          <a:ext cx="4321175" cy="984250"/>
        </p:xfrm>
        <a:graphic>
          <a:graphicData uri="http://schemas.openxmlformats.org/presentationml/2006/ole">
            <mc:AlternateContent xmlns:mc="http://schemas.openxmlformats.org/markup-compatibility/2006">
              <mc:Choice xmlns:v="urn:schemas-microsoft-com:vml" Requires="v">
                <p:oleObj spid="_x0000_s35142" name="Equation" r:id="rId3" imgW="1483360" imgH="345440" progId="Equation.DSMT4">
                  <p:embed/>
                </p:oleObj>
              </mc:Choice>
              <mc:Fallback>
                <p:oleObj name="Equation" r:id="rId3" imgW="1483360" imgH="34544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1979613" y="836613"/>
                        <a:ext cx="4321175" cy="984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5895" name="Text Box 7"/>
          <p:cNvSpPr txBox="1">
            <a:spLocks noChangeArrowheads="1"/>
          </p:cNvSpPr>
          <p:nvPr/>
        </p:nvSpPr>
        <p:spPr bwMode="auto">
          <a:xfrm>
            <a:off x="900113" y="1700213"/>
            <a:ext cx="727392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b="1"/>
              <a:t>满足干涉加强条件，所以在</a:t>
            </a:r>
            <a:r>
              <a:rPr kumimoji="1" lang="en-US" altLang="zh-CN" b="1"/>
              <a:t>S</a:t>
            </a:r>
            <a:r>
              <a:rPr kumimoji="1" lang="en-US" altLang="zh-CN" b="1" baseline="-25000"/>
              <a:t>2</a:t>
            </a:r>
            <a:r>
              <a:rPr kumimoji="1" lang="zh-CN" altLang="en-US" b="1"/>
              <a:t>右侧所有点合成振幅</a:t>
            </a:r>
            <a:r>
              <a:rPr kumimoji="1" lang="en-US" altLang="zh-CN" b="1"/>
              <a:t>A=2A,</a:t>
            </a:r>
            <a:r>
              <a:rPr kumimoji="1" lang="zh-CN" altLang="en-US" b="1"/>
              <a:t>合成波强度为</a:t>
            </a:r>
            <a:r>
              <a:rPr kumimoji="1" lang="en-US" altLang="zh-CN" b="1"/>
              <a:t>4</a:t>
            </a:r>
            <a:r>
              <a:rPr kumimoji="1" lang="en-US" altLang="zh-CN" b="1" i="1">
                <a:latin typeface="Times New Roman" panose="02020603050405020304" pitchFamily="18" charset="0"/>
              </a:rPr>
              <a:t>I</a:t>
            </a:r>
            <a:r>
              <a:rPr kumimoji="1" lang="en-US" altLang="zh-CN" b="1" baseline="-25000"/>
              <a:t>0</a:t>
            </a:r>
            <a:endParaRPr kumimoji="1" lang="en-US" altLang="zh-CN" b="1"/>
          </a:p>
        </p:txBody>
      </p:sp>
      <p:sp>
        <p:nvSpPr>
          <p:cNvPr id="165896" name="Text Box 8"/>
          <p:cNvSpPr txBox="1">
            <a:spLocks noChangeArrowheads="1"/>
          </p:cNvSpPr>
          <p:nvPr/>
        </p:nvSpPr>
        <p:spPr bwMode="auto">
          <a:xfrm>
            <a:off x="611188" y="2781300"/>
            <a:ext cx="7705725"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marL="457200" indent="-4572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10000"/>
              </a:lnSpc>
            </a:pPr>
            <a:r>
              <a:rPr kumimoji="1" lang="en-US" altLang="zh-CN" b="1">
                <a:solidFill>
                  <a:srgbClr val="FF0000"/>
                </a:solidFill>
                <a:latin typeface="Times New Roman" panose="02020603050405020304" pitchFamily="18" charset="0"/>
              </a:rPr>
              <a:t>(3) </a:t>
            </a:r>
            <a:r>
              <a:rPr kumimoji="1" lang="zh-CN" altLang="en-US" b="1">
                <a:solidFill>
                  <a:srgbClr val="FF0000"/>
                </a:solidFill>
                <a:latin typeface="Times New Roman" panose="02020603050405020304" pitchFamily="18" charset="0"/>
              </a:rPr>
              <a:t>在</a:t>
            </a:r>
            <a:r>
              <a:rPr kumimoji="1" lang="en-US" altLang="zh-CN" b="1">
                <a:solidFill>
                  <a:srgbClr val="FF0000"/>
                </a:solidFill>
                <a:latin typeface="Times New Roman" panose="02020603050405020304" pitchFamily="18" charset="0"/>
              </a:rPr>
              <a:t>S</a:t>
            </a:r>
            <a:r>
              <a:rPr kumimoji="1" lang="en-US" altLang="zh-CN" b="1" baseline="-25000">
                <a:solidFill>
                  <a:srgbClr val="FF0000"/>
                </a:solidFill>
                <a:latin typeface="Times New Roman" panose="02020603050405020304" pitchFamily="18" charset="0"/>
              </a:rPr>
              <a:t>1</a:t>
            </a:r>
            <a:r>
              <a:rPr kumimoji="1" lang="zh-CN" altLang="en-US" b="1">
                <a:solidFill>
                  <a:srgbClr val="FF0000"/>
                </a:solidFill>
                <a:latin typeface="Times New Roman" panose="02020603050405020304" pitchFamily="18" charset="0"/>
              </a:rPr>
              <a:t>、</a:t>
            </a:r>
            <a:r>
              <a:rPr kumimoji="1" lang="en-US" altLang="zh-CN" b="1">
                <a:solidFill>
                  <a:srgbClr val="FF0000"/>
                </a:solidFill>
                <a:latin typeface="Times New Roman" panose="02020603050405020304" pitchFamily="18" charset="0"/>
              </a:rPr>
              <a:t>S</a:t>
            </a:r>
            <a:r>
              <a:rPr kumimoji="1" lang="en-US" altLang="zh-CN" b="1" baseline="-25000">
                <a:solidFill>
                  <a:srgbClr val="FF0000"/>
                </a:solidFill>
                <a:latin typeface="Times New Roman" panose="02020603050405020304" pitchFamily="18" charset="0"/>
              </a:rPr>
              <a:t>2</a:t>
            </a:r>
            <a:r>
              <a:rPr kumimoji="1" lang="zh-CN" altLang="en-US" b="1">
                <a:solidFill>
                  <a:srgbClr val="FF0000"/>
                </a:solidFill>
                <a:latin typeface="Times New Roman" panose="02020603050405020304" pitchFamily="18" charset="0"/>
              </a:rPr>
              <a:t>之间，两列波沿相反方向到达干涉点，设</a:t>
            </a:r>
            <a:endParaRPr kumimoji="1" lang="zh-CN" altLang="en-US" b="1">
              <a:solidFill>
                <a:srgbClr val="FF0000"/>
              </a:solidFill>
              <a:latin typeface="Times New Roman" panose="02020603050405020304" pitchFamily="18" charset="0"/>
            </a:endParaRPr>
          </a:p>
          <a:p>
            <a:pPr eaLnBrk="1" hangingPunct="1">
              <a:lnSpc>
                <a:spcPct val="110000"/>
              </a:lnSpc>
            </a:pPr>
            <a:r>
              <a:rPr kumimoji="1" lang="zh-CN" altLang="en-US" b="1">
                <a:solidFill>
                  <a:srgbClr val="FF0000"/>
                </a:solidFill>
                <a:latin typeface="Times New Roman" panose="02020603050405020304" pitchFamily="18" charset="0"/>
              </a:rPr>
              <a:t>      任意干涉点到</a:t>
            </a:r>
            <a:r>
              <a:rPr kumimoji="1" lang="en-US" altLang="zh-CN" b="1">
                <a:solidFill>
                  <a:srgbClr val="FF0000"/>
                </a:solidFill>
                <a:latin typeface="Times New Roman" panose="02020603050405020304" pitchFamily="18" charset="0"/>
              </a:rPr>
              <a:t>S</a:t>
            </a:r>
            <a:r>
              <a:rPr kumimoji="1" lang="en-US" altLang="zh-CN" b="1" baseline="-25000">
                <a:solidFill>
                  <a:srgbClr val="FF0000"/>
                </a:solidFill>
                <a:latin typeface="Times New Roman" panose="02020603050405020304" pitchFamily="18" charset="0"/>
              </a:rPr>
              <a:t>1</a:t>
            </a:r>
            <a:r>
              <a:rPr kumimoji="1" lang="zh-CN" altLang="en-US" b="1">
                <a:solidFill>
                  <a:srgbClr val="FF0000"/>
                </a:solidFill>
                <a:latin typeface="Times New Roman" panose="02020603050405020304" pitchFamily="18" charset="0"/>
              </a:rPr>
              <a:t>的距离为</a:t>
            </a:r>
            <a:r>
              <a:rPr kumimoji="1" lang="en-US" altLang="zh-CN" b="1" i="1">
                <a:solidFill>
                  <a:srgbClr val="FF0000"/>
                </a:solidFill>
                <a:latin typeface="Times New Roman" panose="02020603050405020304" pitchFamily="18" charset="0"/>
              </a:rPr>
              <a:t>x</a:t>
            </a:r>
            <a:r>
              <a:rPr kumimoji="1" lang="zh-CN" altLang="en-US" b="1">
                <a:solidFill>
                  <a:srgbClr val="FF0000"/>
                </a:solidFill>
                <a:latin typeface="Times New Roman" panose="02020603050405020304" pitchFamily="18" charset="0"/>
              </a:rPr>
              <a:t>，则</a:t>
            </a:r>
            <a:r>
              <a:rPr kumimoji="1" lang="en-US" altLang="zh-CN" i="1">
                <a:solidFill>
                  <a:srgbClr val="FF0000"/>
                </a:solidFill>
                <a:latin typeface="Times New Roman" panose="02020603050405020304" pitchFamily="18" charset="0"/>
              </a:rPr>
              <a:t>r</a:t>
            </a:r>
            <a:r>
              <a:rPr kumimoji="1" lang="en-US" altLang="zh-CN" baseline="-25000">
                <a:solidFill>
                  <a:srgbClr val="FF0000"/>
                </a:solidFill>
                <a:latin typeface="Times New Roman" panose="02020603050405020304" pitchFamily="18" charset="0"/>
              </a:rPr>
              <a:t>1</a:t>
            </a:r>
            <a:r>
              <a:rPr kumimoji="1" lang="en-US" altLang="zh-CN">
                <a:solidFill>
                  <a:srgbClr val="FF0000"/>
                </a:solidFill>
                <a:latin typeface="Times New Roman" panose="02020603050405020304" pitchFamily="18" charset="0"/>
              </a:rPr>
              <a:t>=</a:t>
            </a:r>
            <a:r>
              <a:rPr kumimoji="1" lang="en-US" altLang="zh-CN" i="1">
                <a:solidFill>
                  <a:srgbClr val="FF0000"/>
                </a:solidFill>
                <a:latin typeface="Times New Roman" panose="02020603050405020304" pitchFamily="18" charset="0"/>
              </a:rPr>
              <a:t>x</a:t>
            </a:r>
            <a:r>
              <a:rPr kumimoji="1" lang="zh-CN" altLang="en-US">
                <a:solidFill>
                  <a:srgbClr val="FF0000"/>
                </a:solidFill>
                <a:latin typeface="Times New Roman" panose="02020603050405020304" pitchFamily="18" charset="0"/>
              </a:rPr>
              <a:t>，</a:t>
            </a:r>
            <a:r>
              <a:rPr kumimoji="1" lang="en-US" altLang="zh-CN" i="1">
                <a:solidFill>
                  <a:srgbClr val="FF0000"/>
                </a:solidFill>
                <a:latin typeface="Times New Roman" panose="02020603050405020304" pitchFamily="18" charset="0"/>
              </a:rPr>
              <a:t>r</a:t>
            </a:r>
            <a:r>
              <a:rPr kumimoji="1" lang="en-US" altLang="zh-CN" baseline="-25000">
                <a:solidFill>
                  <a:srgbClr val="FF0000"/>
                </a:solidFill>
                <a:latin typeface="Times New Roman" panose="02020603050405020304" pitchFamily="18" charset="0"/>
              </a:rPr>
              <a:t>2</a:t>
            </a:r>
            <a:r>
              <a:rPr kumimoji="1" lang="en-US" altLang="zh-CN">
                <a:solidFill>
                  <a:srgbClr val="FF0000"/>
                </a:solidFill>
                <a:latin typeface="Times New Roman" panose="02020603050405020304" pitchFamily="18" charset="0"/>
              </a:rPr>
              <a:t>=5</a:t>
            </a:r>
            <a:r>
              <a:rPr kumimoji="1" lang="el-GR" altLang="zh-CN" i="1">
                <a:solidFill>
                  <a:srgbClr val="FF0000"/>
                </a:solidFill>
                <a:latin typeface="Times New Roman" panose="02020603050405020304" pitchFamily="18" charset="0"/>
              </a:rPr>
              <a:t>λ</a:t>
            </a:r>
            <a:r>
              <a:rPr kumimoji="1" lang="en-US" altLang="zh-CN">
                <a:solidFill>
                  <a:srgbClr val="FF0000"/>
                </a:solidFill>
                <a:latin typeface="Times New Roman" panose="02020603050405020304" pitchFamily="18" charset="0"/>
              </a:rPr>
              <a:t>/4-</a:t>
            </a:r>
            <a:r>
              <a:rPr kumimoji="1" lang="en-US" altLang="zh-CN" i="1">
                <a:solidFill>
                  <a:srgbClr val="FF0000"/>
                </a:solidFill>
                <a:latin typeface="Times New Roman" panose="02020603050405020304" pitchFamily="18" charset="0"/>
              </a:rPr>
              <a:t>x</a:t>
            </a:r>
            <a:r>
              <a:rPr kumimoji="1" lang="zh-CN" altLang="en-US" b="1">
                <a:solidFill>
                  <a:srgbClr val="FF0000"/>
                </a:solidFill>
                <a:latin typeface="Times New Roman" panose="02020603050405020304" pitchFamily="18" charset="0"/>
              </a:rPr>
              <a:t>，</a:t>
            </a:r>
            <a:endParaRPr kumimoji="1" lang="zh-CN" altLang="en-US" b="1">
              <a:solidFill>
                <a:srgbClr val="FF0000"/>
              </a:solidFill>
              <a:latin typeface="Times New Roman" panose="02020603050405020304" pitchFamily="18" charset="0"/>
            </a:endParaRPr>
          </a:p>
        </p:txBody>
      </p:sp>
      <p:graphicFrame>
        <p:nvGraphicFramePr>
          <p:cNvPr id="165897" name="Object 9"/>
          <p:cNvGraphicFramePr>
            <a:graphicFrameLocks noChangeAspect="1"/>
          </p:cNvGraphicFramePr>
          <p:nvPr/>
        </p:nvGraphicFramePr>
        <p:xfrm>
          <a:off x="611188" y="3717925"/>
          <a:ext cx="2089150" cy="849313"/>
        </p:xfrm>
        <a:graphic>
          <a:graphicData uri="http://schemas.openxmlformats.org/presentationml/2006/ole">
            <mc:AlternateContent xmlns:mc="http://schemas.openxmlformats.org/markup-compatibility/2006">
              <mc:Choice xmlns:v="urn:schemas-microsoft-com:vml" Requires="v">
                <p:oleObj spid="_x0000_s35143" name="Equation" r:id="rId5" imgW="836295" imgH="345440" progId="Equation.DSMT4">
                  <p:embed/>
                </p:oleObj>
              </mc:Choice>
              <mc:Fallback>
                <p:oleObj name="Equation" r:id="rId5" imgW="836295" imgH="34544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611188" y="3717925"/>
                        <a:ext cx="2089150" cy="849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5898" name="Object 10"/>
          <p:cNvGraphicFramePr>
            <a:graphicFrameLocks noChangeAspect="1"/>
          </p:cNvGraphicFramePr>
          <p:nvPr/>
        </p:nvGraphicFramePr>
        <p:xfrm>
          <a:off x="3203575" y="3717925"/>
          <a:ext cx="4929188" cy="849313"/>
        </p:xfrm>
        <a:graphic>
          <a:graphicData uri="http://schemas.openxmlformats.org/presentationml/2006/ole">
            <mc:AlternateContent xmlns:mc="http://schemas.openxmlformats.org/markup-compatibility/2006">
              <mc:Choice xmlns:v="urn:schemas-microsoft-com:vml" Requires="v">
                <p:oleObj spid="_x0000_s35144" name="Equation" r:id="rId7" imgW="1962785" imgH="345440" progId="Equation.DSMT4">
                  <p:embed/>
                </p:oleObj>
              </mc:Choice>
              <mc:Fallback>
                <p:oleObj name="Equation" r:id="rId7" imgW="1962785" imgH="34544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3203575" y="3717925"/>
                        <a:ext cx="4929188" cy="849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5899" name="Object 11"/>
          <p:cNvGraphicFramePr>
            <a:graphicFrameLocks noChangeAspect="1"/>
          </p:cNvGraphicFramePr>
          <p:nvPr/>
        </p:nvGraphicFramePr>
        <p:xfrm>
          <a:off x="2916238" y="4508500"/>
          <a:ext cx="5240337" cy="865188"/>
        </p:xfrm>
        <a:graphic>
          <a:graphicData uri="http://schemas.openxmlformats.org/presentationml/2006/ole">
            <mc:AlternateContent xmlns:mc="http://schemas.openxmlformats.org/markup-compatibility/2006">
              <mc:Choice xmlns:v="urn:schemas-microsoft-com:vml" Requires="v">
                <p:oleObj spid="_x0000_s35145" name="Equation" r:id="rId9" imgW="2051685" imgH="345440" progId="Equation.DSMT4">
                  <p:embed/>
                </p:oleObj>
              </mc:Choice>
              <mc:Fallback>
                <p:oleObj name="Equation" r:id="rId9" imgW="2051685" imgH="34544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2916238" y="4508500"/>
                        <a:ext cx="5240337" cy="865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5900" name="Object 12"/>
          <p:cNvGraphicFramePr>
            <a:graphicFrameLocks noChangeAspect="1"/>
          </p:cNvGraphicFramePr>
          <p:nvPr/>
        </p:nvGraphicFramePr>
        <p:xfrm>
          <a:off x="1116013" y="5157788"/>
          <a:ext cx="1655762" cy="877887"/>
        </p:xfrm>
        <a:graphic>
          <a:graphicData uri="http://schemas.openxmlformats.org/presentationml/2006/ole">
            <mc:AlternateContent xmlns:mc="http://schemas.openxmlformats.org/markup-compatibility/2006">
              <mc:Choice xmlns:v="urn:schemas-microsoft-com:vml" Requires="v">
                <p:oleObj spid="_x0000_s35146" name="Equation" r:id="rId11" imgW="635635" imgH="345440" progId="Equation.DSMT4">
                  <p:embed/>
                </p:oleObj>
              </mc:Choice>
              <mc:Fallback>
                <p:oleObj name="Equation" r:id="rId11" imgW="635635" imgH="34544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1116013" y="5157788"/>
                        <a:ext cx="1655762" cy="877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5901" name="Text Box 13"/>
          <p:cNvSpPr txBox="1">
            <a:spLocks noChangeArrowheads="1"/>
          </p:cNvSpPr>
          <p:nvPr/>
        </p:nvSpPr>
        <p:spPr bwMode="auto">
          <a:xfrm>
            <a:off x="611188" y="4652963"/>
            <a:ext cx="2665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solidFill>
                  <a:srgbClr val="FF0000"/>
                </a:solidFill>
              </a:rPr>
              <a:t>在干涉静止点：</a:t>
            </a:r>
            <a:endParaRPr kumimoji="1" lang="zh-CN" altLang="el-GR" b="1">
              <a:solidFill>
                <a:srgbClr val="FF0000"/>
              </a:solidFill>
            </a:endParaRPr>
          </a:p>
        </p:txBody>
      </p:sp>
      <p:graphicFrame>
        <p:nvGraphicFramePr>
          <p:cNvPr id="165902" name="Object 14"/>
          <p:cNvGraphicFramePr>
            <a:graphicFrameLocks noChangeAspect="1"/>
          </p:cNvGraphicFramePr>
          <p:nvPr/>
        </p:nvGraphicFramePr>
        <p:xfrm>
          <a:off x="1403350" y="6021388"/>
          <a:ext cx="1223963" cy="665162"/>
        </p:xfrm>
        <a:graphic>
          <a:graphicData uri="http://schemas.openxmlformats.org/presentationml/2006/ole">
            <mc:AlternateContent xmlns:mc="http://schemas.openxmlformats.org/markup-compatibility/2006">
              <mc:Choice xmlns:v="urn:schemas-microsoft-com:vml" Requires="v">
                <p:oleObj spid="_x0000_s35147" name="公式" r:id="rId13" imgW="723900" imgH="393700" progId="Equation.3">
                  <p:embed/>
                </p:oleObj>
              </mc:Choice>
              <mc:Fallback>
                <p:oleObj name="公式" r:id="rId13" imgW="723900" imgH="39370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03350" y="6021388"/>
                        <a:ext cx="1223963" cy="665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7"/>
          <p:cNvGrpSpPr/>
          <p:nvPr/>
        </p:nvGrpSpPr>
        <p:grpSpPr bwMode="auto">
          <a:xfrm>
            <a:off x="2843213" y="5376863"/>
            <a:ext cx="2830512" cy="1220787"/>
            <a:chOff x="1791" y="3387"/>
            <a:chExt cx="1783" cy="769"/>
          </a:xfrm>
        </p:grpSpPr>
        <p:sp>
          <p:nvSpPr>
            <p:cNvPr id="34843" name="AutoShape 15"/>
            <p:cNvSpPr/>
            <p:nvPr/>
          </p:nvSpPr>
          <p:spPr bwMode="auto">
            <a:xfrm>
              <a:off x="1791" y="3475"/>
              <a:ext cx="136" cy="681"/>
            </a:xfrm>
            <a:prstGeom prst="rightBrace">
              <a:avLst>
                <a:gd name="adj1" fmla="val 41728"/>
                <a:gd name="adj2" fmla="val 50000"/>
              </a:avLst>
            </a:prstGeom>
            <a:noFill/>
            <a:ln w="25400">
              <a:solidFill>
                <a:schemeClr val="tx1"/>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0000FF"/>
                </a:solidFill>
              </a:endParaRPr>
            </a:p>
          </p:txBody>
        </p:sp>
        <p:graphicFrame>
          <p:nvGraphicFramePr>
            <p:cNvPr id="34826" name="Object 16"/>
            <p:cNvGraphicFramePr>
              <a:graphicFrameLocks noChangeAspect="1"/>
            </p:cNvGraphicFramePr>
            <p:nvPr/>
          </p:nvGraphicFramePr>
          <p:xfrm>
            <a:off x="1961" y="3387"/>
            <a:ext cx="1613" cy="769"/>
          </p:xfrm>
          <a:graphic>
            <a:graphicData uri="http://schemas.openxmlformats.org/presentationml/2006/ole">
              <mc:AlternateContent xmlns:mc="http://schemas.openxmlformats.org/markup-compatibility/2006">
                <mc:Choice xmlns:v="urn:schemas-microsoft-com:vml" Requires="v">
                  <p:oleObj spid="_x0000_s35148" name="公式" r:id="rId15" imgW="825500" imgH="393700" progId="Equation.3">
                    <p:embed/>
                  </p:oleObj>
                </mc:Choice>
                <mc:Fallback>
                  <p:oleObj name="公式" r:id="rId15" imgW="825500" imgH="39370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61" y="3387"/>
                          <a:ext cx="1613" cy="7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4832" name="Group 18"/>
          <p:cNvGrpSpPr/>
          <p:nvPr/>
        </p:nvGrpSpPr>
        <p:grpSpPr bwMode="auto">
          <a:xfrm>
            <a:off x="5580063" y="5734050"/>
            <a:ext cx="3527425" cy="1049338"/>
            <a:chOff x="1474" y="2977"/>
            <a:chExt cx="2812" cy="1285"/>
          </a:xfrm>
        </p:grpSpPr>
        <p:grpSp>
          <p:nvGrpSpPr>
            <p:cNvPr id="34833" name="Group 19"/>
            <p:cNvGrpSpPr/>
            <p:nvPr/>
          </p:nvGrpSpPr>
          <p:grpSpPr bwMode="auto">
            <a:xfrm>
              <a:off x="1474" y="3294"/>
              <a:ext cx="2812" cy="968"/>
              <a:chOff x="1338" y="3188"/>
              <a:chExt cx="2812" cy="968"/>
            </a:xfrm>
          </p:grpSpPr>
          <p:sp>
            <p:nvSpPr>
              <p:cNvPr id="34834" name="Oval 20"/>
              <p:cNvSpPr>
                <a:spLocks noChangeArrowheads="1"/>
              </p:cNvSpPr>
              <p:nvPr/>
            </p:nvSpPr>
            <p:spPr bwMode="auto">
              <a:xfrm>
                <a:off x="1610" y="3505"/>
                <a:ext cx="91" cy="91"/>
              </a:xfrm>
              <a:prstGeom prst="ellipse">
                <a:avLst/>
              </a:prstGeom>
              <a:solidFill>
                <a:schemeClr val="tx1"/>
              </a:solidFill>
              <a:ln w="25400">
                <a:solidFill>
                  <a:schemeClr val="tx1"/>
                </a:solidFill>
                <a:round/>
                <a:tailEnd type="none" w="med" len="lg"/>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34835" name="Oval 21"/>
              <p:cNvSpPr>
                <a:spLocks noChangeArrowheads="1"/>
              </p:cNvSpPr>
              <p:nvPr/>
            </p:nvSpPr>
            <p:spPr bwMode="auto">
              <a:xfrm>
                <a:off x="3061" y="3505"/>
                <a:ext cx="91" cy="91"/>
              </a:xfrm>
              <a:prstGeom prst="ellipse">
                <a:avLst/>
              </a:prstGeom>
              <a:solidFill>
                <a:schemeClr val="tx1"/>
              </a:solidFill>
              <a:ln w="25400">
                <a:solidFill>
                  <a:schemeClr val="tx1"/>
                </a:solidFill>
                <a:round/>
                <a:tailEnd type="none" w="med" len="lg"/>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800"/>
              </a:p>
            </p:txBody>
          </p:sp>
          <p:sp>
            <p:nvSpPr>
              <p:cNvPr id="34836" name="Line 22"/>
              <p:cNvSpPr>
                <a:spLocks noChangeShapeType="1"/>
              </p:cNvSpPr>
              <p:nvPr/>
            </p:nvSpPr>
            <p:spPr bwMode="auto">
              <a:xfrm>
                <a:off x="1338" y="3551"/>
                <a:ext cx="2449" cy="0"/>
              </a:xfrm>
              <a:prstGeom prst="line">
                <a:avLst/>
              </a:prstGeom>
              <a:noFill/>
              <a:ln w="254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4837" name="Text Box 23"/>
              <p:cNvSpPr txBox="1">
                <a:spLocks noChangeArrowheads="1"/>
              </p:cNvSpPr>
              <p:nvPr/>
            </p:nvSpPr>
            <p:spPr bwMode="auto">
              <a:xfrm>
                <a:off x="1519" y="3596"/>
                <a:ext cx="363"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rPr>
                  <a:t>S</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34838" name="Text Box 24"/>
              <p:cNvSpPr txBox="1">
                <a:spLocks noChangeArrowheads="1"/>
              </p:cNvSpPr>
              <p:nvPr/>
            </p:nvSpPr>
            <p:spPr bwMode="auto">
              <a:xfrm>
                <a:off x="2971" y="3596"/>
                <a:ext cx="36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rPr>
                  <a:t>S</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34839" name="Line 25"/>
              <p:cNvSpPr>
                <a:spLocks noChangeShapeType="1"/>
              </p:cNvSpPr>
              <p:nvPr/>
            </p:nvSpPr>
            <p:spPr bwMode="auto">
              <a:xfrm flipV="1">
                <a:off x="1655" y="3188"/>
                <a:ext cx="0" cy="363"/>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4840" name="Line 26"/>
              <p:cNvSpPr>
                <a:spLocks noChangeShapeType="1"/>
              </p:cNvSpPr>
              <p:nvPr/>
            </p:nvSpPr>
            <p:spPr bwMode="auto">
              <a:xfrm flipV="1">
                <a:off x="3107" y="3188"/>
                <a:ext cx="0" cy="363"/>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4841" name="Line 27"/>
              <p:cNvSpPr>
                <a:spLocks noChangeShapeType="1"/>
              </p:cNvSpPr>
              <p:nvPr/>
            </p:nvSpPr>
            <p:spPr bwMode="auto">
              <a:xfrm>
                <a:off x="1655" y="3324"/>
                <a:ext cx="1452" cy="0"/>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4842" name="Text Box 28"/>
              <p:cNvSpPr txBox="1">
                <a:spLocks noChangeArrowheads="1"/>
              </p:cNvSpPr>
              <p:nvPr/>
            </p:nvSpPr>
            <p:spPr bwMode="auto">
              <a:xfrm>
                <a:off x="3560" y="3596"/>
                <a:ext cx="590"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rPr>
                  <a:t>x</a:t>
                </a:r>
                <a:r>
                  <a:rPr lang="en-US" altLang="zh-CN">
                    <a:latin typeface="Times New Roman" panose="02020603050405020304" pitchFamily="18" charset="0"/>
                  </a:rPr>
                  <a:t>/m</a:t>
                </a:r>
                <a:endParaRPr lang="en-US" altLang="zh-CN">
                  <a:latin typeface="Times New Roman" panose="02020603050405020304" pitchFamily="18" charset="0"/>
                </a:endParaRPr>
              </a:p>
            </p:txBody>
          </p:sp>
        </p:grpSp>
        <p:graphicFrame>
          <p:nvGraphicFramePr>
            <p:cNvPr id="34825" name="Object 29"/>
            <p:cNvGraphicFramePr>
              <a:graphicFrameLocks noChangeAspect="1"/>
            </p:cNvGraphicFramePr>
            <p:nvPr/>
          </p:nvGraphicFramePr>
          <p:xfrm>
            <a:off x="2245" y="2977"/>
            <a:ext cx="369" cy="544"/>
          </p:xfrm>
          <a:graphic>
            <a:graphicData uri="http://schemas.openxmlformats.org/presentationml/2006/ole">
              <mc:AlternateContent xmlns:mc="http://schemas.openxmlformats.org/markup-compatibility/2006">
                <mc:Choice xmlns:v="urn:schemas-microsoft-com:vml" Requires="v">
                  <p:oleObj spid="_x0000_s35149" name="公式" r:id="rId17" imgW="266700" imgH="393065" progId="Equation.3">
                    <p:embed/>
                  </p:oleObj>
                </mc:Choice>
                <mc:Fallback>
                  <p:oleObj name="公式" r:id="rId17" imgW="266700" imgH="393065" progId="Equation.3">
                    <p:embed/>
                    <p:pic>
                      <p:nvPicPr>
                        <p:cNvPr id="0" name="Object 2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45" y="2977"/>
                          <a:ext cx="369" cy="54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65892"/>
                                        </p:tgtEl>
                                        <p:attrNameLst>
                                          <p:attrName>style.visibility</p:attrName>
                                        </p:attrNameLst>
                                      </p:cBhvr>
                                      <p:to>
                                        <p:strVal val="visible"/>
                                      </p:to>
                                    </p:set>
                                    <p:anim calcmode="discrete" valueType="clr">
                                      <p:cBhvr override="childStyle">
                                        <p:cTn id="7" dur="80"/>
                                        <p:tgtEl>
                                          <p:spTgt spid="16589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65892"/>
                                        </p:tgtEl>
                                        <p:attrNameLst>
                                          <p:attrName>fillcolor</p:attrName>
                                        </p:attrNameLst>
                                      </p:cBhvr>
                                      <p:tavLst>
                                        <p:tav tm="0">
                                          <p:val>
                                            <p:clrVal>
                                              <a:schemeClr val="accent2"/>
                                            </p:clrVal>
                                          </p:val>
                                        </p:tav>
                                        <p:tav tm="50000">
                                          <p:val>
                                            <p:clrVal>
                                              <a:schemeClr val="hlink"/>
                                            </p:clrVal>
                                          </p:val>
                                        </p:tav>
                                      </p:tavLst>
                                    </p:anim>
                                    <p:set>
                                      <p:cBhvr>
                                        <p:cTn id="9" dur="80"/>
                                        <p:tgtEl>
                                          <p:spTgt spid="16589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165893"/>
                                        </p:tgtEl>
                                        <p:attrNameLst>
                                          <p:attrName>style.visibility</p:attrName>
                                        </p:attrNameLst>
                                      </p:cBhvr>
                                      <p:to>
                                        <p:strVal val="visible"/>
                                      </p:to>
                                    </p:set>
                                    <p:animEffect transition="in" filter="blinds(horizontal)">
                                      <p:cBhvr>
                                        <p:cTn id="14" dur="500"/>
                                        <p:tgtEl>
                                          <p:spTgt spid="165893"/>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65894"/>
                                        </p:tgtEl>
                                        <p:attrNameLst>
                                          <p:attrName>style.visibility</p:attrName>
                                        </p:attrNameLst>
                                      </p:cBhvr>
                                      <p:to>
                                        <p:strVal val="visible"/>
                                      </p:to>
                                    </p:set>
                                    <p:animEffect transition="in" filter="blinds(horizontal)">
                                      <p:cBhvr>
                                        <p:cTn id="19" dur="500"/>
                                        <p:tgtEl>
                                          <p:spTgt spid="165894"/>
                                        </p:tgtEl>
                                      </p:cBhvr>
                                    </p:animEffec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grpId="0" nodeType="clickEffect">
                                  <p:stCondLst>
                                    <p:cond delay="0"/>
                                  </p:stCondLst>
                                  <p:iterate type="lt">
                                    <p:tmPct val="50000"/>
                                  </p:iterate>
                                  <p:childTnLst>
                                    <p:set>
                                      <p:cBhvr>
                                        <p:cTn id="23" dur="1" fill="hold">
                                          <p:stCondLst>
                                            <p:cond delay="0"/>
                                          </p:stCondLst>
                                        </p:cTn>
                                        <p:tgtEl>
                                          <p:spTgt spid="165895"/>
                                        </p:tgtEl>
                                        <p:attrNameLst>
                                          <p:attrName>style.visibility</p:attrName>
                                        </p:attrNameLst>
                                      </p:cBhvr>
                                      <p:to>
                                        <p:strVal val="visible"/>
                                      </p:to>
                                    </p:set>
                                    <p:anim calcmode="discrete" valueType="clr">
                                      <p:cBhvr override="childStyle">
                                        <p:cTn id="24" dur="80"/>
                                        <p:tgtEl>
                                          <p:spTgt spid="165895"/>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165895"/>
                                        </p:tgtEl>
                                        <p:attrNameLst>
                                          <p:attrName>fillcolor</p:attrName>
                                        </p:attrNameLst>
                                      </p:cBhvr>
                                      <p:tavLst>
                                        <p:tav tm="0">
                                          <p:val>
                                            <p:clrVal>
                                              <a:schemeClr val="accent2"/>
                                            </p:clrVal>
                                          </p:val>
                                        </p:tav>
                                        <p:tav tm="50000">
                                          <p:val>
                                            <p:clrVal>
                                              <a:schemeClr val="hlink"/>
                                            </p:clrVal>
                                          </p:val>
                                        </p:tav>
                                      </p:tavLst>
                                    </p:anim>
                                    <p:set>
                                      <p:cBhvr>
                                        <p:cTn id="26" dur="80"/>
                                        <p:tgtEl>
                                          <p:spTgt spid="165895"/>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65896"/>
                                        </p:tgtEl>
                                        <p:attrNameLst>
                                          <p:attrName>style.visibility</p:attrName>
                                        </p:attrNameLst>
                                      </p:cBhvr>
                                      <p:to>
                                        <p:strVal val="visible"/>
                                      </p:to>
                                    </p:set>
                                    <p:animEffect transition="in" filter="blinds(horizontal)">
                                      <p:cBhvr>
                                        <p:cTn id="31" dur="500"/>
                                        <p:tgtEl>
                                          <p:spTgt spid="165896"/>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65897"/>
                                        </p:tgtEl>
                                        <p:attrNameLst>
                                          <p:attrName>style.visibility</p:attrName>
                                        </p:attrNameLst>
                                      </p:cBhvr>
                                      <p:to>
                                        <p:strVal val="visible"/>
                                      </p:to>
                                    </p:set>
                                    <p:animEffect transition="in" filter="blinds(horizontal)">
                                      <p:cBhvr>
                                        <p:cTn id="36" dur="500"/>
                                        <p:tgtEl>
                                          <p:spTgt spid="165897"/>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65898"/>
                                        </p:tgtEl>
                                        <p:attrNameLst>
                                          <p:attrName>style.visibility</p:attrName>
                                        </p:attrNameLst>
                                      </p:cBhvr>
                                      <p:to>
                                        <p:strVal val="visible"/>
                                      </p:to>
                                    </p:set>
                                    <p:animEffect transition="in" filter="blinds(horizontal)">
                                      <p:cBhvr>
                                        <p:cTn id="41" dur="500"/>
                                        <p:tgtEl>
                                          <p:spTgt spid="165898"/>
                                        </p:tgtEl>
                                      </p:cBhvr>
                                    </p:animEffect>
                                  </p:childTnLst>
                                </p:cTn>
                              </p:par>
                            </p:childTnLst>
                          </p:cTn>
                        </p:par>
                      </p:childTnLst>
                    </p:cTn>
                  </p:par>
                  <p:par>
                    <p:cTn id="42" fill="hold">
                      <p:stCondLst>
                        <p:cond delay="indefinite"/>
                      </p:stCondLst>
                      <p:childTnLst>
                        <p:par>
                          <p:cTn id="43" fill="hold">
                            <p:stCondLst>
                              <p:cond delay="0"/>
                            </p:stCondLst>
                            <p:childTnLst>
                              <p:par>
                                <p:cTn id="44" presetID="27" presetClass="entr" presetSubtype="0" fill="hold" grpId="0" nodeType="clickEffect">
                                  <p:stCondLst>
                                    <p:cond delay="0"/>
                                  </p:stCondLst>
                                  <p:iterate type="lt">
                                    <p:tmPct val="50000"/>
                                  </p:iterate>
                                  <p:childTnLst>
                                    <p:set>
                                      <p:cBhvr>
                                        <p:cTn id="45" dur="1" fill="hold">
                                          <p:stCondLst>
                                            <p:cond delay="0"/>
                                          </p:stCondLst>
                                        </p:cTn>
                                        <p:tgtEl>
                                          <p:spTgt spid="165901"/>
                                        </p:tgtEl>
                                        <p:attrNameLst>
                                          <p:attrName>style.visibility</p:attrName>
                                        </p:attrNameLst>
                                      </p:cBhvr>
                                      <p:to>
                                        <p:strVal val="visible"/>
                                      </p:to>
                                    </p:set>
                                    <p:anim calcmode="discrete" valueType="clr">
                                      <p:cBhvr override="childStyle">
                                        <p:cTn id="46" dur="80"/>
                                        <p:tgtEl>
                                          <p:spTgt spid="165901"/>
                                        </p:tgtEl>
                                        <p:attrNameLst>
                                          <p:attrName>style.color</p:attrName>
                                        </p:attrNameLst>
                                      </p:cBhvr>
                                      <p:tavLst>
                                        <p:tav tm="0">
                                          <p:val>
                                            <p:clrVal>
                                              <a:schemeClr val="accent2"/>
                                            </p:clrVal>
                                          </p:val>
                                        </p:tav>
                                        <p:tav tm="50000">
                                          <p:val>
                                            <p:clrVal>
                                              <a:schemeClr val="hlink"/>
                                            </p:clrVal>
                                          </p:val>
                                        </p:tav>
                                      </p:tavLst>
                                    </p:anim>
                                    <p:anim calcmode="discrete" valueType="clr">
                                      <p:cBhvr>
                                        <p:cTn id="47" dur="80"/>
                                        <p:tgtEl>
                                          <p:spTgt spid="165901"/>
                                        </p:tgtEl>
                                        <p:attrNameLst>
                                          <p:attrName>fillcolor</p:attrName>
                                        </p:attrNameLst>
                                      </p:cBhvr>
                                      <p:tavLst>
                                        <p:tav tm="0">
                                          <p:val>
                                            <p:clrVal>
                                              <a:schemeClr val="accent2"/>
                                            </p:clrVal>
                                          </p:val>
                                        </p:tav>
                                        <p:tav tm="50000">
                                          <p:val>
                                            <p:clrVal>
                                              <a:schemeClr val="hlink"/>
                                            </p:clrVal>
                                          </p:val>
                                        </p:tav>
                                      </p:tavLst>
                                    </p:anim>
                                    <p:set>
                                      <p:cBhvr>
                                        <p:cTn id="48" dur="80"/>
                                        <p:tgtEl>
                                          <p:spTgt spid="165901"/>
                                        </p:tgtEl>
                                        <p:attrNameLst>
                                          <p:attrName>fill.type</p:attrName>
                                        </p:attrNameLst>
                                      </p:cBhvr>
                                      <p:to>
                                        <p:strVal val="solid"/>
                                      </p:to>
                                    </p:se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65899"/>
                                        </p:tgtEl>
                                        <p:attrNameLst>
                                          <p:attrName>style.visibility</p:attrName>
                                        </p:attrNameLst>
                                      </p:cBhvr>
                                      <p:to>
                                        <p:strVal val="visible"/>
                                      </p:to>
                                    </p:set>
                                    <p:animEffect transition="in" filter="blinds(horizontal)">
                                      <p:cBhvr>
                                        <p:cTn id="53" dur="500"/>
                                        <p:tgtEl>
                                          <p:spTgt spid="16589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65900"/>
                                        </p:tgtEl>
                                        <p:attrNameLst>
                                          <p:attrName>style.visibility</p:attrName>
                                        </p:attrNameLst>
                                      </p:cBhvr>
                                      <p:to>
                                        <p:strVal val="visible"/>
                                      </p:to>
                                    </p:set>
                                    <p:animEffect transition="in" filter="blinds(horizontal)">
                                      <p:cBhvr>
                                        <p:cTn id="58" dur="500"/>
                                        <p:tgtEl>
                                          <p:spTgt spid="165900"/>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65902"/>
                                        </p:tgtEl>
                                        <p:attrNameLst>
                                          <p:attrName>style.visibility</p:attrName>
                                        </p:attrNameLst>
                                      </p:cBhvr>
                                      <p:to>
                                        <p:strVal val="visible"/>
                                      </p:to>
                                    </p:set>
                                    <p:animEffect transition="in" filter="blinds(horizontal)">
                                      <p:cBhvr>
                                        <p:cTn id="63" dur="500"/>
                                        <p:tgtEl>
                                          <p:spTgt spid="165902"/>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blinds(horizontal)">
                                      <p:cBhvr>
                                        <p:cTn id="6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2" grpId="0"/>
      <p:bldP spid="165895" grpId="0"/>
      <p:bldP spid="165896" grpId="0"/>
      <p:bldP spid="16590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Text Box 4"/>
          <p:cNvSpPr txBox="1">
            <a:spLocks noChangeArrowheads="1"/>
          </p:cNvSpPr>
          <p:nvPr/>
        </p:nvSpPr>
        <p:spPr bwMode="auto">
          <a:xfrm>
            <a:off x="153988" y="454025"/>
            <a:ext cx="8713787" cy="363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15000"/>
              </a:lnSpc>
            </a:pPr>
            <a:r>
              <a:rPr kumimoji="1" lang="zh-CN" altLang="en-US" sz="3200" b="1" dirty="0">
                <a:solidFill>
                  <a:srgbClr val="FF0000"/>
                </a:solidFill>
                <a:latin typeface="楷体_GB2312" panose="02010609030101010101" pitchFamily="49" charset="-122"/>
                <a:ea typeface="楷体_GB2312" panose="02010609030101010101" pitchFamily="49" charset="-122"/>
              </a:rPr>
              <a:t>例</a:t>
            </a:r>
            <a:r>
              <a:rPr kumimoji="1" lang="en-US" altLang="zh-CN" sz="3200" b="1" dirty="0">
                <a:solidFill>
                  <a:srgbClr val="FF0000"/>
                </a:solidFill>
                <a:latin typeface="楷体_GB2312" panose="02010609030101010101" pitchFamily="49" charset="-122"/>
                <a:ea typeface="楷体_GB2312" panose="02010609030101010101" pitchFamily="49" charset="-122"/>
              </a:rPr>
              <a:t>3:</a:t>
            </a:r>
            <a:r>
              <a:rPr kumimoji="1" lang="zh-CN" altLang="en-US" sz="2800" dirty="0">
                <a:latin typeface="黑体" panose="02010609060101010101" pitchFamily="49" charset="-122"/>
                <a:ea typeface="黑体" panose="02010609060101010101" pitchFamily="49" charset="-122"/>
              </a:rPr>
              <a:t>一平面简谐波沿</a:t>
            </a:r>
            <a:r>
              <a:rPr kumimoji="1" lang="en-US" altLang="zh-CN" sz="2800" i="1" dirty="0">
                <a:latin typeface="Times New Roman" panose="02020603050405020304" pitchFamily="18" charset="0"/>
                <a:ea typeface="黑体" panose="02010609060101010101" pitchFamily="49" charset="-122"/>
              </a:rPr>
              <a:t>x</a:t>
            </a:r>
            <a:r>
              <a:rPr kumimoji="1" lang="zh-CN" altLang="en-US" sz="2800" dirty="0">
                <a:latin typeface="黑体" panose="02010609060101010101" pitchFamily="49" charset="-122"/>
                <a:ea typeface="黑体" panose="02010609060101010101" pitchFamily="49" charset="-122"/>
              </a:rPr>
              <a:t>正方向传播如图所示，振幅为  </a:t>
            </a:r>
            <a:endParaRPr kumimoji="1" lang="zh-CN" altLang="en-US" sz="2800" dirty="0">
              <a:latin typeface="黑体" panose="02010609060101010101" pitchFamily="49" charset="-122"/>
              <a:ea typeface="黑体" panose="02010609060101010101" pitchFamily="49" charset="-122"/>
            </a:endParaRPr>
          </a:p>
          <a:p>
            <a:pPr algn="just" eaLnBrk="1" hangingPunct="1">
              <a:lnSpc>
                <a:spcPct val="115000"/>
              </a:lnSpc>
            </a:pPr>
            <a:r>
              <a:rPr kumimoji="1" lang="zh-CN" altLang="en-US" sz="2800" dirty="0">
                <a:latin typeface="黑体" panose="02010609060101010101" pitchFamily="49" charset="-122"/>
                <a:ea typeface="黑体" panose="02010609060101010101" pitchFamily="49" charset="-122"/>
              </a:rPr>
              <a:t>      </a:t>
            </a:r>
            <a:r>
              <a:rPr kumimoji="1" lang="en-US" altLang="zh-CN" sz="2800" i="1" dirty="0">
                <a:latin typeface="Times New Roman" panose="02020603050405020304" pitchFamily="18" charset="0"/>
                <a:ea typeface="黑体" panose="02010609060101010101" pitchFamily="49" charset="-122"/>
              </a:rPr>
              <a:t>A</a:t>
            </a:r>
            <a:r>
              <a:rPr kumimoji="1" lang="zh-CN" altLang="en-US" sz="2800" dirty="0">
                <a:latin typeface="黑体" panose="02010609060101010101" pitchFamily="49" charset="-122"/>
                <a:ea typeface="黑体" panose="02010609060101010101" pitchFamily="49" charset="-122"/>
              </a:rPr>
              <a:t>，频率为</a:t>
            </a:r>
            <a:r>
              <a:rPr kumimoji="1" lang="en-US" altLang="zh-CN" sz="2800" i="1" dirty="0">
                <a:latin typeface="Times New Roman" panose="02020603050405020304" pitchFamily="18" charset="0"/>
                <a:ea typeface="黑体" panose="02010609060101010101" pitchFamily="49" charset="-122"/>
              </a:rPr>
              <a:t>v</a:t>
            </a:r>
            <a:r>
              <a:rPr kumimoji="1" lang="en-US" altLang="zh-CN" sz="2800" dirty="0">
                <a:latin typeface="黑体" panose="02010609060101010101" pitchFamily="49" charset="-122"/>
                <a:ea typeface="黑体" panose="02010609060101010101" pitchFamily="49" charset="-122"/>
              </a:rPr>
              <a:t>, </a:t>
            </a:r>
            <a:r>
              <a:rPr kumimoji="1" lang="zh-CN" altLang="en-US" sz="2800" dirty="0">
                <a:latin typeface="黑体" panose="02010609060101010101" pitchFamily="49" charset="-122"/>
                <a:ea typeface="黑体" panose="02010609060101010101" pitchFamily="49" charset="-122"/>
              </a:rPr>
              <a:t>速率为</a:t>
            </a:r>
            <a:r>
              <a:rPr kumimoji="1" lang="en-US" altLang="zh-CN" sz="2800" i="1" dirty="0">
                <a:latin typeface="Times New Roman" panose="02020603050405020304" pitchFamily="18" charset="0"/>
                <a:ea typeface="黑体" panose="02010609060101010101" pitchFamily="49" charset="-122"/>
              </a:rPr>
              <a:t>u</a:t>
            </a:r>
            <a:r>
              <a:rPr kumimoji="1" lang="en-US" altLang="zh-CN" sz="2800" dirty="0">
                <a:latin typeface="黑体" panose="02010609060101010101" pitchFamily="49" charset="-122"/>
                <a:ea typeface="黑体" panose="02010609060101010101" pitchFamily="49" charset="-122"/>
              </a:rPr>
              <a:t>. </a:t>
            </a:r>
            <a:r>
              <a:rPr kumimoji="1" lang="zh-CN" altLang="en-US" sz="2800" dirty="0">
                <a:latin typeface="黑体" panose="02010609060101010101" pitchFamily="49" charset="-122"/>
                <a:ea typeface="黑体" panose="02010609060101010101" pitchFamily="49" charset="-122"/>
              </a:rPr>
              <a:t>求</a:t>
            </a:r>
            <a:endParaRPr kumimoji="1" lang="zh-CN" altLang="en-US" sz="2800" dirty="0">
              <a:latin typeface="黑体" panose="02010609060101010101" pitchFamily="49" charset="-122"/>
              <a:ea typeface="黑体" panose="02010609060101010101" pitchFamily="49" charset="-122"/>
            </a:endParaRPr>
          </a:p>
          <a:p>
            <a:pPr algn="just" eaLnBrk="1" hangingPunct="1">
              <a:lnSpc>
                <a:spcPct val="115000"/>
              </a:lnSpc>
            </a:pPr>
            <a:r>
              <a:rPr kumimoji="1" lang="zh-CN" altLang="en-US" sz="2800" dirty="0">
                <a:latin typeface="黑体" panose="02010609060101010101" pitchFamily="49" charset="-122"/>
                <a:ea typeface="黑体" panose="02010609060101010101" pitchFamily="49" charset="-122"/>
              </a:rPr>
              <a:t>     </a:t>
            </a:r>
            <a:r>
              <a:rPr kumimoji="1" lang="en-US" altLang="zh-CN" sz="2800" dirty="0">
                <a:latin typeface="黑体" panose="02010609060101010101" pitchFamily="49" charset="-122"/>
                <a:ea typeface="黑体" panose="02010609060101010101" pitchFamily="49" charset="-122"/>
              </a:rPr>
              <a:t>(1) t=0</a:t>
            </a:r>
            <a:r>
              <a:rPr kumimoji="1" lang="zh-CN" altLang="en-US" sz="2800" dirty="0">
                <a:latin typeface="黑体" panose="02010609060101010101" pitchFamily="49" charset="-122"/>
                <a:ea typeface="黑体" panose="02010609060101010101" pitchFamily="49" charset="-122"/>
              </a:rPr>
              <a:t>时，入射波在原点</a:t>
            </a:r>
            <a:r>
              <a:rPr kumimoji="1" lang="en-US" altLang="zh-CN" sz="2800" dirty="0">
                <a:latin typeface="黑体" panose="02010609060101010101" pitchFamily="49" charset="-122"/>
                <a:ea typeface="黑体" panose="02010609060101010101" pitchFamily="49" charset="-122"/>
              </a:rPr>
              <a:t>o</a:t>
            </a:r>
            <a:r>
              <a:rPr kumimoji="1" lang="zh-CN" altLang="en-US" sz="2800" dirty="0">
                <a:latin typeface="黑体" panose="02010609060101010101" pitchFamily="49" charset="-122"/>
                <a:ea typeface="黑体" panose="02010609060101010101" pitchFamily="49" charset="-122"/>
              </a:rPr>
              <a:t>处引起质元由平衡位 </a:t>
            </a:r>
            <a:endParaRPr kumimoji="1" lang="zh-CN" altLang="en-US" sz="2800" dirty="0">
              <a:latin typeface="黑体" panose="02010609060101010101" pitchFamily="49" charset="-122"/>
              <a:ea typeface="黑体" panose="02010609060101010101" pitchFamily="49" charset="-122"/>
            </a:endParaRPr>
          </a:p>
          <a:p>
            <a:pPr algn="just" eaLnBrk="1" hangingPunct="1">
              <a:lnSpc>
                <a:spcPct val="115000"/>
              </a:lnSpc>
            </a:pPr>
            <a:r>
              <a:rPr kumimoji="1" lang="zh-CN" altLang="en-US" sz="2800" dirty="0">
                <a:latin typeface="黑体" panose="02010609060101010101" pitchFamily="49" charset="-122"/>
                <a:ea typeface="黑体" panose="02010609060101010101" pitchFamily="49" charset="-122"/>
              </a:rPr>
              <a:t>         置向位移为正的方向运动，写出波表达式</a:t>
            </a:r>
            <a:endParaRPr kumimoji="1" lang="zh-CN" altLang="en-US" sz="2800" dirty="0">
              <a:latin typeface="黑体" panose="02010609060101010101" pitchFamily="49" charset="-122"/>
              <a:ea typeface="黑体" panose="02010609060101010101" pitchFamily="49" charset="-122"/>
            </a:endParaRPr>
          </a:p>
          <a:p>
            <a:pPr algn="just" eaLnBrk="1" hangingPunct="1">
              <a:lnSpc>
                <a:spcPct val="115000"/>
              </a:lnSpc>
            </a:pPr>
            <a:r>
              <a:rPr kumimoji="1" lang="zh-CN" altLang="en-US" sz="2800" dirty="0">
                <a:latin typeface="黑体" panose="02010609060101010101" pitchFamily="49" charset="-122"/>
                <a:ea typeface="黑体" panose="02010609060101010101" pitchFamily="49" charset="-122"/>
              </a:rPr>
              <a:t>     </a:t>
            </a:r>
            <a:r>
              <a:rPr kumimoji="1" lang="en-US" altLang="zh-CN" sz="2800" dirty="0">
                <a:latin typeface="黑体" panose="02010609060101010101" pitchFamily="49" charset="-122"/>
                <a:ea typeface="黑体" panose="02010609060101010101" pitchFamily="49" charset="-122"/>
              </a:rPr>
              <a:t>(2) </a:t>
            </a:r>
            <a:r>
              <a:rPr kumimoji="1" lang="zh-CN" altLang="en-US" sz="2800" dirty="0">
                <a:latin typeface="黑体" panose="02010609060101010101" pitchFamily="49" charset="-122"/>
                <a:ea typeface="黑体" panose="02010609060101010101" pitchFamily="49" charset="-122"/>
              </a:rPr>
              <a:t>经分界面反射的波的振幅和入射波振幅相等</a:t>
            </a:r>
            <a:r>
              <a:rPr kumimoji="1" lang="en-US" altLang="zh-CN" sz="2800" dirty="0">
                <a:latin typeface="黑体" panose="02010609060101010101" pitchFamily="49" charset="-122"/>
                <a:ea typeface="黑体" panose="02010609060101010101" pitchFamily="49" charset="-122"/>
              </a:rPr>
              <a:t>,</a:t>
            </a:r>
            <a:r>
              <a:rPr kumimoji="1" lang="zh-CN" altLang="en-US" sz="2800" dirty="0">
                <a:latin typeface="黑体" panose="02010609060101010101" pitchFamily="49" charset="-122"/>
                <a:ea typeface="黑体" panose="02010609060101010101" pitchFamily="49" charset="-122"/>
              </a:rPr>
              <a:t>  </a:t>
            </a:r>
            <a:endParaRPr kumimoji="1" lang="zh-CN" altLang="en-US" sz="2800" dirty="0">
              <a:latin typeface="黑体" panose="02010609060101010101" pitchFamily="49" charset="-122"/>
              <a:ea typeface="黑体" panose="02010609060101010101" pitchFamily="49" charset="-122"/>
            </a:endParaRPr>
          </a:p>
          <a:p>
            <a:pPr algn="just" eaLnBrk="1" hangingPunct="1">
              <a:lnSpc>
                <a:spcPct val="115000"/>
              </a:lnSpc>
            </a:pPr>
            <a:r>
              <a:rPr kumimoji="1" lang="zh-CN" altLang="en-US" sz="2800" dirty="0">
                <a:latin typeface="黑体" panose="02010609060101010101" pitchFamily="49" charset="-122"/>
                <a:ea typeface="黑体" panose="02010609060101010101" pitchFamily="49" charset="-122"/>
              </a:rPr>
              <a:t>         写出反射波的表达式，并求在</a:t>
            </a:r>
            <a:r>
              <a:rPr kumimoji="1" lang="en-US" altLang="zh-CN" sz="2800" i="1" dirty="0">
                <a:latin typeface="Times New Roman" panose="02020603050405020304" pitchFamily="18" charset="0"/>
                <a:ea typeface="黑体" panose="02010609060101010101" pitchFamily="49" charset="-122"/>
              </a:rPr>
              <a:t>x</a:t>
            </a:r>
            <a:r>
              <a:rPr kumimoji="1" lang="zh-CN" altLang="en-US" sz="2800" dirty="0">
                <a:latin typeface="黑体" panose="02010609060101010101" pitchFamily="49" charset="-122"/>
                <a:ea typeface="黑体" panose="02010609060101010101" pitchFamily="49" charset="-122"/>
              </a:rPr>
              <a:t>轴上因入射</a:t>
            </a:r>
            <a:endParaRPr kumimoji="1" lang="zh-CN" altLang="en-US" sz="2800" dirty="0">
              <a:latin typeface="黑体" panose="02010609060101010101" pitchFamily="49" charset="-122"/>
              <a:ea typeface="黑体" panose="02010609060101010101" pitchFamily="49" charset="-122"/>
            </a:endParaRPr>
          </a:p>
          <a:p>
            <a:pPr algn="just" eaLnBrk="1" hangingPunct="1">
              <a:lnSpc>
                <a:spcPct val="115000"/>
              </a:lnSpc>
            </a:pPr>
            <a:r>
              <a:rPr kumimoji="1" lang="zh-CN" altLang="en-US" sz="2800" dirty="0">
                <a:latin typeface="黑体" panose="02010609060101010101" pitchFamily="49" charset="-122"/>
                <a:ea typeface="黑体" panose="02010609060101010101" pitchFamily="49" charset="-122"/>
              </a:rPr>
              <a:t>         波和反射波叠加而静止的各点位置。</a:t>
            </a:r>
            <a:endParaRPr kumimoji="1" lang="zh-CN" altLang="en-US" sz="2800" dirty="0">
              <a:latin typeface="黑体" panose="02010609060101010101" pitchFamily="49" charset="-122"/>
              <a:ea typeface="黑体" panose="02010609060101010101" pitchFamily="49" charset="-122"/>
            </a:endParaRPr>
          </a:p>
        </p:txBody>
      </p:sp>
      <p:grpSp>
        <p:nvGrpSpPr>
          <p:cNvPr id="2" name="Group 79"/>
          <p:cNvGrpSpPr/>
          <p:nvPr/>
        </p:nvGrpSpPr>
        <p:grpSpPr bwMode="auto">
          <a:xfrm>
            <a:off x="1979613" y="4365625"/>
            <a:ext cx="5715000" cy="2016125"/>
            <a:chOff x="1247" y="2886"/>
            <a:chExt cx="3600" cy="1270"/>
          </a:xfrm>
        </p:grpSpPr>
        <p:sp>
          <p:nvSpPr>
            <p:cNvPr id="35845" name="Line 52"/>
            <p:cNvSpPr>
              <a:spLocks noChangeShapeType="1"/>
            </p:cNvSpPr>
            <p:nvPr/>
          </p:nvSpPr>
          <p:spPr bwMode="auto">
            <a:xfrm>
              <a:off x="1247" y="3558"/>
              <a:ext cx="3504"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35846" name="Group 53"/>
            <p:cNvGrpSpPr/>
            <p:nvPr/>
          </p:nvGrpSpPr>
          <p:grpSpPr bwMode="auto">
            <a:xfrm>
              <a:off x="3407" y="2982"/>
              <a:ext cx="96" cy="1152"/>
              <a:chOff x="3168" y="2928"/>
              <a:chExt cx="96" cy="1152"/>
            </a:xfrm>
          </p:grpSpPr>
          <p:sp>
            <p:nvSpPr>
              <p:cNvPr id="35856" name="Line 54"/>
              <p:cNvSpPr>
                <a:spLocks noChangeShapeType="1"/>
              </p:cNvSpPr>
              <p:nvPr/>
            </p:nvSpPr>
            <p:spPr bwMode="auto">
              <a:xfrm>
                <a:off x="3168" y="2928"/>
                <a:ext cx="0" cy="1152"/>
              </a:xfrm>
              <a:prstGeom prst="line">
                <a:avLst/>
              </a:prstGeom>
              <a:noFill/>
              <a:ln w="5715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5857" name="Line 55"/>
              <p:cNvSpPr>
                <a:spLocks noChangeShapeType="1"/>
              </p:cNvSpPr>
              <p:nvPr/>
            </p:nvSpPr>
            <p:spPr bwMode="auto">
              <a:xfrm flipH="1">
                <a:off x="3168" y="292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5858" name="Line 56"/>
              <p:cNvSpPr>
                <a:spLocks noChangeShapeType="1"/>
              </p:cNvSpPr>
              <p:nvPr/>
            </p:nvSpPr>
            <p:spPr bwMode="auto">
              <a:xfrm flipH="1">
                <a:off x="3168" y="3072"/>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5859" name="Line 57"/>
              <p:cNvSpPr>
                <a:spLocks noChangeShapeType="1"/>
              </p:cNvSpPr>
              <p:nvPr/>
            </p:nvSpPr>
            <p:spPr bwMode="auto">
              <a:xfrm flipH="1">
                <a:off x="3168" y="3216"/>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5860" name="Line 58"/>
              <p:cNvSpPr>
                <a:spLocks noChangeShapeType="1"/>
              </p:cNvSpPr>
              <p:nvPr/>
            </p:nvSpPr>
            <p:spPr bwMode="auto">
              <a:xfrm flipH="1">
                <a:off x="3168" y="3360"/>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5861" name="Line 59"/>
              <p:cNvSpPr>
                <a:spLocks noChangeShapeType="1"/>
              </p:cNvSpPr>
              <p:nvPr/>
            </p:nvSpPr>
            <p:spPr bwMode="auto">
              <a:xfrm flipH="1">
                <a:off x="3168" y="3504"/>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5862" name="Line 60"/>
              <p:cNvSpPr>
                <a:spLocks noChangeShapeType="1"/>
              </p:cNvSpPr>
              <p:nvPr/>
            </p:nvSpPr>
            <p:spPr bwMode="auto">
              <a:xfrm flipH="1">
                <a:off x="3168" y="364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5863" name="Line 61"/>
              <p:cNvSpPr>
                <a:spLocks noChangeShapeType="1"/>
              </p:cNvSpPr>
              <p:nvPr/>
            </p:nvSpPr>
            <p:spPr bwMode="auto">
              <a:xfrm flipH="1">
                <a:off x="3168" y="3792"/>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5864" name="Line 62"/>
              <p:cNvSpPr>
                <a:spLocks noChangeShapeType="1"/>
              </p:cNvSpPr>
              <p:nvPr/>
            </p:nvSpPr>
            <p:spPr bwMode="auto">
              <a:xfrm flipH="1">
                <a:off x="3168" y="3936"/>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35847" name="Text Box 64"/>
            <p:cNvSpPr txBox="1">
              <a:spLocks noChangeArrowheads="1"/>
            </p:cNvSpPr>
            <p:nvPr/>
          </p:nvSpPr>
          <p:spPr bwMode="auto">
            <a:xfrm>
              <a:off x="1501" y="3222"/>
              <a:ext cx="19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rPr>
                <a:t>O               </a:t>
              </a:r>
              <a:r>
                <a:rPr kumimoji="1" lang="en-US" altLang="zh-CN" i="1">
                  <a:latin typeface="Times New Roman" panose="02020603050405020304" pitchFamily="18" charset="0"/>
                </a:rPr>
                <a:t>  </a:t>
              </a:r>
              <a:r>
                <a:rPr kumimoji="1" lang="en-US" altLang="zh-CN">
                  <a:latin typeface="Times New Roman" panose="02020603050405020304" pitchFamily="18" charset="0"/>
                </a:rPr>
                <a:t>               P</a:t>
              </a:r>
              <a:endParaRPr kumimoji="1" lang="en-US" altLang="zh-CN">
                <a:latin typeface="Times New Roman" panose="02020603050405020304" pitchFamily="18" charset="0"/>
              </a:endParaRPr>
            </a:p>
          </p:txBody>
        </p:sp>
        <p:sp>
          <p:nvSpPr>
            <p:cNvPr id="35848" name="Line 65"/>
            <p:cNvSpPr>
              <a:spLocks noChangeShapeType="1"/>
            </p:cNvSpPr>
            <p:nvPr/>
          </p:nvSpPr>
          <p:spPr bwMode="auto">
            <a:xfrm>
              <a:off x="1631" y="3510"/>
              <a:ext cx="0" cy="48"/>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5849" name="Line 66"/>
            <p:cNvSpPr>
              <a:spLocks noChangeShapeType="1"/>
            </p:cNvSpPr>
            <p:nvPr/>
          </p:nvSpPr>
          <p:spPr bwMode="auto">
            <a:xfrm>
              <a:off x="2290" y="3249"/>
              <a:ext cx="528"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5850" name="Text Box 67"/>
            <p:cNvSpPr txBox="1">
              <a:spLocks noChangeArrowheads="1"/>
            </p:cNvSpPr>
            <p:nvPr/>
          </p:nvSpPr>
          <p:spPr bwMode="auto">
            <a:xfrm>
              <a:off x="2411" y="2961"/>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rPr>
                <a:t>u</a:t>
              </a:r>
              <a:endParaRPr kumimoji="1" lang="en-US" altLang="zh-CN" i="1">
                <a:latin typeface="Times New Roman" panose="02020603050405020304" pitchFamily="18" charset="0"/>
              </a:endParaRPr>
            </a:p>
          </p:txBody>
        </p:sp>
        <p:sp>
          <p:nvSpPr>
            <p:cNvPr id="35851" name="Line 68"/>
            <p:cNvSpPr>
              <a:spLocks noChangeShapeType="1"/>
            </p:cNvSpPr>
            <p:nvPr/>
          </p:nvSpPr>
          <p:spPr bwMode="auto">
            <a:xfrm>
              <a:off x="1631" y="3606"/>
              <a:ext cx="0" cy="432"/>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5852" name="Line 69"/>
            <p:cNvSpPr>
              <a:spLocks noChangeShapeType="1"/>
            </p:cNvSpPr>
            <p:nvPr/>
          </p:nvSpPr>
          <p:spPr bwMode="auto">
            <a:xfrm>
              <a:off x="1631" y="3884"/>
              <a:ext cx="1728"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5853" name="Text Box 71"/>
            <p:cNvSpPr txBox="1">
              <a:spLocks noChangeArrowheads="1"/>
            </p:cNvSpPr>
            <p:nvPr/>
          </p:nvSpPr>
          <p:spPr bwMode="auto">
            <a:xfrm>
              <a:off x="4559" y="361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rPr>
                <a:t>x</a:t>
              </a:r>
              <a:endParaRPr kumimoji="1" lang="en-US" altLang="zh-CN" i="1">
                <a:latin typeface="Times New Roman" panose="02020603050405020304" pitchFamily="18" charset="0"/>
              </a:endParaRPr>
            </a:p>
          </p:txBody>
        </p:sp>
        <p:sp>
          <p:nvSpPr>
            <p:cNvPr id="35854" name="Text Box 72"/>
            <p:cNvSpPr txBox="1">
              <a:spLocks noChangeArrowheads="1"/>
            </p:cNvSpPr>
            <p:nvPr/>
          </p:nvSpPr>
          <p:spPr bwMode="auto">
            <a:xfrm>
              <a:off x="2813" y="2886"/>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latin typeface="Times New Roman" panose="02020603050405020304" pitchFamily="18" charset="0"/>
                </a:rPr>
                <a:t>波疏</a:t>
              </a:r>
              <a:endParaRPr kumimoji="1" lang="zh-CN" altLang="en-US" b="1">
                <a:latin typeface="Times New Roman" panose="02020603050405020304" pitchFamily="18" charset="0"/>
              </a:endParaRPr>
            </a:p>
          </p:txBody>
        </p:sp>
        <p:sp>
          <p:nvSpPr>
            <p:cNvPr id="35855" name="Text Box 73"/>
            <p:cNvSpPr txBox="1">
              <a:spLocks noChangeArrowheads="1"/>
            </p:cNvSpPr>
            <p:nvPr/>
          </p:nvSpPr>
          <p:spPr bwMode="auto">
            <a:xfrm>
              <a:off x="3605" y="2886"/>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latin typeface="Times New Roman" panose="02020603050405020304" pitchFamily="18" charset="0"/>
                </a:rPr>
                <a:t>波密</a:t>
              </a:r>
              <a:endParaRPr kumimoji="1" lang="zh-CN" altLang="en-US" b="1">
                <a:latin typeface="Times New Roman" panose="02020603050405020304" pitchFamily="18" charset="0"/>
              </a:endParaRPr>
            </a:p>
          </p:txBody>
        </p:sp>
        <p:graphicFrame>
          <p:nvGraphicFramePr>
            <p:cNvPr id="35842" name="Object 78"/>
            <p:cNvGraphicFramePr>
              <a:graphicFrameLocks noChangeAspect="1"/>
            </p:cNvGraphicFramePr>
            <p:nvPr/>
          </p:nvGraphicFramePr>
          <p:xfrm>
            <a:off x="2284" y="3612"/>
            <a:ext cx="369" cy="544"/>
          </p:xfrm>
          <a:graphic>
            <a:graphicData uri="http://schemas.openxmlformats.org/presentationml/2006/ole">
              <mc:AlternateContent xmlns:mc="http://schemas.openxmlformats.org/markup-compatibility/2006">
                <mc:Choice xmlns:v="urn:schemas-microsoft-com:vml" Requires="v">
                  <p:oleObj spid="_x0000_s35899" name="公式" r:id="rId1" imgW="266700" imgH="393065" progId="Equation.3">
                    <p:embed/>
                  </p:oleObj>
                </mc:Choice>
                <mc:Fallback>
                  <p:oleObj name="公式" r:id="rId1" imgW="266700" imgH="393065" progId="Equation.3">
                    <p:embed/>
                    <p:pic>
                      <p:nvPicPr>
                        <p:cNvPr id="0" name="Object 7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4" y="3612"/>
                          <a:ext cx="369" cy="54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Text Box 4"/>
          <p:cNvSpPr txBox="1">
            <a:spLocks noChangeArrowheads="1"/>
          </p:cNvSpPr>
          <p:nvPr/>
        </p:nvSpPr>
        <p:spPr bwMode="auto">
          <a:xfrm>
            <a:off x="789262" y="2348555"/>
            <a:ext cx="77247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rgbClr val="FF0000"/>
                </a:solidFill>
                <a:latin typeface="Times New Roman" panose="02020603050405020304" pitchFamily="18" charset="0"/>
              </a:rPr>
              <a:t>解</a:t>
            </a:r>
            <a:r>
              <a:rPr kumimoji="1" lang="en-US" altLang="zh-CN" sz="2800" b="1" dirty="0">
                <a:solidFill>
                  <a:srgbClr val="FF0000"/>
                </a:solidFill>
                <a:latin typeface="Times New Roman" panose="02020603050405020304" pitchFamily="18" charset="0"/>
              </a:rPr>
              <a:t>:</a:t>
            </a:r>
            <a:r>
              <a:rPr kumimoji="1" lang="en-US" altLang="zh-CN" b="1" dirty="0">
                <a:latin typeface="Times New Roman" panose="02020603050405020304" pitchFamily="18" charset="0"/>
              </a:rPr>
              <a:t> (1)</a:t>
            </a:r>
            <a:endParaRPr kumimoji="1" lang="zh-CN" altLang="en-US" b="1" dirty="0">
              <a:latin typeface="Times New Roman" panose="02020603050405020304" pitchFamily="18" charset="0"/>
            </a:endParaRPr>
          </a:p>
        </p:txBody>
      </p:sp>
      <p:sp>
        <p:nvSpPr>
          <p:cNvPr id="88070" name="Text Box 6"/>
          <p:cNvSpPr txBox="1">
            <a:spLocks noChangeArrowheads="1"/>
          </p:cNvSpPr>
          <p:nvPr/>
        </p:nvSpPr>
        <p:spPr bwMode="auto">
          <a:xfrm>
            <a:off x="1835696" y="2420888"/>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dirty="0">
                <a:latin typeface="Times New Roman" panose="02020603050405020304" pitchFamily="18" charset="0"/>
              </a:rPr>
              <a:t>入射波的表达式为</a:t>
            </a:r>
            <a:endParaRPr kumimoji="1" lang="zh-CN" altLang="en-US" b="1" dirty="0">
              <a:latin typeface="Times New Roman" panose="02020603050405020304" pitchFamily="18" charset="0"/>
            </a:endParaRPr>
          </a:p>
        </p:txBody>
      </p:sp>
      <p:graphicFrame>
        <p:nvGraphicFramePr>
          <p:cNvPr id="36871" name="Object 14"/>
          <p:cNvGraphicFramePr>
            <a:graphicFrameLocks noChangeAspect="1"/>
          </p:cNvGraphicFramePr>
          <p:nvPr/>
        </p:nvGraphicFramePr>
        <p:xfrm>
          <a:off x="4554950" y="5013275"/>
          <a:ext cx="114300" cy="215900"/>
        </p:xfrm>
        <a:graphic>
          <a:graphicData uri="http://schemas.openxmlformats.org/presentationml/2006/ole">
            <mc:AlternateContent xmlns:mc="http://schemas.openxmlformats.org/markup-compatibility/2006">
              <mc:Choice xmlns:v="urn:schemas-microsoft-com:vml" Requires="v">
                <p:oleObj spid="_x0000_s37121" name="公式" r:id="rId1" imgW="114300" imgH="215900" progId="Equation.3">
                  <p:embed/>
                </p:oleObj>
              </mc:Choice>
              <mc:Fallback>
                <p:oleObj name="公式" r:id="rId1" imgW="114300" imgH="215900" progId="Equation.3">
                  <p:embed/>
                  <p:pic>
                    <p:nvPicPr>
                      <p:cNvPr id="0" name="Object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4950" y="5013275"/>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2" name="Object 15"/>
          <p:cNvGraphicFramePr>
            <a:graphicFrameLocks noChangeAspect="1"/>
          </p:cNvGraphicFramePr>
          <p:nvPr/>
        </p:nvGraphicFramePr>
        <p:xfrm>
          <a:off x="4554950" y="5013275"/>
          <a:ext cx="114300" cy="215900"/>
        </p:xfrm>
        <a:graphic>
          <a:graphicData uri="http://schemas.openxmlformats.org/presentationml/2006/ole">
            <mc:AlternateContent xmlns:mc="http://schemas.openxmlformats.org/markup-compatibility/2006">
              <mc:Choice xmlns:v="urn:schemas-microsoft-com:vml" Requires="v">
                <p:oleObj spid="_x0000_s37122" name="公式" r:id="rId3" imgW="114300" imgH="215900" progId="Equation.3">
                  <p:embed/>
                </p:oleObj>
              </mc:Choice>
              <mc:Fallback>
                <p:oleObj name="公式" r:id="rId3" imgW="114300" imgH="215900" progId="Equation.3">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4950" y="5013275"/>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6879" name="Group 84"/>
          <p:cNvGrpSpPr/>
          <p:nvPr/>
        </p:nvGrpSpPr>
        <p:grpSpPr bwMode="auto">
          <a:xfrm>
            <a:off x="5634312" y="650757"/>
            <a:ext cx="3311525" cy="1295400"/>
            <a:chOff x="3561" y="709"/>
            <a:chExt cx="2086" cy="816"/>
          </a:xfrm>
        </p:grpSpPr>
        <p:sp>
          <p:nvSpPr>
            <p:cNvPr id="36880" name="Line 61"/>
            <p:cNvSpPr>
              <a:spLocks noChangeShapeType="1"/>
            </p:cNvSpPr>
            <p:nvPr/>
          </p:nvSpPr>
          <p:spPr bwMode="auto">
            <a:xfrm>
              <a:off x="3561" y="1183"/>
              <a:ext cx="1814"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36881" name="Group 83"/>
            <p:cNvGrpSpPr/>
            <p:nvPr/>
          </p:nvGrpSpPr>
          <p:grpSpPr bwMode="auto">
            <a:xfrm>
              <a:off x="3687" y="709"/>
              <a:ext cx="1960" cy="816"/>
              <a:chOff x="3460" y="709"/>
              <a:chExt cx="1960" cy="816"/>
            </a:xfrm>
          </p:grpSpPr>
          <p:grpSp>
            <p:nvGrpSpPr>
              <p:cNvPr id="36882" name="Group 62"/>
              <p:cNvGrpSpPr/>
              <p:nvPr/>
            </p:nvGrpSpPr>
            <p:grpSpPr bwMode="auto">
              <a:xfrm>
                <a:off x="4759" y="854"/>
                <a:ext cx="63" cy="658"/>
                <a:chOff x="3168" y="2928"/>
                <a:chExt cx="96" cy="1152"/>
              </a:xfrm>
            </p:grpSpPr>
            <p:sp>
              <p:nvSpPr>
                <p:cNvPr id="36893" name="Line 63"/>
                <p:cNvSpPr>
                  <a:spLocks noChangeShapeType="1"/>
                </p:cNvSpPr>
                <p:nvPr/>
              </p:nvSpPr>
              <p:spPr bwMode="auto">
                <a:xfrm>
                  <a:off x="3168" y="2928"/>
                  <a:ext cx="0" cy="1152"/>
                </a:xfrm>
                <a:prstGeom prst="line">
                  <a:avLst/>
                </a:prstGeom>
                <a:noFill/>
                <a:ln w="5715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94" name="Line 64"/>
                <p:cNvSpPr>
                  <a:spLocks noChangeShapeType="1"/>
                </p:cNvSpPr>
                <p:nvPr/>
              </p:nvSpPr>
              <p:spPr bwMode="auto">
                <a:xfrm flipH="1">
                  <a:off x="3168" y="292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95" name="Line 65"/>
                <p:cNvSpPr>
                  <a:spLocks noChangeShapeType="1"/>
                </p:cNvSpPr>
                <p:nvPr/>
              </p:nvSpPr>
              <p:spPr bwMode="auto">
                <a:xfrm flipH="1">
                  <a:off x="3168" y="3072"/>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96" name="Line 66"/>
                <p:cNvSpPr>
                  <a:spLocks noChangeShapeType="1"/>
                </p:cNvSpPr>
                <p:nvPr/>
              </p:nvSpPr>
              <p:spPr bwMode="auto">
                <a:xfrm flipH="1">
                  <a:off x="3168" y="3216"/>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97" name="Line 67"/>
                <p:cNvSpPr>
                  <a:spLocks noChangeShapeType="1"/>
                </p:cNvSpPr>
                <p:nvPr/>
              </p:nvSpPr>
              <p:spPr bwMode="auto">
                <a:xfrm flipH="1">
                  <a:off x="3168" y="3360"/>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98" name="Line 68"/>
                <p:cNvSpPr>
                  <a:spLocks noChangeShapeType="1"/>
                </p:cNvSpPr>
                <p:nvPr/>
              </p:nvSpPr>
              <p:spPr bwMode="auto">
                <a:xfrm flipH="1">
                  <a:off x="3168" y="3504"/>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99" name="Line 69"/>
                <p:cNvSpPr>
                  <a:spLocks noChangeShapeType="1"/>
                </p:cNvSpPr>
                <p:nvPr/>
              </p:nvSpPr>
              <p:spPr bwMode="auto">
                <a:xfrm flipH="1">
                  <a:off x="3168" y="364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900" name="Line 70"/>
                <p:cNvSpPr>
                  <a:spLocks noChangeShapeType="1"/>
                </p:cNvSpPr>
                <p:nvPr/>
              </p:nvSpPr>
              <p:spPr bwMode="auto">
                <a:xfrm flipH="1">
                  <a:off x="3168" y="3792"/>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901" name="Line 71"/>
                <p:cNvSpPr>
                  <a:spLocks noChangeShapeType="1"/>
                </p:cNvSpPr>
                <p:nvPr/>
              </p:nvSpPr>
              <p:spPr bwMode="auto">
                <a:xfrm flipH="1">
                  <a:off x="3168" y="3936"/>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36883" name="Text Box 72"/>
              <p:cNvSpPr txBox="1">
                <a:spLocks noChangeArrowheads="1"/>
              </p:cNvSpPr>
              <p:nvPr/>
            </p:nvSpPr>
            <p:spPr bwMode="auto">
              <a:xfrm>
                <a:off x="3460" y="899"/>
                <a:ext cx="3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rPr>
                  <a:t>O</a:t>
                </a:r>
                <a:endParaRPr kumimoji="1" lang="en-US" altLang="zh-CN">
                  <a:latin typeface="Times New Roman" panose="02020603050405020304" pitchFamily="18" charset="0"/>
                </a:endParaRPr>
              </a:p>
            </p:txBody>
          </p:sp>
          <p:sp>
            <p:nvSpPr>
              <p:cNvPr id="36884" name="Line 73"/>
              <p:cNvSpPr>
                <a:spLocks noChangeShapeType="1"/>
              </p:cNvSpPr>
              <p:nvPr/>
            </p:nvSpPr>
            <p:spPr bwMode="auto">
              <a:xfrm>
                <a:off x="3587" y="1156"/>
                <a:ext cx="0" cy="27"/>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85" name="Line 74"/>
              <p:cNvSpPr>
                <a:spLocks noChangeShapeType="1"/>
              </p:cNvSpPr>
              <p:nvPr/>
            </p:nvSpPr>
            <p:spPr bwMode="auto">
              <a:xfrm>
                <a:off x="3878" y="1007"/>
                <a:ext cx="348"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6886" name="Text Box 75"/>
              <p:cNvSpPr txBox="1">
                <a:spLocks noChangeArrowheads="1"/>
              </p:cNvSpPr>
              <p:nvPr/>
            </p:nvSpPr>
            <p:spPr bwMode="auto">
              <a:xfrm>
                <a:off x="3958" y="754"/>
                <a:ext cx="1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rPr>
                  <a:t>u</a:t>
                </a:r>
                <a:endParaRPr kumimoji="1" lang="en-US" altLang="zh-CN" i="1">
                  <a:latin typeface="Times New Roman" panose="02020603050405020304" pitchFamily="18" charset="0"/>
                </a:endParaRPr>
              </a:p>
            </p:txBody>
          </p:sp>
          <p:sp>
            <p:nvSpPr>
              <p:cNvPr id="36887" name="Line 76"/>
              <p:cNvSpPr>
                <a:spLocks noChangeShapeType="1"/>
              </p:cNvSpPr>
              <p:nvPr/>
            </p:nvSpPr>
            <p:spPr bwMode="auto">
              <a:xfrm>
                <a:off x="3587" y="1211"/>
                <a:ext cx="0" cy="247"/>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88" name="Line 77"/>
              <p:cNvSpPr>
                <a:spLocks noChangeShapeType="1"/>
              </p:cNvSpPr>
              <p:nvPr/>
            </p:nvSpPr>
            <p:spPr bwMode="auto">
              <a:xfrm>
                <a:off x="3587" y="1370"/>
                <a:ext cx="1140"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6889" name="Text Box 78"/>
              <p:cNvSpPr txBox="1">
                <a:spLocks noChangeArrowheads="1"/>
              </p:cNvSpPr>
              <p:nvPr/>
            </p:nvSpPr>
            <p:spPr bwMode="auto">
              <a:xfrm>
                <a:off x="5148" y="1215"/>
                <a:ext cx="1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rPr>
                  <a:t>x</a:t>
                </a:r>
                <a:endParaRPr kumimoji="1" lang="en-US" altLang="zh-CN" i="1">
                  <a:latin typeface="Times New Roman" panose="02020603050405020304" pitchFamily="18" charset="0"/>
                </a:endParaRPr>
              </a:p>
            </p:txBody>
          </p:sp>
          <p:sp>
            <p:nvSpPr>
              <p:cNvPr id="36890" name="Text Box 79"/>
              <p:cNvSpPr txBox="1">
                <a:spLocks noChangeArrowheads="1"/>
              </p:cNvSpPr>
              <p:nvPr/>
            </p:nvSpPr>
            <p:spPr bwMode="auto">
              <a:xfrm>
                <a:off x="4286" y="709"/>
                <a:ext cx="5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dirty="0">
                    <a:latin typeface="Times New Roman" panose="02020603050405020304" pitchFamily="18" charset="0"/>
                  </a:rPr>
                  <a:t>波疏</a:t>
                </a:r>
                <a:endParaRPr kumimoji="1" lang="zh-CN" altLang="en-US" b="1" dirty="0">
                  <a:latin typeface="Times New Roman" panose="02020603050405020304" pitchFamily="18" charset="0"/>
                </a:endParaRPr>
              </a:p>
            </p:txBody>
          </p:sp>
          <p:sp>
            <p:nvSpPr>
              <p:cNvPr id="36891" name="Text Box 80"/>
              <p:cNvSpPr txBox="1">
                <a:spLocks noChangeArrowheads="1"/>
              </p:cNvSpPr>
              <p:nvPr/>
            </p:nvSpPr>
            <p:spPr bwMode="auto">
              <a:xfrm>
                <a:off x="4890" y="709"/>
                <a:ext cx="5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dirty="0">
                    <a:latin typeface="Times New Roman" panose="02020603050405020304" pitchFamily="18" charset="0"/>
                  </a:rPr>
                  <a:t>波密</a:t>
                </a:r>
                <a:endParaRPr kumimoji="1" lang="zh-CN" altLang="en-US" b="1" dirty="0">
                  <a:latin typeface="Times New Roman" panose="02020603050405020304" pitchFamily="18" charset="0"/>
                </a:endParaRPr>
              </a:p>
            </p:txBody>
          </p:sp>
          <p:graphicFrame>
            <p:nvGraphicFramePr>
              <p:cNvPr id="36873" name="Object 81"/>
              <p:cNvGraphicFramePr>
                <a:graphicFrameLocks noChangeAspect="1"/>
              </p:cNvGraphicFramePr>
              <p:nvPr/>
            </p:nvGraphicFramePr>
            <p:xfrm>
              <a:off x="4018" y="1214"/>
              <a:ext cx="244" cy="311"/>
            </p:xfrm>
            <a:graphic>
              <a:graphicData uri="http://schemas.openxmlformats.org/presentationml/2006/ole">
                <mc:AlternateContent xmlns:mc="http://schemas.openxmlformats.org/markup-compatibility/2006">
                  <mc:Choice xmlns:v="urn:schemas-microsoft-com:vml" Requires="v">
                    <p:oleObj spid="_x0000_s37123" name="公式" r:id="rId4" imgW="266700" imgH="393065" progId="Equation.3">
                      <p:embed/>
                    </p:oleObj>
                  </mc:Choice>
                  <mc:Fallback>
                    <p:oleObj name="公式" r:id="rId4" imgW="266700" imgH="393065" progId="Equation.3">
                      <p:embed/>
                      <p:pic>
                        <p:nvPicPr>
                          <p:cNvPr id="0" name="Object 8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8" y="1214"/>
                            <a:ext cx="244" cy="311"/>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92" name="Text Box 82"/>
              <p:cNvSpPr txBox="1">
                <a:spLocks noChangeArrowheads="1"/>
              </p:cNvSpPr>
              <p:nvPr/>
            </p:nvSpPr>
            <p:spPr bwMode="auto">
              <a:xfrm>
                <a:off x="4785" y="1207"/>
                <a:ext cx="3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rPr>
                  <a:t>P</a:t>
                </a:r>
                <a:endParaRPr kumimoji="1" lang="en-US" altLang="zh-CN">
                  <a:latin typeface="Times New Roman" panose="02020603050405020304" pitchFamily="18" charset="0"/>
                </a:endParaRPr>
              </a:p>
            </p:txBody>
          </p:sp>
        </p:grpSp>
      </p:grpSp>
      <p:sp>
        <p:nvSpPr>
          <p:cNvPr id="2" name="矩形 1"/>
          <p:cNvSpPr/>
          <p:nvPr/>
        </p:nvSpPr>
        <p:spPr>
          <a:xfrm>
            <a:off x="1072929" y="3781986"/>
            <a:ext cx="3998664" cy="461665"/>
          </a:xfrm>
          <a:prstGeom prst="rect">
            <a:avLst/>
          </a:prstGeom>
        </p:spPr>
        <p:txBody>
          <a:bodyPr wrap="square">
            <a:spAutoFit/>
          </a:bodyPr>
          <a:lstStyle/>
          <a:p>
            <a:r>
              <a:rPr kumimoji="1" lang="zh-CN" altLang="en-US" b="1" dirty="0">
                <a:latin typeface="Times New Roman" panose="02020603050405020304" pitchFamily="18" charset="0"/>
              </a:rPr>
              <a:t>入射波在</a:t>
            </a:r>
            <a:r>
              <a:rPr kumimoji="1" lang="en-US" altLang="zh-CN" b="1" dirty="0">
                <a:latin typeface="Times New Roman" panose="02020603050405020304" pitchFamily="18" charset="0"/>
              </a:rPr>
              <a:t>O</a:t>
            </a:r>
            <a:r>
              <a:rPr kumimoji="1" lang="zh-CN" altLang="en-US" b="1" dirty="0">
                <a:latin typeface="Times New Roman" panose="02020603050405020304" pitchFamily="18" charset="0"/>
              </a:rPr>
              <a:t>点的振动表达式</a:t>
            </a:r>
            <a:endParaRPr lang="zh-CN" altLang="en-US" dirty="0"/>
          </a:p>
        </p:txBody>
      </p:sp>
      <p:graphicFrame>
        <p:nvGraphicFramePr>
          <p:cNvPr id="39" name="Object 7"/>
          <p:cNvGraphicFramePr>
            <a:graphicFrameLocks noChangeAspect="1"/>
          </p:cNvGraphicFramePr>
          <p:nvPr/>
        </p:nvGraphicFramePr>
        <p:xfrm>
          <a:off x="1129292" y="5917123"/>
          <a:ext cx="5668962" cy="746125"/>
        </p:xfrm>
        <a:graphic>
          <a:graphicData uri="http://schemas.openxmlformats.org/presentationml/2006/ole">
            <mc:AlternateContent xmlns:mc="http://schemas.openxmlformats.org/markup-compatibility/2006">
              <mc:Choice xmlns:v="urn:schemas-microsoft-com:vml" Requires="v">
                <p:oleObj spid="_x0000_s37124" name="Equation" r:id="rId6" imgW="2576195" imgH="345440" progId="Equation.DSMT4">
                  <p:embed/>
                </p:oleObj>
              </mc:Choice>
              <mc:Fallback>
                <p:oleObj name="Equation" r:id="rId6" imgW="2576195" imgH="34544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black">
                      <a:xfrm>
                        <a:off x="1129292" y="5917123"/>
                        <a:ext cx="5668962" cy="74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3" name="矩形 2"/>
              <p:cNvSpPr/>
              <p:nvPr/>
            </p:nvSpPr>
            <p:spPr>
              <a:xfrm>
                <a:off x="1072929" y="2945813"/>
                <a:ext cx="4127477" cy="72487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入</m:t>
                              </m:r>
                            </m:sub>
                          </m:sSub>
                          <m:r>
                            <a:rPr lang="zh-CN" altLang="en-US" i="0">
                              <a:latin typeface="Cambria Math" panose="02040503050406030204" pitchFamily="18" charset="0"/>
                            </a:rPr>
                            <m:t>=</m:t>
                          </m:r>
                          <m:r>
                            <a:rPr lang="zh-CN" altLang="en-US" i="1">
                              <a:latin typeface="Cambria Math" panose="02040503050406030204" pitchFamily="18" charset="0"/>
                            </a:rPr>
                            <m:t>𝐴</m:t>
                          </m:r>
                          <m:r>
                            <m:rPr>
                              <m:sty m:val="p"/>
                            </m:rPr>
                            <a:rPr lang="zh-CN" altLang="en-US" i="0">
                              <a:latin typeface="Cambria Math" panose="02040503050406030204" pitchFamily="18" charset="0"/>
                            </a:rPr>
                            <m:t>cos</m:t>
                          </m:r>
                          <m:r>
                            <a:rPr lang="zh-CN" altLang="en-US" i="0">
                              <a:latin typeface="Cambria Math" panose="02040503050406030204" pitchFamily="18" charset="0"/>
                            </a:rPr>
                            <m:t>[</m:t>
                          </m:r>
                          <m:r>
                            <a:rPr lang="zh-CN" altLang="en-US" i="0">
                              <a:latin typeface="Cambria Math" panose="02040503050406030204" pitchFamily="18" charset="0"/>
                            </a:rPr>
                            <m:t>2</m:t>
                          </m:r>
                          <m:r>
                            <m:rPr>
                              <m:nor/>
                            </m:rPr>
                            <a:rPr lang="zh-CN" altLang="en-US" i="1">
                              <a:latin typeface="Cambria Math" panose="02040503050406030204" pitchFamily="18" charset="0"/>
                            </a:rPr>
                            <m:t>π</m:t>
                          </m:r>
                          <m:r>
                            <a:rPr lang="zh-CN" altLang="en-US" i="1">
                              <a:latin typeface="Cambria Math" panose="02040503050406030204" pitchFamily="18" charset="0"/>
                            </a:rPr>
                            <m:t>𝜈</m:t>
                          </m:r>
                          <m:r>
                            <a:rPr lang="zh-CN" altLang="en-US" i="0">
                              <a:latin typeface="Cambria Math" panose="02040503050406030204" pitchFamily="18" charset="0"/>
                            </a:rPr>
                            <m:t>(</m:t>
                          </m:r>
                          <m:r>
                            <a:rPr lang="zh-CN" altLang="en-US" i="1">
                              <a:latin typeface="Cambria Math" panose="02040503050406030204" pitchFamily="18" charset="0"/>
                            </a:rPr>
                            <m:t>𝑡</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𝑥</m:t>
                              </m:r>
                            </m:num>
                            <m:den>
                              <m:r>
                                <a:rPr lang="zh-CN" altLang="en-US" i="1">
                                  <a:latin typeface="Cambria Math" panose="02040503050406030204" pitchFamily="18" charset="0"/>
                                </a:rPr>
                                <m:t>𝑢</m:t>
                              </m:r>
                            </m:den>
                          </m:f>
                          <m:r>
                            <a:rPr lang="zh-CN" altLang="en-US" i="0">
                              <a:latin typeface="Cambria Math" panose="02040503050406030204" pitchFamily="18" charset="0"/>
                            </a:rPr>
                            <m:t>)</m:t>
                          </m:r>
                          <m:r>
                            <a:rPr lang="zh-CN" altLang="en-US">
                              <a:latin typeface="Cambria Math" panose="02040503050406030204" pitchFamily="18" charset="0"/>
                            </a:rPr>
                            <m:t>+</m:t>
                          </m:r>
                          <m:r>
                            <a:rPr lang="zh-CN" altLang="en-US" i="1">
                              <a:latin typeface="Cambria Math" panose="02040503050406030204" pitchFamily="18" charset="0"/>
                            </a:rPr>
                            <m:t>𝜑</m:t>
                          </m:r>
                          <m:r>
                            <m:rPr>
                              <m:nor/>
                            </m:rPr>
                            <a:rPr lang="zh-CN" altLang="en-US" dirty="0">
                              <a:latin typeface="Cambria Math" panose="02040503050406030204" pitchFamily="18" charset="0"/>
                            </a:rPr>
                            <m:t> </m:t>
                          </m:r>
                        </m:e>
                      </m:d>
                    </m:oMath>
                  </m:oMathPara>
                </a14:m>
                <a:endParaRPr lang="zh-CN" altLang="en-US" dirty="0"/>
              </a:p>
            </p:txBody>
          </p:sp>
        </mc:Choice>
        <mc:Fallback>
          <p:sp>
            <p:nvSpPr>
              <p:cNvPr id="3" name="矩形 2"/>
              <p:cNvSpPr>
                <a:spLocks noRot="1" noChangeAspect="1" noMove="1" noResize="1" noEditPoints="1" noAdjustHandles="1" noChangeArrowheads="1" noChangeShapeType="1" noTextEdit="1"/>
              </p:cNvSpPr>
              <p:nvPr/>
            </p:nvSpPr>
            <p:spPr>
              <a:xfrm>
                <a:off x="1072929" y="2945813"/>
                <a:ext cx="4127477" cy="724878"/>
              </a:xfrm>
              <a:prstGeom prst="rect">
                <a:avLst/>
              </a:prstGeom>
              <a:blipFill rotWithShape="1">
                <a:blip r:embed="rId8"/>
                <a:stretch>
                  <a:fillRect l="-10" t="-7" r="9" b="5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1102663" y="4312412"/>
                <a:ext cx="3455241" cy="64504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入</m:t>
                              </m:r>
                              <m:r>
                                <a:rPr lang="zh-CN" altLang="en-US" i="1">
                                  <a:latin typeface="Cambria Math" panose="02040503050406030204" pitchFamily="18" charset="0"/>
                                </a:rPr>
                                <m:t>𝑂</m:t>
                              </m:r>
                            </m:sub>
                          </m:sSub>
                          <m:r>
                            <a:rPr lang="zh-CN" altLang="en-US" i="0">
                              <a:latin typeface="Cambria Math" panose="02040503050406030204" pitchFamily="18" charset="0"/>
                            </a:rPr>
                            <m:t>=</m:t>
                          </m:r>
                          <m:r>
                            <a:rPr lang="zh-CN" altLang="en-US" i="1">
                              <a:latin typeface="Cambria Math" panose="02040503050406030204" pitchFamily="18" charset="0"/>
                            </a:rPr>
                            <m:t>𝐴</m:t>
                          </m:r>
                          <m:r>
                            <m:rPr>
                              <m:sty m:val="p"/>
                            </m:rPr>
                            <a:rPr lang="zh-CN" altLang="en-US" i="0">
                              <a:latin typeface="Cambria Math" panose="02040503050406030204" pitchFamily="18" charset="0"/>
                            </a:rPr>
                            <m:t>cos</m:t>
                          </m:r>
                          <m:r>
                            <a:rPr lang="zh-CN" altLang="en-US" i="0">
                              <a:latin typeface="Cambria Math" panose="02040503050406030204" pitchFamily="18" charset="0"/>
                            </a:rPr>
                            <m:t>(</m:t>
                          </m:r>
                          <m:r>
                            <a:rPr lang="zh-CN" altLang="en-US" i="0">
                              <a:latin typeface="Cambria Math" panose="02040503050406030204" pitchFamily="18" charset="0"/>
                            </a:rPr>
                            <m:t>2</m:t>
                          </m:r>
                          <m:r>
                            <m:rPr>
                              <m:nor/>
                            </m:rPr>
                            <a:rPr lang="zh-CN" altLang="en-US" i="1">
                              <a:latin typeface="Cambria Math" panose="02040503050406030204" pitchFamily="18" charset="0"/>
                            </a:rPr>
                            <m:t>π</m:t>
                          </m:r>
                          <m:r>
                            <a:rPr lang="zh-CN" altLang="en-US" i="1">
                              <a:latin typeface="Cambria Math" panose="02040503050406030204" pitchFamily="18" charset="0"/>
                            </a:rPr>
                            <m:t>𝜈</m:t>
                          </m:r>
                          <m:r>
                            <a:rPr lang="zh-CN" altLang="en-US" i="1">
                              <a:latin typeface="Cambria Math" panose="02040503050406030204" pitchFamily="18" charset="0"/>
                            </a:rPr>
                            <m:t>𝑡</m:t>
                          </m:r>
                          <m:r>
                            <a:rPr lang="zh-CN" altLang="en-US">
                              <a:latin typeface="Cambria Math" panose="02040503050406030204" pitchFamily="18" charset="0"/>
                            </a:rPr>
                            <m:t>+</m:t>
                          </m:r>
                          <m:r>
                            <a:rPr lang="zh-CN" altLang="en-US" i="1">
                              <a:latin typeface="Cambria Math" panose="02040503050406030204" pitchFamily="18" charset="0"/>
                            </a:rPr>
                            <m:t>𝜑</m:t>
                          </m:r>
                        </m:e>
                      </m:d>
                    </m:oMath>
                  </m:oMathPara>
                </a14:m>
                <a:endParaRPr lang="zh-CN" altLang="en-US" dirty="0"/>
              </a:p>
            </p:txBody>
          </p:sp>
        </mc:Choice>
        <mc:Fallback>
          <p:sp>
            <p:nvSpPr>
              <p:cNvPr id="8" name="矩形 7"/>
              <p:cNvSpPr>
                <a:spLocks noRot="1" noChangeAspect="1" noMove="1" noResize="1" noEditPoints="1" noAdjustHandles="1" noChangeArrowheads="1" noChangeShapeType="1" noTextEdit="1"/>
              </p:cNvSpPr>
              <p:nvPr/>
            </p:nvSpPr>
            <p:spPr>
              <a:xfrm>
                <a:off x="1102663" y="4312412"/>
                <a:ext cx="3455241" cy="645048"/>
              </a:xfrm>
              <a:prstGeom prst="rect">
                <a:avLst/>
              </a:prstGeom>
              <a:blipFill rotWithShape="1">
                <a:blip r:embed="rId9"/>
                <a:stretch>
                  <a:fillRect l="-9" t="-20" r="15" b="2"/>
                </a:stretch>
              </a:blipFill>
            </p:spPr>
            <p:txBody>
              <a:bodyPr/>
              <a:lstStyle/>
              <a:p>
                <a:r>
                  <a:rPr lang="zh-CN" altLang="en-US">
                    <a:noFill/>
                  </a:rPr>
                  <a:t> </a:t>
                </a:r>
              </a:p>
            </p:txBody>
          </p:sp>
        </mc:Fallback>
      </mc:AlternateContent>
      <p:sp>
        <p:nvSpPr>
          <p:cNvPr id="9" name="矩形 8"/>
          <p:cNvSpPr/>
          <p:nvPr/>
        </p:nvSpPr>
        <p:spPr>
          <a:xfrm>
            <a:off x="1129292" y="4995768"/>
            <a:ext cx="2628312" cy="902363"/>
          </a:xfrm>
          <a:prstGeom prst="rect">
            <a:avLst/>
          </a:prstGeom>
        </p:spPr>
        <p:txBody>
          <a:bodyPr wrap="square">
            <a:spAutoFit/>
          </a:bodyPr>
          <a:lstStyle/>
          <a:p>
            <a:pPr algn="just" eaLnBrk="1" hangingPunct="1">
              <a:lnSpc>
                <a:spcPct val="115000"/>
              </a:lnSpc>
            </a:pPr>
            <a:r>
              <a:rPr kumimoji="1" lang="en-US" altLang="zh-CN" dirty="0">
                <a:latin typeface="黑体" panose="02010609060101010101" pitchFamily="49" charset="-122"/>
                <a:ea typeface="黑体" panose="02010609060101010101" pitchFamily="49" charset="-122"/>
              </a:rPr>
              <a:t>t=0</a:t>
            </a:r>
            <a:r>
              <a:rPr kumimoji="1" lang="zh-CN" altLang="en-US" dirty="0">
                <a:latin typeface="黑体" panose="02010609060101010101" pitchFamily="49" charset="-122"/>
                <a:ea typeface="黑体" panose="02010609060101010101" pitchFamily="49" charset="-122"/>
              </a:rPr>
              <a:t>时，</a:t>
            </a:r>
            <a:r>
              <a:rPr kumimoji="1" lang="en-US" altLang="zh-CN" dirty="0">
                <a:latin typeface="黑体" panose="02010609060101010101" pitchFamily="49" charset="-122"/>
                <a:ea typeface="黑体" panose="02010609060101010101" pitchFamily="49" charset="-122"/>
              </a:rPr>
              <a:t>O</a:t>
            </a:r>
            <a:r>
              <a:rPr kumimoji="1" lang="zh-CN" altLang="en-US" dirty="0">
                <a:latin typeface="黑体" panose="02010609060101010101" pitchFamily="49" charset="-122"/>
                <a:ea typeface="黑体" panose="02010609060101010101" pitchFamily="49" charset="-122"/>
              </a:rPr>
              <a:t>处由平衡位置向正向运动</a:t>
            </a:r>
            <a:endParaRPr lang="zh-CN" altLang="en-US" dirty="0"/>
          </a:p>
        </p:txBody>
      </p:sp>
      <mc:AlternateContent xmlns:mc="http://schemas.openxmlformats.org/markup-compatibility/2006">
        <mc:Choice xmlns:a14="http://schemas.microsoft.com/office/drawing/2010/main" Requires="a14">
          <p:sp>
            <p:nvSpPr>
              <p:cNvPr id="10" name="矩形 9"/>
              <p:cNvSpPr/>
              <p:nvPr/>
            </p:nvSpPr>
            <p:spPr>
              <a:xfrm>
                <a:off x="4511370" y="5212786"/>
                <a:ext cx="1045671" cy="616259"/>
              </a:xfrm>
              <a:prstGeom prst="rect">
                <a:avLst/>
              </a:prstGeom>
            </p:spPr>
            <p:txBody>
              <a:bodyPr wrap="none">
                <a:spAutoFit/>
              </a:bodyPr>
              <a:lstStyle/>
              <a:p>
                <a14:m>
                  <m:oMath xmlns:m="http://schemas.openxmlformats.org/officeDocument/2006/math">
                    <m:r>
                      <a:rPr lang="zh-CN" altLang="en-US" i="1">
                        <a:latin typeface="Cambria Math" panose="02040503050406030204" pitchFamily="18" charset="0"/>
                      </a:rPr>
                      <m:t>𝜑</m:t>
                    </m:r>
                  </m:oMath>
                </a14:m>
                <a:r>
                  <a:rPr lang="en-US" altLang="zh-CN" dirty="0"/>
                  <a:t>=</a:t>
                </a:r>
                <a14:m>
                  <m:oMath xmlns:m="http://schemas.openxmlformats.org/officeDocument/2006/math">
                    <m:r>
                      <a:rPr lang="zh-CN" altLang="en-US">
                        <a:latin typeface="Cambria Math" panose="02040503050406030204" pitchFamily="18" charset="0"/>
                      </a:rPr>
                      <m:t>−</m:t>
                    </m:r>
                    <m:f>
                      <m:fPr>
                        <m:ctrlPr>
                          <a:rPr lang="zh-CN" altLang="en-US" i="1">
                            <a:latin typeface="Cambria Math" panose="02040503050406030204" pitchFamily="18" charset="0"/>
                          </a:rPr>
                        </m:ctrlPr>
                      </m:fPr>
                      <m:num>
                        <m:r>
                          <m:rPr>
                            <m:nor/>
                          </m:rPr>
                          <a:rPr lang="zh-CN" altLang="en-US" i="1">
                            <a:latin typeface="Cambria Math" panose="02040503050406030204" pitchFamily="18" charset="0"/>
                          </a:rPr>
                          <m:t>π</m:t>
                        </m:r>
                      </m:num>
                      <m:den>
                        <m:r>
                          <a:rPr lang="zh-CN" altLang="en-US">
                            <a:latin typeface="Cambria Math" panose="02040503050406030204" pitchFamily="18" charset="0"/>
                          </a:rPr>
                          <m:t>2</m:t>
                        </m:r>
                      </m:den>
                    </m:f>
                  </m:oMath>
                </a14:m>
                <a:endParaRPr lang="zh-CN" altLang="en-US" dirty="0"/>
              </a:p>
            </p:txBody>
          </p:sp>
        </mc:Choice>
        <mc:Fallback>
          <p:sp>
            <p:nvSpPr>
              <p:cNvPr id="10" name="矩形 9"/>
              <p:cNvSpPr>
                <a:spLocks noRot="1" noChangeAspect="1" noMove="1" noResize="1" noEditPoints="1" noAdjustHandles="1" noChangeArrowheads="1" noChangeShapeType="1" noTextEdit="1"/>
              </p:cNvSpPr>
              <p:nvPr/>
            </p:nvSpPr>
            <p:spPr>
              <a:xfrm>
                <a:off x="4511370" y="5212786"/>
                <a:ext cx="1045671" cy="616259"/>
              </a:xfrm>
              <a:prstGeom prst="rect">
                <a:avLst/>
              </a:prstGeom>
              <a:blipFill rotWithShape="1">
                <a:blip r:embed="rId10"/>
                <a:stretch>
                  <a:fillRect l="-32" t="-12" r="15" b="62"/>
                </a:stretch>
              </a:blipFill>
            </p:spPr>
            <p:txBody>
              <a:bodyPr/>
              <a:lstStyle/>
              <a:p>
                <a:r>
                  <a:rPr lang="zh-CN" altLang="en-US">
                    <a:noFill/>
                  </a:rPr>
                  <a:t> </a:t>
                </a:r>
              </a:p>
            </p:txBody>
          </p:sp>
        </mc:Fallback>
      </mc:AlternateContent>
      <p:sp>
        <p:nvSpPr>
          <p:cNvPr id="12" name="矩形 11"/>
          <p:cNvSpPr/>
          <p:nvPr/>
        </p:nvSpPr>
        <p:spPr>
          <a:xfrm>
            <a:off x="686195" y="764944"/>
            <a:ext cx="4572000" cy="1312282"/>
          </a:xfrm>
          <a:prstGeom prst="rect">
            <a:avLst/>
          </a:prstGeom>
        </p:spPr>
        <p:txBody>
          <a:bodyPr>
            <a:spAutoFit/>
          </a:bodyPr>
          <a:lstStyle/>
          <a:p>
            <a:pPr algn="just" eaLnBrk="1" hangingPunct="1">
              <a:lnSpc>
                <a:spcPct val="115000"/>
              </a:lnSpc>
            </a:pPr>
            <a:r>
              <a:rPr kumimoji="1" lang="en-US" altLang="zh-CN" dirty="0">
                <a:latin typeface="黑体" panose="02010609060101010101" pitchFamily="49" charset="-122"/>
                <a:ea typeface="黑体" panose="02010609060101010101" pitchFamily="49" charset="-122"/>
              </a:rPr>
              <a:t>(1) t=0</a:t>
            </a:r>
            <a:r>
              <a:rPr kumimoji="1" lang="zh-CN" altLang="en-US" dirty="0">
                <a:latin typeface="黑体" panose="02010609060101010101" pitchFamily="49" charset="-122"/>
                <a:ea typeface="黑体" panose="02010609060101010101" pitchFamily="49" charset="-122"/>
              </a:rPr>
              <a:t>时，入射波在原点</a:t>
            </a:r>
            <a:r>
              <a:rPr kumimoji="1" lang="en-US" altLang="zh-CN" dirty="0">
                <a:latin typeface="黑体" panose="02010609060101010101" pitchFamily="49" charset="-122"/>
                <a:ea typeface="黑体" panose="02010609060101010101" pitchFamily="49" charset="-122"/>
              </a:rPr>
              <a:t>o</a:t>
            </a:r>
            <a:r>
              <a:rPr kumimoji="1" lang="zh-CN" altLang="en-US" dirty="0">
                <a:latin typeface="黑体" panose="02010609060101010101" pitchFamily="49" charset="-122"/>
                <a:ea typeface="黑体" panose="02010609060101010101" pitchFamily="49" charset="-122"/>
              </a:rPr>
              <a:t>处引起质元由平衡置向位移为正的方向运动，写出波表达式</a:t>
            </a:r>
            <a:endParaRPr kumimoji="1"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88068"/>
                                        </p:tgtEl>
                                        <p:attrNameLst>
                                          <p:attrName>style.visibility</p:attrName>
                                        </p:attrNameLst>
                                      </p:cBhvr>
                                      <p:to>
                                        <p:strVal val="visible"/>
                                      </p:to>
                                    </p:set>
                                    <p:anim calcmode="discrete" valueType="clr">
                                      <p:cBhvr override="childStyle">
                                        <p:cTn id="7" dur="80"/>
                                        <p:tgtEl>
                                          <p:spTgt spid="88068"/>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88068"/>
                                        </p:tgtEl>
                                        <p:attrNameLst>
                                          <p:attrName>fillcolor</p:attrName>
                                        </p:attrNameLst>
                                      </p:cBhvr>
                                      <p:tavLst>
                                        <p:tav tm="0">
                                          <p:val>
                                            <p:clrVal>
                                              <a:schemeClr val="accent2"/>
                                            </p:clrVal>
                                          </p:val>
                                        </p:tav>
                                        <p:tav tm="50000">
                                          <p:val>
                                            <p:clrVal>
                                              <a:schemeClr val="hlink"/>
                                            </p:clrVal>
                                          </p:val>
                                        </p:tav>
                                      </p:tavLst>
                                    </p:anim>
                                    <p:set>
                                      <p:cBhvr>
                                        <p:cTn id="9" dur="80"/>
                                        <p:tgtEl>
                                          <p:spTgt spid="88068"/>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88070"/>
                                        </p:tgtEl>
                                        <p:attrNameLst>
                                          <p:attrName>style.visibility</p:attrName>
                                        </p:attrNameLst>
                                      </p:cBhvr>
                                      <p:to>
                                        <p:strVal val="visible"/>
                                      </p:to>
                                    </p:set>
                                    <p:anim calcmode="discrete" valueType="clr">
                                      <p:cBhvr override="childStyle">
                                        <p:cTn id="14" dur="80"/>
                                        <p:tgtEl>
                                          <p:spTgt spid="88070"/>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88070"/>
                                        </p:tgtEl>
                                        <p:attrNameLst>
                                          <p:attrName>fillcolor</p:attrName>
                                        </p:attrNameLst>
                                      </p:cBhvr>
                                      <p:tavLst>
                                        <p:tav tm="0">
                                          <p:val>
                                            <p:clrVal>
                                              <a:schemeClr val="accent2"/>
                                            </p:clrVal>
                                          </p:val>
                                        </p:tav>
                                        <p:tav tm="50000">
                                          <p:val>
                                            <p:clrVal>
                                              <a:schemeClr val="hlink"/>
                                            </p:clrVal>
                                          </p:val>
                                        </p:tav>
                                      </p:tavLst>
                                    </p:anim>
                                    <p:set>
                                      <p:cBhvr>
                                        <p:cTn id="16" dur="80"/>
                                        <p:tgtEl>
                                          <p:spTgt spid="88070"/>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arn(inVertical)">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down)">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blinds(horizontal)">
                                      <p:cBhvr>
                                        <p:cTn id="4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p:bldP spid="88070" grpId="0"/>
      <p:bldP spid="2" grpId="0"/>
      <p:bldP spid="3" grpId="0"/>
      <p:bldP spid="8" grpId="0"/>
      <p:bldP spid="9" grpId="0"/>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72" name="Text Box 8"/>
          <p:cNvSpPr txBox="1">
            <a:spLocks noChangeArrowheads="1"/>
          </p:cNvSpPr>
          <p:nvPr/>
        </p:nvSpPr>
        <p:spPr bwMode="auto">
          <a:xfrm>
            <a:off x="601296" y="2709678"/>
            <a:ext cx="3373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latin typeface="Times New Roman" panose="02020603050405020304" pitchFamily="18" charset="0"/>
              </a:rPr>
              <a:t>(2) </a:t>
            </a:r>
            <a:r>
              <a:rPr kumimoji="1" lang="zh-CN" altLang="en-US" b="1">
                <a:latin typeface="Times New Roman" panose="02020603050405020304" pitchFamily="18" charset="0"/>
              </a:rPr>
              <a:t>设反射波的表达式为</a:t>
            </a:r>
            <a:endParaRPr kumimoji="1" lang="zh-CN" altLang="en-US" b="1">
              <a:latin typeface="Times New Roman" panose="02020603050405020304" pitchFamily="18" charset="0"/>
            </a:endParaRPr>
          </a:p>
        </p:txBody>
      </p:sp>
      <p:graphicFrame>
        <p:nvGraphicFramePr>
          <p:cNvPr id="88073" name="Object 9"/>
          <p:cNvGraphicFramePr>
            <a:graphicFrameLocks noChangeAspect="1"/>
          </p:cNvGraphicFramePr>
          <p:nvPr/>
        </p:nvGraphicFramePr>
        <p:xfrm>
          <a:off x="1150571" y="3192278"/>
          <a:ext cx="5637213" cy="746125"/>
        </p:xfrm>
        <a:graphic>
          <a:graphicData uri="http://schemas.openxmlformats.org/presentationml/2006/ole">
            <mc:AlternateContent xmlns:mc="http://schemas.openxmlformats.org/markup-compatibility/2006">
              <mc:Choice xmlns:v="urn:schemas-microsoft-com:vml" Requires="v">
                <p:oleObj spid="_x0000_s47201" name="Equation" r:id="rId1" imgW="2553335" imgH="345440" progId="Equation.DSMT4">
                  <p:embed/>
                </p:oleObj>
              </mc:Choice>
              <mc:Fallback>
                <p:oleObj name="Equation" r:id="rId1" imgW="2553335" imgH="345440" progId="Equation.DSMT4">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
                      <a:xfrm>
                        <a:off x="1150571" y="3192278"/>
                        <a:ext cx="5637213" cy="74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8074" name="Text Box 10"/>
          <p:cNvSpPr txBox="1">
            <a:spLocks noChangeArrowheads="1"/>
          </p:cNvSpPr>
          <p:nvPr/>
        </p:nvSpPr>
        <p:spPr bwMode="auto">
          <a:xfrm>
            <a:off x="1053734" y="3984441"/>
            <a:ext cx="3433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Times New Roman" panose="02020603050405020304" pitchFamily="18" charset="0"/>
              </a:rPr>
              <a:t>在</a:t>
            </a:r>
            <a:r>
              <a:rPr kumimoji="1" lang="en-US" altLang="zh-CN" b="1">
                <a:latin typeface="Times New Roman" panose="02020603050405020304" pitchFamily="18" charset="0"/>
              </a:rPr>
              <a:t>P</a:t>
            </a:r>
            <a:r>
              <a:rPr kumimoji="1" lang="zh-CN" altLang="en-US" b="1">
                <a:latin typeface="Times New Roman" panose="02020603050405020304" pitchFamily="18" charset="0"/>
              </a:rPr>
              <a:t>点，入射波的相位为</a:t>
            </a:r>
            <a:endParaRPr kumimoji="1" lang="zh-CN" altLang="en-US" b="1">
              <a:latin typeface="Times New Roman" panose="02020603050405020304" pitchFamily="18" charset="0"/>
            </a:endParaRPr>
          </a:p>
        </p:txBody>
      </p:sp>
      <p:graphicFrame>
        <p:nvGraphicFramePr>
          <p:cNvPr id="88075" name="Object 11"/>
          <p:cNvGraphicFramePr>
            <a:graphicFrameLocks noChangeAspect="1"/>
          </p:cNvGraphicFramePr>
          <p:nvPr/>
        </p:nvGraphicFramePr>
        <p:xfrm>
          <a:off x="3523884" y="4441641"/>
          <a:ext cx="2786062" cy="746125"/>
        </p:xfrm>
        <a:graphic>
          <a:graphicData uri="http://schemas.openxmlformats.org/presentationml/2006/ole">
            <mc:AlternateContent xmlns:mc="http://schemas.openxmlformats.org/markup-compatibility/2006">
              <mc:Choice xmlns:v="urn:schemas-microsoft-com:vml" Requires="v">
                <p:oleObj spid="_x0000_s47202" name="Equation" r:id="rId3" imgW="1259840" imgH="345440" progId="Equation.DSMT4">
                  <p:embed/>
                </p:oleObj>
              </mc:Choice>
              <mc:Fallback>
                <p:oleObj name="Equation" r:id="rId3" imgW="1259840" imgH="34544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3523884" y="4441641"/>
                        <a:ext cx="2786062" cy="74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8076" name="Text Box 12"/>
          <p:cNvSpPr txBox="1">
            <a:spLocks noChangeArrowheads="1"/>
          </p:cNvSpPr>
          <p:nvPr/>
        </p:nvSpPr>
        <p:spPr bwMode="auto">
          <a:xfrm>
            <a:off x="1053734" y="5256028"/>
            <a:ext cx="232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Times New Roman" panose="02020603050405020304" pitchFamily="18" charset="0"/>
              </a:rPr>
              <a:t>反射波的相位为</a:t>
            </a:r>
            <a:endParaRPr kumimoji="1" lang="zh-CN" altLang="en-US" b="1">
              <a:latin typeface="Times New Roman" panose="02020603050405020304" pitchFamily="18" charset="0"/>
            </a:endParaRPr>
          </a:p>
        </p:txBody>
      </p:sp>
      <p:graphicFrame>
        <p:nvGraphicFramePr>
          <p:cNvPr id="88077" name="Object 13"/>
          <p:cNvGraphicFramePr>
            <a:graphicFrameLocks noChangeAspect="1"/>
          </p:cNvGraphicFramePr>
          <p:nvPr/>
        </p:nvGraphicFramePr>
        <p:xfrm>
          <a:off x="3525471" y="5136966"/>
          <a:ext cx="2784475" cy="746125"/>
        </p:xfrm>
        <a:graphic>
          <a:graphicData uri="http://schemas.openxmlformats.org/presentationml/2006/ole">
            <mc:AlternateContent xmlns:mc="http://schemas.openxmlformats.org/markup-compatibility/2006">
              <mc:Choice xmlns:v="urn:schemas-microsoft-com:vml" Requires="v">
                <p:oleObj spid="_x0000_s47203" name="Equation" r:id="rId5" imgW="1259840" imgH="345440" progId="Equation.DSMT4">
                  <p:embed/>
                </p:oleObj>
              </mc:Choice>
              <mc:Fallback>
                <p:oleObj name="Equation" r:id="rId5" imgW="1259840" imgH="345440"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3525471" y="5136966"/>
                        <a:ext cx="2784475" cy="74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1" name="Object 1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47204" name="公式" r:id="rId7" imgW="114300" imgH="215900" progId="Equation.3">
                  <p:embed/>
                </p:oleObj>
              </mc:Choice>
              <mc:Fallback>
                <p:oleObj name="公式" r:id="rId7" imgW="114300" imgH="2159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2" name="Object 15"/>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47205" name="公式" r:id="rId9" imgW="114300" imgH="215900" progId="Equation.3">
                  <p:embed/>
                </p:oleObj>
              </mc:Choice>
              <mc:Fallback>
                <p:oleObj name="公式" r:id="rId9" imgW="114300" imgH="2159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6879" name="Group 84"/>
          <p:cNvGrpSpPr/>
          <p:nvPr/>
        </p:nvGrpSpPr>
        <p:grpSpPr bwMode="auto">
          <a:xfrm>
            <a:off x="5634312" y="650757"/>
            <a:ext cx="3311525" cy="1295400"/>
            <a:chOff x="3561" y="709"/>
            <a:chExt cx="2086" cy="816"/>
          </a:xfrm>
        </p:grpSpPr>
        <p:sp>
          <p:nvSpPr>
            <p:cNvPr id="36880" name="Line 61"/>
            <p:cNvSpPr>
              <a:spLocks noChangeShapeType="1"/>
            </p:cNvSpPr>
            <p:nvPr/>
          </p:nvSpPr>
          <p:spPr bwMode="auto">
            <a:xfrm>
              <a:off x="3561" y="1183"/>
              <a:ext cx="1814"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36881" name="Group 83"/>
            <p:cNvGrpSpPr/>
            <p:nvPr/>
          </p:nvGrpSpPr>
          <p:grpSpPr bwMode="auto">
            <a:xfrm>
              <a:off x="3687" y="709"/>
              <a:ext cx="1960" cy="816"/>
              <a:chOff x="3460" y="709"/>
              <a:chExt cx="1960" cy="816"/>
            </a:xfrm>
          </p:grpSpPr>
          <p:grpSp>
            <p:nvGrpSpPr>
              <p:cNvPr id="36882" name="Group 62"/>
              <p:cNvGrpSpPr/>
              <p:nvPr/>
            </p:nvGrpSpPr>
            <p:grpSpPr bwMode="auto">
              <a:xfrm>
                <a:off x="4759" y="854"/>
                <a:ext cx="63" cy="658"/>
                <a:chOff x="3168" y="2928"/>
                <a:chExt cx="96" cy="1152"/>
              </a:xfrm>
            </p:grpSpPr>
            <p:sp>
              <p:nvSpPr>
                <p:cNvPr id="36893" name="Line 63"/>
                <p:cNvSpPr>
                  <a:spLocks noChangeShapeType="1"/>
                </p:cNvSpPr>
                <p:nvPr/>
              </p:nvSpPr>
              <p:spPr bwMode="auto">
                <a:xfrm>
                  <a:off x="3168" y="2928"/>
                  <a:ext cx="0" cy="1152"/>
                </a:xfrm>
                <a:prstGeom prst="line">
                  <a:avLst/>
                </a:prstGeom>
                <a:noFill/>
                <a:ln w="5715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94" name="Line 64"/>
                <p:cNvSpPr>
                  <a:spLocks noChangeShapeType="1"/>
                </p:cNvSpPr>
                <p:nvPr/>
              </p:nvSpPr>
              <p:spPr bwMode="auto">
                <a:xfrm flipH="1">
                  <a:off x="3168" y="292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95" name="Line 65"/>
                <p:cNvSpPr>
                  <a:spLocks noChangeShapeType="1"/>
                </p:cNvSpPr>
                <p:nvPr/>
              </p:nvSpPr>
              <p:spPr bwMode="auto">
                <a:xfrm flipH="1">
                  <a:off x="3168" y="3072"/>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96" name="Line 66"/>
                <p:cNvSpPr>
                  <a:spLocks noChangeShapeType="1"/>
                </p:cNvSpPr>
                <p:nvPr/>
              </p:nvSpPr>
              <p:spPr bwMode="auto">
                <a:xfrm flipH="1">
                  <a:off x="3168" y="3216"/>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97" name="Line 67"/>
                <p:cNvSpPr>
                  <a:spLocks noChangeShapeType="1"/>
                </p:cNvSpPr>
                <p:nvPr/>
              </p:nvSpPr>
              <p:spPr bwMode="auto">
                <a:xfrm flipH="1">
                  <a:off x="3168" y="3360"/>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98" name="Line 68"/>
                <p:cNvSpPr>
                  <a:spLocks noChangeShapeType="1"/>
                </p:cNvSpPr>
                <p:nvPr/>
              </p:nvSpPr>
              <p:spPr bwMode="auto">
                <a:xfrm flipH="1">
                  <a:off x="3168" y="3504"/>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99" name="Line 69"/>
                <p:cNvSpPr>
                  <a:spLocks noChangeShapeType="1"/>
                </p:cNvSpPr>
                <p:nvPr/>
              </p:nvSpPr>
              <p:spPr bwMode="auto">
                <a:xfrm flipH="1">
                  <a:off x="3168" y="364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900" name="Line 70"/>
                <p:cNvSpPr>
                  <a:spLocks noChangeShapeType="1"/>
                </p:cNvSpPr>
                <p:nvPr/>
              </p:nvSpPr>
              <p:spPr bwMode="auto">
                <a:xfrm flipH="1">
                  <a:off x="3168" y="3792"/>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901" name="Line 71"/>
                <p:cNvSpPr>
                  <a:spLocks noChangeShapeType="1"/>
                </p:cNvSpPr>
                <p:nvPr/>
              </p:nvSpPr>
              <p:spPr bwMode="auto">
                <a:xfrm flipH="1">
                  <a:off x="3168" y="3936"/>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36883" name="Text Box 72"/>
              <p:cNvSpPr txBox="1">
                <a:spLocks noChangeArrowheads="1"/>
              </p:cNvSpPr>
              <p:nvPr/>
            </p:nvSpPr>
            <p:spPr bwMode="auto">
              <a:xfrm>
                <a:off x="3460" y="899"/>
                <a:ext cx="3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rPr>
                  <a:t>O</a:t>
                </a:r>
                <a:endParaRPr kumimoji="1" lang="en-US" altLang="zh-CN">
                  <a:latin typeface="Times New Roman" panose="02020603050405020304" pitchFamily="18" charset="0"/>
                </a:endParaRPr>
              </a:p>
            </p:txBody>
          </p:sp>
          <p:sp>
            <p:nvSpPr>
              <p:cNvPr id="36884" name="Line 73"/>
              <p:cNvSpPr>
                <a:spLocks noChangeShapeType="1"/>
              </p:cNvSpPr>
              <p:nvPr/>
            </p:nvSpPr>
            <p:spPr bwMode="auto">
              <a:xfrm>
                <a:off x="3587" y="1156"/>
                <a:ext cx="0" cy="27"/>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85" name="Line 74"/>
              <p:cNvSpPr>
                <a:spLocks noChangeShapeType="1"/>
              </p:cNvSpPr>
              <p:nvPr/>
            </p:nvSpPr>
            <p:spPr bwMode="auto">
              <a:xfrm>
                <a:off x="3878" y="1007"/>
                <a:ext cx="348"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6886" name="Text Box 75"/>
              <p:cNvSpPr txBox="1">
                <a:spLocks noChangeArrowheads="1"/>
              </p:cNvSpPr>
              <p:nvPr/>
            </p:nvSpPr>
            <p:spPr bwMode="auto">
              <a:xfrm>
                <a:off x="3958" y="754"/>
                <a:ext cx="1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rPr>
                  <a:t>u</a:t>
                </a:r>
                <a:endParaRPr kumimoji="1" lang="en-US" altLang="zh-CN" i="1">
                  <a:latin typeface="Times New Roman" panose="02020603050405020304" pitchFamily="18" charset="0"/>
                </a:endParaRPr>
              </a:p>
            </p:txBody>
          </p:sp>
          <p:sp>
            <p:nvSpPr>
              <p:cNvPr id="36887" name="Line 76"/>
              <p:cNvSpPr>
                <a:spLocks noChangeShapeType="1"/>
              </p:cNvSpPr>
              <p:nvPr/>
            </p:nvSpPr>
            <p:spPr bwMode="auto">
              <a:xfrm>
                <a:off x="3587" y="1211"/>
                <a:ext cx="0" cy="247"/>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888" name="Line 77"/>
              <p:cNvSpPr>
                <a:spLocks noChangeShapeType="1"/>
              </p:cNvSpPr>
              <p:nvPr/>
            </p:nvSpPr>
            <p:spPr bwMode="auto">
              <a:xfrm>
                <a:off x="3587" y="1370"/>
                <a:ext cx="1140"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6889" name="Text Box 78"/>
              <p:cNvSpPr txBox="1">
                <a:spLocks noChangeArrowheads="1"/>
              </p:cNvSpPr>
              <p:nvPr/>
            </p:nvSpPr>
            <p:spPr bwMode="auto">
              <a:xfrm>
                <a:off x="5148" y="1215"/>
                <a:ext cx="1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rPr>
                  <a:t>x</a:t>
                </a:r>
                <a:endParaRPr kumimoji="1" lang="en-US" altLang="zh-CN" i="1">
                  <a:latin typeface="Times New Roman" panose="02020603050405020304" pitchFamily="18" charset="0"/>
                </a:endParaRPr>
              </a:p>
            </p:txBody>
          </p:sp>
          <p:sp>
            <p:nvSpPr>
              <p:cNvPr id="36890" name="Text Box 79"/>
              <p:cNvSpPr txBox="1">
                <a:spLocks noChangeArrowheads="1"/>
              </p:cNvSpPr>
              <p:nvPr/>
            </p:nvSpPr>
            <p:spPr bwMode="auto">
              <a:xfrm>
                <a:off x="4286" y="709"/>
                <a:ext cx="5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latin typeface="Times New Roman" panose="02020603050405020304" pitchFamily="18" charset="0"/>
                  </a:rPr>
                  <a:t>波疏</a:t>
                </a:r>
                <a:endParaRPr kumimoji="1" lang="zh-CN" altLang="en-US" b="1">
                  <a:latin typeface="Times New Roman" panose="02020603050405020304" pitchFamily="18" charset="0"/>
                </a:endParaRPr>
              </a:p>
            </p:txBody>
          </p:sp>
          <p:sp>
            <p:nvSpPr>
              <p:cNvPr id="36891" name="Text Box 80"/>
              <p:cNvSpPr txBox="1">
                <a:spLocks noChangeArrowheads="1"/>
              </p:cNvSpPr>
              <p:nvPr/>
            </p:nvSpPr>
            <p:spPr bwMode="auto">
              <a:xfrm>
                <a:off x="4890" y="709"/>
                <a:ext cx="5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latin typeface="Times New Roman" panose="02020603050405020304" pitchFamily="18" charset="0"/>
                  </a:rPr>
                  <a:t>波密</a:t>
                </a:r>
                <a:endParaRPr kumimoji="1" lang="zh-CN" altLang="en-US" b="1">
                  <a:latin typeface="Times New Roman" panose="02020603050405020304" pitchFamily="18" charset="0"/>
                </a:endParaRPr>
              </a:p>
            </p:txBody>
          </p:sp>
          <p:graphicFrame>
            <p:nvGraphicFramePr>
              <p:cNvPr id="36873" name="Object 81"/>
              <p:cNvGraphicFramePr>
                <a:graphicFrameLocks noChangeAspect="1"/>
              </p:cNvGraphicFramePr>
              <p:nvPr/>
            </p:nvGraphicFramePr>
            <p:xfrm>
              <a:off x="4018" y="1214"/>
              <a:ext cx="244" cy="311"/>
            </p:xfrm>
            <a:graphic>
              <a:graphicData uri="http://schemas.openxmlformats.org/presentationml/2006/ole">
                <mc:AlternateContent xmlns:mc="http://schemas.openxmlformats.org/markup-compatibility/2006">
                  <mc:Choice xmlns:v="urn:schemas-microsoft-com:vml" Requires="v">
                    <p:oleObj spid="_x0000_s47206" name="公式" r:id="rId10" imgW="266700" imgH="393065" progId="Equation.3">
                      <p:embed/>
                    </p:oleObj>
                  </mc:Choice>
                  <mc:Fallback>
                    <p:oleObj name="公式" r:id="rId10" imgW="266700" imgH="393065" progId="Equation.3">
                      <p:embed/>
                      <p:pic>
                        <p:nvPicPr>
                          <p:cNvPr id="0" name="Object 8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18" y="1214"/>
                            <a:ext cx="244" cy="311"/>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92" name="Text Box 82"/>
              <p:cNvSpPr txBox="1">
                <a:spLocks noChangeArrowheads="1"/>
              </p:cNvSpPr>
              <p:nvPr/>
            </p:nvSpPr>
            <p:spPr bwMode="auto">
              <a:xfrm>
                <a:off x="4785" y="1207"/>
                <a:ext cx="3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rPr>
                  <a:t>P</a:t>
                </a:r>
                <a:endParaRPr kumimoji="1" lang="en-US" altLang="zh-CN">
                  <a:latin typeface="Times New Roman" panose="02020603050405020304" pitchFamily="18" charset="0"/>
                </a:endParaRPr>
              </a:p>
            </p:txBody>
          </p:sp>
        </p:grpSp>
      </p:grpSp>
      <p:sp>
        <p:nvSpPr>
          <p:cNvPr id="4" name="矩形 3"/>
          <p:cNvSpPr/>
          <p:nvPr/>
        </p:nvSpPr>
        <p:spPr>
          <a:xfrm>
            <a:off x="601296" y="652972"/>
            <a:ext cx="4572000" cy="1737014"/>
          </a:xfrm>
          <a:prstGeom prst="rect">
            <a:avLst/>
          </a:prstGeom>
        </p:spPr>
        <p:txBody>
          <a:bodyPr>
            <a:spAutoFit/>
          </a:bodyPr>
          <a:lstStyle/>
          <a:p>
            <a:pPr algn="just" eaLnBrk="1" hangingPunct="1">
              <a:lnSpc>
                <a:spcPct val="115000"/>
              </a:lnSpc>
            </a:pPr>
            <a:r>
              <a:rPr kumimoji="1" lang="en-US" altLang="zh-CN" dirty="0">
                <a:latin typeface="黑体" panose="02010609060101010101" pitchFamily="49" charset="-122"/>
                <a:ea typeface="黑体" panose="02010609060101010101" pitchFamily="49" charset="-122"/>
              </a:rPr>
              <a:t>(2) </a:t>
            </a:r>
            <a:r>
              <a:rPr kumimoji="1" lang="zh-CN" altLang="en-US" dirty="0">
                <a:latin typeface="黑体" panose="02010609060101010101" pitchFamily="49" charset="-122"/>
                <a:ea typeface="黑体" panose="02010609060101010101" pitchFamily="49" charset="-122"/>
              </a:rPr>
              <a:t>经分界面反射的波的振幅和入射波振幅相等写出反射波的表达式，并求在</a:t>
            </a:r>
            <a:r>
              <a:rPr kumimoji="1" lang="en-US" altLang="zh-CN" i="1" dirty="0">
                <a:latin typeface="Times New Roman" panose="02020603050405020304" pitchFamily="18" charset="0"/>
                <a:ea typeface="黑体" panose="02010609060101010101" pitchFamily="49" charset="-122"/>
              </a:rPr>
              <a:t>x</a:t>
            </a:r>
            <a:r>
              <a:rPr kumimoji="1" lang="zh-CN" altLang="en-US" dirty="0">
                <a:latin typeface="黑体" panose="02010609060101010101" pitchFamily="49" charset="-122"/>
                <a:ea typeface="黑体" panose="02010609060101010101" pitchFamily="49" charset="-122"/>
              </a:rPr>
              <a:t>轴上因入射波和反射波叠加而静止的各点位置。</a:t>
            </a:r>
            <a:endParaRPr kumimoji="1" lang="zh-CN" altLang="en-US" dirty="0">
              <a:latin typeface="黑体" panose="02010609060101010101" pitchFamily="49" charset="-122"/>
              <a:ea typeface="黑体" panose="02010609060101010101" pitchFamily="49" charset="-122"/>
            </a:endParaRPr>
          </a:p>
        </p:txBody>
      </p:sp>
      <p:graphicFrame>
        <p:nvGraphicFramePr>
          <p:cNvPr id="43" name="Object 5"/>
          <p:cNvGraphicFramePr>
            <a:graphicFrameLocks noChangeAspect="1"/>
          </p:cNvGraphicFramePr>
          <p:nvPr/>
        </p:nvGraphicFramePr>
        <p:xfrm>
          <a:off x="3559004" y="5928803"/>
          <a:ext cx="1712912" cy="552450"/>
        </p:xfrm>
        <a:graphic>
          <a:graphicData uri="http://schemas.openxmlformats.org/presentationml/2006/ole">
            <mc:AlternateContent xmlns:mc="http://schemas.openxmlformats.org/markup-compatibility/2006">
              <mc:Choice xmlns:v="urn:schemas-microsoft-com:vml" Requires="v">
                <p:oleObj spid="_x0000_s47207" name="Equation" r:id="rId12" imgW="635635" imgH="212090" progId="Equation.DSMT4">
                  <p:embed/>
                </p:oleObj>
              </mc:Choice>
              <mc:Fallback>
                <p:oleObj name="Equation" r:id="rId12" imgW="635635" imgH="212090" progId="Equation.DSMT4">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black">
                      <a:xfrm>
                        <a:off x="3559004" y="5928803"/>
                        <a:ext cx="1712912"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Object 7"/>
          <p:cNvGraphicFramePr>
            <a:graphicFrameLocks noChangeAspect="1"/>
          </p:cNvGraphicFramePr>
          <p:nvPr/>
        </p:nvGraphicFramePr>
        <p:xfrm>
          <a:off x="4332577" y="2297128"/>
          <a:ext cx="4613260" cy="607178"/>
        </p:xfrm>
        <a:graphic>
          <a:graphicData uri="http://schemas.openxmlformats.org/presentationml/2006/ole">
            <mc:AlternateContent xmlns:mc="http://schemas.openxmlformats.org/markup-compatibility/2006">
              <mc:Choice xmlns:v="urn:schemas-microsoft-com:vml" Requires="v">
                <p:oleObj spid="_x0000_s47208" name="Equation" r:id="rId14" imgW="2576195" imgH="345440" progId="Equation.DSMT4">
                  <p:embed/>
                </p:oleObj>
              </mc:Choice>
              <mc:Fallback>
                <p:oleObj name="Equation" r:id="rId14" imgW="2576195" imgH="345440" progId="Equation.DSMT4">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black">
                      <a:xfrm>
                        <a:off x="4332577" y="2297128"/>
                        <a:ext cx="4613260" cy="607178"/>
                      </a:xfrm>
                      <a:prstGeom prst="rect">
                        <a:avLst/>
                      </a:prstGeom>
                      <a:noFill/>
                    </p:spPr>
                  </p:pic>
                </p:oleObj>
              </mc:Fallback>
            </mc:AlternateContent>
          </a:graphicData>
        </a:graphic>
      </p:graphicFrame>
      <p:sp>
        <p:nvSpPr>
          <p:cNvPr id="37" name="Text Box 6"/>
          <p:cNvSpPr txBox="1">
            <a:spLocks noChangeArrowheads="1"/>
          </p:cNvSpPr>
          <p:nvPr/>
        </p:nvSpPr>
        <p:spPr bwMode="auto">
          <a:xfrm>
            <a:off x="5548587" y="6096492"/>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Times New Roman" panose="02020603050405020304" pitchFamily="18" charset="0"/>
              </a:rPr>
              <a:t>得</a:t>
            </a:r>
            <a:endParaRPr kumimoji="1" lang="zh-CN" altLang="en-US" b="1">
              <a:latin typeface="Times New Roman" panose="02020603050405020304" pitchFamily="18" charset="0"/>
            </a:endParaRPr>
          </a:p>
        </p:txBody>
      </p:sp>
      <p:graphicFrame>
        <p:nvGraphicFramePr>
          <p:cNvPr id="38" name="Object 7"/>
          <p:cNvGraphicFramePr>
            <a:graphicFrameLocks noChangeAspect="1"/>
          </p:cNvGraphicFramePr>
          <p:nvPr/>
        </p:nvGraphicFramePr>
        <p:xfrm>
          <a:off x="6720162" y="5882180"/>
          <a:ext cx="1090613" cy="887412"/>
        </p:xfrm>
        <a:graphic>
          <a:graphicData uri="http://schemas.openxmlformats.org/presentationml/2006/ole">
            <mc:AlternateContent xmlns:mc="http://schemas.openxmlformats.org/markup-compatibility/2006">
              <mc:Choice xmlns:v="urn:schemas-microsoft-com:vml" Requires="v">
                <p:oleObj spid="_x0000_s47209" name="Equation" r:id="rId16" imgW="412750" imgH="345440" progId="Equation.DSMT4">
                  <p:embed/>
                </p:oleObj>
              </mc:Choice>
              <mc:Fallback>
                <p:oleObj name="Equation" r:id="rId16" imgW="412750" imgH="345440" progId="Equation.DSMT4">
                  <p:embed/>
                  <p:pic>
                    <p:nvPicPr>
                      <p:cNvPr id="0" name="Object 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black">
                      <a:xfrm>
                        <a:off x="6720162" y="5882180"/>
                        <a:ext cx="1090613" cy="887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88072"/>
                                        </p:tgtEl>
                                        <p:attrNameLst>
                                          <p:attrName>style.visibility</p:attrName>
                                        </p:attrNameLst>
                                      </p:cBhvr>
                                      <p:to>
                                        <p:strVal val="visible"/>
                                      </p:to>
                                    </p:set>
                                    <p:anim calcmode="discrete" valueType="clr">
                                      <p:cBhvr override="childStyle">
                                        <p:cTn id="7" dur="80"/>
                                        <p:tgtEl>
                                          <p:spTgt spid="8807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88072"/>
                                        </p:tgtEl>
                                        <p:attrNameLst>
                                          <p:attrName>fillcolor</p:attrName>
                                        </p:attrNameLst>
                                      </p:cBhvr>
                                      <p:tavLst>
                                        <p:tav tm="0">
                                          <p:val>
                                            <p:clrVal>
                                              <a:schemeClr val="accent2"/>
                                            </p:clrVal>
                                          </p:val>
                                        </p:tav>
                                        <p:tav tm="50000">
                                          <p:val>
                                            <p:clrVal>
                                              <a:schemeClr val="hlink"/>
                                            </p:clrVal>
                                          </p:val>
                                        </p:tav>
                                      </p:tavLst>
                                    </p:anim>
                                    <p:set>
                                      <p:cBhvr>
                                        <p:cTn id="9" dur="80"/>
                                        <p:tgtEl>
                                          <p:spTgt spid="8807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blinds(horizontal)">
                                      <p:cBhvr>
                                        <p:cTn id="14" dur="500"/>
                                        <p:tgtEl>
                                          <p:spTgt spid="36"/>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88073"/>
                                        </p:tgtEl>
                                        <p:attrNameLst>
                                          <p:attrName>style.visibility</p:attrName>
                                        </p:attrNameLst>
                                      </p:cBhvr>
                                      <p:to>
                                        <p:strVal val="visible"/>
                                      </p:to>
                                    </p:set>
                                    <p:animEffect transition="in" filter="blinds(horizontal)">
                                      <p:cBhvr>
                                        <p:cTn id="19" dur="500"/>
                                        <p:tgtEl>
                                          <p:spTgt spid="88073"/>
                                        </p:tgtEl>
                                      </p:cBhvr>
                                    </p:animEffec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grpId="0" nodeType="clickEffect">
                                  <p:stCondLst>
                                    <p:cond delay="0"/>
                                  </p:stCondLst>
                                  <p:iterate type="lt">
                                    <p:tmPct val="50000"/>
                                  </p:iterate>
                                  <p:childTnLst>
                                    <p:set>
                                      <p:cBhvr>
                                        <p:cTn id="23" dur="1" fill="hold">
                                          <p:stCondLst>
                                            <p:cond delay="0"/>
                                          </p:stCondLst>
                                        </p:cTn>
                                        <p:tgtEl>
                                          <p:spTgt spid="88074"/>
                                        </p:tgtEl>
                                        <p:attrNameLst>
                                          <p:attrName>style.visibility</p:attrName>
                                        </p:attrNameLst>
                                      </p:cBhvr>
                                      <p:to>
                                        <p:strVal val="visible"/>
                                      </p:to>
                                    </p:set>
                                    <p:anim calcmode="discrete" valueType="clr">
                                      <p:cBhvr override="childStyle">
                                        <p:cTn id="24" dur="80"/>
                                        <p:tgtEl>
                                          <p:spTgt spid="88074"/>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88074"/>
                                        </p:tgtEl>
                                        <p:attrNameLst>
                                          <p:attrName>fillcolor</p:attrName>
                                        </p:attrNameLst>
                                      </p:cBhvr>
                                      <p:tavLst>
                                        <p:tav tm="0">
                                          <p:val>
                                            <p:clrVal>
                                              <a:schemeClr val="accent2"/>
                                            </p:clrVal>
                                          </p:val>
                                        </p:tav>
                                        <p:tav tm="50000">
                                          <p:val>
                                            <p:clrVal>
                                              <a:schemeClr val="hlink"/>
                                            </p:clrVal>
                                          </p:val>
                                        </p:tav>
                                      </p:tavLst>
                                    </p:anim>
                                    <p:set>
                                      <p:cBhvr>
                                        <p:cTn id="26" dur="80"/>
                                        <p:tgtEl>
                                          <p:spTgt spid="88074"/>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88075"/>
                                        </p:tgtEl>
                                        <p:attrNameLst>
                                          <p:attrName>style.visibility</p:attrName>
                                        </p:attrNameLst>
                                      </p:cBhvr>
                                      <p:to>
                                        <p:strVal val="visible"/>
                                      </p:to>
                                    </p:set>
                                    <p:animEffect transition="in" filter="blinds(horizontal)">
                                      <p:cBhvr>
                                        <p:cTn id="31" dur="500"/>
                                        <p:tgtEl>
                                          <p:spTgt spid="88075"/>
                                        </p:tgtEl>
                                      </p:cBhvr>
                                    </p:animEffect>
                                  </p:childTnLst>
                                </p:cTn>
                              </p:par>
                            </p:childTnLst>
                          </p:cTn>
                        </p:par>
                      </p:childTnLst>
                    </p:cTn>
                  </p:par>
                  <p:par>
                    <p:cTn id="32" fill="hold">
                      <p:stCondLst>
                        <p:cond delay="indefinite"/>
                      </p:stCondLst>
                      <p:childTnLst>
                        <p:par>
                          <p:cTn id="33" fill="hold">
                            <p:stCondLst>
                              <p:cond delay="0"/>
                            </p:stCondLst>
                            <p:childTnLst>
                              <p:par>
                                <p:cTn id="34" presetID="27" presetClass="entr" presetSubtype="0" fill="hold" grpId="0" nodeType="clickEffect">
                                  <p:stCondLst>
                                    <p:cond delay="0"/>
                                  </p:stCondLst>
                                  <p:iterate type="lt">
                                    <p:tmPct val="50000"/>
                                  </p:iterate>
                                  <p:childTnLst>
                                    <p:set>
                                      <p:cBhvr>
                                        <p:cTn id="35" dur="1" fill="hold">
                                          <p:stCondLst>
                                            <p:cond delay="0"/>
                                          </p:stCondLst>
                                        </p:cTn>
                                        <p:tgtEl>
                                          <p:spTgt spid="88076"/>
                                        </p:tgtEl>
                                        <p:attrNameLst>
                                          <p:attrName>style.visibility</p:attrName>
                                        </p:attrNameLst>
                                      </p:cBhvr>
                                      <p:to>
                                        <p:strVal val="visible"/>
                                      </p:to>
                                    </p:set>
                                    <p:anim calcmode="discrete" valueType="clr">
                                      <p:cBhvr override="childStyle">
                                        <p:cTn id="36" dur="80"/>
                                        <p:tgtEl>
                                          <p:spTgt spid="88076"/>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88076"/>
                                        </p:tgtEl>
                                        <p:attrNameLst>
                                          <p:attrName>fillcolor</p:attrName>
                                        </p:attrNameLst>
                                      </p:cBhvr>
                                      <p:tavLst>
                                        <p:tav tm="0">
                                          <p:val>
                                            <p:clrVal>
                                              <a:schemeClr val="accent2"/>
                                            </p:clrVal>
                                          </p:val>
                                        </p:tav>
                                        <p:tav tm="50000">
                                          <p:val>
                                            <p:clrVal>
                                              <a:schemeClr val="hlink"/>
                                            </p:clrVal>
                                          </p:val>
                                        </p:tav>
                                      </p:tavLst>
                                    </p:anim>
                                    <p:set>
                                      <p:cBhvr>
                                        <p:cTn id="38" dur="80"/>
                                        <p:tgtEl>
                                          <p:spTgt spid="88076"/>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88077"/>
                                        </p:tgtEl>
                                        <p:attrNameLst>
                                          <p:attrName>style.visibility</p:attrName>
                                        </p:attrNameLst>
                                      </p:cBhvr>
                                      <p:to>
                                        <p:strVal val="visible"/>
                                      </p:to>
                                    </p:set>
                                    <p:animEffect transition="in" filter="blinds(horizontal)">
                                      <p:cBhvr>
                                        <p:cTn id="43" dur="500"/>
                                        <p:tgtEl>
                                          <p:spTgt spid="88077"/>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blinds(horizontal)">
                                      <p:cBhvr>
                                        <p:cTn id="48" dur="500"/>
                                        <p:tgtEl>
                                          <p:spTgt spid="43"/>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blinds(horizontal)">
                                      <p:cBhvr>
                                        <p:cTn id="53" dur="500"/>
                                        <p:tgtEl>
                                          <p:spTgt spid="37"/>
                                        </p:tgtEl>
                                      </p:cBhvr>
                                    </p:animEffect>
                                  </p:childTnLst>
                                </p:cTn>
                              </p:par>
                              <p:par>
                                <p:cTn id="54" presetID="3" presetClass="entr" presetSubtype="10" fill="hold"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blinds(horizontal)">
                                      <p:cBhvr>
                                        <p:cTn id="5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2" grpId="0"/>
      <p:bldP spid="88074" grpId="0"/>
      <p:bldP spid="88076" grpId="0"/>
      <p:bldP spid="3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Text Box 4"/>
          <p:cNvSpPr txBox="1">
            <a:spLocks noChangeArrowheads="1"/>
          </p:cNvSpPr>
          <p:nvPr/>
        </p:nvSpPr>
        <p:spPr bwMode="auto">
          <a:xfrm>
            <a:off x="879475" y="5492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Times New Roman" panose="02020603050405020304" pitchFamily="18" charset="0"/>
              </a:rPr>
              <a:t>由</a:t>
            </a:r>
            <a:endParaRPr kumimoji="1" lang="zh-CN" altLang="en-US" b="1">
              <a:latin typeface="Times New Roman" panose="02020603050405020304" pitchFamily="18" charset="0"/>
            </a:endParaRPr>
          </a:p>
        </p:txBody>
      </p:sp>
      <p:graphicFrame>
        <p:nvGraphicFramePr>
          <p:cNvPr id="89093" name="Object 5"/>
          <p:cNvGraphicFramePr>
            <a:graphicFrameLocks noChangeAspect="1"/>
          </p:cNvGraphicFramePr>
          <p:nvPr/>
        </p:nvGraphicFramePr>
        <p:xfrm>
          <a:off x="1995488" y="549275"/>
          <a:ext cx="1712912" cy="552450"/>
        </p:xfrm>
        <a:graphic>
          <a:graphicData uri="http://schemas.openxmlformats.org/presentationml/2006/ole">
            <mc:AlternateContent xmlns:mc="http://schemas.openxmlformats.org/markup-compatibility/2006">
              <mc:Choice xmlns:v="urn:schemas-microsoft-com:vml" Requires="v">
                <p:oleObj spid="_x0000_s38222" name="Equation" r:id="rId1" imgW="635635" imgH="212090" progId="Equation.DSMT4">
                  <p:embed/>
                </p:oleObj>
              </mc:Choice>
              <mc:Fallback>
                <p:oleObj name="Equation" r:id="rId1" imgW="635635" imgH="21209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
                      <a:xfrm>
                        <a:off x="1995488" y="549275"/>
                        <a:ext cx="1712912"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094" name="Text Box 6"/>
          <p:cNvSpPr txBox="1">
            <a:spLocks noChangeArrowheads="1"/>
          </p:cNvSpPr>
          <p:nvPr/>
        </p:nvSpPr>
        <p:spPr bwMode="auto">
          <a:xfrm>
            <a:off x="879475" y="1339850"/>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Times New Roman" panose="02020603050405020304" pitchFamily="18" charset="0"/>
              </a:rPr>
              <a:t>得</a:t>
            </a:r>
            <a:endParaRPr kumimoji="1" lang="zh-CN" altLang="en-US" b="1">
              <a:latin typeface="Times New Roman" panose="02020603050405020304" pitchFamily="18" charset="0"/>
            </a:endParaRPr>
          </a:p>
        </p:txBody>
      </p:sp>
      <p:graphicFrame>
        <p:nvGraphicFramePr>
          <p:cNvPr id="89095" name="Object 7"/>
          <p:cNvGraphicFramePr>
            <a:graphicFrameLocks noChangeAspect="1"/>
          </p:cNvGraphicFramePr>
          <p:nvPr/>
        </p:nvGraphicFramePr>
        <p:xfrm>
          <a:off x="2051050" y="1125538"/>
          <a:ext cx="1090613" cy="887412"/>
        </p:xfrm>
        <a:graphic>
          <a:graphicData uri="http://schemas.openxmlformats.org/presentationml/2006/ole">
            <mc:AlternateContent xmlns:mc="http://schemas.openxmlformats.org/markup-compatibility/2006">
              <mc:Choice xmlns:v="urn:schemas-microsoft-com:vml" Requires="v">
                <p:oleObj spid="_x0000_s38223" name="Equation" r:id="rId3" imgW="412750" imgH="345440" progId="Equation.DSMT4">
                  <p:embed/>
                </p:oleObj>
              </mc:Choice>
              <mc:Fallback>
                <p:oleObj name="Equation" r:id="rId3" imgW="412750" imgH="34544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051050" y="1125538"/>
                        <a:ext cx="1090613" cy="887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096" name="Text Box 8"/>
          <p:cNvSpPr txBox="1">
            <a:spLocks noChangeArrowheads="1"/>
          </p:cNvSpPr>
          <p:nvPr/>
        </p:nvSpPr>
        <p:spPr bwMode="auto">
          <a:xfrm>
            <a:off x="950913" y="2060575"/>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Times New Roman" panose="02020603050405020304" pitchFamily="18" charset="0"/>
              </a:rPr>
              <a:t>所以反射波的表达式为</a:t>
            </a:r>
            <a:endParaRPr kumimoji="1" lang="zh-CN" altLang="en-US" b="1">
              <a:latin typeface="Times New Roman" panose="02020603050405020304" pitchFamily="18" charset="0"/>
            </a:endParaRPr>
          </a:p>
        </p:txBody>
      </p:sp>
      <p:graphicFrame>
        <p:nvGraphicFramePr>
          <p:cNvPr id="89097" name="Object 9"/>
          <p:cNvGraphicFramePr>
            <a:graphicFrameLocks noChangeAspect="1"/>
          </p:cNvGraphicFramePr>
          <p:nvPr/>
        </p:nvGraphicFramePr>
        <p:xfrm>
          <a:off x="4354513" y="1917700"/>
          <a:ext cx="3405187" cy="815975"/>
        </p:xfrm>
        <a:graphic>
          <a:graphicData uri="http://schemas.openxmlformats.org/presentationml/2006/ole">
            <mc:AlternateContent xmlns:mc="http://schemas.openxmlformats.org/markup-compatibility/2006">
              <mc:Choice xmlns:v="urn:schemas-microsoft-com:vml" Requires="v">
                <p:oleObj spid="_x0000_s38224" name="Equation" r:id="rId5" imgW="1416050" imgH="345440" progId="Equation.DSMT4">
                  <p:embed/>
                </p:oleObj>
              </mc:Choice>
              <mc:Fallback>
                <p:oleObj name="Equation" r:id="rId5" imgW="1416050" imgH="34544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4354513" y="1917700"/>
                        <a:ext cx="3405187" cy="815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098" name="Object 10"/>
          <p:cNvGraphicFramePr>
            <a:graphicFrameLocks noChangeAspect="1"/>
          </p:cNvGraphicFramePr>
          <p:nvPr/>
        </p:nvGraphicFramePr>
        <p:xfrm>
          <a:off x="4076700" y="2636838"/>
          <a:ext cx="4672013" cy="806450"/>
        </p:xfrm>
        <a:graphic>
          <a:graphicData uri="http://schemas.openxmlformats.org/presentationml/2006/ole">
            <mc:AlternateContent xmlns:mc="http://schemas.openxmlformats.org/markup-compatibility/2006">
              <mc:Choice xmlns:v="urn:schemas-microsoft-com:vml" Requires="v">
                <p:oleObj spid="_x0000_s38225" name="Equation" r:id="rId7" imgW="1962785" imgH="345440" progId="Equation.DSMT4">
                  <p:embed/>
                </p:oleObj>
              </mc:Choice>
              <mc:Fallback>
                <p:oleObj name="Equation" r:id="rId7" imgW="1962785" imgH="34544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4076700" y="2636838"/>
                        <a:ext cx="4672013" cy="806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099" name="Text Box 11"/>
          <p:cNvSpPr txBox="1">
            <a:spLocks noChangeArrowheads="1"/>
          </p:cNvSpPr>
          <p:nvPr/>
        </p:nvSpPr>
        <p:spPr bwMode="auto">
          <a:xfrm>
            <a:off x="971550" y="3644900"/>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solidFill>
                  <a:srgbClr val="0000FF"/>
                </a:solidFill>
                <a:latin typeface="Times New Roman" panose="02020603050405020304" pitchFamily="18" charset="0"/>
              </a:rPr>
              <a:t>波节位置</a:t>
            </a:r>
            <a:endParaRPr kumimoji="1" lang="zh-CN" altLang="en-US" b="1">
              <a:solidFill>
                <a:srgbClr val="0000FF"/>
              </a:solidFill>
              <a:latin typeface="Times New Roman" panose="02020603050405020304" pitchFamily="18" charset="0"/>
            </a:endParaRPr>
          </a:p>
        </p:txBody>
      </p:sp>
      <p:graphicFrame>
        <p:nvGraphicFramePr>
          <p:cNvPr id="89100" name="Object 12"/>
          <p:cNvGraphicFramePr>
            <a:graphicFrameLocks noChangeAspect="1"/>
          </p:cNvGraphicFramePr>
          <p:nvPr/>
        </p:nvGraphicFramePr>
        <p:xfrm>
          <a:off x="2917825" y="3429000"/>
          <a:ext cx="1725613" cy="936625"/>
        </p:xfrm>
        <a:graphic>
          <a:graphicData uri="http://schemas.openxmlformats.org/presentationml/2006/ole">
            <mc:AlternateContent xmlns:mc="http://schemas.openxmlformats.org/markup-compatibility/2006">
              <mc:Choice xmlns:v="urn:schemas-microsoft-com:vml" Requires="v">
                <p:oleObj spid="_x0000_s38226" name="Equation" r:id="rId9" imgW="624205" imgH="345440" progId="Equation.DSMT4">
                  <p:embed/>
                </p:oleObj>
              </mc:Choice>
              <mc:Fallback>
                <p:oleObj name="Equation" r:id="rId9" imgW="624205" imgH="34544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2917825" y="3429000"/>
                        <a:ext cx="1725613"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101" name="Object 13"/>
          <p:cNvGraphicFramePr>
            <a:graphicFrameLocks noChangeAspect="1"/>
          </p:cNvGraphicFramePr>
          <p:nvPr/>
        </p:nvGraphicFramePr>
        <p:xfrm>
          <a:off x="2898775" y="4278313"/>
          <a:ext cx="4049713" cy="862012"/>
        </p:xfrm>
        <a:graphic>
          <a:graphicData uri="http://schemas.openxmlformats.org/presentationml/2006/ole">
            <mc:AlternateContent xmlns:mc="http://schemas.openxmlformats.org/markup-compatibility/2006">
              <mc:Choice xmlns:v="urn:schemas-microsoft-com:vml" Requires="v">
                <p:oleObj spid="_x0000_s38227" name="Equation" r:id="rId11" imgW="1594485" imgH="345440" progId="Equation.DSMT4">
                  <p:embed/>
                </p:oleObj>
              </mc:Choice>
              <mc:Fallback>
                <p:oleObj name="Equation" r:id="rId11" imgW="1594485" imgH="345440"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2898775" y="4278313"/>
                        <a:ext cx="4049713" cy="862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102" name="Object 14"/>
          <p:cNvGraphicFramePr>
            <a:graphicFrameLocks noChangeAspect="1"/>
          </p:cNvGraphicFramePr>
          <p:nvPr/>
        </p:nvGraphicFramePr>
        <p:xfrm>
          <a:off x="2986088" y="5056188"/>
          <a:ext cx="1873250" cy="908050"/>
        </p:xfrm>
        <a:graphic>
          <a:graphicData uri="http://schemas.openxmlformats.org/presentationml/2006/ole">
            <mc:AlternateContent xmlns:mc="http://schemas.openxmlformats.org/markup-compatibility/2006">
              <mc:Choice xmlns:v="urn:schemas-microsoft-com:vml" Requires="v">
                <p:oleObj spid="_x0000_s38228" name="Equation" r:id="rId13" imgW="702310" imgH="345440" progId="Equation.DSMT4">
                  <p:embed/>
                </p:oleObj>
              </mc:Choice>
              <mc:Fallback>
                <p:oleObj name="Equation" r:id="rId13" imgW="702310" imgH="345440" progId="Equation.DSMT4">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black">
                      <a:xfrm>
                        <a:off x="2986088" y="5056188"/>
                        <a:ext cx="1873250"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106" name="Text Box 18"/>
          <p:cNvSpPr txBox="1">
            <a:spLocks noChangeArrowheads="1"/>
          </p:cNvSpPr>
          <p:nvPr/>
        </p:nvSpPr>
        <p:spPr bwMode="auto">
          <a:xfrm>
            <a:off x="971550" y="2781300"/>
            <a:ext cx="4032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t>因此合成波的表达式</a:t>
            </a:r>
            <a:endParaRPr kumimoji="1" lang="zh-CN" altLang="en-US" b="1"/>
          </a:p>
        </p:txBody>
      </p:sp>
      <p:graphicFrame>
        <p:nvGraphicFramePr>
          <p:cNvPr id="89107" name="Object 19"/>
          <p:cNvGraphicFramePr>
            <a:graphicFrameLocks noChangeAspect="1"/>
          </p:cNvGraphicFramePr>
          <p:nvPr/>
        </p:nvGraphicFramePr>
        <p:xfrm>
          <a:off x="3784600" y="5876925"/>
          <a:ext cx="1074738" cy="908050"/>
        </p:xfrm>
        <a:graphic>
          <a:graphicData uri="http://schemas.openxmlformats.org/presentationml/2006/ole">
            <mc:AlternateContent xmlns:mc="http://schemas.openxmlformats.org/markup-compatibility/2006">
              <mc:Choice xmlns:v="urn:schemas-microsoft-com:vml" Requires="v">
                <p:oleObj spid="_x0000_s38229" name="Equation" r:id="rId15" imgW="401320" imgH="345440" progId="Equation.DSMT4">
                  <p:embed/>
                </p:oleObj>
              </mc:Choice>
              <mc:Fallback>
                <p:oleObj name="Equation" r:id="rId15" imgW="401320" imgH="345440" progId="Equation.DSMT4">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3784600" y="5876925"/>
                        <a:ext cx="1074738"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108" name="AutoShape 20"/>
          <p:cNvSpPr/>
          <p:nvPr/>
        </p:nvSpPr>
        <p:spPr bwMode="auto">
          <a:xfrm>
            <a:off x="4859338" y="5357813"/>
            <a:ext cx="217487" cy="1008062"/>
          </a:xfrm>
          <a:prstGeom prst="rightBrace">
            <a:avLst>
              <a:gd name="adj1" fmla="val 38625"/>
              <a:gd name="adj2" fmla="val 50000"/>
            </a:avLst>
          </a:prstGeom>
          <a:noFill/>
          <a:ln w="25400">
            <a:solidFill>
              <a:schemeClr val="tx1"/>
            </a:solidFill>
            <a:rou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9109" name="Object 21"/>
          <p:cNvGraphicFramePr>
            <a:graphicFrameLocks noChangeAspect="1"/>
          </p:cNvGraphicFramePr>
          <p:nvPr/>
        </p:nvGraphicFramePr>
        <p:xfrm>
          <a:off x="5657850" y="5357813"/>
          <a:ext cx="1435100" cy="908050"/>
        </p:xfrm>
        <a:graphic>
          <a:graphicData uri="http://schemas.openxmlformats.org/presentationml/2006/ole">
            <mc:AlternateContent xmlns:mc="http://schemas.openxmlformats.org/markup-compatibility/2006">
              <mc:Choice xmlns:v="urn:schemas-microsoft-com:vml" Requires="v">
                <p:oleObj spid="_x0000_s38230" name="Equation" r:id="rId17" imgW="10972800" imgH="7010400" progId="Equation.DSMT4">
                  <p:embed/>
                </p:oleObj>
              </mc:Choice>
              <mc:Fallback>
                <p:oleObj name="Equation" r:id="rId17" imgW="10972800" imgH="7010400" progId="Equation.DSMT4">
                  <p:embed/>
                  <p:pic>
                    <p:nvPicPr>
                      <p:cNvPr id="0" name="Object 21"/>
                      <p:cNvPicPr>
                        <a:picLocks noChangeAspect="1" noChangeArrowheads="1"/>
                      </p:cNvPicPr>
                      <p:nvPr/>
                    </p:nvPicPr>
                    <p:blipFill>
                      <a:blip r:embed="rId18"/>
                      <a:srcRect/>
                      <a:stretch>
                        <a:fillRect/>
                      </a:stretch>
                    </p:blipFill>
                    <p:spPr bwMode="black">
                      <a:xfrm>
                        <a:off x="5657850" y="5357813"/>
                        <a:ext cx="1435100"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 name="Group 84"/>
          <p:cNvGrpSpPr/>
          <p:nvPr/>
        </p:nvGrpSpPr>
        <p:grpSpPr bwMode="auto">
          <a:xfrm>
            <a:off x="5634312" y="650757"/>
            <a:ext cx="3311525" cy="1295400"/>
            <a:chOff x="3561" y="709"/>
            <a:chExt cx="2086" cy="816"/>
          </a:xfrm>
        </p:grpSpPr>
        <p:sp>
          <p:nvSpPr>
            <p:cNvPr id="18" name="Line 61"/>
            <p:cNvSpPr>
              <a:spLocks noChangeShapeType="1"/>
            </p:cNvSpPr>
            <p:nvPr/>
          </p:nvSpPr>
          <p:spPr bwMode="auto">
            <a:xfrm>
              <a:off x="3561" y="1183"/>
              <a:ext cx="1814"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19" name="Group 83"/>
            <p:cNvGrpSpPr/>
            <p:nvPr/>
          </p:nvGrpSpPr>
          <p:grpSpPr bwMode="auto">
            <a:xfrm>
              <a:off x="3687" y="709"/>
              <a:ext cx="1960" cy="816"/>
              <a:chOff x="3460" y="709"/>
              <a:chExt cx="1960" cy="816"/>
            </a:xfrm>
          </p:grpSpPr>
          <p:grpSp>
            <p:nvGrpSpPr>
              <p:cNvPr id="20" name="Group 62"/>
              <p:cNvGrpSpPr/>
              <p:nvPr/>
            </p:nvGrpSpPr>
            <p:grpSpPr bwMode="auto">
              <a:xfrm>
                <a:off x="4759" y="854"/>
                <a:ext cx="63" cy="658"/>
                <a:chOff x="3168" y="2928"/>
                <a:chExt cx="96" cy="1152"/>
              </a:xfrm>
            </p:grpSpPr>
            <p:sp>
              <p:nvSpPr>
                <p:cNvPr id="32" name="Line 63"/>
                <p:cNvSpPr>
                  <a:spLocks noChangeShapeType="1"/>
                </p:cNvSpPr>
                <p:nvPr/>
              </p:nvSpPr>
              <p:spPr bwMode="auto">
                <a:xfrm>
                  <a:off x="3168" y="2928"/>
                  <a:ext cx="0" cy="1152"/>
                </a:xfrm>
                <a:prstGeom prst="line">
                  <a:avLst/>
                </a:prstGeom>
                <a:noFill/>
                <a:ln w="5715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3" name="Line 64"/>
                <p:cNvSpPr>
                  <a:spLocks noChangeShapeType="1"/>
                </p:cNvSpPr>
                <p:nvPr/>
              </p:nvSpPr>
              <p:spPr bwMode="auto">
                <a:xfrm flipH="1">
                  <a:off x="3168" y="292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4" name="Line 65"/>
                <p:cNvSpPr>
                  <a:spLocks noChangeShapeType="1"/>
                </p:cNvSpPr>
                <p:nvPr/>
              </p:nvSpPr>
              <p:spPr bwMode="auto">
                <a:xfrm flipH="1">
                  <a:off x="3168" y="3072"/>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5" name="Line 66"/>
                <p:cNvSpPr>
                  <a:spLocks noChangeShapeType="1"/>
                </p:cNvSpPr>
                <p:nvPr/>
              </p:nvSpPr>
              <p:spPr bwMode="auto">
                <a:xfrm flipH="1">
                  <a:off x="3168" y="3216"/>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6" name="Line 67"/>
                <p:cNvSpPr>
                  <a:spLocks noChangeShapeType="1"/>
                </p:cNvSpPr>
                <p:nvPr/>
              </p:nvSpPr>
              <p:spPr bwMode="auto">
                <a:xfrm flipH="1">
                  <a:off x="3168" y="3360"/>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7" name="Line 68"/>
                <p:cNvSpPr>
                  <a:spLocks noChangeShapeType="1"/>
                </p:cNvSpPr>
                <p:nvPr/>
              </p:nvSpPr>
              <p:spPr bwMode="auto">
                <a:xfrm flipH="1">
                  <a:off x="3168" y="3504"/>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8" name="Line 69"/>
                <p:cNvSpPr>
                  <a:spLocks noChangeShapeType="1"/>
                </p:cNvSpPr>
                <p:nvPr/>
              </p:nvSpPr>
              <p:spPr bwMode="auto">
                <a:xfrm flipH="1">
                  <a:off x="3168" y="364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9" name="Line 70"/>
                <p:cNvSpPr>
                  <a:spLocks noChangeShapeType="1"/>
                </p:cNvSpPr>
                <p:nvPr/>
              </p:nvSpPr>
              <p:spPr bwMode="auto">
                <a:xfrm flipH="1">
                  <a:off x="3168" y="3792"/>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0" name="Line 71"/>
                <p:cNvSpPr>
                  <a:spLocks noChangeShapeType="1"/>
                </p:cNvSpPr>
                <p:nvPr/>
              </p:nvSpPr>
              <p:spPr bwMode="auto">
                <a:xfrm flipH="1">
                  <a:off x="3168" y="3936"/>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21" name="Text Box 72"/>
              <p:cNvSpPr txBox="1">
                <a:spLocks noChangeArrowheads="1"/>
              </p:cNvSpPr>
              <p:nvPr/>
            </p:nvSpPr>
            <p:spPr bwMode="auto">
              <a:xfrm>
                <a:off x="3460" y="899"/>
                <a:ext cx="3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rPr>
                  <a:t>O</a:t>
                </a:r>
                <a:endParaRPr kumimoji="1" lang="en-US" altLang="zh-CN">
                  <a:latin typeface="Times New Roman" panose="02020603050405020304" pitchFamily="18" charset="0"/>
                </a:endParaRPr>
              </a:p>
            </p:txBody>
          </p:sp>
          <p:sp>
            <p:nvSpPr>
              <p:cNvPr id="22" name="Line 73"/>
              <p:cNvSpPr>
                <a:spLocks noChangeShapeType="1"/>
              </p:cNvSpPr>
              <p:nvPr/>
            </p:nvSpPr>
            <p:spPr bwMode="auto">
              <a:xfrm>
                <a:off x="3587" y="1156"/>
                <a:ext cx="0" cy="27"/>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3" name="Line 74"/>
              <p:cNvSpPr>
                <a:spLocks noChangeShapeType="1"/>
              </p:cNvSpPr>
              <p:nvPr/>
            </p:nvSpPr>
            <p:spPr bwMode="auto">
              <a:xfrm>
                <a:off x="3878" y="1007"/>
                <a:ext cx="348"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 name="Text Box 75"/>
              <p:cNvSpPr txBox="1">
                <a:spLocks noChangeArrowheads="1"/>
              </p:cNvSpPr>
              <p:nvPr/>
            </p:nvSpPr>
            <p:spPr bwMode="auto">
              <a:xfrm>
                <a:off x="3958" y="754"/>
                <a:ext cx="1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rPr>
                  <a:t>u</a:t>
                </a:r>
                <a:endParaRPr kumimoji="1" lang="en-US" altLang="zh-CN" i="1">
                  <a:latin typeface="Times New Roman" panose="02020603050405020304" pitchFamily="18" charset="0"/>
                </a:endParaRPr>
              </a:p>
            </p:txBody>
          </p:sp>
          <p:sp>
            <p:nvSpPr>
              <p:cNvPr id="25" name="Line 76"/>
              <p:cNvSpPr>
                <a:spLocks noChangeShapeType="1"/>
              </p:cNvSpPr>
              <p:nvPr/>
            </p:nvSpPr>
            <p:spPr bwMode="auto">
              <a:xfrm>
                <a:off x="3587" y="1211"/>
                <a:ext cx="0" cy="247"/>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6" name="Line 77"/>
              <p:cNvSpPr>
                <a:spLocks noChangeShapeType="1"/>
              </p:cNvSpPr>
              <p:nvPr/>
            </p:nvSpPr>
            <p:spPr bwMode="auto">
              <a:xfrm>
                <a:off x="3587" y="1370"/>
                <a:ext cx="1140"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7" name="Text Box 78"/>
              <p:cNvSpPr txBox="1">
                <a:spLocks noChangeArrowheads="1"/>
              </p:cNvSpPr>
              <p:nvPr/>
            </p:nvSpPr>
            <p:spPr bwMode="auto">
              <a:xfrm>
                <a:off x="5148" y="1215"/>
                <a:ext cx="1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rPr>
                  <a:t>x</a:t>
                </a:r>
                <a:endParaRPr kumimoji="1" lang="en-US" altLang="zh-CN" i="1">
                  <a:latin typeface="Times New Roman" panose="02020603050405020304" pitchFamily="18" charset="0"/>
                </a:endParaRPr>
              </a:p>
            </p:txBody>
          </p:sp>
          <p:sp>
            <p:nvSpPr>
              <p:cNvPr id="28" name="Text Box 79"/>
              <p:cNvSpPr txBox="1">
                <a:spLocks noChangeArrowheads="1"/>
              </p:cNvSpPr>
              <p:nvPr/>
            </p:nvSpPr>
            <p:spPr bwMode="auto">
              <a:xfrm>
                <a:off x="4286" y="709"/>
                <a:ext cx="5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latin typeface="Times New Roman" panose="02020603050405020304" pitchFamily="18" charset="0"/>
                  </a:rPr>
                  <a:t>波疏</a:t>
                </a:r>
                <a:endParaRPr kumimoji="1" lang="zh-CN" altLang="en-US" b="1">
                  <a:latin typeface="Times New Roman" panose="02020603050405020304" pitchFamily="18" charset="0"/>
                </a:endParaRPr>
              </a:p>
            </p:txBody>
          </p:sp>
          <p:sp>
            <p:nvSpPr>
              <p:cNvPr id="29" name="Text Box 80"/>
              <p:cNvSpPr txBox="1">
                <a:spLocks noChangeArrowheads="1"/>
              </p:cNvSpPr>
              <p:nvPr/>
            </p:nvSpPr>
            <p:spPr bwMode="auto">
              <a:xfrm>
                <a:off x="4890" y="709"/>
                <a:ext cx="5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latin typeface="Times New Roman" panose="02020603050405020304" pitchFamily="18" charset="0"/>
                  </a:rPr>
                  <a:t>波密</a:t>
                </a:r>
                <a:endParaRPr kumimoji="1" lang="zh-CN" altLang="en-US" b="1">
                  <a:latin typeface="Times New Roman" panose="02020603050405020304" pitchFamily="18" charset="0"/>
                </a:endParaRPr>
              </a:p>
            </p:txBody>
          </p:sp>
          <p:graphicFrame>
            <p:nvGraphicFramePr>
              <p:cNvPr id="30" name="Object 81"/>
              <p:cNvGraphicFramePr>
                <a:graphicFrameLocks noChangeAspect="1"/>
              </p:cNvGraphicFramePr>
              <p:nvPr/>
            </p:nvGraphicFramePr>
            <p:xfrm>
              <a:off x="4018" y="1214"/>
              <a:ext cx="244" cy="311"/>
            </p:xfrm>
            <a:graphic>
              <a:graphicData uri="http://schemas.openxmlformats.org/presentationml/2006/ole">
                <mc:AlternateContent xmlns:mc="http://schemas.openxmlformats.org/markup-compatibility/2006">
                  <mc:Choice xmlns:v="urn:schemas-microsoft-com:vml" Requires="v">
                    <p:oleObj spid="_x0000_s38231" name="公式" r:id="rId19" imgW="266700" imgH="393065" progId="Equation.3">
                      <p:embed/>
                    </p:oleObj>
                  </mc:Choice>
                  <mc:Fallback>
                    <p:oleObj name="公式" r:id="rId19" imgW="266700" imgH="393065" progId="Equation.3">
                      <p:embed/>
                      <p:pic>
                        <p:nvPicPr>
                          <p:cNvPr id="0" name="Object 8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18" y="1214"/>
                            <a:ext cx="244" cy="311"/>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 name="Text Box 82"/>
              <p:cNvSpPr txBox="1">
                <a:spLocks noChangeArrowheads="1"/>
              </p:cNvSpPr>
              <p:nvPr/>
            </p:nvSpPr>
            <p:spPr bwMode="auto">
              <a:xfrm>
                <a:off x="4785" y="1207"/>
                <a:ext cx="3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rPr>
                  <a:t>P</a:t>
                </a:r>
                <a:endParaRPr kumimoji="1" lang="en-US" altLang="zh-CN">
                  <a:latin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89096"/>
                                        </p:tgtEl>
                                        <p:attrNameLst>
                                          <p:attrName>style.visibility</p:attrName>
                                        </p:attrNameLst>
                                      </p:cBhvr>
                                      <p:to>
                                        <p:strVal val="visible"/>
                                      </p:to>
                                    </p:set>
                                    <p:anim calcmode="discrete" valueType="clr">
                                      <p:cBhvr override="childStyle">
                                        <p:cTn id="7" dur="80"/>
                                        <p:tgtEl>
                                          <p:spTgt spid="89096"/>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89096"/>
                                        </p:tgtEl>
                                        <p:attrNameLst>
                                          <p:attrName>fillcolor</p:attrName>
                                        </p:attrNameLst>
                                      </p:cBhvr>
                                      <p:tavLst>
                                        <p:tav tm="0">
                                          <p:val>
                                            <p:clrVal>
                                              <a:schemeClr val="accent2"/>
                                            </p:clrVal>
                                          </p:val>
                                        </p:tav>
                                        <p:tav tm="50000">
                                          <p:val>
                                            <p:clrVal>
                                              <a:schemeClr val="hlink"/>
                                            </p:clrVal>
                                          </p:val>
                                        </p:tav>
                                      </p:tavLst>
                                    </p:anim>
                                    <p:set>
                                      <p:cBhvr>
                                        <p:cTn id="9" dur="80"/>
                                        <p:tgtEl>
                                          <p:spTgt spid="89096"/>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89097"/>
                                        </p:tgtEl>
                                        <p:attrNameLst>
                                          <p:attrName>style.visibility</p:attrName>
                                        </p:attrNameLst>
                                      </p:cBhvr>
                                      <p:to>
                                        <p:strVal val="visible"/>
                                      </p:to>
                                    </p:set>
                                    <p:animEffect transition="in" filter="blinds(horizontal)">
                                      <p:cBhvr>
                                        <p:cTn id="14" dur="500"/>
                                        <p:tgtEl>
                                          <p:spTgt spid="89097"/>
                                        </p:tgtEl>
                                      </p:cBhvr>
                                    </p:animEffec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89106"/>
                                        </p:tgtEl>
                                        <p:attrNameLst>
                                          <p:attrName>style.visibility</p:attrName>
                                        </p:attrNameLst>
                                      </p:cBhvr>
                                      <p:to>
                                        <p:strVal val="visible"/>
                                      </p:to>
                                    </p:set>
                                    <p:anim calcmode="discrete" valueType="clr">
                                      <p:cBhvr override="childStyle">
                                        <p:cTn id="19" dur="80"/>
                                        <p:tgtEl>
                                          <p:spTgt spid="89106"/>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89106"/>
                                        </p:tgtEl>
                                        <p:attrNameLst>
                                          <p:attrName>fillcolor</p:attrName>
                                        </p:attrNameLst>
                                      </p:cBhvr>
                                      <p:tavLst>
                                        <p:tav tm="0">
                                          <p:val>
                                            <p:clrVal>
                                              <a:schemeClr val="accent2"/>
                                            </p:clrVal>
                                          </p:val>
                                        </p:tav>
                                        <p:tav tm="50000">
                                          <p:val>
                                            <p:clrVal>
                                              <a:schemeClr val="hlink"/>
                                            </p:clrVal>
                                          </p:val>
                                        </p:tav>
                                      </p:tavLst>
                                    </p:anim>
                                    <p:set>
                                      <p:cBhvr>
                                        <p:cTn id="21" dur="80"/>
                                        <p:tgtEl>
                                          <p:spTgt spid="89106"/>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89098"/>
                                        </p:tgtEl>
                                        <p:attrNameLst>
                                          <p:attrName>style.visibility</p:attrName>
                                        </p:attrNameLst>
                                      </p:cBhvr>
                                      <p:to>
                                        <p:strVal val="visible"/>
                                      </p:to>
                                    </p:set>
                                    <p:animEffect transition="in" filter="blinds(horizontal)">
                                      <p:cBhvr>
                                        <p:cTn id="26" dur="500"/>
                                        <p:tgtEl>
                                          <p:spTgt spid="89098"/>
                                        </p:tgtEl>
                                      </p:cBhvr>
                                    </p:animEffec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grpId="0" nodeType="clickEffect">
                                  <p:stCondLst>
                                    <p:cond delay="0"/>
                                  </p:stCondLst>
                                  <p:iterate type="lt">
                                    <p:tmPct val="50000"/>
                                  </p:iterate>
                                  <p:childTnLst>
                                    <p:set>
                                      <p:cBhvr>
                                        <p:cTn id="30" dur="1" fill="hold">
                                          <p:stCondLst>
                                            <p:cond delay="0"/>
                                          </p:stCondLst>
                                        </p:cTn>
                                        <p:tgtEl>
                                          <p:spTgt spid="89099"/>
                                        </p:tgtEl>
                                        <p:attrNameLst>
                                          <p:attrName>style.visibility</p:attrName>
                                        </p:attrNameLst>
                                      </p:cBhvr>
                                      <p:to>
                                        <p:strVal val="visible"/>
                                      </p:to>
                                    </p:set>
                                    <p:anim calcmode="discrete" valueType="clr">
                                      <p:cBhvr override="childStyle">
                                        <p:cTn id="31" dur="80"/>
                                        <p:tgtEl>
                                          <p:spTgt spid="89099"/>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89099"/>
                                        </p:tgtEl>
                                        <p:attrNameLst>
                                          <p:attrName>fillcolor</p:attrName>
                                        </p:attrNameLst>
                                      </p:cBhvr>
                                      <p:tavLst>
                                        <p:tav tm="0">
                                          <p:val>
                                            <p:clrVal>
                                              <a:schemeClr val="accent2"/>
                                            </p:clrVal>
                                          </p:val>
                                        </p:tav>
                                        <p:tav tm="50000">
                                          <p:val>
                                            <p:clrVal>
                                              <a:schemeClr val="hlink"/>
                                            </p:clrVal>
                                          </p:val>
                                        </p:tav>
                                      </p:tavLst>
                                    </p:anim>
                                    <p:set>
                                      <p:cBhvr>
                                        <p:cTn id="33" dur="80"/>
                                        <p:tgtEl>
                                          <p:spTgt spid="89099"/>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89100"/>
                                        </p:tgtEl>
                                        <p:attrNameLst>
                                          <p:attrName>style.visibility</p:attrName>
                                        </p:attrNameLst>
                                      </p:cBhvr>
                                      <p:to>
                                        <p:strVal val="visible"/>
                                      </p:to>
                                    </p:set>
                                    <p:animEffect transition="in" filter="blinds(horizontal)">
                                      <p:cBhvr>
                                        <p:cTn id="38" dur="500"/>
                                        <p:tgtEl>
                                          <p:spTgt spid="89100"/>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89101"/>
                                        </p:tgtEl>
                                        <p:attrNameLst>
                                          <p:attrName>style.visibility</p:attrName>
                                        </p:attrNameLst>
                                      </p:cBhvr>
                                      <p:to>
                                        <p:strVal val="visible"/>
                                      </p:to>
                                    </p:set>
                                    <p:animEffect transition="in" filter="blinds(horizontal)">
                                      <p:cBhvr>
                                        <p:cTn id="43" dur="500"/>
                                        <p:tgtEl>
                                          <p:spTgt spid="89101"/>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89102"/>
                                        </p:tgtEl>
                                        <p:attrNameLst>
                                          <p:attrName>style.visibility</p:attrName>
                                        </p:attrNameLst>
                                      </p:cBhvr>
                                      <p:to>
                                        <p:strVal val="visible"/>
                                      </p:to>
                                    </p:set>
                                    <p:animEffect transition="in" filter="blinds(horizontal)">
                                      <p:cBhvr>
                                        <p:cTn id="48" dur="500"/>
                                        <p:tgtEl>
                                          <p:spTgt spid="89102"/>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89107"/>
                                        </p:tgtEl>
                                        <p:attrNameLst>
                                          <p:attrName>style.visibility</p:attrName>
                                        </p:attrNameLst>
                                      </p:cBhvr>
                                      <p:to>
                                        <p:strVal val="visible"/>
                                      </p:to>
                                    </p:set>
                                    <p:animEffect transition="in" filter="blinds(horizontal)">
                                      <p:cBhvr>
                                        <p:cTn id="53" dur="500"/>
                                        <p:tgtEl>
                                          <p:spTgt spid="89107"/>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89108"/>
                                        </p:tgtEl>
                                        <p:attrNameLst>
                                          <p:attrName>style.visibility</p:attrName>
                                        </p:attrNameLst>
                                      </p:cBhvr>
                                      <p:to>
                                        <p:strVal val="visible"/>
                                      </p:to>
                                    </p:set>
                                    <p:animEffect transition="in" filter="blinds(horizontal)">
                                      <p:cBhvr>
                                        <p:cTn id="58" dur="500"/>
                                        <p:tgtEl>
                                          <p:spTgt spid="89108"/>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89109"/>
                                        </p:tgtEl>
                                        <p:attrNameLst>
                                          <p:attrName>style.visibility</p:attrName>
                                        </p:attrNameLst>
                                      </p:cBhvr>
                                      <p:to>
                                        <p:strVal val="visible"/>
                                      </p:to>
                                    </p:set>
                                    <p:animEffect transition="in" filter="blinds(horizontal)">
                                      <p:cBhvr>
                                        <p:cTn id="63" dur="500"/>
                                        <p:tgtEl>
                                          <p:spTgt spid="89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6" grpId="0"/>
      <p:bldP spid="89099" grpId="0"/>
      <p:bldP spid="89106" grpId="0"/>
      <p:bldP spid="8910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6" name="Group 35"/>
          <p:cNvGrpSpPr/>
          <p:nvPr/>
        </p:nvGrpSpPr>
        <p:grpSpPr bwMode="auto">
          <a:xfrm>
            <a:off x="2771775" y="4365625"/>
            <a:ext cx="3386138" cy="1828800"/>
            <a:chOff x="1746" y="2750"/>
            <a:chExt cx="2133" cy="1152"/>
          </a:xfrm>
        </p:grpSpPr>
        <p:sp>
          <p:nvSpPr>
            <p:cNvPr id="38920" name="Line 8"/>
            <p:cNvSpPr>
              <a:spLocks noChangeShapeType="1"/>
            </p:cNvSpPr>
            <p:nvPr/>
          </p:nvSpPr>
          <p:spPr bwMode="auto">
            <a:xfrm>
              <a:off x="3783" y="2750"/>
              <a:ext cx="0" cy="1152"/>
            </a:xfrm>
            <a:prstGeom prst="line">
              <a:avLst/>
            </a:prstGeom>
            <a:noFill/>
            <a:ln w="5715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8921" name="Line 9"/>
            <p:cNvSpPr>
              <a:spLocks noChangeShapeType="1"/>
            </p:cNvSpPr>
            <p:nvPr/>
          </p:nvSpPr>
          <p:spPr bwMode="auto">
            <a:xfrm flipH="1">
              <a:off x="3783" y="2750"/>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8922" name="Line 10"/>
            <p:cNvSpPr>
              <a:spLocks noChangeShapeType="1"/>
            </p:cNvSpPr>
            <p:nvPr/>
          </p:nvSpPr>
          <p:spPr bwMode="auto">
            <a:xfrm flipH="1">
              <a:off x="3783" y="2894"/>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8923" name="Line 11"/>
            <p:cNvSpPr>
              <a:spLocks noChangeShapeType="1"/>
            </p:cNvSpPr>
            <p:nvPr/>
          </p:nvSpPr>
          <p:spPr bwMode="auto">
            <a:xfrm flipH="1">
              <a:off x="3783" y="303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8924" name="Line 12"/>
            <p:cNvSpPr>
              <a:spLocks noChangeShapeType="1"/>
            </p:cNvSpPr>
            <p:nvPr/>
          </p:nvSpPr>
          <p:spPr bwMode="auto">
            <a:xfrm flipH="1">
              <a:off x="3783" y="3182"/>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8925" name="Line 13"/>
            <p:cNvSpPr>
              <a:spLocks noChangeShapeType="1"/>
            </p:cNvSpPr>
            <p:nvPr/>
          </p:nvSpPr>
          <p:spPr bwMode="auto">
            <a:xfrm flipH="1">
              <a:off x="3783" y="3326"/>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8926" name="Line 14"/>
            <p:cNvSpPr>
              <a:spLocks noChangeShapeType="1"/>
            </p:cNvSpPr>
            <p:nvPr/>
          </p:nvSpPr>
          <p:spPr bwMode="auto">
            <a:xfrm flipH="1">
              <a:off x="3783" y="3470"/>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8927" name="Line 15"/>
            <p:cNvSpPr>
              <a:spLocks noChangeShapeType="1"/>
            </p:cNvSpPr>
            <p:nvPr/>
          </p:nvSpPr>
          <p:spPr bwMode="auto">
            <a:xfrm flipH="1">
              <a:off x="3783" y="3614"/>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8928" name="Line 16"/>
            <p:cNvSpPr>
              <a:spLocks noChangeShapeType="1"/>
            </p:cNvSpPr>
            <p:nvPr/>
          </p:nvSpPr>
          <p:spPr bwMode="auto">
            <a:xfrm flipH="1">
              <a:off x="3783" y="375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8929" name="Oval 17"/>
            <p:cNvSpPr>
              <a:spLocks noChangeArrowheads="1"/>
            </p:cNvSpPr>
            <p:nvPr/>
          </p:nvSpPr>
          <p:spPr bwMode="auto">
            <a:xfrm>
              <a:off x="3023" y="3289"/>
              <a:ext cx="96" cy="96"/>
            </a:xfrm>
            <a:prstGeom prst="ellipse">
              <a:avLst/>
            </a:prstGeom>
            <a:solidFill>
              <a:schemeClr val="bg1"/>
            </a:solidFill>
            <a:ln w="25400">
              <a:solidFill>
                <a:schemeClr val="tx1"/>
              </a:solidFill>
              <a:round/>
              <a:tailEnd type="none" w="med" len="lg"/>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8930" name="Text Box 18"/>
            <p:cNvSpPr txBox="1">
              <a:spLocks noChangeArrowheads="1"/>
            </p:cNvSpPr>
            <p:nvPr/>
          </p:nvSpPr>
          <p:spPr bwMode="auto">
            <a:xfrm>
              <a:off x="1968" y="2976"/>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rPr>
                <a:t>A                             </a:t>
              </a:r>
              <a:endParaRPr kumimoji="1" lang="en-US" altLang="zh-CN">
                <a:latin typeface="Times New Roman" panose="02020603050405020304" pitchFamily="18" charset="0"/>
              </a:endParaRPr>
            </a:p>
          </p:txBody>
        </p:sp>
        <p:sp>
          <p:nvSpPr>
            <p:cNvPr id="38931" name="Line 20"/>
            <p:cNvSpPr>
              <a:spLocks noChangeShapeType="1"/>
            </p:cNvSpPr>
            <p:nvPr/>
          </p:nvSpPr>
          <p:spPr bwMode="auto">
            <a:xfrm>
              <a:off x="3113" y="3339"/>
              <a:ext cx="302"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8932" name="Text Box 21"/>
            <p:cNvSpPr txBox="1">
              <a:spLocks noChangeArrowheads="1"/>
            </p:cNvSpPr>
            <p:nvPr/>
          </p:nvSpPr>
          <p:spPr bwMode="auto">
            <a:xfrm>
              <a:off x="3074" y="300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rPr>
                <a:t>V</a:t>
              </a:r>
              <a:r>
                <a:rPr kumimoji="1" lang="en-US" altLang="zh-CN" i="1" baseline="-25000">
                  <a:latin typeface="Times New Roman" panose="02020603050405020304" pitchFamily="18" charset="0"/>
                </a:rPr>
                <a:t>s</a:t>
              </a:r>
              <a:endParaRPr kumimoji="1" lang="en-US" altLang="zh-CN" i="1">
                <a:latin typeface="Times New Roman" panose="02020603050405020304" pitchFamily="18" charset="0"/>
              </a:endParaRPr>
            </a:p>
          </p:txBody>
        </p:sp>
        <p:sp>
          <p:nvSpPr>
            <p:cNvPr id="38933" name="Oval 26"/>
            <p:cNvSpPr>
              <a:spLocks noChangeArrowheads="1"/>
            </p:cNvSpPr>
            <p:nvPr/>
          </p:nvSpPr>
          <p:spPr bwMode="auto">
            <a:xfrm>
              <a:off x="2076" y="3294"/>
              <a:ext cx="96" cy="96"/>
            </a:xfrm>
            <a:prstGeom prst="ellipse">
              <a:avLst/>
            </a:prstGeom>
            <a:solidFill>
              <a:schemeClr val="bg1"/>
            </a:solidFill>
            <a:ln w="25400">
              <a:solidFill>
                <a:schemeClr val="tx1"/>
              </a:solidFill>
              <a:round/>
              <a:tailEnd type="none" w="med" len="lg"/>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8934" name="Text Box 27"/>
            <p:cNvSpPr txBox="1">
              <a:spLocks noChangeArrowheads="1"/>
            </p:cNvSpPr>
            <p:nvPr/>
          </p:nvSpPr>
          <p:spPr bwMode="auto">
            <a:xfrm>
              <a:off x="1746" y="3521"/>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a:latin typeface="Times New Roman" panose="02020603050405020304" pitchFamily="18" charset="0"/>
                </a:rPr>
                <a:t>观察者</a:t>
              </a:r>
              <a:endParaRPr kumimoji="1" lang="zh-CN" altLang="en-US">
                <a:latin typeface="Times New Roman" panose="02020603050405020304" pitchFamily="18" charset="0"/>
              </a:endParaRPr>
            </a:p>
          </p:txBody>
        </p:sp>
        <p:sp>
          <p:nvSpPr>
            <p:cNvPr id="38935" name="Text Box 28"/>
            <p:cNvSpPr txBox="1">
              <a:spLocks noChangeArrowheads="1"/>
            </p:cNvSpPr>
            <p:nvPr/>
          </p:nvSpPr>
          <p:spPr bwMode="auto">
            <a:xfrm>
              <a:off x="2925" y="3521"/>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a:latin typeface="Times New Roman" panose="02020603050405020304" pitchFamily="18" charset="0"/>
                </a:rPr>
                <a:t>波源</a:t>
              </a:r>
              <a:endParaRPr kumimoji="1" lang="zh-CN" altLang="en-US">
                <a:latin typeface="Times New Roman" panose="02020603050405020304" pitchFamily="18" charset="0"/>
              </a:endParaRPr>
            </a:p>
          </p:txBody>
        </p:sp>
      </p:grpSp>
      <p:sp>
        <p:nvSpPr>
          <p:cNvPr id="38917" name="Rectangle 32"/>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 name="Group 34"/>
          <p:cNvGrpSpPr/>
          <p:nvPr/>
        </p:nvGrpSpPr>
        <p:grpSpPr bwMode="auto">
          <a:xfrm>
            <a:off x="395288" y="523875"/>
            <a:ext cx="8007350" cy="3595688"/>
            <a:chOff x="249" y="330"/>
            <a:chExt cx="5044" cy="2265"/>
          </a:xfrm>
        </p:grpSpPr>
        <p:sp>
          <p:nvSpPr>
            <p:cNvPr id="38919" name="Text Box 4"/>
            <p:cNvSpPr txBox="1">
              <a:spLocks noChangeArrowheads="1"/>
            </p:cNvSpPr>
            <p:nvPr/>
          </p:nvSpPr>
          <p:spPr bwMode="auto">
            <a:xfrm>
              <a:off x="249" y="330"/>
              <a:ext cx="5044" cy="2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marL="457200" indent="-457200"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15000"/>
                </a:lnSpc>
              </a:pPr>
              <a:r>
                <a:rPr kumimoji="1" lang="zh-CN" altLang="en-US" sz="3200" b="1" dirty="0">
                  <a:solidFill>
                    <a:srgbClr val="FF0000"/>
                  </a:solidFill>
                  <a:latin typeface="楷体_GB2312" panose="02010609030101010101" pitchFamily="49" charset="-122"/>
                  <a:ea typeface="楷体_GB2312" panose="02010609030101010101" pitchFamily="49" charset="-122"/>
                </a:rPr>
                <a:t>例</a:t>
              </a:r>
              <a:r>
                <a:rPr kumimoji="1" lang="en-US" altLang="zh-CN" sz="3200" b="1" dirty="0">
                  <a:solidFill>
                    <a:srgbClr val="FF0000"/>
                  </a:solidFill>
                  <a:latin typeface="楷体_GB2312" panose="02010609030101010101" pitchFamily="49" charset="-122"/>
                  <a:ea typeface="楷体_GB2312" panose="02010609030101010101" pitchFamily="49" charset="-122"/>
                </a:rPr>
                <a:t>4:</a:t>
              </a:r>
              <a:r>
                <a:rPr kumimoji="1" lang="zh-CN" altLang="en-US" sz="2800" dirty="0">
                  <a:latin typeface="黑体" panose="02010609060101010101" pitchFamily="49" charset="-122"/>
                  <a:ea typeface="黑体" panose="02010609060101010101" pitchFamily="49" charset="-122"/>
                </a:rPr>
                <a:t>一波源振动频率为</a:t>
              </a:r>
              <a:r>
                <a:rPr kumimoji="1" lang="en-US" altLang="zh-CN" sz="2800" dirty="0">
                  <a:latin typeface="黑体" panose="02010609060101010101" pitchFamily="49" charset="-122"/>
                  <a:ea typeface="黑体" panose="02010609060101010101" pitchFamily="49" charset="-122"/>
                </a:rPr>
                <a:t>2040Hz</a:t>
              </a:r>
              <a:r>
                <a:rPr kumimoji="1" lang="zh-CN" altLang="en-US" sz="2800" dirty="0">
                  <a:latin typeface="黑体" panose="02010609060101010101" pitchFamily="49" charset="-122"/>
                  <a:ea typeface="黑体" panose="02010609060101010101" pitchFamily="49" charset="-122"/>
                </a:rPr>
                <a:t>，以速度</a:t>
              </a:r>
              <a:r>
                <a:rPr kumimoji="1" lang="en-US" altLang="zh-CN" sz="2800" dirty="0">
                  <a:latin typeface="黑体" panose="02010609060101010101" pitchFamily="49" charset="-122"/>
                  <a:ea typeface="黑体" panose="02010609060101010101" pitchFamily="49" charset="-122"/>
                </a:rPr>
                <a:t>V</a:t>
              </a:r>
              <a:r>
                <a:rPr kumimoji="1" lang="en-US" altLang="zh-CN" sz="2800" baseline="-25000" dirty="0">
                  <a:latin typeface="黑体" panose="02010609060101010101" pitchFamily="49" charset="-122"/>
                  <a:ea typeface="黑体" panose="02010609060101010101" pitchFamily="49" charset="-122"/>
                </a:rPr>
                <a:t>s</a:t>
              </a:r>
              <a:r>
                <a:rPr kumimoji="1" lang="zh-CN" altLang="en-US" sz="2800" dirty="0">
                  <a:latin typeface="黑体" panose="02010609060101010101" pitchFamily="49" charset="-122"/>
                  <a:ea typeface="黑体" panose="02010609060101010101" pitchFamily="49" charset="-122"/>
                </a:rPr>
                <a:t>向墙壁</a:t>
              </a:r>
              <a:endParaRPr kumimoji="1" lang="zh-CN" altLang="en-US" sz="2800" dirty="0">
                <a:latin typeface="黑体" panose="02010609060101010101" pitchFamily="49" charset="-122"/>
                <a:ea typeface="黑体" panose="02010609060101010101" pitchFamily="49" charset="-122"/>
              </a:endParaRPr>
            </a:p>
            <a:p>
              <a:pPr eaLnBrk="1" hangingPunct="1">
                <a:lnSpc>
                  <a:spcPct val="115000"/>
                </a:lnSpc>
              </a:pPr>
              <a:r>
                <a:rPr kumimoji="1" lang="zh-CN" altLang="en-US" sz="2800" dirty="0">
                  <a:latin typeface="黑体" panose="02010609060101010101" pitchFamily="49" charset="-122"/>
                  <a:ea typeface="黑体" panose="02010609060101010101" pitchFamily="49" charset="-122"/>
                </a:rPr>
                <a:t>     靠近，观测者在</a:t>
              </a:r>
              <a:r>
                <a:rPr kumimoji="1" lang="en-US" altLang="zh-CN" sz="2800" dirty="0">
                  <a:latin typeface="黑体" panose="02010609060101010101" pitchFamily="49" charset="-122"/>
                  <a:ea typeface="黑体" panose="02010609060101010101" pitchFamily="49" charset="-122"/>
                </a:rPr>
                <a:t>A</a:t>
              </a:r>
              <a:r>
                <a:rPr kumimoji="1" lang="zh-CN" altLang="en-US" sz="2800" dirty="0">
                  <a:latin typeface="黑体" panose="02010609060101010101" pitchFamily="49" charset="-122"/>
                  <a:ea typeface="黑体" panose="02010609060101010101" pitchFamily="49" charset="-122"/>
                </a:rPr>
                <a:t>点所得的拍频为      </a:t>
              </a:r>
              <a:r>
                <a:rPr kumimoji="1" lang="en-US" altLang="zh-CN" sz="2800" dirty="0">
                  <a:latin typeface="黑体" panose="02010609060101010101" pitchFamily="49" charset="-122"/>
                  <a:ea typeface="黑体" panose="02010609060101010101" pitchFamily="49" charset="-122"/>
                </a:rPr>
                <a:t>Hz</a:t>
              </a:r>
              <a:r>
                <a:rPr kumimoji="1" lang="zh-CN" altLang="en-US" sz="2800" dirty="0">
                  <a:latin typeface="黑体" panose="02010609060101010101" pitchFamily="49" charset="-122"/>
                  <a:ea typeface="黑体" panose="02010609060101010101" pitchFamily="49" charset="-122"/>
                </a:rPr>
                <a:t>。</a:t>
              </a:r>
              <a:endParaRPr kumimoji="1" lang="zh-CN" altLang="en-US" sz="2800" dirty="0">
                <a:latin typeface="黑体" panose="02010609060101010101" pitchFamily="49" charset="-122"/>
                <a:ea typeface="黑体" panose="02010609060101010101" pitchFamily="49" charset="-122"/>
              </a:endParaRPr>
            </a:p>
            <a:p>
              <a:pPr eaLnBrk="1" hangingPunct="1">
                <a:lnSpc>
                  <a:spcPct val="115000"/>
                </a:lnSpc>
              </a:pPr>
              <a:r>
                <a:rPr kumimoji="1" lang="zh-CN" altLang="en-US" sz="2800" dirty="0">
                  <a:latin typeface="黑体" panose="02010609060101010101" pitchFamily="49" charset="-122"/>
                  <a:ea typeface="黑体" panose="02010609060101010101" pitchFamily="49" charset="-122"/>
                </a:rPr>
                <a:t>     设声速为</a:t>
              </a:r>
              <a:r>
                <a:rPr kumimoji="1" lang="en-US" altLang="zh-CN" sz="2800" dirty="0">
                  <a:latin typeface="黑体" panose="02010609060101010101" pitchFamily="49" charset="-122"/>
                  <a:ea typeface="黑体" panose="02010609060101010101" pitchFamily="49" charset="-122"/>
                </a:rPr>
                <a:t>340m/s</a:t>
              </a:r>
              <a:r>
                <a:rPr kumimoji="1" lang="zh-CN" altLang="en-US" sz="2800" dirty="0">
                  <a:latin typeface="黑体" panose="02010609060101010101" pitchFamily="49" charset="-122"/>
                  <a:ea typeface="黑体" panose="02010609060101010101" pitchFamily="49" charset="-122"/>
                </a:rPr>
                <a:t>，如图所示。</a:t>
              </a:r>
              <a:endParaRPr kumimoji="1" lang="zh-CN" altLang="en-US" sz="2800" dirty="0">
                <a:latin typeface="黑体" panose="02010609060101010101" pitchFamily="49" charset="-122"/>
                <a:ea typeface="黑体" panose="02010609060101010101" pitchFamily="49" charset="-122"/>
              </a:endParaRPr>
            </a:p>
            <a:p>
              <a:pPr eaLnBrk="1" hangingPunct="1">
                <a:lnSpc>
                  <a:spcPct val="115000"/>
                </a:lnSpc>
              </a:pPr>
              <a:r>
                <a:rPr kumimoji="1" lang="zh-CN" altLang="en-US" sz="2800" dirty="0">
                  <a:latin typeface="黑体" panose="02010609060101010101" pitchFamily="49" charset="-122"/>
                  <a:ea typeface="黑体" panose="02010609060101010101" pitchFamily="49" charset="-122"/>
                </a:rPr>
                <a:t>     </a:t>
              </a:r>
              <a:r>
                <a:rPr kumimoji="1" lang="en-US" altLang="zh-CN" sz="2800" dirty="0">
                  <a:latin typeface="黑体" panose="02010609060101010101" pitchFamily="49" charset="-122"/>
                  <a:ea typeface="黑体" panose="02010609060101010101" pitchFamily="49" charset="-122"/>
                </a:rPr>
                <a:t>(1)</a:t>
              </a:r>
              <a:r>
                <a:rPr kumimoji="1" lang="zh-CN" altLang="en-US" sz="2800" dirty="0">
                  <a:latin typeface="黑体" panose="02010609060101010101" pitchFamily="49" charset="-122"/>
                  <a:ea typeface="黑体" panose="02010609060101010101" pitchFamily="49" charset="-122"/>
                </a:rPr>
                <a:t>求波源移动的速度大小</a:t>
              </a:r>
              <a:endParaRPr kumimoji="1" lang="zh-CN" altLang="en-US" sz="2800" dirty="0">
                <a:latin typeface="黑体" panose="02010609060101010101" pitchFamily="49" charset="-122"/>
                <a:ea typeface="黑体" panose="02010609060101010101" pitchFamily="49" charset="-122"/>
              </a:endParaRPr>
            </a:p>
            <a:p>
              <a:pPr eaLnBrk="1" hangingPunct="1">
                <a:lnSpc>
                  <a:spcPct val="115000"/>
                </a:lnSpc>
              </a:pPr>
              <a:r>
                <a:rPr kumimoji="1" lang="zh-CN" altLang="en-US" sz="2800" dirty="0">
                  <a:latin typeface="黑体" panose="02010609060101010101" pitchFamily="49" charset="-122"/>
                  <a:ea typeface="黑体" panose="02010609060101010101" pitchFamily="49" charset="-122"/>
                </a:rPr>
                <a:t>     </a:t>
              </a:r>
              <a:r>
                <a:rPr kumimoji="1" lang="en-US" altLang="zh-CN" sz="2800" dirty="0">
                  <a:latin typeface="黑体" panose="02010609060101010101" pitchFamily="49" charset="-122"/>
                  <a:ea typeface="黑体" panose="02010609060101010101" pitchFamily="49" charset="-122"/>
                </a:rPr>
                <a:t>(2)</a:t>
              </a:r>
              <a:r>
                <a:rPr kumimoji="1" lang="zh-CN" altLang="en-US" sz="2800" dirty="0">
                  <a:latin typeface="黑体" panose="02010609060101010101" pitchFamily="49" charset="-122"/>
                  <a:ea typeface="黑体" panose="02010609060101010101" pitchFamily="49" charset="-122"/>
                </a:rPr>
                <a:t>若波源不动，而以一反射面代替墙壁，以</a:t>
              </a:r>
              <a:endParaRPr kumimoji="1" lang="zh-CN" altLang="en-US" sz="2800" dirty="0">
                <a:latin typeface="黑体" panose="02010609060101010101" pitchFamily="49" charset="-122"/>
                <a:ea typeface="黑体" panose="02010609060101010101" pitchFamily="49" charset="-122"/>
              </a:endParaRPr>
            </a:p>
            <a:p>
              <a:pPr eaLnBrk="1" hangingPunct="1">
                <a:lnSpc>
                  <a:spcPct val="115000"/>
                </a:lnSpc>
              </a:pPr>
              <a:r>
                <a:rPr kumimoji="1" lang="zh-CN" altLang="en-US" sz="2800" dirty="0">
                  <a:latin typeface="黑体" panose="02010609060101010101" pitchFamily="49" charset="-122"/>
                  <a:ea typeface="黑体" panose="02010609060101010101" pitchFamily="49" charset="-122"/>
                </a:rPr>
                <a:t>        速度</a:t>
              </a:r>
              <a:r>
                <a:rPr kumimoji="1" lang="en-US" altLang="zh-CN" sz="2800" dirty="0" err="1">
                  <a:latin typeface="黑体" panose="02010609060101010101" pitchFamily="49" charset="-122"/>
                  <a:ea typeface="黑体" panose="02010609060101010101" pitchFamily="49" charset="-122"/>
                </a:rPr>
                <a:t>v</a:t>
              </a:r>
              <a:r>
                <a:rPr kumimoji="1" lang="en-US" altLang="zh-CN" sz="2800" baseline="-25000" dirty="0" err="1">
                  <a:latin typeface="黑体" panose="02010609060101010101" pitchFamily="49" charset="-122"/>
                  <a:ea typeface="黑体" panose="02010609060101010101" pitchFamily="49" charset="-122"/>
                </a:rPr>
                <a:t>r</a:t>
              </a:r>
              <a:r>
                <a:rPr kumimoji="1" lang="en-US" altLang="zh-CN" sz="2800" dirty="0">
                  <a:latin typeface="黑体" panose="02010609060101010101" pitchFamily="49" charset="-122"/>
                  <a:ea typeface="黑体" panose="02010609060101010101" pitchFamily="49" charset="-122"/>
                </a:rPr>
                <a:t>=20cm/s</a:t>
              </a:r>
              <a:r>
                <a:rPr kumimoji="1" lang="zh-CN" altLang="en-US" sz="2800" dirty="0">
                  <a:latin typeface="黑体" panose="02010609060101010101" pitchFamily="49" charset="-122"/>
                  <a:ea typeface="黑体" panose="02010609060101010101" pitchFamily="49" charset="-122"/>
                </a:rPr>
                <a:t>向观测者</a:t>
              </a:r>
              <a:r>
                <a:rPr kumimoji="1" lang="en-US" altLang="zh-CN" sz="2800" dirty="0">
                  <a:latin typeface="黑体" panose="02010609060101010101" pitchFamily="49" charset="-122"/>
                  <a:ea typeface="黑体" panose="02010609060101010101" pitchFamily="49" charset="-122"/>
                </a:rPr>
                <a:t>A</a:t>
              </a:r>
              <a:r>
                <a:rPr kumimoji="1" lang="zh-CN" altLang="en-US" sz="2800" dirty="0">
                  <a:latin typeface="黑体" panose="02010609060101010101" pitchFamily="49" charset="-122"/>
                  <a:ea typeface="黑体" panose="02010609060101010101" pitchFamily="49" charset="-122"/>
                </a:rPr>
                <a:t>接近，所得到的</a:t>
              </a:r>
              <a:endParaRPr kumimoji="1" lang="zh-CN" altLang="en-US" sz="2800" dirty="0">
                <a:latin typeface="黑体" panose="02010609060101010101" pitchFamily="49" charset="-122"/>
                <a:ea typeface="黑体" panose="02010609060101010101" pitchFamily="49" charset="-122"/>
              </a:endParaRPr>
            </a:p>
            <a:p>
              <a:pPr eaLnBrk="1" hangingPunct="1">
                <a:lnSpc>
                  <a:spcPct val="115000"/>
                </a:lnSpc>
              </a:pPr>
              <a:r>
                <a:rPr kumimoji="1" lang="zh-CN" altLang="en-US" sz="2800" dirty="0">
                  <a:latin typeface="黑体" panose="02010609060101010101" pitchFamily="49" charset="-122"/>
                  <a:ea typeface="黑体" panose="02010609060101010101" pitchFamily="49" charset="-122"/>
                </a:rPr>
                <a:t>        拍频为      </a:t>
              </a:r>
              <a:r>
                <a:rPr kumimoji="1" lang="en-US" altLang="zh-CN" sz="2800" dirty="0">
                  <a:latin typeface="黑体" panose="02010609060101010101" pitchFamily="49" charset="-122"/>
                  <a:ea typeface="黑体" panose="02010609060101010101" pitchFamily="49" charset="-122"/>
                </a:rPr>
                <a:t>Hz</a:t>
              </a:r>
              <a:r>
                <a:rPr kumimoji="1" lang="zh-CN" altLang="en-US" sz="2800" dirty="0">
                  <a:latin typeface="黑体" panose="02010609060101010101" pitchFamily="49" charset="-122"/>
                  <a:ea typeface="黑体" panose="02010609060101010101" pitchFamily="49" charset="-122"/>
                </a:rPr>
                <a:t>，求波源的频率</a:t>
              </a:r>
              <a:endParaRPr kumimoji="1" lang="zh-CN" altLang="en-US" sz="2800" dirty="0">
                <a:latin typeface="黑体" panose="02010609060101010101" pitchFamily="49" charset="-122"/>
                <a:ea typeface="黑体" panose="02010609060101010101" pitchFamily="49" charset="-122"/>
              </a:endParaRPr>
            </a:p>
          </p:txBody>
        </p:sp>
        <p:graphicFrame>
          <p:nvGraphicFramePr>
            <p:cNvPr id="38914" name="Object 31"/>
            <p:cNvGraphicFramePr>
              <a:graphicFrameLocks noChangeAspect="1"/>
            </p:cNvGraphicFramePr>
            <p:nvPr/>
          </p:nvGraphicFramePr>
          <p:xfrm>
            <a:off x="4105" y="709"/>
            <a:ext cx="680" cy="264"/>
          </p:xfrm>
          <a:graphic>
            <a:graphicData uri="http://schemas.openxmlformats.org/presentationml/2006/ole">
              <mc:AlternateContent xmlns:mc="http://schemas.openxmlformats.org/markup-compatibility/2006">
                <mc:Choice xmlns:v="urn:schemas-microsoft-com:vml" Requires="v">
                  <p:oleObj spid="_x0000_s39006" name="Equation" r:id="rId1" imgW="546100" imgH="212090" progId="Equation.DSMT4">
                    <p:embed/>
                  </p:oleObj>
                </mc:Choice>
                <mc:Fallback>
                  <p:oleObj name="Equation" r:id="rId1" imgW="546100" imgH="212090" progId="Equation.DSMT4">
                    <p:embed/>
                    <p:pic>
                      <p:nvPicPr>
                        <p:cNvPr id="0" name="Object 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
                        <a:xfrm>
                          <a:off x="4105" y="709"/>
                          <a:ext cx="680"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5" name="Object 33"/>
            <p:cNvGraphicFramePr>
              <a:graphicFrameLocks noChangeAspect="1"/>
            </p:cNvGraphicFramePr>
            <p:nvPr/>
          </p:nvGraphicFramePr>
          <p:xfrm>
            <a:off x="1832" y="2277"/>
            <a:ext cx="680" cy="264"/>
          </p:xfrm>
          <a:graphic>
            <a:graphicData uri="http://schemas.openxmlformats.org/presentationml/2006/ole">
              <mc:AlternateContent xmlns:mc="http://schemas.openxmlformats.org/markup-compatibility/2006">
                <mc:Choice xmlns:v="urn:schemas-microsoft-com:vml" Requires="v">
                  <p:oleObj spid="_x0000_s39007" name="Equation" r:id="rId3" imgW="546100" imgH="212090" progId="Equation.DSMT4">
                    <p:embed/>
                  </p:oleObj>
                </mc:Choice>
                <mc:Fallback>
                  <p:oleObj name="Equation" r:id="rId3" imgW="546100" imgH="212090" progId="Equation.DSMT4">
                    <p:embed/>
                    <p:pic>
                      <p:nvPicPr>
                        <p:cNvPr id="0"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1832" y="2277"/>
                          <a:ext cx="680"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Text Box 4"/>
          <p:cNvSpPr txBox="1">
            <a:spLocks noChangeArrowheads="1"/>
          </p:cNvSpPr>
          <p:nvPr/>
        </p:nvSpPr>
        <p:spPr bwMode="auto">
          <a:xfrm>
            <a:off x="1455738" y="1531938"/>
            <a:ext cx="5564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Times New Roman" panose="02020603050405020304" pitchFamily="18" charset="0"/>
              </a:rPr>
              <a:t>观测者测得由墙壁反射的声波频率为</a:t>
            </a:r>
            <a:endParaRPr kumimoji="1" lang="zh-CN" altLang="en-US" b="1">
              <a:latin typeface="Times New Roman" panose="02020603050405020304" pitchFamily="18" charset="0"/>
            </a:endParaRPr>
          </a:p>
        </p:txBody>
      </p:sp>
      <p:graphicFrame>
        <p:nvGraphicFramePr>
          <p:cNvPr id="90117" name="Object 5"/>
          <p:cNvGraphicFramePr>
            <a:graphicFrameLocks noChangeAspect="1"/>
          </p:cNvGraphicFramePr>
          <p:nvPr/>
        </p:nvGraphicFramePr>
        <p:xfrm>
          <a:off x="6804025" y="1341438"/>
          <a:ext cx="1870075" cy="927100"/>
        </p:xfrm>
        <a:graphic>
          <a:graphicData uri="http://schemas.openxmlformats.org/presentationml/2006/ole">
            <mc:AlternateContent xmlns:mc="http://schemas.openxmlformats.org/markup-compatibility/2006">
              <mc:Choice xmlns:v="urn:schemas-microsoft-com:vml" Requires="v">
                <p:oleObj spid="_x0000_s40118" name="Equation" r:id="rId1" imgW="747395" imgH="368300" progId="Equation.DSMT4">
                  <p:embed/>
                </p:oleObj>
              </mc:Choice>
              <mc:Fallback>
                <p:oleObj name="Equation" r:id="rId1" imgW="747395" imgH="3683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
                      <a:xfrm>
                        <a:off x="6804025" y="1341438"/>
                        <a:ext cx="1870075"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118" name="Object 6"/>
          <p:cNvGraphicFramePr>
            <a:graphicFrameLocks noChangeAspect="1"/>
          </p:cNvGraphicFramePr>
          <p:nvPr/>
        </p:nvGraphicFramePr>
        <p:xfrm>
          <a:off x="6659563" y="404813"/>
          <a:ext cx="1933575" cy="958850"/>
        </p:xfrm>
        <a:graphic>
          <a:graphicData uri="http://schemas.openxmlformats.org/presentationml/2006/ole">
            <mc:AlternateContent xmlns:mc="http://schemas.openxmlformats.org/markup-compatibility/2006">
              <mc:Choice xmlns:v="urn:schemas-microsoft-com:vml" Requires="v">
                <p:oleObj spid="_x0000_s40119" name="Equation" r:id="rId3" imgW="747395" imgH="368300" progId="Equation.DSMT4">
                  <p:embed/>
                </p:oleObj>
              </mc:Choice>
              <mc:Fallback>
                <p:oleObj name="Equation" r:id="rId3" imgW="747395" imgH="3683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6659563" y="404813"/>
                        <a:ext cx="1933575" cy="958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119" name="Object 7"/>
          <p:cNvGraphicFramePr>
            <a:graphicFrameLocks noChangeAspect="1"/>
          </p:cNvGraphicFramePr>
          <p:nvPr/>
        </p:nvGraphicFramePr>
        <p:xfrm>
          <a:off x="2339975" y="2420938"/>
          <a:ext cx="5360988" cy="857250"/>
        </p:xfrm>
        <a:graphic>
          <a:graphicData uri="http://schemas.openxmlformats.org/presentationml/2006/ole">
            <mc:AlternateContent xmlns:mc="http://schemas.openxmlformats.org/markup-compatibility/2006">
              <mc:Choice xmlns:v="urn:schemas-microsoft-com:vml" Requires="v">
                <p:oleObj spid="_x0000_s40120" name="Equation" r:id="rId5" imgW="2308225" imgH="368300" progId="Equation.DSMT4">
                  <p:embed/>
                </p:oleObj>
              </mc:Choice>
              <mc:Fallback>
                <p:oleObj name="Equation" r:id="rId5" imgW="2308225" imgH="3683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339975" y="2420938"/>
                        <a:ext cx="5360988"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0120" name="Text Box 8"/>
          <p:cNvSpPr txBox="1">
            <a:spLocks noChangeArrowheads="1"/>
          </p:cNvSpPr>
          <p:nvPr/>
        </p:nvSpPr>
        <p:spPr bwMode="auto">
          <a:xfrm>
            <a:off x="1619250" y="3313113"/>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Times New Roman" panose="02020603050405020304" pitchFamily="18" charset="0"/>
              </a:rPr>
              <a:t>化简得</a:t>
            </a:r>
            <a:endParaRPr kumimoji="1" lang="zh-CN" altLang="en-US" b="1">
              <a:latin typeface="Times New Roman" panose="02020603050405020304" pitchFamily="18" charset="0"/>
            </a:endParaRPr>
          </a:p>
        </p:txBody>
      </p:sp>
      <p:graphicFrame>
        <p:nvGraphicFramePr>
          <p:cNvPr id="90121" name="Object 9"/>
          <p:cNvGraphicFramePr>
            <a:graphicFrameLocks noChangeAspect="1"/>
          </p:cNvGraphicFramePr>
          <p:nvPr/>
        </p:nvGraphicFramePr>
        <p:xfrm>
          <a:off x="3255963" y="3357563"/>
          <a:ext cx="3135312" cy="523875"/>
        </p:xfrm>
        <a:graphic>
          <a:graphicData uri="http://schemas.openxmlformats.org/presentationml/2006/ole">
            <mc:AlternateContent xmlns:mc="http://schemas.openxmlformats.org/markup-compatibility/2006">
              <mc:Choice xmlns:v="urn:schemas-microsoft-com:vml" Requires="v">
                <p:oleObj spid="_x0000_s40121" name="Equation" r:id="rId7" imgW="1327150" imgH="222885" progId="Equation.DSMT4">
                  <p:embed/>
                </p:oleObj>
              </mc:Choice>
              <mc:Fallback>
                <p:oleObj name="Equation" r:id="rId7" imgW="1327150" imgH="222885"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3255963" y="3357563"/>
                        <a:ext cx="3135312"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0127" name="Text Box 15"/>
          <p:cNvSpPr txBox="1">
            <a:spLocks noChangeArrowheads="1"/>
          </p:cNvSpPr>
          <p:nvPr/>
        </p:nvSpPr>
        <p:spPr bwMode="auto">
          <a:xfrm>
            <a:off x="539750" y="739775"/>
            <a:ext cx="6769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solidFill>
                  <a:srgbClr val="FF0000"/>
                </a:solidFill>
              </a:rPr>
              <a:t>解</a:t>
            </a:r>
            <a:r>
              <a:rPr kumimoji="1" lang="en-US" altLang="zh-CN" b="1">
                <a:solidFill>
                  <a:srgbClr val="FF0000"/>
                </a:solidFill>
              </a:rPr>
              <a:t>:</a:t>
            </a:r>
            <a:r>
              <a:rPr kumimoji="1" lang="en-US" altLang="zh-CN" b="1"/>
              <a:t> (1) </a:t>
            </a:r>
            <a:r>
              <a:rPr kumimoji="1" lang="zh-CN" altLang="en-US" b="1"/>
              <a:t>观测者直接从波源听到的声波频率为</a:t>
            </a:r>
            <a:endParaRPr kumimoji="1" lang="zh-CN" altLang="en-US" b="1"/>
          </a:p>
        </p:txBody>
      </p:sp>
      <p:sp>
        <p:nvSpPr>
          <p:cNvPr id="90128" name="Text Box 16"/>
          <p:cNvSpPr txBox="1">
            <a:spLocks noChangeArrowheads="1"/>
          </p:cNvSpPr>
          <p:nvPr/>
        </p:nvSpPr>
        <p:spPr bwMode="auto">
          <a:xfrm>
            <a:off x="1187450" y="2565400"/>
            <a:ext cx="1225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FF0000"/>
                </a:solidFill>
              </a:rPr>
              <a:t>拍频</a:t>
            </a:r>
            <a:endParaRPr lang="zh-CN" altLang="en-US" b="1">
              <a:solidFill>
                <a:srgbClr val="FF0000"/>
              </a:solidFill>
            </a:endParaRPr>
          </a:p>
        </p:txBody>
      </p:sp>
      <p:grpSp>
        <p:nvGrpSpPr>
          <p:cNvPr id="39947" name="Group 20"/>
          <p:cNvGrpSpPr/>
          <p:nvPr/>
        </p:nvGrpSpPr>
        <p:grpSpPr bwMode="auto">
          <a:xfrm>
            <a:off x="2914650" y="4695825"/>
            <a:ext cx="3386138" cy="1828800"/>
            <a:chOff x="1746" y="2750"/>
            <a:chExt cx="2133" cy="1152"/>
          </a:xfrm>
        </p:grpSpPr>
        <p:sp>
          <p:nvSpPr>
            <p:cNvPr id="39948" name="Line 21"/>
            <p:cNvSpPr>
              <a:spLocks noChangeShapeType="1"/>
            </p:cNvSpPr>
            <p:nvPr/>
          </p:nvSpPr>
          <p:spPr bwMode="auto">
            <a:xfrm>
              <a:off x="3783" y="2750"/>
              <a:ext cx="0" cy="1152"/>
            </a:xfrm>
            <a:prstGeom prst="line">
              <a:avLst/>
            </a:prstGeom>
            <a:noFill/>
            <a:ln w="5715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9949" name="Line 22"/>
            <p:cNvSpPr>
              <a:spLocks noChangeShapeType="1"/>
            </p:cNvSpPr>
            <p:nvPr/>
          </p:nvSpPr>
          <p:spPr bwMode="auto">
            <a:xfrm flipH="1">
              <a:off x="3783" y="2750"/>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9950" name="Line 23"/>
            <p:cNvSpPr>
              <a:spLocks noChangeShapeType="1"/>
            </p:cNvSpPr>
            <p:nvPr/>
          </p:nvSpPr>
          <p:spPr bwMode="auto">
            <a:xfrm flipH="1">
              <a:off x="3783" y="2894"/>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9951" name="Line 24"/>
            <p:cNvSpPr>
              <a:spLocks noChangeShapeType="1"/>
            </p:cNvSpPr>
            <p:nvPr/>
          </p:nvSpPr>
          <p:spPr bwMode="auto">
            <a:xfrm flipH="1">
              <a:off x="3783" y="303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9952" name="Line 25"/>
            <p:cNvSpPr>
              <a:spLocks noChangeShapeType="1"/>
            </p:cNvSpPr>
            <p:nvPr/>
          </p:nvSpPr>
          <p:spPr bwMode="auto">
            <a:xfrm flipH="1">
              <a:off x="3783" y="3182"/>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9953" name="Line 26"/>
            <p:cNvSpPr>
              <a:spLocks noChangeShapeType="1"/>
            </p:cNvSpPr>
            <p:nvPr/>
          </p:nvSpPr>
          <p:spPr bwMode="auto">
            <a:xfrm flipH="1">
              <a:off x="3783" y="3326"/>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9954" name="Line 27"/>
            <p:cNvSpPr>
              <a:spLocks noChangeShapeType="1"/>
            </p:cNvSpPr>
            <p:nvPr/>
          </p:nvSpPr>
          <p:spPr bwMode="auto">
            <a:xfrm flipH="1">
              <a:off x="3783" y="3470"/>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9955" name="Line 28"/>
            <p:cNvSpPr>
              <a:spLocks noChangeShapeType="1"/>
            </p:cNvSpPr>
            <p:nvPr/>
          </p:nvSpPr>
          <p:spPr bwMode="auto">
            <a:xfrm flipH="1">
              <a:off x="3783" y="3614"/>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9956" name="Line 29"/>
            <p:cNvSpPr>
              <a:spLocks noChangeShapeType="1"/>
            </p:cNvSpPr>
            <p:nvPr/>
          </p:nvSpPr>
          <p:spPr bwMode="auto">
            <a:xfrm flipH="1">
              <a:off x="3783" y="375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9957" name="Oval 30"/>
            <p:cNvSpPr>
              <a:spLocks noChangeArrowheads="1"/>
            </p:cNvSpPr>
            <p:nvPr/>
          </p:nvSpPr>
          <p:spPr bwMode="auto">
            <a:xfrm>
              <a:off x="3023" y="3289"/>
              <a:ext cx="96" cy="96"/>
            </a:xfrm>
            <a:prstGeom prst="ellipse">
              <a:avLst/>
            </a:prstGeom>
            <a:solidFill>
              <a:schemeClr val="bg1"/>
            </a:solidFill>
            <a:ln w="25400">
              <a:solidFill>
                <a:schemeClr val="tx1"/>
              </a:solidFill>
              <a:round/>
              <a:tailEnd type="none" w="med" len="lg"/>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9958" name="Text Box 31"/>
            <p:cNvSpPr txBox="1">
              <a:spLocks noChangeArrowheads="1"/>
            </p:cNvSpPr>
            <p:nvPr/>
          </p:nvSpPr>
          <p:spPr bwMode="auto">
            <a:xfrm>
              <a:off x="1968" y="2976"/>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rPr>
                <a:t>A                             </a:t>
              </a:r>
              <a:endParaRPr kumimoji="1" lang="en-US" altLang="zh-CN">
                <a:latin typeface="Times New Roman" panose="02020603050405020304" pitchFamily="18" charset="0"/>
              </a:endParaRPr>
            </a:p>
          </p:txBody>
        </p:sp>
        <p:sp>
          <p:nvSpPr>
            <p:cNvPr id="39959" name="Line 32"/>
            <p:cNvSpPr>
              <a:spLocks noChangeShapeType="1"/>
            </p:cNvSpPr>
            <p:nvPr/>
          </p:nvSpPr>
          <p:spPr bwMode="auto">
            <a:xfrm>
              <a:off x="3113" y="3339"/>
              <a:ext cx="302"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9960" name="Text Box 33"/>
            <p:cNvSpPr txBox="1">
              <a:spLocks noChangeArrowheads="1"/>
            </p:cNvSpPr>
            <p:nvPr/>
          </p:nvSpPr>
          <p:spPr bwMode="auto">
            <a:xfrm>
              <a:off x="3074" y="300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rPr>
                <a:t>V</a:t>
              </a:r>
              <a:r>
                <a:rPr kumimoji="1" lang="en-US" altLang="zh-CN" i="1" baseline="-25000">
                  <a:latin typeface="Times New Roman" panose="02020603050405020304" pitchFamily="18" charset="0"/>
                </a:rPr>
                <a:t>s</a:t>
              </a:r>
              <a:endParaRPr kumimoji="1" lang="en-US" altLang="zh-CN" i="1">
                <a:latin typeface="Times New Roman" panose="02020603050405020304" pitchFamily="18" charset="0"/>
              </a:endParaRPr>
            </a:p>
          </p:txBody>
        </p:sp>
        <p:sp>
          <p:nvSpPr>
            <p:cNvPr id="39961" name="Oval 34"/>
            <p:cNvSpPr>
              <a:spLocks noChangeArrowheads="1"/>
            </p:cNvSpPr>
            <p:nvPr/>
          </p:nvSpPr>
          <p:spPr bwMode="auto">
            <a:xfrm>
              <a:off x="2076" y="3294"/>
              <a:ext cx="96" cy="96"/>
            </a:xfrm>
            <a:prstGeom prst="ellipse">
              <a:avLst/>
            </a:prstGeom>
            <a:solidFill>
              <a:schemeClr val="bg1"/>
            </a:solidFill>
            <a:ln w="25400">
              <a:solidFill>
                <a:schemeClr val="tx1"/>
              </a:solidFill>
              <a:round/>
              <a:tailEnd type="none" w="med" len="lg"/>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9962" name="Text Box 35"/>
            <p:cNvSpPr txBox="1">
              <a:spLocks noChangeArrowheads="1"/>
            </p:cNvSpPr>
            <p:nvPr/>
          </p:nvSpPr>
          <p:spPr bwMode="auto">
            <a:xfrm>
              <a:off x="1746" y="3521"/>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a:latin typeface="Times New Roman" panose="02020603050405020304" pitchFamily="18" charset="0"/>
                </a:rPr>
                <a:t>观察者</a:t>
              </a:r>
              <a:endParaRPr kumimoji="1" lang="zh-CN" altLang="en-US">
                <a:latin typeface="Times New Roman" panose="02020603050405020304" pitchFamily="18" charset="0"/>
              </a:endParaRPr>
            </a:p>
          </p:txBody>
        </p:sp>
        <p:sp>
          <p:nvSpPr>
            <p:cNvPr id="39963" name="Text Box 36"/>
            <p:cNvSpPr txBox="1">
              <a:spLocks noChangeArrowheads="1"/>
            </p:cNvSpPr>
            <p:nvPr/>
          </p:nvSpPr>
          <p:spPr bwMode="auto">
            <a:xfrm>
              <a:off x="2925" y="3521"/>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a:latin typeface="Times New Roman" panose="02020603050405020304" pitchFamily="18" charset="0"/>
                </a:rPr>
                <a:t>波源</a:t>
              </a:r>
              <a:endParaRPr kumimoji="1" lang="zh-CN" altLang="en-US">
                <a:latin typeface="Times New Roman" panose="02020603050405020304" pitchFamily="18" charset="0"/>
              </a:endParaRPr>
            </a:p>
          </p:txBody>
        </p:sp>
      </p:grpSp>
      <mc:AlternateContent xmlns:mc="http://schemas.openxmlformats.org/markup-compatibility/2006">
        <mc:Choice xmlns:a14="http://schemas.microsoft.com/office/drawing/2010/main" Requires="a14">
          <p:sp>
            <p:nvSpPr>
              <p:cNvPr id="2" name="矩形 1"/>
              <p:cNvSpPr/>
              <p:nvPr/>
            </p:nvSpPr>
            <p:spPr>
              <a:xfrm>
                <a:off x="3715551" y="3964351"/>
                <a:ext cx="1448024" cy="84895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𝑉</m:t>
                          </m:r>
                        </m:e>
                        <m:sub>
                          <m:r>
                            <a:rPr lang="zh-CN" altLang="en-US" i="1">
                              <a:latin typeface="Cambria Math" panose="02040503050406030204" pitchFamily="18" charset="0"/>
                            </a:rPr>
                            <m:t>𝑠</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𝑢</m:t>
                          </m:r>
                          <m:r>
                            <a:rPr lang="zh-CN" altLang="en-US" i="1">
                              <a:latin typeface="Cambria Math" panose="02040503050406030204" pitchFamily="18" charset="0"/>
                            </a:rPr>
                            <m:t>𝛥𝜈</m:t>
                          </m:r>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𝜈</m:t>
                              </m:r>
                            </m:e>
                            <m:sub>
                              <m:r>
                                <a:rPr lang="zh-CN" altLang="en-US" i="0">
                                  <a:latin typeface="Cambria Math" panose="02040503050406030204" pitchFamily="18" charset="0"/>
                                </a:rPr>
                                <m:t>0</m:t>
                              </m:r>
                            </m:sub>
                          </m:sSub>
                        </m:den>
                      </m:f>
                    </m:oMath>
                  </m:oMathPara>
                </a14:m>
                <a:endParaRPr lang="zh-CN" altLang="en-US" dirty="0"/>
              </a:p>
            </p:txBody>
          </p:sp>
        </mc:Choice>
        <mc:Fallback>
          <p:sp>
            <p:nvSpPr>
              <p:cNvPr id="2" name="矩形 1"/>
              <p:cNvSpPr>
                <a:spLocks noRot="1" noChangeAspect="1" noMove="1" noResize="1" noEditPoints="1" noAdjustHandles="1" noChangeArrowheads="1" noChangeShapeType="1" noTextEdit="1"/>
              </p:cNvSpPr>
              <p:nvPr/>
            </p:nvSpPr>
            <p:spPr>
              <a:xfrm>
                <a:off x="3715551" y="3964351"/>
                <a:ext cx="1448024" cy="848950"/>
              </a:xfrm>
              <a:prstGeom prst="rect">
                <a:avLst/>
              </a:prstGeom>
              <a:blipFill rotWithShape="1">
                <a:blip r:embed="rId9"/>
                <a:stretch>
                  <a:fillRect l="-11" t="-5" r="2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90127"/>
                                        </p:tgtEl>
                                        <p:attrNameLst>
                                          <p:attrName>style.visibility</p:attrName>
                                        </p:attrNameLst>
                                      </p:cBhvr>
                                      <p:to>
                                        <p:strVal val="visible"/>
                                      </p:to>
                                    </p:set>
                                    <p:anim calcmode="discrete" valueType="clr">
                                      <p:cBhvr override="childStyle">
                                        <p:cTn id="7" dur="80"/>
                                        <p:tgtEl>
                                          <p:spTgt spid="9012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90127"/>
                                        </p:tgtEl>
                                        <p:attrNameLst>
                                          <p:attrName>fillcolor</p:attrName>
                                        </p:attrNameLst>
                                      </p:cBhvr>
                                      <p:tavLst>
                                        <p:tav tm="0">
                                          <p:val>
                                            <p:clrVal>
                                              <a:schemeClr val="accent2"/>
                                            </p:clrVal>
                                          </p:val>
                                        </p:tav>
                                        <p:tav tm="50000">
                                          <p:val>
                                            <p:clrVal>
                                              <a:schemeClr val="hlink"/>
                                            </p:clrVal>
                                          </p:val>
                                        </p:tav>
                                      </p:tavLst>
                                    </p:anim>
                                    <p:set>
                                      <p:cBhvr>
                                        <p:cTn id="9" dur="80"/>
                                        <p:tgtEl>
                                          <p:spTgt spid="9012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90118"/>
                                        </p:tgtEl>
                                        <p:attrNameLst>
                                          <p:attrName>style.visibility</p:attrName>
                                        </p:attrNameLst>
                                      </p:cBhvr>
                                      <p:to>
                                        <p:strVal val="visible"/>
                                      </p:to>
                                    </p:set>
                                    <p:animEffect transition="in" filter="blinds(horizontal)">
                                      <p:cBhvr>
                                        <p:cTn id="14" dur="500"/>
                                        <p:tgtEl>
                                          <p:spTgt spid="90118"/>
                                        </p:tgtEl>
                                      </p:cBhvr>
                                    </p:animEffec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90116"/>
                                        </p:tgtEl>
                                        <p:attrNameLst>
                                          <p:attrName>style.visibility</p:attrName>
                                        </p:attrNameLst>
                                      </p:cBhvr>
                                      <p:to>
                                        <p:strVal val="visible"/>
                                      </p:to>
                                    </p:set>
                                    <p:anim calcmode="discrete" valueType="clr">
                                      <p:cBhvr override="childStyle">
                                        <p:cTn id="19" dur="80"/>
                                        <p:tgtEl>
                                          <p:spTgt spid="90116"/>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90116"/>
                                        </p:tgtEl>
                                        <p:attrNameLst>
                                          <p:attrName>fillcolor</p:attrName>
                                        </p:attrNameLst>
                                      </p:cBhvr>
                                      <p:tavLst>
                                        <p:tav tm="0">
                                          <p:val>
                                            <p:clrVal>
                                              <a:schemeClr val="accent2"/>
                                            </p:clrVal>
                                          </p:val>
                                        </p:tav>
                                        <p:tav tm="50000">
                                          <p:val>
                                            <p:clrVal>
                                              <a:schemeClr val="hlink"/>
                                            </p:clrVal>
                                          </p:val>
                                        </p:tav>
                                      </p:tavLst>
                                    </p:anim>
                                    <p:set>
                                      <p:cBhvr>
                                        <p:cTn id="21" dur="80"/>
                                        <p:tgtEl>
                                          <p:spTgt spid="90116"/>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90117"/>
                                        </p:tgtEl>
                                        <p:attrNameLst>
                                          <p:attrName>style.visibility</p:attrName>
                                        </p:attrNameLst>
                                      </p:cBhvr>
                                      <p:to>
                                        <p:strVal val="visible"/>
                                      </p:to>
                                    </p:set>
                                    <p:animEffect transition="in" filter="blinds(horizontal)">
                                      <p:cBhvr>
                                        <p:cTn id="26" dur="500"/>
                                        <p:tgtEl>
                                          <p:spTgt spid="9011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90128"/>
                                        </p:tgtEl>
                                        <p:attrNameLst>
                                          <p:attrName>style.visibility</p:attrName>
                                        </p:attrNameLst>
                                      </p:cBhvr>
                                      <p:to>
                                        <p:strVal val="visible"/>
                                      </p:to>
                                    </p:set>
                                    <p:animEffect transition="in" filter="blinds(horizontal)">
                                      <p:cBhvr>
                                        <p:cTn id="31" dur="500"/>
                                        <p:tgtEl>
                                          <p:spTgt spid="90128"/>
                                        </p:tgtEl>
                                      </p:cBhvr>
                                    </p:animEffect>
                                  </p:childTnLst>
                                </p:cTn>
                              </p:par>
                              <p:par>
                                <p:cTn id="32" presetID="3" presetClass="entr" presetSubtype="10" fill="hold" nodeType="withEffect">
                                  <p:stCondLst>
                                    <p:cond delay="0"/>
                                  </p:stCondLst>
                                  <p:childTnLst>
                                    <p:set>
                                      <p:cBhvr>
                                        <p:cTn id="33" dur="1" fill="hold">
                                          <p:stCondLst>
                                            <p:cond delay="0"/>
                                          </p:stCondLst>
                                        </p:cTn>
                                        <p:tgtEl>
                                          <p:spTgt spid="90119"/>
                                        </p:tgtEl>
                                        <p:attrNameLst>
                                          <p:attrName>style.visibility</p:attrName>
                                        </p:attrNameLst>
                                      </p:cBhvr>
                                      <p:to>
                                        <p:strVal val="visible"/>
                                      </p:to>
                                    </p:set>
                                    <p:animEffect transition="in" filter="blinds(horizontal)">
                                      <p:cBhvr>
                                        <p:cTn id="34" dur="500"/>
                                        <p:tgtEl>
                                          <p:spTgt spid="90119"/>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90120"/>
                                        </p:tgtEl>
                                        <p:attrNameLst>
                                          <p:attrName>style.visibility</p:attrName>
                                        </p:attrNameLst>
                                      </p:cBhvr>
                                      <p:to>
                                        <p:strVal val="visible"/>
                                      </p:to>
                                    </p:set>
                                    <p:animEffect transition="in" filter="blinds(horizontal)">
                                      <p:cBhvr>
                                        <p:cTn id="39" dur="500"/>
                                        <p:tgtEl>
                                          <p:spTgt spid="90120"/>
                                        </p:tgtEl>
                                      </p:cBhvr>
                                    </p:animEffect>
                                  </p:childTnLst>
                                </p:cTn>
                              </p:par>
                              <p:par>
                                <p:cTn id="40" presetID="3" presetClass="entr" presetSubtype="10" fill="hold" nodeType="withEffect">
                                  <p:stCondLst>
                                    <p:cond delay="0"/>
                                  </p:stCondLst>
                                  <p:childTnLst>
                                    <p:set>
                                      <p:cBhvr>
                                        <p:cTn id="41" dur="1" fill="hold">
                                          <p:stCondLst>
                                            <p:cond delay="0"/>
                                          </p:stCondLst>
                                        </p:cTn>
                                        <p:tgtEl>
                                          <p:spTgt spid="90121"/>
                                        </p:tgtEl>
                                        <p:attrNameLst>
                                          <p:attrName>style.visibility</p:attrName>
                                        </p:attrNameLst>
                                      </p:cBhvr>
                                      <p:to>
                                        <p:strVal val="visible"/>
                                      </p:to>
                                    </p:set>
                                    <p:animEffect transition="in" filter="blinds(horizontal)">
                                      <p:cBhvr>
                                        <p:cTn id="42" dur="500"/>
                                        <p:tgtEl>
                                          <p:spTgt spid="90121"/>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p:bldP spid="90120" grpId="0"/>
      <p:bldP spid="90127" grpId="0"/>
      <p:bldP spid="90128"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Text Box 4"/>
          <p:cNvSpPr txBox="1">
            <a:spLocks noChangeArrowheads="1"/>
          </p:cNvSpPr>
          <p:nvPr/>
        </p:nvSpPr>
        <p:spPr bwMode="auto">
          <a:xfrm>
            <a:off x="950913" y="27130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Times New Roman" panose="02020603050405020304" pitchFamily="18" charset="0"/>
              </a:rPr>
              <a:t>即</a:t>
            </a:r>
            <a:endParaRPr kumimoji="1" lang="zh-CN" altLang="en-US" b="1">
              <a:latin typeface="Times New Roman" panose="02020603050405020304" pitchFamily="18" charset="0"/>
            </a:endParaRPr>
          </a:p>
        </p:txBody>
      </p:sp>
      <p:graphicFrame>
        <p:nvGraphicFramePr>
          <p:cNvPr id="91141" name="Object 5"/>
          <p:cNvGraphicFramePr>
            <a:graphicFrameLocks noChangeAspect="1"/>
          </p:cNvGraphicFramePr>
          <p:nvPr/>
        </p:nvGraphicFramePr>
        <p:xfrm>
          <a:off x="1874838" y="2497138"/>
          <a:ext cx="2022475" cy="1003300"/>
        </p:xfrm>
        <a:graphic>
          <a:graphicData uri="http://schemas.openxmlformats.org/presentationml/2006/ole">
            <mc:AlternateContent xmlns:mc="http://schemas.openxmlformats.org/markup-compatibility/2006">
              <mc:Choice xmlns:v="urn:schemas-microsoft-com:vml" Requires="v">
                <p:oleObj spid="_x0000_s41243" name="Equation" r:id="rId1" imgW="747395" imgH="368300" progId="Equation.DSMT4">
                  <p:embed/>
                </p:oleObj>
              </mc:Choice>
              <mc:Fallback>
                <p:oleObj name="Equation" r:id="rId1" imgW="747395" imgH="3683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
                      <a:xfrm>
                        <a:off x="1874838" y="2497138"/>
                        <a:ext cx="2022475"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42" name="Text Box 6"/>
          <p:cNvSpPr txBox="1">
            <a:spLocks noChangeArrowheads="1"/>
          </p:cNvSpPr>
          <p:nvPr/>
        </p:nvSpPr>
        <p:spPr bwMode="auto">
          <a:xfrm>
            <a:off x="900113" y="3219450"/>
            <a:ext cx="508635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220000"/>
              </a:lnSpc>
            </a:pPr>
            <a:r>
              <a:rPr kumimoji="1" lang="zh-CN" altLang="en-US" b="1">
                <a:latin typeface="Times New Roman" panose="02020603050405020304" pitchFamily="18" charset="0"/>
              </a:rPr>
              <a:t>而观测者直接从波源听到声波的频率</a:t>
            </a:r>
            <a:endParaRPr kumimoji="1" lang="zh-CN" altLang="en-US" b="1">
              <a:latin typeface="Times New Roman" panose="02020603050405020304" pitchFamily="18" charset="0"/>
            </a:endParaRPr>
          </a:p>
        </p:txBody>
      </p:sp>
      <p:graphicFrame>
        <p:nvGraphicFramePr>
          <p:cNvPr id="91143" name="Object 7"/>
          <p:cNvGraphicFramePr>
            <a:graphicFrameLocks noChangeAspect="1"/>
          </p:cNvGraphicFramePr>
          <p:nvPr/>
        </p:nvGraphicFramePr>
        <p:xfrm>
          <a:off x="6229350" y="3402013"/>
          <a:ext cx="1223963" cy="747712"/>
        </p:xfrm>
        <a:graphic>
          <a:graphicData uri="http://schemas.openxmlformats.org/presentationml/2006/ole">
            <mc:AlternateContent xmlns:mc="http://schemas.openxmlformats.org/markup-compatibility/2006">
              <mc:Choice xmlns:v="urn:schemas-microsoft-com:vml" Requires="v">
                <p:oleObj spid="_x0000_s41244" name="Equation" r:id="rId3" imgW="390525" imgH="234315" progId="Equation.DSMT4">
                  <p:embed/>
                </p:oleObj>
              </mc:Choice>
              <mc:Fallback>
                <p:oleObj name="Equation" r:id="rId3" imgW="390525" imgH="234315"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6229350" y="3402013"/>
                        <a:ext cx="1223963" cy="747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44" name="Object 8"/>
          <p:cNvGraphicFramePr>
            <a:graphicFrameLocks noChangeAspect="1"/>
          </p:cNvGraphicFramePr>
          <p:nvPr/>
        </p:nvGraphicFramePr>
        <p:xfrm>
          <a:off x="2411413" y="4297363"/>
          <a:ext cx="3273425" cy="1003300"/>
        </p:xfrm>
        <a:graphic>
          <a:graphicData uri="http://schemas.openxmlformats.org/presentationml/2006/ole">
            <mc:AlternateContent xmlns:mc="http://schemas.openxmlformats.org/markup-compatibility/2006">
              <mc:Choice xmlns:v="urn:schemas-microsoft-com:vml" Requires="v">
                <p:oleObj spid="_x0000_s41245" name="Equation" r:id="rId5" imgW="1204595" imgH="368300" progId="Equation.DSMT4">
                  <p:embed/>
                </p:oleObj>
              </mc:Choice>
              <mc:Fallback>
                <p:oleObj name="Equation" r:id="rId5" imgW="1204595" imgH="3683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411413" y="4297363"/>
                        <a:ext cx="3273425"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45" name="Text Box 9"/>
          <p:cNvSpPr txBox="1">
            <a:spLocks noChangeArrowheads="1"/>
          </p:cNvSpPr>
          <p:nvPr/>
        </p:nvSpPr>
        <p:spPr bwMode="auto">
          <a:xfrm>
            <a:off x="1042988" y="56721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Times New Roman" panose="02020603050405020304" pitchFamily="18" charset="0"/>
              </a:rPr>
              <a:t>得</a:t>
            </a:r>
            <a:endParaRPr kumimoji="1" lang="zh-CN" altLang="en-US" b="1">
              <a:latin typeface="Times New Roman" panose="02020603050405020304" pitchFamily="18" charset="0"/>
            </a:endParaRPr>
          </a:p>
        </p:txBody>
      </p:sp>
      <p:graphicFrame>
        <p:nvGraphicFramePr>
          <p:cNvPr id="91146" name="Object 10"/>
          <p:cNvGraphicFramePr>
            <a:graphicFrameLocks noChangeAspect="1"/>
          </p:cNvGraphicFramePr>
          <p:nvPr/>
        </p:nvGraphicFramePr>
        <p:xfrm>
          <a:off x="1731963" y="5459413"/>
          <a:ext cx="3446462" cy="993775"/>
        </p:xfrm>
        <a:graphic>
          <a:graphicData uri="http://schemas.openxmlformats.org/presentationml/2006/ole">
            <mc:AlternateContent xmlns:mc="http://schemas.openxmlformats.org/markup-compatibility/2006">
              <mc:Choice xmlns:v="urn:schemas-microsoft-com:vml" Requires="v">
                <p:oleObj spid="_x0000_s41246" name="Equation" r:id="rId7" imgW="1282700" imgH="368300" progId="Equation.DSMT4">
                  <p:embed/>
                </p:oleObj>
              </mc:Choice>
              <mc:Fallback>
                <p:oleObj name="Equation" r:id="rId7" imgW="1282700" imgH="3683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1731963" y="5459413"/>
                        <a:ext cx="3446462" cy="993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47" name="Text Box 11"/>
          <p:cNvSpPr txBox="1">
            <a:spLocks noChangeArrowheads="1"/>
          </p:cNvSpPr>
          <p:nvPr/>
        </p:nvSpPr>
        <p:spPr bwMode="auto">
          <a:xfrm>
            <a:off x="971550" y="4508500"/>
            <a:ext cx="1225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FF0000"/>
                </a:solidFill>
              </a:rPr>
              <a:t>拍频</a:t>
            </a:r>
            <a:endParaRPr lang="zh-CN" altLang="en-US" b="1">
              <a:solidFill>
                <a:srgbClr val="FF0000"/>
              </a:solidFill>
            </a:endParaRPr>
          </a:p>
        </p:txBody>
      </p:sp>
      <p:sp>
        <p:nvSpPr>
          <p:cNvPr id="91148" name="Text Box 12"/>
          <p:cNvSpPr txBox="1">
            <a:spLocks noChangeArrowheads="1"/>
          </p:cNvSpPr>
          <p:nvPr/>
        </p:nvSpPr>
        <p:spPr bwMode="auto">
          <a:xfrm>
            <a:off x="827088" y="504825"/>
            <a:ext cx="49053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70000"/>
              </a:lnSpc>
            </a:pPr>
            <a:r>
              <a:rPr kumimoji="1" lang="en-US" altLang="zh-CN" b="1">
                <a:latin typeface="Times New Roman" panose="02020603050405020304" pitchFamily="18" charset="0"/>
              </a:rPr>
              <a:t>(2) </a:t>
            </a:r>
            <a:r>
              <a:rPr kumimoji="1" lang="zh-CN" altLang="en-US" b="1">
                <a:latin typeface="Times New Roman" panose="02020603050405020304" pitchFamily="18" charset="0"/>
              </a:rPr>
              <a:t>观测者测得的反射面反射的频率</a:t>
            </a:r>
            <a:endParaRPr kumimoji="1" lang="zh-CN" altLang="en-US" b="1">
              <a:latin typeface="Times New Roman" panose="02020603050405020304" pitchFamily="18" charset="0"/>
            </a:endParaRPr>
          </a:p>
        </p:txBody>
      </p:sp>
      <p:graphicFrame>
        <p:nvGraphicFramePr>
          <p:cNvPr id="91149" name="Object 13"/>
          <p:cNvGraphicFramePr>
            <a:graphicFrameLocks noChangeAspect="1"/>
          </p:cNvGraphicFramePr>
          <p:nvPr/>
        </p:nvGraphicFramePr>
        <p:xfrm>
          <a:off x="5786438" y="404813"/>
          <a:ext cx="2046287" cy="1014412"/>
        </p:xfrm>
        <a:graphic>
          <a:graphicData uri="http://schemas.openxmlformats.org/presentationml/2006/ole">
            <mc:AlternateContent xmlns:mc="http://schemas.openxmlformats.org/markup-compatibility/2006">
              <mc:Choice xmlns:v="urn:schemas-microsoft-com:vml" Requires="v">
                <p:oleObj spid="_x0000_s41247" name="Equation" r:id="rId9" imgW="747395" imgH="368300" progId="Equation.DSMT4">
                  <p:embed/>
                </p:oleObj>
              </mc:Choice>
              <mc:Fallback>
                <p:oleObj name="Equation" r:id="rId9" imgW="747395" imgH="368300"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5786438" y="404813"/>
                        <a:ext cx="2046287" cy="1014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4"/>
          <p:cNvGrpSpPr/>
          <p:nvPr/>
        </p:nvGrpSpPr>
        <p:grpSpPr bwMode="auto">
          <a:xfrm>
            <a:off x="1279525" y="1268413"/>
            <a:ext cx="4606925" cy="457200"/>
            <a:chOff x="1111" y="3430"/>
            <a:chExt cx="2902" cy="288"/>
          </a:xfrm>
        </p:grpSpPr>
        <p:graphicFrame>
          <p:nvGraphicFramePr>
            <p:cNvPr id="40968" name="Object 15"/>
            <p:cNvGraphicFramePr>
              <a:graphicFrameLocks noChangeAspect="1"/>
            </p:cNvGraphicFramePr>
            <p:nvPr/>
          </p:nvGraphicFramePr>
          <p:xfrm>
            <a:off x="1111" y="3475"/>
            <a:ext cx="206" cy="225"/>
          </p:xfrm>
          <a:graphic>
            <a:graphicData uri="http://schemas.openxmlformats.org/presentationml/2006/ole">
              <mc:AlternateContent xmlns:mc="http://schemas.openxmlformats.org/markup-compatibility/2006">
                <mc:Choice xmlns:v="urn:schemas-microsoft-com:vml" Requires="v">
                  <p:oleObj spid="_x0000_s41248" name="Equation" r:id="rId11" imgW="144780" imgH="167005" progId="Equation.DSMT4">
                    <p:embed/>
                  </p:oleObj>
                </mc:Choice>
                <mc:Fallback>
                  <p:oleObj name="Equation" r:id="rId11" imgW="144780" imgH="167005" progId="Equation.DSMT4">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1" y="3475"/>
                          <a:ext cx="206" cy="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92" name="Text Box 16"/>
            <p:cNvSpPr txBox="1">
              <a:spLocks noChangeArrowheads="1"/>
            </p:cNvSpPr>
            <p:nvPr/>
          </p:nvSpPr>
          <p:spPr bwMode="auto">
            <a:xfrm>
              <a:off x="1156" y="3430"/>
              <a:ext cx="28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t> </a:t>
              </a:r>
              <a:r>
                <a:rPr kumimoji="1" lang="zh-CN" altLang="en-US" b="1"/>
                <a:t>为反射面接收到的频率</a:t>
              </a:r>
              <a:endParaRPr kumimoji="1" lang="zh-CN" altLang="en-US" b="1"/>
            </a:p>
          </p:txBody>
        </p:sp>
      </p:grpSp>
      <p:graphicFrame>
        <p:nvGraphicFramePr>
          <p:cNvPr id="91153" name="Object 17"/>
          <p:cNvGraphicFramePr>
            <a:graphicFrameLocks noChangeAspect="1"/>
          </p:cNvGraphicFramePr>
          <p:nvPr/>
        </p:nvGraphicFramePr>
        <p:xfrm>
          <a:off x="4159250" y="1628775"/>
          <a:ext cx="2089150" cy="887413"/>
        </p:xfrm>
        <a:graphic>
          <a:graphicData uri="http://schemas.openxmlformats.org/presentationml/2006/ole">
            <mc:AlternateContent xmlns:mc="http://schemas.openxmlformats.org/markup-compatibility/2006">
              <mc:Choice xmlns:v="urn:schemas-microsoft-com:vml" Requires="v">
                <p:oleObj spid="_x0000_s41249" name="公式" r:id="rId13" imgW="926465" imgH="393700" progId="Equation.3">
                  <p:embed/>
                </p:oleObj>
              </mc:Choice>
              <mc:Fallback>
                <p:oleObj name="公式" r:id="rId13" imgW="926465" imgH="39370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59250" y="1628775"/>
                        <a:ext cx="2089150"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0975" name="Group 35"/>
          <p:cNvGrpSpPr/>
          <p:nvPr/>
        </p:nvGrpSpPr>
        <p:grpSpPr bwMode="auto">
          <a:xfrm>
            <a:off x="6137275" y="4581527"/>
            <a:ext cx="2684463" cy="1828800"/>
            <a:chOff x="3866" y="2886"/>
            <a:chExt cx="1691" cy="1152"/>
          </a:xfrm>
        </p:grpSpPr>
        <p:sp>
          <p:nvSpPr>
            <p:cNvPr id="40976" name="Line 19"/>
            <p:cNvSpPr>
              <a:spLocks noChangeShapeType="1"/>
            </p:cNvSpPr>
            <p:nvPr/>
          </p:nvSpPr>
          <p:spPr bwMode="auto">
            <a:xfrm>
              <a:off x="5461" y="2886"/>
              <a:ext cx="0" cy="1152"/>
            </a:xfrm>
            <a:prstGeom prst="line">
              <a:avLst/>
            </a:prstGeom>
            <a:noFill/>
            <a:ln w="5715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0977" name="Line 20"/>
            <p:cNvSpPr>
              <a:spLocks noChangeShapeType="1"/>
            </p:cNvSpPr>
            <p:nvPr/>
          </p:nvSpPr>
          <p:spPr bwMode="auto">
            <a:xfrm flipH="1">
              <a:off x="5461" y="2886"/>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0978" name="Line 21"/>
            <p:cNvSpPr>
              <a:spLocks noChangeShapeType="1"/>
            </p:cNvSpPr>
            <p:nvPr/>
          </p:nvSpPr>
          <p:spPr bwMode="auto">
            <a:xfrm flipH="1">
              <a:off x="5461" y="3030"/>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0979" name="Line 22"/>
            <p:cNvSpPr>
              <a:spLocks noChangeShapeType="1"/>
            </p:cNvSpPr>
            <p:nvPr/>
          </p:nvSpPr>
          <p:spPr bwMode="auto">
            <a:xfrm flipH="1">
              <a:off x="5461" y="3174"/>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0980" name="Line 23"/>
            <p:cNvSpPr>
              <a:spLocks noChangeShapeType="1"/>
            </p:cNvSpPr>
            <p:nvPr/>
          </p:nvSpPr>
          <p:spPr bwMode="auto">
            <a:xfrm flipH="1">
              <a:off x="5461" y="3318"/>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0981" name="Line 24"/>
            <p:cNvSpPr>
              <a:spLocks noChangeShapeType="1"/>
            </p:cNvSpPr>
            <p:nvPr/>
          </p:nvSpPr>
          <p:spPr bwMode="auto">
            <a:xfrm flipH="1">
              <a:off x="5461" y="3462"/>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0982" name="Line 25"/>
            <p:cNvSpPr>
              <a:spLocks noChangeShapeType="1"/>
            </p:cNvSpPr>
            <p:nvPr/>
          </p:nvSpPr>
          <p:spPr bwMode="auto">
            <a:xfrm flipH="1">
              <a:off x="5461" y="3606"/>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0983" name="Line 26"/>
            <p:cNvSpPr>
              <a:spLocks noChangeShapeType="1"/>
            </p:cNvSpPr>
            <p:nvPr/>
          </p:nvSpPr>
          <p:spPr bwMode="auto">
            <a:xfrm flipH="1">
              <a:off x="5461" y="3750"/>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0984" name="Line 27"/>
            <p:cNvSpPr>
              <a:spLocks noChangeShapeType="1"/>
            </p:cNvSpPr>
            <p:nvPr/>
          </p:nvSpPr>
          <p:spPr bwMode="auto">
            <a:xfrm flipH="1">
              <a:off x="5461" y="3894"/>
              <a:ext cx="96" cy="96"/>
            </a:xfrm>
            <a:prstGeom prst="line">
              <a:avLst/>
            </a:prstGeom>
            <a:noFill/>
            <a:ln w="254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0985" name="Oval 28"/>
            <p:cNvSpPr>
              <a:spLocks noChangeArrowheads="1"/>
            </p:cNvSpPr>
            <p:nvPr/>
          </p:nvSpPr>
          <p:spPr bwMode="auto">
            <a:xfrm>
              <a:off x="4837" y="3425"/>
              <a:ext cx="96" cy="96"/>
            </a:xfrm>
            <a:prstGeom prst="ellipse">
              <a:avLst/>
            </a:prstGeom>
            <a:solidFill>
              <a:schemeClr val="bg1"/>
            </a:solidFill>
            <a:ln w="25400">
              <a:solidFill>
                <a:schemeClr val="tx1"/>
              </a:solidFill>
              <a:round/>
              <a:tailEnd type="none" w="med" len="lg"/>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0986" name="Text Box 29"/>
            <p:cNvSpPr txBox="1">
              <a:spLocks noChangeArrowheads="1"/>
            </p:cNvSpPr>
            <p:nvPr/>
          </p:nvSpPr>
          <p:spPr bwMode="auto">
            <a:xfrm>
              <a:off x="4088" y="3112"/>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rPr>
                <a:t>A                             </a:t>
              </a:r>
              <a:endParaRPr kumimoji="1" lang="en-US" altLang="zh-CN">
                <a:latin typeface="Times New Roman" panose="02020603050405020304" pitchFamily="18" charset="0"/>
              </a:endParaRPr>
            </a:p>
          </p:txBody>
        </p:sp>
        <p:sp>
          <p:nvSpPr>
            <p:cNvPr id="40987" name="Line 30"/>
            <p:cNvSpPr>
              <a:spLocks noChangeShapeType="1"/>
            </p:cNvSpPr>
            <p:nvPr/>
          </p:nvSpPr>
          <p:spPr bwMode="auto">
            <a:xfrm>
              <a:off x="5163" y="3113"/>
              <a:ext cx="302" cy="0"/>
            </a:xfrm>
            <a:prstGeom prst="line">
              <a:avLst/>
            </a:prstGeom>
            <a:noFill/>
            <a:ln w="25400">
              <a:solidFill>
                <a:schemeClr val="tx1"/>
              </a:solidFill>
              <a:round/>
              <a:headEnd type="arrow" w="med" len="me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0989" name="Oval 32"/>
            <p:cNvSpPr>
              <a:spLocks noChangeArrowheads="1"/>
            </p:cNvSpPr>
            <p:nvPr/>
          </p:nvSpPr>
          <p:spPr bwMode="auto">
            <a:xfrm>
              <a:off x="4196" y="3430"/>
              <a:ext cx="96" cy="96"/>
            </a:xfrm>
            <a:prstGeom prst="ellipse">
              <a:avLst/>
            </a:prstGeom>
            <a:solidFill>
              <a:schemeClr val="bg1"/>
            </a:solidFill>
            <a:ln w="25400">
              <a:solidFill>
                <a:schemeClr val="tx1"/>
              </a:solidFill>
              <a:round/>
              <a:tailEnd type="none" w="med" len="lg"/>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0990" name="Text Box 33"/>
            <p:cNvSpPr txBox="1">
              <a:spLocks noChangeArrowheads="1"/>
            </p:cNvSpPr>
            <p:nvPr/>
          </p:nvSpPr>
          <p:spPr bwMode="auto">
            <a:xfrm>
              <a:off x="3866" y="3657"/>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a:latin typeface="Times New Roman" panose="02020603050405020304" pitchFamily="18" charset="0"/>
                </a:rPr>
                <a:t>观察者</a:t>
              </a:r>
              <a:endParaRPr kumimoji="1" lang="zh-CN" altLang="en-US">
                <a:latin typeface="Times New Roman" panose="02020603050405020304" pitchFamily="18" charset="0"/>
              </a:endParaRPr>
            </a:p>
          </p:txBody>
        </p:sp>
        <p:sp>
          <p:nvSpPr>
            <p:cNvPr id="40991" name="Text Box 34"/>
            <p:cNvSpPr txBox="1">
              <a:spLocks noChangeArrowheads="1"/>
            </p:cNvSpPr>
            <p:nvPr/>
          </p:nvSpPr>
          <p:spPr bwMode="auto">
            <a:xfrm>
              <a:off x="4739" y="3657"/>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a:latin typeface="Times New Roman" panose="02020603050405020304" pitchFamily="18" charset="0"/>
                </a:rPr>
                <a:t>波源</a:t>
              </a:r>
              <a:endParaRPr kumimoji="1" lang="zh-CN" altLang="en-US">
                <a:latin typeface="Times New Roman" panose="02020603050405020304" pitchFamily="18" charset="0"/>
              </a:endParaRPr>
            </a:p>
          </p:txBody>
        </p:sp>
      </p:grpSp>
      <p:sp>
        <p:nvSpPr>
          <p:cNvPr id="3" name="矩形 2"/>
          <p:cNvSpPr/>
          <p:nvPr/>
        </p:nvSpPr>
        <p:spPr>
          <a:xfrm>
            <a:off x="7160856" y="4403346"/>
            <a:ext cx="1518364" cy="461665"/>
          </a:xfrm>
          <a:prstGeom prst="rect">
            <a:avLst/>
          </a:prstGeom>
        </p:spPr>
        <p:txBody>
          <a:bodyPr wrap="none">
            <a:spAutoFit/>
          </a:bodyPr>
          <a:lstStyle/>
          <a:p>
            <a:r>
              <a:rPr kumimoji="1" lang="en-US" altLang="zh-CN" dirty="0" err="1">
                <a:latin typeface="黑体" panose="02010609060101010101" pitchFamily="49" charset="-122"/>
                <a:ea typeface="黑体" panose="02010609060101010101" pitchFamily="49" charset="-122"/>
              </a:rPr>
              <a:t>v</a:t>
            </a:r>
            <a:r>
              <a:rPr kumimoji="1" lang="en-US" altLang="zh-CN" baseline="-25000" dirty="0" err="1">
                <a:latin typeface="黑体" panose="02010609060101010101" pitchFamily="49" charset="-122"/>
                <a:ea typeface="黑体" panose="02010609060101010101" pitchFamily="49" charset="-122"/>
              </a:rPr>
              <a:t>r</a:t>
            </a:r>
            <a:r>
              <a:rPr kumimoji="1" lang="en-US" altLang="zh-CN" dirty="0">
                <a:latin typeface="黑体" panose="02010609060101010101" pitchFamily="49" charset="-122"/>
                <a:ea typeface="黑体" panose="02010609060101010101" pitchFamily="49" charset="-122"/>
              </a:rPr>
              <a:t>=20cm/s</a:t>
            </a:r>
            <a:endParaRPr lang="zh-CN" altLang="en-US" dirty="0"/>
          </a:p>
        </p:txBody>
      </p:sp>
      <p:graphicFrame>
        <p:nvGraphicFramePr>
          <p:cNvPr id="34" name="Object 33"/>
          <p:cNvGraphicFramePr>
            <a:graphicFrameLocks noChangeAspect="1"/>
          </p:cNvGraphicFramePr>
          <p:nvPr/>
        </p:nvGraphicFramePr>
        <p:xfrm>
          <a:off x="6156325" y="6309283"/>
          <a:ext cx="1079500" cy="419100"/>
        </p:xfrm>
        <a:graphic>
          <a:graphicData uri="http://schemas.openxmlformats.org/presentationml/2006/ole">
            <mc:AlternateContent xmlns:mc="http://schemas.openxmlformats.org/markup-compatibility/2006">
              <mc:Choice xmlns:v="urn:schemas-microsoft-com:vml" Requires="v">
                <p:oleObj spid="_x0000_s41250" name="Equation" r:id="rId15" imgW="546100" imgH="212090" progId="Equation.DSMT4">
                  <p:embed/>
                </p:oleObj>
              </mc:Choice>
              <mc:Fallback>
                <p:oleObj name="Equation" r:id="rId15" imgW="546100" imgH="212090" progId="Equation.DSMT4">
                  <p:embed/>
                  <p:pic>
                    <p:nvPicPr>
                      <p:cNvPr id="0" name="Object 3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6156325" y="6309283"/>
                        <a:ext cx="10795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7186295" y="6288000"/>
            <a:ext cx="492443" cy="461665"/>
          </a:xfrm>
          <a:prstGeom prst="rect">
            <a:avLst/>
          </a:prstGeom>
        </p:spPr>
        <p:txBody>
          <a:bodyPr wrap="none">
            <a:spAutoFit/>
          </a:bodyPr>
          <a:lstStyle/>
          <a:p>
            <a:r>
              <a:rPr kumimoji="1" lang="en-US" altLang="zh-CN" dirty="0">
                <a:latin typeface="黑体" panose="02010609060101010101" pitchFamily="49" charset="-122"/>
                <a:ea typeface="黑体" panose="02010609060101010101" pitchFamily="49" charset="-122"/>
              </a:rPr>
              <a:t>Hz</a:t>
            </a:r>
            <a:endParaRPr lang="zh-CN" altLang="en-US" dirty="0"/>
          </a:p>
        </p:txBody>
      </p:sp>
      <p:sp>
        <p:nvSpPr>
          <p:cNvPr id="5" name="矩形 4"/>
          <p:cNvSpPr/>
          <p:nvPr/>
        </p:nvSpPr>
        <p:spPr>
          <a:xfrm>
            <a:off x="6285588" y="4064564"/>
            <a:ext cx="2031325" cy="461665"/>
          </a:xfrm>
          <a:prstGeom prst="rect">
            <a:avLst/>
          </a:prstGeom>
        </p:spPr>
        <p:txBody>
          <a:bodyPr wrap="none">
            <a:spAutoFit/>
          </a:bodyPr>
          <a:lstStyle/>
          <a:p>
            <a:r>
              <a:rPr kumimoji="1" lang="zh-CN" altLang="en-US" dirty="0">
                <a:latin typeface="黑体" panose="02010609060101010101" pitchFamily="49" charset="-122"/>
                <a:ea typeface="黑体" panose="02010609060101010101" pitchFamily="49" charset="-122"/>
              </a:rPr>
              <a:t>求波源的频率</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91148"/>
                                        </p:tgtEl>
                                        <p:attrNameLst>
                                          <p:attrName>style.visibility</p:attrName>
                                        </p:attrNameLst>
                                      </p:cBhvr>
                                      <p:to>
                                        <p:strVal val="visible"/>
                                      </p:to>
                                    </p:set>
                                    <p:anim calcmode="discrete" valueType="clr">
                                      <p:cBhvr override="childStyle">
                                        <p:cTn id="7" dur="80"/>
                                        <p:tgtEl>
                                          <p:spTgt spid="91148"/>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91148"/>
                                        </p:tgtEl>
                                        <p:attrNameLst>
                                          <p:attrName>fillcolor</p:attrName>
                                        </p:attrNameLst>
                                      </p:cBhvr>
                                      <p:tavLst>
                                        <p:tav tm="0">
                                          <p:val>
                                            <p:clrVal>
                                              <a:schemeClr val="accent2"/>
                                            </p:clrVal>
                                          </p:val>
                                        </p:tav>
                                        <p:tav tm="50000">
                                          <p:val>
                                            <p:clrVal>
                                              <a:schemeClr val="hlink"/>
                                            </p:clrVal>
                                          </p:val>
                                        </p:tav>
                                      </p:tavLst>
                                    </p:anim>
                                    <p:set>
                                      <p:cBhvr>
                                        <p:cTn id="9" dur="80"/>
                                        <p:tgtEl>
                                          <p:spTgt spid="91148"/>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91149"/>
                                        </p:tgtEl>
                                        <p:attrNameLst>
                                          <p:attrName>style.visibility</p:attrName>
                                        </p:attrNameLst>
                                      </p:cBhvr>
                                      <p:to>
                                        <p:strVal val="visible"/>
                                      </p:to>
                                    </p:set>
                                    <p:animEffect transition="in" filter="blinds(horizontal)">
                                      <p:cBhvr>
                                        <p:cTn id="14" dur="500"/>
                                        <p:tgtEl>
                                          <p:spTgt spid="91149"/>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91153"/>
                                        </p:tgtEl>
                                        <p:attrNameLst>
                                          <p:attrName>style.visibility</p:attrName>
                                        </p:attrNameLst>
                                      </p:cBhvr>
                                      <p:to>
                                        <p:strVal val="visible"/>
                                      </p:to>
                                    </p:set>
                                    <p:animEffect transition="in" filter="blinds(horizontal)">
                                      <p:cBhvr>
                                        <p:cTn id="24" dur="500"/>
                                        <p:tgtEl>
                                          <p:spTgt spid="91153"/>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91141"/>
                                        </p:tgtEl>
                                        <p:attrNameLst>
                                          <p:attrName>style.visibility</p:attrName>
                                        </p:attrNameLst>
                                      </p:cBhvr>
                                      <p:to>
                                        <p:strVal val="visible"/>
                                      </p:to>
                                    </p:set>
                                    <p:animEffect transition="in" filter="blinds(horizontal)">
                                      <p:cBhvr>
                                        <p:cTn id="29" dur="500"/>
                                        <p:tgtEl>
                                          <p:spTgt spid="91141"/>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91140"/>
                                        </p:tgtEl>
                                        <p:attrNameLst>
                                          <p:attrName>style.visibility</p:attrName>
                                        </p:attrNameLst>
                                      </p:cBhvr>
                                      <p:to>
                                        <p:strVal val="visible"/>
                                      </p:to>
                                    </p:set>
                                    <p:animEffect transition="in" filter="blinds(horizontal)">
                                      <p:cBhvr>
                                        <p:cTn id="32" dur="500"/>
                                        <p:tgtEl>
                                          <p:spTgt spid="91140"/>
                                        </p:tgtEl>
                                      </p:cBhvr>
                                    </p:animEffect>
                                  </p:childTnLst>
                                </p:cTn>
                              </p:par>
                            </p:childTnLst>
                          </p:cTn>
                        </p:par>
                      </p:childTnLst>
                    </p:cTn>
                  </p:par>
                  <p:par>
                    <p:cTn id="33" fill="hold">
                      <p:stCondLst>
                        <p:cond delay="indefinite"/>
                      </p:stCondLst>
                      <p:childTnLst>
                        <p:par>
                          <p:cTn id="34" fill="hold">
                            <p:stCondLst>
                              <p:cond delay="0"/>
                            </p:stCondLst>
                            <p:childTnLst>
                              <p:par>
                                <p:cTn id="35" presetID="27" presetClass="entr" presetSubtype="0" fill="hold" grpId="0" nodeType="clickEffect">
                                  <p:stCondLst>
                                    <p:cond delay="0"/>
                                  </p:stCondLst>
                                  <p:iterate type="lt">
                                    <p:tmPct val="50000"/>
                                  </p:iterate>
                                  <p:childTnLst>
                                    <p:set>
                                      <p:cBhvr>
                                        <p:cTn id="36" dur="1" fill="hold">
                                          <p:stCondLst>
                                            <p:cond delay="0"/>
                                          </p:stCondLst>
                                        </p:cTn>
                                        <p:tgtEl>
                                          <p:spTgt spid="91142"/>
                                        </p:tgtEl>
                                        <p:attrNameLst>
                                          <p:attrName>style.visibility</p:attrName>
                                        </p:attrNameLst>
                                      </p:cBhvr>
                                      <p:to>
                                        <p:strVal val="visible"/>
                                      </p:to>
                                    </p:set>
                                    <p:anim calcmode="discrete" valueType="clr">
                                      <p:cBhvr override="childStyle">
                                        <p:cTn id="37" dur="80"/>
                                        <p:tgtEl>
                                          <p:spTgt spid="91142"/>
                                        </p:tgtEl>
                                        <p:attrNameLst>
                                          <p:attrName>style.color</p:attrName>
                                        </p:attrNameLst>
                                      </p:cBhvr>
                                      <p:tavLst>
                                        <p:tav tm="0">
                                          <p:val>
                                            <p:clrVal>
                                              <a:schemeClr val="accent2"/>
                                            </p:clrVal>
                                          </p:val>
                                        </p:tav>
                                        <p:tav tm="50000">
                                          <p:val>
                                            <p:clrVal>
                                              <a:schemeClr val="hlink"/>
                                            </p:clrVal>
                                          </p:val>
                                        </p:tav>
                                      </p:tavLst>
                                    </p:anim>
                                    <p:anim calcmode="discrete" valueType="clr">
                                      <p:cBhvr>
                                        <p:cTn id="38" dur="80"/>
                                        <p:tgtEl>
                                          <p:spTgt spid="91142"/>
                                        </p:tgtEl>
                                        <p:attrNameLst>
                                          <p:attrName>fillcolor</p:attrName>
                                        </p:attrNameLst>
                                      </p:cBhvr>
                                      <p:tavLst>
                                        <p:tav tm="0">
                                          <p:val>
                                            <p:clrVal>
                                              <a:schemeClr val="accent2"/>
                                            </p:clrVal>
                                          </p:val>
                                        </p:tav>
                                        <p:tav tm="50000">
                                          <p:val>
                                            <p:clrVal>
                                              <a:schemeClr val="hlink"/>
                                            </p:clrVal>
                                          </p:val>
                                        </p:tav>
                                      </p:tavLst>
                                    </p:anim>
                                    <p:set>
                                      <p:cBhvr>
                                        <p:cTn id="39" dur="80"/>
                                        <p:tgtEl>
                                          <p:spTgt spid="91142"/>
                                        </p:tgtEl>
                                        <p:attrNameLst>
                                          <p:attrName>fill.type</p:attrName>
                                        </p:attrNameLst>
                                      </p:cBhvr>
                                      <p:to>
                                        <p:strVal val="solid"/>
                                      </p:to>
                                    </p:se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91143"/>
                                        </p:tgtEl>
                                        <p:attrNameLst>
                                          <p:attrName>style.visibility</p:attrName>
                                        </p:attrNameLst>
                                      </p:cBhvr>
                                      <p:to>
                                        <p:strVal val="visible"/>
                                      </p:to>
                                    </p:set>
                                    <p:animEffect transition="in" filter="blinds(horizontal)">
                                      <p:cBhvr>
                                        <p:cTn id="44" dur="500"/>
                                        <p:tgtEl>
                                          <p:spTgt spid="91143"/>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91147"/>
                                        </p:tgtEl>
                                        <p:attrNameLst>
                                          <p:attrName>style.visibility</p:attrName>
                                        </p:attrNameLst>
                                      </p:cBhvr>
                                      <p:to>
                                        <p:strVal val="visible"/>
                                      </p:to>
                                    </p:set>
                                    <p:animEffect transition="in" filter="blinds(horizontal)">
                                      <p:cBhvr>
                                        <p:cTn id="49" dur="500"/>
                                        <p:tgtEl>
                                          <p:spTgt spid="91147"/>
                                        </p:tgtEl>
                                      </p:cBhvr>
                                    </p:animEffect>
                                  </p:childTnLst>
                                </p:cTn>
                              </p:par>
                              <p:par>
                                <p:cTn id="50" presetID="3" presetClass="entr" presetSubtype="10" fill="hold" nodeType="withEffect">
                                  <p:stCondLst>
                                    <p:cond delay="0"/>
                                  </p:stCondLst>
                                  <p:childTnLst>
                                    <p:set>
                                      <p:cBhvr>
                                        <p:cTn id="51" dur="1" fill="hold">
                                          <p:stCondLst>
                                            <p:cond delay="0"/>
                                          </p:stCondLst>
                                        </p:cTn>
                                        <p:tgtEl>
                                          <p:spTgt spid="91144"/>
                                        </p:tgtEl>
                                        <p:attrNameLst>
                                          <p:attrName>style.visibility</p:attrName>
                                        </p:attrNameLst>
                                      </p:cBhvr>
                                      <p:to>
                                        <p:strVal val="visible"/>
                                      </p:to>
                                    </p:set>
                                    <p:animEffect transition="in" filter="blinds(horizontal)">
                                      <p:cBhvr>
                                        <p:cTn id="52" dur="500"/>
                                        <p:tgtEl>
                                          <p:spTgt spid="91144"/>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91146"/>
                                        </p:tgtEl>
                                        <p:attrNameLst>
                                          <p:attrName>style.visibility</p:attrName>
                                        </p:attrNameLst>
                                      </p:cBhvr>
                                      <p:to>
                                        <p:strVal val="visible"/>
                                      </p:to>
                                    </p:set>
                                    <p:animEffect transition="in" filter="blinds(horizontal)">
                                      <p:cBhvr>
                                        <p:cTn id="57" dur="500"/>
                                        <p:tgtEl>
                                          <p:spTgt spid="91146"/>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91145"/>
                                        </p:tgtEl>
                                        <p:attrNameLst>
                                          <p:attrName>style.visibility</p:attrName>
                                        </p:attrNameLst>
                                      </p:cBhvr>
                                      <p:to>
                                        <p:strVal val="visible"/>
                                      </p:to>
                                    </p:set>
                                    <p:animEffect transition="in" filter="blinds(horizontal)">
                                      <p:cBhvr>
                                        <p:cTn id="60" dur="500"/>
                                        <p:tgtEl>
                                          <p:spTgt spid="91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p:bldP spid="91142" grpId="0"/>
      <p:bldP spid="91145" grpId="0"/>
      <p:bldP spid="91147" grpId="0"/>
      <p:bldP spid="9114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Text Box 4"/>
          <p:cNvSpPr txBox="1">
            <a:spLocks noChangeArrowheads="1"/>
          </p:cNvSpPr>
          <p:nvPr/>
        </p:nvSpPr>
        <p:spPr bwMode="auto">
          <a:xfrm>
            <a:off x="179388" y="627063"/>
            <a:ext cx="8921750"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3200" b="1">
                <a:solidFill>
                  <a:srgbClr val="FF0000"/>
                </a:solidFill>
                <a:latin typeface="楷体_GB2312" panose="02010609030101010101" pitchFamily="49" charset="-122"/>
                <a:ea typeface="楷体_GB2312" panose="02010609030101010101" pitchFamily="49" charset="-122"/>
              </a:rPr>
              <a:t>例</a:t>
            </a:r>
            <a:r>
              <a:rPr kumimoji="1" lang="en-US" altLang="zh-CN" sz="3200" b="1">
                <a:solidFill>
                  <a:srgbClr val="FF0000"/>
                </a:solidFill>
                <a:latin typeface="楷体_GB2312" panose="02010609030101010101" pitchFamily="49" charset="-122"/>
                <a:ea typeface="楷体_GB2312" panose="02010609030101010101" pitchFamily="49" charset="-122"/>
              </a:rPr>
              <a:t>5:</a:t>
            </a:r>
            <a:r>
              <a:rPr kumimoji="1" lang="zh-CN" altLang="en-US" sz="3200">
                <a:latin typeface="黑体" panose="02010609060101010101" pitchFamily="49" charset="-122"/>
                <a:ea typeface="黑体" panose="02010609060101010101" pitchFamily="49" charset="-122"/>
              </a:rPr>
              <a:t>真空中有一平面电磁波的电场表达式如下，</a:t>
            </a:r>
            <a:endParaRPr kumimoji="1" lang="zh-CN" altLang="en-US" sz="3200">
              <a:latin typeface="黑体" panose="02010609060101010101" pitchFamily="49" charset="-122"/>
              <a:ea typeface="黑体" panose="02010609060101010101" pitchFamily="49" charset="-122"/>
            </a:endParaRPr>
          </a:p>
          <a:p>
            <a:pPr eaLnBrk="1" hangingPunct="1">
              <a:lnSpc>
                <a:spcPct val="125000"/>
              </a:lnSpc>
            </a:pPr>
            <a:r>
              <a:rPr kumimoji="1" lang="zh-CN" altLang="en-US" sz="3200">
                <a:latin typeface="黑体" panose="02010609060101010101" pitchFamily="49" charset="-122"/>
                <a:ea typeface="黑体" panose="02010609060101010101" pitchFamily="49" charset="-122"/>
              </a:rPr>
              <a:t>          ，                          ，</a:t>
            </a:r>
            <a:endParaRPr kumimoji="1" lang="zh-CN" altLang="en-US" sz="3200">
              <a:latin typeface="黑体" panose="02010609060101010101" pitchFamily="49" charset="-122"/>
              <a:ea typeface="黑体" panose="02010609060101010101" pitchFamily="49" charset="-122"/>
            </a:endParaRPr>
          </a:p>
          <a:p>
            <a:pPr eaLnBrk="1" hangingPunct="1">
              <a:lnSpc>
                <a:spcPct val="125000"/>
              </a:lnSpc>
            </a:pPr>
            <a:r>
              <a:rPr kumimoji="1" lang="zh-CN" altLang="en-US" sz="3200">
                <a:latin typeface="黑体" panose="02010609060101010101" pitchFamily="49" charset="-122"/>
                <a:ea typeface="黑体" panose="02010609060101010101" pitchFamily="49" charset="-122"/>
              </a:rPr>
              <a:t>          ，求</a:t>
            </a:r>
            <a:endParaRPr kumimoji="1" lang="zh-CN" altLang="en-US" sz="3200">
              <a:latin typeface="黑体" panose="02010609060101010101" pitchFamily="49" charset="-122"/>
              <a:ea typeface="黑体" panose="02010609060101010101" pitchFamily="49" charset="-122"/>
            </a:endParaRPr>
          </a:p>
          <a:p>
            <a:pPr eaLnBrk="1" hangingPunct="1">
              <a:lnSpc>
                <a:spcPct val="125000"/>
              </a:lnSpc>
            </a:pPr>
            <a:r>
              <a:rPr kumimoji="1" lang="zh-CN" altLang="en-US" sz="3200">
                <a:latin typeface="黑体" panose="02010609060101010101" pitchFamily="49" charset="-122"/>
                <a:ea typeface="黑体" panose="02010609060101010101" pitchFamily="49" charset="-122"/>
              </a:rPr>
              <a:t>     </a:t>
            </a:r>
            <a:r>
              <a:rPr kumimoji="1" lang="en-US" altLang="zh-CN" sz="3200">
                <a:latin typeface="黑体" panose="02010609060101010101" pitchFamily="49" charset="-122"/>
                <a:ea typeface="黑体" panose="02010609060101010101" pitchFamily="49" charset="-122"/>
              </a:rPr>
              <a:t>(1)</a:t>
            </a:r>
            <a:r>
              <a:rPr kumimoji="1" lang="zh-CN" altLang="en-US" sz="3200">
                <a:latin typeface="黑体" panose="02010609060101010101" pitchFamily="49" charset="-122"/>
                <a:ea typeface="黑体" panose="02010609060101010101" pitchFamily="49" charset="-122"/>
              </a:rPr>
              <a:t>波长、频率</a:t>
            </a:r>
            <a:endParaRPr kumimoji="1" lang="zh-CN" altLang="en-US" sz="3200">
              <a:latin typeface="黑体" panose="02010609060101010101" pitchFamily="49" charset="-122"/>
              <a:ea typeface="黑体" panose="02010609060101010101" pitchFamily="49" charset="-122"/>
            </a:endParaRPr>
          </a:p>
          <a:p>
            <a:pPr eaLnBrk="1" hangingPunct="1">
              <a:lnSpc>
                <a:spcPct val="125000"/>
              </a:lnSpc>
            </a:pPr>
            <a:r>
              <a:rPr kumimoji="1" lang="zh-CN" altLang="en-US" sz="3200">
                <a:latin typeface="黑体" panose="02010609060101010101" pitchFamily="49" charset="-122"/>
                <a:ea typeface="黑体" panose="02010609060101010101" pitchFamily="49" charset="-122"/>
              </a:rPr>
              <a:t>     </a:t>
            </a:r>
            <a:r>
              <a:rPr kumimoji="1" lang="en-US" altLang="zh-CN" sz="3200">
                <a:latin typeface="黑体" panose="02010609060101010101" pitchFamily="49" charset="-122"/>
                <a:ea typeface="黑体" panose="02010609060101010101" pitchFamily="49" charset="-122"/>
              </a:rPr>
              <a:t>(2)</a:t>
            </a:r>
            <a:r>
              <a:rPr kumimoji="1" lang="zh-CN" altLang="en-US" sz="3200">
                <a:latin typeface="黑体" panose="02010609060101010101" pitchFamily="49" charset="-122"/>
                <a:ea typeface="黑体" panose="02010609060101010101" pitchFamily="49" charset="-122"/>
              </a:rPr>
              <a:t>该电磁波的传播方向</a:t>
            </a:r>
            <a:endParaRPr kumimoji="1" lang="zh-CN" altLang="en-US" sz="3200">
              <a:latin typeface="黑体" panose="02010609060101010101" pitchFamily="49" charset="-122"/>
              <a:ea typeface="黑体" panose="02010609060101010101" pitchFamily="49" charset="-122"/>
            </a:endParaRPr>
          </a:p>
          <a:p>
            <a:pPr eaLnBrk="1" hangingPunct="1">
              <a:lnSpc>
                <a:spcPct val="125000"/>
              </a:lnSpc>
            </a:pPr>
            <a:r>
              <a:rPr kumimoji="1" lang="zh-CN" altLang="en-US" sz="3200">
                <a:latin typeface="黑体" panose="02010609060101010101" pitchFamily="49" charset="-122"/>
                <a:ea typeface="黑体" panose="02010609060101010101" pitchFamily="49" charset="-122"/>
              </a:rPr>
              <a:t>     </a:t>
            </a:r>
            <a:r>
              <a:rPr kumimoji="1" lang="en-US" altLang="zh-CN" sz="3200">
                <a:latin typeface="黑体" panose="02010609060101010101" pitchFamily="49" charset="-122"/>
                <a:ea typeface="黑体" panose="02010609060101010101" pitchFamily="49" charset="-122"/>
              </a:rPr>
              <a:t>(3)</a:t>
            </a:r>
            <a:r>
              <a:rPr kumimoji="1" lang="zh-CN" altLang="en-US" sz="3200">
                <a:latin typeface="黑体" panose="02010609060101010101" pitchFamily="49" charset="-122"/>
                <a:ea typeface="黑体" panose="02010609060101010101" pitchFamily="49" charset="-122"/>
              </a:rPr>
              <a:t>磁场强度的大小和方向</a:t>
            </a:r>
            <a:endParaRPr kumimoji="1" lang="zh-CN" altLang="en-US" sz="3200">
              <a:latin typeface="黑体" panose="02010609060101010101" pitchFamily="49" charset="-122"/>
              <a:ea typeface="黑体" panose="02010609060101010101" pitchFamily="49" charset="-122"/>
            </a:endParaRPr>
          </a:p>
          <a:p>
            <a:pPr eaLnBrk="1" hangingPunct="1">
              <a:lnSpc>
                <a:spcPct val="125000"/>
              </a:lnSpc>
            </a:pPr>
            <a:r>
              <a:rPr kumimoji="1" lang="zh-CN" altLang="en-US" sz="3200">
                <a:latin typeface="黑体" panose="02010609060101010101" pitchFamily="49" charset="-122"/>
                <a:ea typeface="黑体" panose="02010609060101010101" pitchFamily="49" charset="-122"/>
              </a:rPr>
              <a:t>     </a:t>
            </a:r>
            <a:r>
              <a:rPr kumimoji="1" lang="en-US" altLang="zh-CN" sz="3200">
                <a:latin typeface="黑体" panose="02010609060101010101" pitchFamily="49" charset="-122"/>
                <a:ea typeface="黑体" panose="02010609060101010101" pitchFamily="49" charset="-122"/>
              </a:rPr>
              <a:t>(4)</a:t>
            </a:r>
            <a:r>
              <a:rPr kumimoji="1" lang="zh-CN" altLang="en-US" sz="3200">
                <a:latin typeface="黑体" panose="02010609060101010101" pitchFamily="49" charset="-122"/>
                <a:ea typeface="黑体" panose="02010609060101010101" pitchFamily="49" charset="-122"/>
              </a:rPr>
              <a:t>坡印亭矢量</a:t>
            </a:r>
            <a:endParaRPr kumimoji="1" lang="zh-CN" altLang="en-US" sz="3200">
              <a:latin typeface="黑体" panose="02010609060101010101" pitchFamily="49" charset="-122"/>
              <a:ea typeface="黑体" panose="02010609060101010101" pitchFamily="49" charset="-122"/>
            </a:endParaRPr>
          </a:p>
        </p:txBody>
      </p:sp>
      <p:graphicFrame>
        <p:nvGraphicFramePr>
          <p:cNvPr id="80902" name="Object 6"/>
          <p:cNvGraphicFramePr>
            <a:graphicFrameLocks noChangeAspect="1"/>
          </p:cNvGraphicFramePr>
          <p:nvPr/>
        </p:nvGraphicFramePr>
        <p:xfrm>
          <a:off x="1258888" y="1341438"/>
          <a:ext cx="1114425" cy="581025"/>
        </p:xfrm>
        <a:graphic>
          <a:graphicData uri="http://schemas.openxmlformats.org/presentationml/2006/ole">
            <mc:AlternateContent xmlns:mc="http://schemas.openxmlformats.org/markup-compatibility/2006">
              <mc:Choice xmlns:v="urn:schemas-microsoft-com:vml" Requires="v">
                <p:oleObj spid="_x0000_s42089" name="Equation" r:id="rId1" imgW="501650" imgH="267335" progId="Equation.DSMT4">
                  <p:embed/>
                </p:oleObj>
              </mc:Choice>
              <mc:Fallback>
                <p:oleObj name="Equation" r:id="rId1" imgW="501650" imgH="267335" progId="Equation.DSMT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
                      <a:xfrm>
                        <a:off x="1258888" y="1341438"/>
                        <a:ext cx="1114425"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03" name="Object 7"/>
          <p:cNvGraphicFramePr>
            <a:graphicFrameLocks noChangeAspect="1"/>
          </p:cNvGraphicFramePr>
          <p:nvPr/>
        </p:nvGraphicFramePr>
        <p:xfrm>
          <a:off x="2627313" y="1125538"/>
          <a:ext cx="5341937" cy="1003300"/>
        </p:xfrm>
        <a:graphic>
          <a:graphicData uri="http://schemas.openxmlformats.org/presentationml/2006/ole">
            <mc:AlternateContent xmlns:mc="http://schemas.openxmlformats.org/markup-compatibility/2006">
              <mc:Choice xmlns:v="urn:schemas-microsoft-com:vml" Requires="v">
                <p:oleObj spid="_x0000_s42090" name="Equation" r:id="rId3" imgW="2419985" imgH="457200" progId="Equation.DSMT4">
                  <p:embed/>
                </p:oleObj>
              </mc:Choice>
              <mc:Fallback>
                <p:oleObj name="Equation" r:id="rId3" imgW="2419985" imgH="457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627313" y="1125538"/>
                        <a:ext cx="5341937"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04" name="Object 8"/>
          <p:cNvGraphicFramePr>
            <a:graphicFrameLocks noChangeAspect="1"/>
          </p:cNvGraphicFramePr>
          <p:nvPr/>
        </p:nvGraphicFramePr>
        <p:xfrm>
          <a:off x="1303338" y="1989138"/>
          <a:ext cx="1114425" cy="581025"/>
        </p:xfrm>
        <a:graphic>
          <a:graphicData uri="http://schemas.openxmlformats.org/presentationml/2006/ole">
            <mc:AlternateContent xmlns:mc="http://schemas.openxmlformats.org/markup-compatibility/2006">
              <mc:Choice xmlns:v="urn:schemas-microsoft-com:vml" Requires="v">
                <p:oleObj spid="_x0000_s42091" name="Equation" r:id="rId5" imgW="501650" imgH="267335" progId="Equation.DSMT4">
                  <p:embed/>
                </p:oleObj>
              </mc:Choice>
              <mc:Fallback>
                <p:oleObj name="Equation" r:id="rId5" imgW="501650" imgH="267335"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1303338" y="1989138"/>
                        <a:ext cx="1114425"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80902"/>
                                        </p:tgtEl>
                                        <p:attrNameLst>
                                          <p:attrName>style.visibility</p:attrName>
                                        </p:attrNameLst>
                                      </p:cBhvr>
                                      <p:to>
                                        <p:strVal val="visible"/>
                                      </p:to>
                                    </p:set>
                                    <p:animEffect transition="in" filter="blinds(horizontal)">
                                      <p:cBhvr>
                                        <p:cTn id="7" dur="500"/>
                                        <p:tgtEl>
                                          <p:spTgt spid="80902"/>
                                        </p:tgtEl>
                                      </p:cBhvr>
                                    </p:animEffect>
                                  </p:childTnLst>
                                </p:cTn>
                              </p:par>
                              <p:par>
                                <p:cTn id="8" presetID="3" presetClass="entr" presetSubtype="10" fill="hold" nodeType="withEffect">
                                  <p:stCondLst>
                                    <p:cond delay="0"/>
                                  </p:stCondLst>
                                  <p:childTnLst>
                                    <p:set>
                                      <p:cBhvr>
                                        <p:cTn id="9" dur="1" fill="hold">
                                          <p:stCondLst>
                                            <p:cond delay="0"/>
                                          </p:stCondLst>
                                        </p:cTn>
                                        <p:tgtEl>
                                          <p:spTgt spid="80903"/>
                                        </p:tgtEl>
                                        <p:attrNameLst>
                                          <p:attrName>style.visibility</p:attrName>
                                        </p:attrNameLst>
                                      </p:cBhvr>
                                      <p:to>
                                        <p:strVal val="visible"/>
                                      </p:to>
                                    </p:set>
                                    <p:animEffect transition="in" filter="blinds(horizontal)">
                                      <p:cBhvr>
                                        <p:cTn id="10" dur="500"/>
                                        <p:tgtEl>
                                          <p:spTgt spid="80903"/>
                                        </p:tgtEl>
                                      </p:cBhvr>
                                    </p:animEffect>
                                  </p:childTnLst>
                                </p:cTn>
                              </p:par>
                              <p:par>
                                <p:cTn id="11" presetID="3" presetClass="entr" presetSubtype="10" fill="hold" nodeType="withEffect">
                                  <p:stCondLst>
                                    <p:cond delay="0"/>
                                  </p:stCondLst>
                                  <p:childTnLst>
                                    <p:set>
                                      <p:cBhvr>
                                        <p:cTn id="12" dur="1" fill="hold">
                                          <p:stCondLst>
                                            <p:cond delay="0"/>
                                          </p:stCondLst>
                                        </p:cTn>
                                        <p:tgtEl>
                                          <p:spTgt spid="80904"/>
                                        </p:tgtEl>
                                        <p:attrNameLst>
                                          <p:attrName>style.visibility</p:attrName>
                                        </p:attrNameLst>
                                      </p:cBhvr>
                                      <p:to>
                                        <p:strVal val="visible"/>
                                      </p:to>
                                    </p:set>
                                    <p:animEffect transition="in" filter="blinds(horizontal)">
                                      <p:cBhvr>
                                        <p:cTn id="13" dur="500"/>
                                        <p:tgtEl>
                                          <p:spTgt spid="809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Text Box 4"/>
          <p:cNvSpPr txBox="1">
            <a:spLocks noChangeArrowheads="1"/>
          </p:cNvSpPr>
          <p:nvPr/>
        </p:nvSpPr>
        <p:spPr bwMode="auto">
          <a:xfrm>
            <a:off x="755650" y="1160463"/>
            <a:ext cx="8124340" cy="1133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800" b="1" dirty="0">
                <a:latin typeface="Times New Roman" panose="02020603050405020304" pitchFamily="18" charset="0"/>
              </a:rPr>
              <a:t>解</a:t>
            </a:r>
            <a:r>
              <a:rPr kumimoji="1" lang="en-US" altLang="zh-CN" sz="2800" b="1" dirty="0">
                <a:latin typeface="Times New Roman" panose="02020603050405020304" pitchFamily="18" charset="0"/>
              </a:rPr>
              <a:t>: (1)</a:t>
            </a:r>
            <a:r>
              <a:rPr kumimoji="1" lang="en-US" altLang="zh-CN" b="1" dirty="0">
                <a:latin typeface="Times New Roman" panose="02020603050405020304" pitchFamily="18" charset="0"/>
              </a:rPr>
              <a:t> </a:t>
            </a:r>
            <a:r>
              <a:rPr kumimoji="1" lang="zh-CN" altLang="en-US" sz="2800" b="1" dirty="0">
                <a:latin typeface="Times New Roman" panose="02020603050405020304" pitchFamily="18" charset="0"/>
              </a:rPr>
              <a:t>由电场表达式可知，角频率</a:t>
            </a:r>
            <a:r>
              <a:rPr kumimoji="1" lang="el-GR" altLang="zh-CN" sz="2800" b="1" i="1" dirty="0">
                <a:latin typeface="Times New Roman" panose="02020603050405020304" pitchFamily="18" charset="0"/>
              </a:rPr>
              <a:t>ω</a:t>
            </a:r>
            <a:r>
              <a:rPr kumimoji="1" lang="en-US" altLang="zh-CN" sz="2800" b="1" dirty="0">
                <a:latin typeface="Times New Roman" panose="02020603050405020304" pitchFamily="18" charset="0"/>
              </a:rPr>
              <a:t>=</a:t>
            </a:r>
            <a:r>
              <a:rPr kumimoji="1" lang="en-US" altLang="zh-CN" b="1" dirty="0">
                <a:latin typeface="Times New Roman" panose="02020603050405020304" pitchFamily="18" charset="0"/>
              </a:rPr>
              <a:t>2</a:t>
            </a:r>
            <a:r>
              <a:rPr kumimoji="1" lang="el-GR" altLang="zh-CN" sz="2800" b="1" dirty="0">
                <a:latin typeface="Times New Roman" panose="02020603050405020304" pitchFamily="18" charset="0"/>
              </a:rPr>
              <a:t>π</a:t>
            </a:r>
            <a:r>
              <a:rPr kumimoji="1" lang="en-US" altLang="zh-CN" b="1" dirty="0">
                <a:latin typeface="Times New Roman" panose="02020603050405020304" pitchFamily="18" charset="0"/>
              </a:rPr>
              <a:t>×10</a:t>
            </a:r>
            <a:r>
              <a:rPr kumimoji="1" lang="en-US" altLang="zh-CN" b="1" baseline="30000" dirty="0">
                <a:latin typeface="Times New Roman" panose="02020603050405020304" pitchFamily="18" charset="0"/>
              </a:rPr>
              <a:t>8</a:t>
            </a:r>
            <a:r>
              <a:rPr kumimoji="1" lang="en-US" altLang="zh-CN" sz="2800" b="1" dirty="0">
                <a:latin typeface="Times New Roman" panose="02020603050405020304" pitchFamily="18" charset="0"/>
              </a:rPr>
              <a:t> s</a:t>
            </a:r>
            <a:r>
              <a:rPr kumimoji="1" lang="en-US" altLang="zh-CN" sz="2800" b="1" baseline="30000" dirty="0">
                <a:latin typeface="Times New Roman" panose="02020603050405020304" pitchFamily="18" charset="0"/>
              </a:rPr>
              <a:t>-1</a:t>
            </a:r>
            <a:r>
              <a:rPr kumimoji="1" lang="zh-CN" altLang="en-US" sz="2800" b="1" dirty="0">
                <a:latin typeface="宋体" panose="02010600030101010101" pitchFamily="2" charset="-122"/>
              </a:rPr>
              <a:t>，</a:t>
            </a:r>
            <a:endParaRPr kumimoji="1" lang="zh-CN" altLang="en-US" sz="2800" b="1" dirty="0">
              <a:latin typeface="宋体" panose="02010600030101010101" pitchFamily="2" charset="-122"/>
            </a:endParaRPr>
          </a:p>
          <a:p>
            <a:pPr eaLnBrk="1" hangingPunct="1">
              <a:lnSpc>
                <a:spcPct val="130000"/>
              </a:lnSpc>
            </a:pPr>
            <a:r>
              <a:rPr kumimoji="1" lang="zh-CN" altLang="en-US" sz="2800" b="1" dirty="0">
                <a:latin typeface="宋体" panose="02010600030101010101" pitchFamily="2" charset="-122"/>
              </a:rPr>
              <a:t>      则波长和频率分别为</a:t>
            </a:r>
            <a:endParaRPr kumimoji="1" lang="zh-CN" altLang="en-US" sz="2800" b="1" dirty="0">
              <a:latin typeface="宋体" panose="02010600030101010101" pitchFamily="2" charset="-122"/>
            </a:endParaRPr>
          </a:p>
        </p:txBody>
      </p:sp>
      <p:graphicFrame>
        <p:nvGraphicFramePr>
          <p:cNvPr id="93189" name="Object 5"/>
          <p:cNvGraphicFramePr>
            <a:graphicFrameLocks noChangeAspect="1"/>
          </p:cNvGraphicFramePr>
          <p:nvPr/>
        </p:nvGraphicFramePr>
        <p:xfrm>
          <a:off x="1908175" y="2546350"/>
          <a:ext cx="5492750" cy="979488"/>
        </p:xfrm>
        <a:graphic>
          <a:graphicData uri="http://schemas.openxmlformats.org/presentationml/2006/ole">
            <mc:AlternateContent xmlns:mc="http://schemas.openxmlformats.org/markup-compatibility/2006">
              <mc:Choice xmlns:v="urn:schemas-microsoft-com:vml" Requires="v">
                <p:oleObj spid="_x0000_s43114" name="Equation" r:id="rId1" imgW="1906905" imgH="345440" progId="Equation.DSMT4">
                  <p:embed/>
                </p:oleObj>
              </mc:Choice>
              <mc:Fallback>
                <p:oleObj name="Equation" r:id="rId1" imgW="1906905" imgH="34544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
                      <a:xfrm>
                        <a:off x="1908175" y="2546350"/>
                        <a:ext cx="5492750" cy="979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90" name="Object 6"/>
          <p:cNvGraphicFramePr>
            <a:graphicFrameLocks noChangeAspect="1"/>
          </p:cNvGraphicFramePr>
          <p:nvPr/>
        </p:nvGraphicFramePr>
        <p:xfrm>
          <a:off x="1908175" y="3670300"/>
          <a:ext cx="4679950" cy="1071563"/>
        </p:xfrm>
        <a:graphic>
          <a:graphicData uri="http://schemas.openxmlformats.org/presentationml/2006/ole">
            <mc:AlternateContent xmlns:mc="http://schemas.openxmlformats.org/markup-compatibility/2006">
              <mc:Choice xmlns:v="urn:schemas-microsoft-com:vml" Requires="v">
                <p:oleObj spid="_x0000_s43115" name="Equation" r:id="rId3" imgW="1550035" imgH="356870" progId="Equation.DSMT4">
                  <p:embed/>
                </p:oleObj>
              </mc:Choice>
              <mc:Fallback>
                <p:oleObj name="Equation" r:id="rId3" imgW="1550035" imgH="35687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1908175" y="3670300"/>
                        <a:ext cx="4679950" cy="1071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191" name="Text Box 7"/>
          <p:cNvSpPr txBox="1">
            <a:spLocks noChangeArrowheads="1"/>
          </p:cNvSpPr>
          <p:nvPr/>
        </p:nvSpPr>
        <p:spPr bwMode="auto">
          <a:xfrm>
            <a:off x="1403350" y="4976813"/>
            <a:ext cx="716915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60000"/>
              </a:lnSpc>
            </a:pPr>
            <a:r>
              <a:rPr kumimoji="1" lang="en-US" altLang="zh-CN" b="1">
                <a:latin typeface="Times New Roman" panose="02020603050405020304" pitchFamily="18" charset="0"/>
              </a:rPr>
              <a:t>(2) </a:t>
            </a:r>
            <a:r>
              <a:rPr kumimoji="1" lang="zh-CN" altLang="en-US" b="1">
                <a:latin typeface="Times New Roman" panose="02020603050405020304" pitchFamily="18" charset="0"/>
              </a:rPr>
              <a:t>由电磁场表达式看出，电磁波沿</a:t>
            </a:r>
            <a:r>
              <a:rPr kumimoji="1" lang="en-US" altLang="zh-CN" b="1" i="1">
                <a:latin typeface="Times New Roman" panose="02020603050405020304" pitchFamily="18" charset="0"/>
              </a:rPr>
              <a:t>x</a:t>
            </a:r>
            <a:r>
              <a:rPr kumimoji="1" lang="zh-CN" altLang="en-US" b="1">
                <a:latin typeface="Times New Roman" panose="02020603050405020304" pitchFamily="18" charset="0"/>
              </a:rPr>
              <a:t>轴正方向传播，</a:t>
            </a:r>
            <a:endParaRPr kumimoji="1" lang="zh-CN" altLang="en-US" b="1">
              <a:latin typeface="Times New Roman" panose="02020603050405020304" pitchFamily="18" charset="0"/>
            </a:endParaRPr>
          </a:p>
          <a:p>
            <a:pPr eaLnBrk="1" hangingPunct="1">
              <a:lnSpc>
                <a:spcPct val="160000"/>
              </a:lnSpc>
            </a:pPr>
            <a:r>
              <a:rPr kumimoji="1" lang="zh-CN" altLang="en-US" b="1">
                <a:latin typeface="Times New Roman" panose="02020603050405020304" pitchFamily="18" charset="0"/>
              </a:rPr>
              <a:t>      </a:t>
            </a:r>
            <a:r>
              <a:rPr kumimoji="1" lang="en-US" altLang="zh-CN" b="1" i="1">
                <a:latin typeface="Times New Roman" panose="02020603050405020304" pitchFamily="18" charset="0"/>
              </a:rPr>
              <a:t>E</a:t>
            </a:r>
            <a:r>
              <a:rPr kumimoji="1" lang="zh-CN" altLang="en-US" b="1">
                <a:latin typeface="Times New Roman" panose="02020603050405020304" pitchFamily="18" charset="0"/>
              </a:rPr>
              <a:t>矢量是在</a:t>
            </a:r>
            <a:r>
              <a:rPr kumimoji="1" lang="en-US" altLang="zh-CN" b="1" i="1">
                <a:latin typeface="Times New Roman" panose="02020603050405020304" pitchFamily="18" charset="0"/>
              </a:rPr>
              <a:t>oxy</a:t>
            </a:r>
            <a:r>
              <a:rPr kumimoji="1" lang="zh-CN" altLang="en-US" b="1">
                <a:latin typeface="Times New Roman" panose="02020603050405020304" pitchFamily="18" charset="0"/>
              </a:rPr>
              <a:t>平面内偏振的。</a:t>
            </a:r>
            <a:endParaRPr kumimoji="1" lang="zh-CN" altLang="en-US" b="1">
              <a:latin typeface="Times New Roman" panose="02020603050405020304" pitchFamily="18" charset="0"/>
            </a:endParaRPr>
          </a:p>
        </p:txBody>
      </p:sp>
      <p:graphicFrame>
        <p:nvGraphicFramePr>
          <p:cNvPr id="93196" name="Object 12"/>
          <p:cNvGraphicFramePr>
            <a:graphicFrameLocks noChangeAspect="1"/>
          </p:cNvGraphicFramePr>
          <p:nvPr/>
        </p:nvGraphicFramePr>
        <p:xfrm>
          <a:off x="2268538" y="122238"/>
          <a:ext cx="5341937" cy="1003300"/>
        </p:xfrm>
        <a:graphic>
          <a:graphicData uri="http://schemas.openxmlformats.org/presentationml/2006/ole">
            <mc:AlternateContent xmlns:mc="http://schemas.openxmlformats.org/markup-compatibility/2006">
              <mc:Choice xmlns:v="urn:schemas-microsoft-com:vml" Requires="v">
                <p:oleObj spid="_x0000_s43116" name="Equation" r:id="rId5" imgW="2419985" imgH="457200" progId="Equation.DSMT4">
                  <p:embed/>
                </p:oleObj>
              </mc:Choice>
              <mc:Fallback>
                <p:oleObj name="Equation" r:id="rId5" imgW="2419985" imgH="4572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268538" y="122238"/>
                        <a:ext cx="5341937"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3196"/>
                                        </p:tgtEl>
                                        <p:attrNameLst>
                                          <p:attrName>style.visibility</p:attrName>
                                        </p:attrNameLst>
                                      </p:cBhvr>
                                      <p:to>
                                        <p:strVal val="visible"/>
                                      </p:to>
                                    </p:set>
                                    <p:animEffect transition="in" filter="blinds(horizontal)">
                                      <p:cBhvr>
                                        <p:cTn id="7" dur="500"/>
                                        <p:tgtEl>
                                          <p:spTgt spid="93196"/>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93188"/>
                                        </p:tgtEl>
                                        <p:attrNameLst>
                                          <p:attrName>style.visibility</p:attrName>
                                        </p:attrNameLst>
                                      </p:cBhvr>
                                      <p:to>
                                        <p:strVal val="visible"/>
                                      </p:to>
                                    </p:set>
                                    <p:anim calcmode="discrete" valueType="clr">
                                      <p:cBhvr override="childStyle">
                                        <p:cTn id="12" dur="80"/>
                                        <p:tgtEl>
                                          <p:spTgt spid="93188"/>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93188"/>
                                        </p:tgtEl>
                                        <p:attrNameLst>
                                          <p:attrName>fillcolor</p:attrName>
                                        </p:attrNameLst>
                                      </p:cBhvr>
                                      <p:tavLst>
                                        <p:tav tm="0">
                                          <p:val>
                                            <p:clrVal>
                                              <a:schemeClr val="accent2"/>
                                            </p:clrVal>
                                          </p:val>
                                        </p:tav>
                                        <p:tav tm="50000">
                                          <p:val>
                                            <p:clrVal>
                                              <a:schemeClr val="hlink"/>
                                            </p:clrVal>
                                          </p:val>
                                        </p:tav>
                                      </p:tavLst>
                                    </p:anim>
                                    <p:set>
                                      <p:cBhvr>
                                        <p:cTn id="14" dur="80"/>
                                        <p:tgtEl>
                                          <p:spTgt spid="93188"/>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93189"/>
                                        </p:tgtEl>
                                        <p:attrNameLst>
                                          <p:attrName>style.visibility</p:attrName>
                                        </p:attrNameLst>
                                      </p:cBhvr>
                                      <p:to>
                                        <p:strVal val="visible"/>
                                      </p:to>
                                    </p:set>
                                    <p:animEffect transition="in" filter="blinds(horizontal)">
                                      <p:cBhvr>
                                        <p:cTn id="19" dur="500"/>
                                        <p:tgtEl>
                                          <p:spTgt spid="93189"/>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93190"/>
                                        </p:tgtEl>
                                        <p:attrNameLst>
                                          <p:attrName>style.visibility</p:attrName>
                                        </p:attrNameLst>
                                      </p:cBhvr>
                                      <p:to>
                                        <p:strVal val="visible"/>
                                      </p:to>
                                    </p:set>
                                    <p:animEffect transition="in" filter="blinds(horizontal)">
                                      <p:cBhvr>
                                        <p:cTn id="24" dur="500"/>
                                        <p:tgtEl>
                                          <p:spTgt spid="93190"/>
                                        </p:tgtEl>
                                      </p:cBhvr>
                                    </p:animEffect>
                                  </p:childTnLst>
                                </p:cTn>
                              </p:par>
                            </p:childTnLst>
                          </p:cTn>
                        </p:par>
                      </p:childTnLst>
                    </p:cTn>
                  </p:par>
                  <p:par>
                    <p:cTn id="25" fill="hold">
                      <p:stCondLst>
                        <p:cond delay="indefinite"/>
                      </p:stCondLst>
                      <p:childTnLst>
                        <p:par>
                          <p:cTn id="26" fill="hold">
                            <p:stCondLst>
                              <p:cond delay="0"/>
                            </p:stCondLst>
                            <p:childTnLst>
                              <p:par>
                                <p:cTn id="27" presetID="27" presetClass="entr" presetSubtype="0" fill="hold" grpId="0" nodeType="clickEffect">
                                  <p:stCondLst>
                                    <p:cond delay="0"/>
                                  </p:stCondLst>
                                  <p:iterate type="lt">
                                    <p:tmPct val="50000"/>
                                  </p:iterate>
                                  <p:childTnLst>
                                    <p:set>
                                      <p:cBhvr>
                                        <p:cTn id="28" dur="1" fill="hold">
                                          <p:stCondLst>
                                            <p:cond delay="0"/>
                                          </p:stCondLst>
                                        </p:cTn>
                                        <p:tgtEl>
                                          <p:spTgt spid="93191"/>
                                        </p:tgtEl>
                                        <p:attrNameLst>
                                          <p:attrName>style.visibility</p:attrName>
                                        </p:attrNameLst>
                                      </p:cBhvr>
                                      <p:to>
                                        <p:strVal val="visible"/>
                                      </p:to>
                                    </p:set>
                                    <p:anim calcmode="discrete" valueType="clr">
                                      <p:cBhvr override="childStyle">
                                        <p:cTn id="29" dur="80"/>
                                        <p:tgtEl>
                                          <p:spTgt spid="93191"/>
                                        </p:tgtEl>
                                        <p:attrNameLst>
                                          <p:attrName>style.color</p:attrName>
                                        </p:attrNameLst>
                                      </p:cBhvr>
                                      <p:tavLst>
                                        <p:tav tm="0">
                                          <p:val>
                                            <p:clrVal>
                                              <a:schemeClr val="accent2"/>
                                            </p:clrVal>
                                          </p:val>
                                        </p:tav>
                                        <p:tav tm="50000">
                                          <p:val>
                                            <p:clrVal>
                                              <a:schemeClr val="hlink"/>
                                            </p:clrVal>
                                          </p:val>
                                        </p:tav>
                                      </p:tavLst>
                                    </p:anim>
                                    <p:anim calcmode="discrete" valueType="clr">
                                      <p:cBhvr>
                                        <p:cTn id="30" dur="80"/>
                                        <p:tgtEl>
                                          <p:spTgt spid="93191"/>
                                        </p:tgtEl>
                                        <p:attrNameLst>
                                          <p:attrName>fillcolor</p:attrName>
                                        </p:attrNameLst>
                                      </p:cBhvr>
                                      <p:tavLst>
                                        <p:tav tm="0">
                                          <p:val>
                                            <p:clrVal>
                                              <a:schemeClr val="accent2"/>
                                            </p:clrVal>
                                          </p:val>
                                        </p:tav>
                                        <p:tav tm="50000">
                                          <p:val>
                                            <p:clrVal>
                                              <a:schemeClr val="hlink"/>
                                            </p:clrVal>
                                          </p:val>
                                        </p:tav>
                                      </p:tavLst>
                                    </p:anim>
                                    <p:set>
                                      <p:cBhvr>
                                        <p:cTn id="31" dur="80"/>
                                        <p:tgtEl>
                                          <p:spTgt spid="9319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p:bldP spid="9319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Text Box 4"/>
          <p:cNvSpPr txBox="1">
            <a:spLocks noChangeArrowheads="1"/>
          </p:cNvSpPr>
          <p:nvPr/>
        </p:nvSpPr>
        <p:spPr bwMode="auto">
          <a:xfrm>
            <a:off x="592138" y="3908425"/>
            <a:ext cx="69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(4)  </a:t>
            </a:r>
            <a:endParaRPr kumimoji="1" lang="en-US" altLang="zh-CN">
              <a:latin typeface="Times New Roman" panose="02020603050405020304" pitchFamily="18" charset="0"/>
            </a:endParaRPr>
          </a:p>
        </p:txBody>
      </p:sp>
      <p:graphicFrame>
        <p:nvGraphicFramePr>
          <p:cNvPr id="94213" name="Object 5"/>
          <p:cNvGraphicFramePr>
            <a:graphicFrameLocks noChangeAspect="1"/>
          </p:cNvGraphicFramePr>
          <p:nvPr/>
        </p:nvGraphicFramePr>
        <p:xfrm>
          <a:off x="1168400" y="3933825"/>
          <a:ext cx="7632700" cy="2032000"/>
        </p:xfrm>
        <a:graphic>
          <a:graphicData uri="http://schemas.openxmlformats.org/presentationml/2006/ole">
            <mc:AlternateContent xmlns:mc="http://schemas.openxmlformats.org/markup-compatibility/2006">
              <mc:Choice xmlns:v="urn:schemas-microsoft-com:vml" Requires="v">
                <p:oleObj spid="_x0000_s44143" name="Equation" r:id="rId1" imgW="3166745" imgH="847725" progId="Equation.DSMT4">
                  <p:embed/>
                </p:oleObj>
              </mc:Choice>
              <mc:Fallback>
                <p:oleObj name="Equation" r:id="rId1" imgW="3166745" imgH="847725"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
                      <a:xfrm>
                        <a:off x="1168400" y="3933825"/>
                        <a:ext cx="7632700" cy="203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214" name="Text Box 6"/>
          <p:cNvSpPr txBox="1">
            <a:spLocks noChangeArrowheads="1"/>
          </p:cNvSpPr>
          <p:nvPr/>
        </p:nvSpPr>
        <p:spPr bwMode="auto">
          <a:xfrm>
            <a:off x="539750" y="765175"/>
            <a:ext cx="2851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latin typeface="Times New Roman" panose="02020603050405020304" pitchFamily="18" charset="0"/>
              </a:rPr>
              <a:t>(3) </a:t>
            </a:r>
            <a:r>
              <a:rPr kumimoji="1" lang="zh-CN" altLang="en-US" b="1">
                <a:latin typeface="Times New Roman" panose="02020603050405020304" pitchFamily="18" charset="0"/>
              </a:rPr>
              <a:t>磁场强度表达式</a:t>
            </a:r>
            <a:r>
              <a:rPr kumimoji="1" lang="en-US" altLang="zh-CN" b="1">
                <a:latin typeface="Times New Roman" panose="02020603050405020304" pitchFamily="18" charset="0"/>
              </a:rPr>
              <a:t>:</a:t>
            </a:r>
            <a:endParaRPr kumimoji="1" lang="en-US" altLang="zh-CN" b="1">
              <a:latin typeface="Times New Roman" panose="02020603050405020304" pitchFamily="18" charset="0"/>
            </a:endParaRPr>
          </a:p>
        </p:txBody>
      </p:sp>
      <p:graphicFrame>
        <p:nvGraphicFramePr>
          <p:cNvPr id="94215" name="Object 7"/>
          <p:cNvGraphicFramePr>
            <a:graphicFrameLocks noChangeAspect="1"/>
          </p:cNvGraphicFramePr>
          <p:nvPr/>
        </p:nvGraphicFramePr>
        <p:xfrm>
          <a:off x="1284288" y="2197895"/>
          <a:ext cx="2019300" cy="528638"/>
        </p:xfrm>
        <a:graphic>
          <a:graphicData uri="http://schemas.openxmlformats.org/presentationml/2006/ole">
            <mc:AlternateContent xmlns:mc="http://schemas.openxmlformats.org/markup-compatibility/2006">
              <mc:Choice xmlns:v="urn:schemas-microsoft-com:vml" Requires="v">
                <p:oleObj spid="_x0000_s44144" name="Equation" r:id="rId3" imgW="847725" imgH="222885" progId="Equation.DSMT4">
                  <p:embed/>
                </p:oleObj>
              </mc:Choice>
              <mc:Fallback>
                <p:oleObj name="Equation" r:id="rId3" imgW="847725" imgH="222885"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1284288" y="2197895"/>
                        <a:ext cx="2019300" cy="528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6" name="Object 8"/>
          <p:cNvGraphicFramePr>
            <a:graphicFrameLocks noChangeAspect="1"/>
          </p:cNvGraphicFramePr>
          <p:nvPr/>
        </p:nvGraphicFramePr>
        <p:xfrm>
          <a:off x="455612" y="2573338"/>
          <a:ext cx="8232775" cy="1054100"/>
        </p:xfrm>
        <a:graphic>
          <a:graphicData uri="http://schemas.openxmlformats.org/presentationml/2006/ole">
            <mc:AlternateContent xmlns:mc="http://schemas.openxmlformats.org/markup-compatibility/2006">
              <mc:Choice xmlns:v="urn:schemas-microsoft-com:vml" Requires="v">
                <p:oleObj spid="_x0000_s44145" name="Equation" r:id="rId5" imgW="3924935" imgH="501650" progId="Equation.DSMT4">
                  <p:embed/>
                </p:oleObj>
              </mc:Choice>
              <mc:Fallback>
                <p:oleObj name="Equation" r:id="rId5" imgW="3924935" imgH="50165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455612" y="2573338"/>
                        <a:ext cx="8232775"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217" name="Text Box 9"/>
          <p:cNvSpPr txBox="1">
            <a:spLocks noChangeArrowheads="1"/>
          </p:cNvSpPr>
          <p:nvPr/>
        </p:nvSpPr>
        <p:spPr bwMode="auto">
          <a:xfrm>
            <a:off x="1168400" y="1481535"/>
            <a:ext cx="389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dirty="0">
                <a:solidFill>
                  <a:srgbClr val="FF0000"/>
                </a:solidFill>
                <a:latin typeface="Times New Roman" panose="02020603050405020304" pitchFamily="18" charset="0"/>
              </a:rPr>
              <a:t>H</a:t>
            </a:r>
            <a:r>
              <a:rPr kumimoji="1" lang="zh-CN" altLang="en-US" b="1" dirty="0">
                <a:solidFill>
                  <a:srgbClr val="FF0000"/>
                </a:solidFill>
                <a:latin typeface="Times New Roman" panose="02020603050405020304" pitchFamily="18" charset="0"/>
              </a:rPr>
              <a:t>矢量是在</a:t>
            </a:r>
            <a:r>
              <a:rPr kumimoji="1" lang="en-US" altLang="zh-CN" b="1" i="1" dirty="0" err="1">
                <a:solidFill>
                  <a:srgbClr val="FF0000"/>
                </a:solidFill>
                <a:latin typeface="Times New Roman" panose="02020603050405020304" pitchFamily="18" charset="0"/>
              </a:rPr>
              <a:t>oxz</a:t>
            </a:r>
            <a:r>
              <a:rPr kumimoji="1" lang="zh-CN" altLang="en-US" b="1" dirty="0">
                <a:solidFill>
                  <a:srgbClr val="FF0000"/>
                </a:solidFill>
                <a:latin typeface="Times New Roman" panose="02020603050405020304" pitchFamily="18" charset="0"/>
              </a:rPr>
              <a:t>平面内偏振的</a:t>
            </a:r>
            <a:endParaRPr kumimoji="1" lang="zh-CN" altLang="en-US" b="1" dirty="0">
              <a:solidFill>
                <a:srgbClr val="FF0000"/>
              </a:solidFill>
              <a:latin typeface="Times New Roman" panose="02020603050405020304" pitchFamily="18" charset="0"/>
            </a:endParaRPr>
          </a:p>
        </p:txBody>
      </p:sp>
      <p:sp>
        <p:nvSpPr>
          <p:cNvPr id="94218" name="Text Box 10"/>
          <p:cNvSpPr txBox="1">
            <a:spLocks noChangeArrowheads="1"/>
          </p:cNvSpPr>
          <p:nvPr/>
        </p:nvSpPr>
        <p:spPr bwMode="auto">
          <a:xfrm>
            <a:off x="7943849" y="3482975"/>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(SI)</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94214"/>
                                        </p:tgtEl>
                                        <p:attrNameLst>
                                          <p:attrName>style.visibility</p:attrName>
                                        </p:attrNameLst>
                                      </p:cBhvr>
                                      <p:to>
                                        <p:strVal val="visible"/>
                                      </p:to>
                                    </p:set>
                                    <p:anim calcmode="discrete" valueType="clr">
                                      <p:cBhvr override="childStyle">
                                        <p:cTn id="7" dur="80"/>
                                        <p:tgtEl>
                                          <p:spTgt spid="9421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94214"/>
                                        </p:tgtEl>
                                        <p:attrNameLst>
                                          <p:attrName>fillcolor</p:attrName>
                                        </p:attrNameLst>
                                      </p:cBhvr>
                                      <p:tavLst>
                                        <p:tav tm="0">
                                          <p:val>
                                            <p:clrVal>
                                              <a:schemeClr val="accent2"/>
                                            </p:clrVal>
                                          </p:val>
                                        </p:tav>
                                        <p:tav tm="50000">
                                          <p:val>
                                            <p:clrVal>
                                              <a:schemeClr val="hlink"/>
                                            </p:clrVal>
                                          </p:val>
                                        </p:tav>
                                      </p:tavLst>
                                    </p:anim>
                                    <p:set>
                                      <p:cBhvr>
                                        <p:cTn id="9" dur="80"/>
                                        <p:tgtEl>
                                          <p:spTgt spid="9421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94217"/>
                                        </p:tgtEl>
                                        <p:attrNameLst>
                                          <p:attrName>style.visibility</p:attrName>
                                        </p:attrNameLst>
                                      </p:cBhvr>
                                      <p:to>
                                        <p:strVal val="visible"/>
                                      </p:to>
                                    </p:set>
                                    <p:anim calcmode="discrete" valueType="clr">
                                      <p:cBhvr override="childStyle">
                                        <p:cTn id="14" dur="80"/>
                                        <p:tgtEl>
                                          <p:spTgt spid="94217"/>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94217"/>
                                        </p:tgtEl>
                                        <p:attrNameLst>
                                          <p:attrName>fillcolor</p:attrName>
                                        </p:attrNameLst>
                                      </p:cBhvr>
                                      <p:tavLst>
                                        <p:tav tm="0">
                                          <p:val>
                                            <p:clrVal>
                                              <a:schemeClr val="accent2"/>
                                            </p:clrVal>
                                          </p:val>
                                        </p:tav>
                                        <p:tav tm="50000">
                                          <p:val>
                                            <p:clrVal>
                                              <a:schemeClr val="hlink"/>
                                            </p:clrVal>
                                          </p:val>
                                        </p:tav>
                                      </p:tavLst>
                                    </p:anim>
                                    <p:set>
                                      <p:cBhvr>
                                        <p:cTn id="16" dur="80"/>
                                        <p:tgtEl>
                                          <p:spTgt spid="94217"/>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94215"/>
                                        </p:tgtEl>
                                        <p:attrNameLst>
                                          <p:attrName>style.visibility</p:attrName>
                                        </p:attrNameLst>
                                      </p:cBhvr>
                                      <p:to>
                                        <p:strVal val="visible"/>
                                      </p:to>
                                    </p:set>
                                    <p:animEffect transition="in" filter="blinds(horizontal)">
                                      <p:cBhvr>
                                        <p:cTn id="21" dur="500"/>
                                        <p:tgtEl>
                                          <p:spTgt spid="94215"/>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94216"/>
                                        </p:tgtEl>
                                        <p:attrNameLst>
                                          <p:attrName>style.visibility</p:attrName>
                                        </p:attrNameLst>
                                      </p:cBhvr>
                                      <p:to>
                                        <p:strVal val="visible"/>
                                      </p:to>
                                    </p:set>
                                    <p:animEffect transition="in" filter="blinds(horizontal)">
                                      <p:cBhvr>
                                        <p:cTn id="26" dur="500"/>
                                        <p:tgtEl>
                                          <p:spTgt spid="9421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94218"/>
                                        </p:tgtEl>
                                        <p:attrNameLst>
                                          <p:attrName>style.visibility</p:attrName>
                                        </p:attrNameLst>
                                      </p:cBhvr>
                                      <p:to>
                                        <p:strVal val="visible"/>
                                      </p:to>
                                    </p:set>
                                    <p:animEffect transition="in" filter="blinds(horizontal)">
                                      <p:cBhvr>
                                        <p:cTn id="31" dur="500"/>
                                        <p:tgtEl>
                                          <p:spTgt spid="94218"/>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94213"/>
                                        </p:tgtEl>
                                        <p:attrNameLst>
                                          <p:attrName>style.visibility</p:attrName>
                                        </p:attrNameLst>
                                      </p:cBhvr>
                                      <p:to>
                                        <p:strVal val="visible"/>
                                      </p:to>
                                    </p:set>
                                    <p:animEffect transition="in" filter="blinds(horizontal)">
                                      <p:cBhvr>
                                        <p:cTn id="36" dur="500"/>
                                        <p:tgtEl>
                                          <p:spTgt spid="94213"/>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94212"/>
                                        </p:tgtEl>
                                        <p:attrNameLst>
                                          <p:attrName>style.visibility</p:attrName>
                                        </p:attrNameLst>
                                      </p:cBhvr>
                                      <p:to>
                                        <p:strVal val="visible"/>
                                      </p:to>
                                    </p:set>
                                    <p:animEffect transition="in" filter="blinds(horizontal)">
                                      <p:cBhvr>
                                        <p:cTn id="39" dur="500"/>
                                        <p:tgtEl>
                                          <p:spTgt spid="94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p:bldP spid="94214" grpId="0"/>
      <p:bldP spid="94217" grpId="0"/>
      <p:bldP spid="9421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Text Box 2"/>
          <p:cNvSpPr txBox="1">
            <a:spLocks noChangeArrowheads="1"/>
          </p:cNvSpPr>
          <p:nvPr/>
        </p:nvSpPr>
        <p:spPr bwMode="auto">
          <a:xfrm>
            <a:off x="228600" y="152400"/>
            <a:ext cx="8736013"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b="1" dirty="0">
                <a:solidFill>
                  <a:srgbClr val="FF0000"/>
                </a:solidFill>
                <a:latin typeface="楷体_GB2312" panose="02010609030101010101" pitchFamily="49" charset="-122"/>
                <a:ea typeface="楷体_GB2312" panose="02010609030101010101" pitchFamily="49" charset="-122"/>
              </a:rPr>
              <a:t>例</a:t>
            </a:r>
            <a:r>
              <a:rPr kumimoji="1" lang="en-US" altLang="zh-CN" b="1" dirty="0">
                <a:solidFill>
                  <a:srgbClr val="FF0000"/>
                </a:solidFill>
                <a:latin typeface="楷体_GB2312" panose="02010609030101010101" pitchFamily="49" charset="-122"/>
                <a:ea typeface="楷体_GB2312" panose="02010609030101010101" pitchFamily="49" charset="-122"/>
              </a:rPr>
              <a:t>6:</a:t>
            </a:r>
            <a:r>
              <a:rPr kumimoji="1" lang="zh-CN" altLang="en-US" b="1" dirty="0">
                <a:latin typeface="Times New Roman" panose="02020603050405020304" pitchFamily="18" charset="0"/>
              </a:rPr>
              <a:t>振幅为</a:t>
            </a:r>
            <a:r>
              <a:rPr kumimoji="1" lang="en-US" altLang="zh-CN" b="1" i="1" dirty="0">
                <a:latin typeface="Times New Roman" panose="02020603050405020304" pitchFamily="18" charset="0"/>
              </a:rPr>
              <a:t>A</a:t>
            </a:r>
            <a:r>
              <a:rPr kumimoji="1" lang="zh-CN" altLang="en-US" b="1" dirty="0">
                <a:latin typeface="Times New Roman" panose="02020603050405020304" pitchFamily="18" charset="0"/>
              </a:rPr>
              <a:t>，频率为</a:t>
            </a:r>
            <a:r>
              <a:rPr kumimoji="1" lang="zh-CN" altLang="en-US" b="1" i="1" dirty="0">
                <a:latin typeface="Times New Roman" panose="02020603050405020304" pitchFamily="18" charset="0"/>
                <a:sym typeface="Symbol" panose="05050102010706020507" pitchFamily="18" charset="2"/>
              </a:rPr>
              <a:t></a:t>
            </a:r>
            <a:r>
              <a:rPr kumimoji="1" lang="zh-CN" altLang="en-US" b="1" dirty="0">
                <a:latin typeface="Times New Roman" panose="02020603050405020304" pitchFamily="18" charset="0"/>
              </a:rPr>
              <a:t>，波长为</a:t>
            </a:r>
            <a:r>
              <a:rPr kumimoji="1" lang="zh-CN" altLang="en-US" b="1" i="1" dirty="0">
                <a:latin typeface="Times New Roman" panose="02020603050405020304" pitchFamily="18" charset="0"/>
                <a:sym typeface="Symbol" panose="05050102010706020507" pitchFamily="18" charset="2"/>
              </a:rPr>
              <a:t></a:t>
            </a:r>
            <a:r>
              <a:rPr kumimoji="1" lang="zh-CN" altLang="en-US" b="1" dirty="0">
                <a:latin typeface="Times New Roman" panose="02020603050405020304" pitchFamily="18" charset="0"/>
              </a:rPr>
              <a:t>的一简谐波沿弦线传播，在自由端</a:t>
            </a:r>
            <a:r>
              <a:rPr kumimoji="1" lang="en-US" altLang="zh-CN" b="1" dirty="0">
                <a:latin typeface="Times New Roman" panose="02020603050405020304" pitchFamily="18" charset="0"/>
              </a:rPr>
              <a:t>A</a:t>
            </a:r>
            <a:r>
              <a:rPr kumimoji="1" lang="zh-CN" altLang="en-US" b="1" dirty="0">
                <a:latin typeface="Times New Roman" panose="02020603050405020304" pitchFamily="18" charset="0"/>
              </a:rPr>
              <a:t>点反射（如图），假设反射后的波不衰减。已知：</a:t>
            </a:r>
            <a:r>
              <a:rPr kumimoji="1" lang="en-US" altLang="zh-CN" b="1" dirty="0">
                <a:latin typeface="Times New Roman" panose="02020603050405020304" pitchFamily="18" charset="0"/>
              </a:rPr>
              <a:t>OA =7</a:t>
            </a:r>
            <a:r>
              <a:rPr kumimoji="1" lang="en-US" altLang="zh-CN" b="1" i="1" dirty="0">
                <a:latin typeface="Times New Roman" panose="02020603050405020304" pitchFamily="18" charset="0"/>
                <a:sym typeface="Symbol" panose="05050102010706020507" pitchFamily="18" charset="2"/>
              </a:rPr>
              <a:t></a:t>
            </a:r>
            <a:r>
              <a:rPr kumimoji="1" lang="en-US" altLang="zh-CN" b="1" i="1" dirty="0">
                <a:latin typeface="Times New Roman" panose="02020603050405020304" pitchFamily="18" charset="0"/>
              </a:rPr>
              <a:t> </a:t>
            </a:r>
            <a:r>
              <a:rPr kumimoji="1" lang="en-US" altLang="zh-CN" b="1" dirty="0">
                <a:latin typeface="Times New Roman" panose="02020603050405020304" pitchFamily="18" charset="0"/>
              </a:rPr>
              <a:t>/8</a:t>
            </a:r>
            <a:r>
              <a:rPr kumimoji="1" lang="zh-CN" altLang="en-US" b="1" dirty="0">
                <a:latin typeface="Times New Roman" panose="02020603050405020304" pitchFamily="18" charset="0"/>
              </a:rPr>
              <a:t>，</a:t>
            </a:r>
            <a:r>
              <a:rPr kumimoji="1" lang="en-US" altLang="zh-CN" b="1" dirty="0">
                <a:latin typeface="Times New Roman" panose="02020603050405020304" pitchFamily="18" charset="0"/>
              </a:rPr>
              <a:t>OB =</a:t>
            </a:r>
            <a:r>
              <a:rPr kumimoji="1" lang="en-US" altLang="zh-CN" b="1" i="1" dirty="0">
                <a:latin typeface="Times New Roman" panose="02020603050405020304" pitchFamily="18" charset="0"/>
                <a:sym typeface="Symbol" panose="05050102010706020507" pitchFamily="18" charset="2"/>
              </a:rPr>
              <a:t></a:t>
            </a:r>
            <a:r>
              <a:rPr kumimoji="1" lang="en-US" altLang="zh-CN" b="1" dirty="0">
                <a:latin typeface="Times New Roman" panose="02020603050405020304" pitchFamily="18" charset="0"/>
              </a:rPr>
              <a:t>/2</a:t>
            </a:r>
            <a:r>
              <a:rPr kumimoji="1" lang="zh-CN" altLang="en-US" b="1" dirty="0">
                <a:latin typeface="Times New Roman" panose="02020603050405020304" pitchFamily="18" charset="0"/>
              </a:rPr>
              <a:t>，在</a:t>
            </a:r>
            <a:r>
              <a:rPr kumimoji="1" lang="en-US" altLang="zh-CN" b="1" i="1" dirty="0">
                <a:latin typeface="Times New Roman" panose="02020603050405020304" pitchFamily="18" charset="0"/>
              </a:rPr>
              <a:t>t </a:t>
            </a:r>
            <a:r>
              <a:rPr kumimoji="1" lang="en-US" altLang="zh-CN" b="1" dirty="0">
                <a:latin typeface="Times New Roman" panose="02020603050405020304" pitchFamily="18" charset="0"/>
              </a:rPr>
              <a:t>= 0</a:t>
            </a:r>
            <a:r>
              <a:rPr kumimoji="1" lang="zh-CN" altLang="en-US" b="1" dirty="0">
                <a:latin typeface="Times New Roman" panose="02020603050405020304" pitchFamily="18" charset="0"/>
              </a:rPr>
              <a:t>时，</a:t>
            </a:r>
            <a:r>
              <a:rPr kumimoji="1" lang="en-US" altLang="zh-CN" b="1" i="1" dirty="0">
                <a:latin typeface="Times New Roman" panose="02020603050405020304" pitchFamily="18" charset="0"/>
              </a:rPr>
              <a:t>x </a:t>
            </a:r>
            <a:r>
              <a:rPr kumimoji="1" lang="en-US" altLang="zh-CN" b="1" dirty="0">
                <a:latin typeface="Times New Roman" panose="02020603050405020304" pitchFamily="18" charset="0"/>
              </a:rPr>
              <a:t>= 0</a:t>
            </a:r>
            <a:r>
              <a:rPr kumimoji="1" lang="zh-CN" altLang="en-US" b="1" dirty="0">
                <a:latin typeface="Times New Roman" panose="02020603050405020304" pitchFamily="18" charset="0"/>
              </a:rPr>
              <a:t>处媒质质元的合振动经平衡位置向负方向运动。求</a:t>
            </a:r>
            <a:r>
              <a:rPr kumimoji="1" lang="en-US" altLang="zh-CN" b="1" dirty="0">
                <a:latin typeface="Times New Roman" panose="02020603050405020304" pitchFamily="18" charset="0"/>
              </a:rPr>
              <a:t>B</a:t>
            </a:r>
            <a:r>
              <a:rPr kumimoji="1" lang="zh-CN" altLang="en-US" b="1" dirty="0">
                <a:latin typeface="Times New Roman" panose="02020603050405020304" pitchFamily="18" charset="0"/>
              </a:rPr>
              <a:t>点处入射波和反射波的合成振动方程。</a:t>
            </a:r>
            <a:endParaRPr kumimoji="1" lang="zh-CN" altLang="en-US" b="1" dirty="0">
              <a:latin typeface="Times New Roman" panose="02020603050405020304" pitchFamily="18" charset="0"/>
            </a:endParaRPr>
          </a:p>
        </p:txBody>
      </p:sp>
      <p:grpSp>
        <p:nvGrpSpPr>
          <p:cNvPr id="45063" name="Group 3"/>
          <p:cNvGrpSpPr/>
          <p:nvPr/>
        </p:nvGrpSpPr>
        <p:grpSpPr bwMode="auto">
          <a:xfrm>
            <a:off x="5364163" y="1557338"/>
            <a:ext cx="3455987" cy="1727200"/>
            <a:chOff x="2749" y="2661"/>
            <a:chExt cx="2675" cy="1131"/>
          </a:xfrm>
        </p:grpSpPr>
        <p:sp>
          <p:nvSpPr>
            <p:cNvPr id="45070" name="Line 4"/>
            <p:cNvSpPr>
              <a:spLocks noChangeShapeType="1"/>
            </p:cNvSpPr>
            <p:nvPr/>
          </p:nvSpPr>
          <p:spPr bwMode="auto">
            <a:xfrm flipH="1" flipV="1">
              <a:off x="3072" y="2880"/>
              <a:ext cx="0" cy="912"/>
            </a:xfrm>
            <a:prstGeom prst="line">
              <a:avLst/>
            </a:prstGeom>
            <a:noFill/>
            <a:ln w="158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71" name="Line 5"/>
            <p:cNvSpPr>
              <a:spLocks noChangeShapeType="1"/>
            </p:cNvSpPr>
            <p:nvPr/>
          </p:nvSpPr>
          <p:spPr bwMode="auto">
            <a:xfrm>
              <a:off x="2749" y="3429"/>
              <a:ext cx="2304" cy="0"/>
            </a:xfrm>
            <a:prstGeom prst="line">
              <a:avLst/>
            </a:prstGeom>
            <a:noFill/>
            <a:ln w="158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72" name="Line 6"/>
            <p:cNvSpPr>
              <a:spLocks noChangeShapeType="1"/>
            </p:cNvSpPr>
            <p:nvPr/>
          </p:nvSpPr>
          <p:spPr bwMode="auto">
            <a:xfrm>
              <a:off x="4342" y="3381"/>
              <a:ext cx="0" cy="96"/>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73" name="Line 7"/>
            <p:cNvSpPr>
              <a:spLocks noChangeShapeType="1"/>
            </p:cNvSpPr>
            <p:nvPr/>
          </p:nvSpPr>
          <p:spPr bwMode="auto">
            <a:xfrm>
              <a:off x="3709" y="3383"/>
              <a:ext cx="0" cy="96"/>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74" name="Text Box 8"/>
            <p:cNvSpPr txBox="1">
              <a:spLocks noChangeArrowheads="1"/>
            </p:cNvSpPr>
            <p:nvPr/>
          </p:nvSpPr>
          <p:spPr bwMode="auto">
            <a:xfrm>
              <a:off x="2783" y="3120"/>
              <a:ext cx="385"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latin typeface="Times New Roman" panose="02020603050405020304" pitchFamily="18" charset="0"/>
                </a:rPr>
                <a:t>O</a:t>
              </a:r>
              <a:endParaRPr kumimoji="1" lang="en-US" altLang="zh-CN" b="1" i="1">
                <a:latin typeface="Times New Roman" panose="02020603050405020304" pitchFamily="18" charset="0"/>
              </a:endParaRPr>
            </a:p>
          </p:txBody>
        </p:sp>
        <p:sp>
          <p:nvSpPr>
            <p:cNvPr id="45075" name="Text Box 9"/>
            <p:cNvSpPr txBox="1">
              <a:spLocks noChangeArrowheads="1"/>
            </p:cNvSpPr>
            <p:nvPr/>
          </p:nvSpPr>
          <p:spPr bwMode="auto">
            <a:xfrm>
              <a:off x="2962" y="2661"/>
              <a:ext cx="384"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latin typeface="Times New Roman" panose="02020603050405020304" pitchFamily="18" charset="0"/>
                </a:rPr>
                <a:t>y</a:t>
              </a:r>
              <a:endParaRPr kumimoji="1" lang="en-US" altLang="zh-CN" b="1" i="1">
                <a:latin typeface="Times New Roman" panose="02020603050405020304" pitchFamily="18" charset="0"/>
              </a:endParaRPr>
            </a:p>
          </p:txBody>
        </p:sp>
        <p:sp>
          <p:nvSpPr>
            <p:cNvPr id="45076" name="Text Box 10"/>
            <p:cNvSpPr txBox="1">
              <a:spLocks noChangeArrowheads="1"/>
            </p:cNvSpPr>
            <p:nvPr/>
          </p:nvSpPr>
          <p:spPr bwMode="auto">
            <a:xfrm>
              <a:off x="5039" y="3285"/>
              <a:ext cx="3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latin typeface="Times New Roman" panose="02020603050405020304" pitchFamily="18" charset="0"/>
                </a:rPr>
                <a:t>x</a:t>
              </a:r>
              <a:endParaRPr kumimoji="1" lang="en-US" altLang="zh-CN" b="1" i="1">
                <a:latin typeface="Times New Roman" panose="02020603050405020304" pitchFamily="18" charset="0"/>
              </a:endParaRPr>
            </a:p>
          </p:txBody>
        </p:sp>
        <p:sp>
          <p:nvSpPr>
            <p:cNvPr id="45077" name="Text Box 11"/>
            <p:cNvSpPr txBox="1">
              <a:spLocks noChangeArrowheads="1"/>
            </p:cNvSpPr>
            <p:nvPr/>
          </p:nvSpPr>
          <p:spPr bwMode="auto">
            <a:xfrm>
              <a:off x="3587" y="3132"/>
              <a:ext cx="3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latin typeface="Times New Roman" panose="02020603050405020304" pitchFamily="18" charset="0"/>
                </a:rPr>
                <a:t>B</a:t>
              </a:r>
              <a:endParaRPr kumimoji="1" lang="en-US" altLang="zh-CN" b="1" i="1">
                <a:latin typeface="Times New Roman" panose="02020603050405020304" pitchFamily="18" charset="0"/>
              </a:endParaRPr>
            </a:p>
          </p:txBody>
        </p:sp>
        <p:sp>
          <p:nvSpPr>
            <p:cNvPr id="45078" name="Text Box 12"/>
            <p:cNvSpPr txBox="1">
              <a:spLocks noChangeArrowheads="1"/>
            </p:cNvSpPr>
            <p:nvPr/>
          </p:nvSpPr>
          <p:spPr bwMode="auto">
            <a:xfrm>
              <a:off x="4201" y="3145"/>
              <a:ext cx="385"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latin typeface="Times New Roman" panose="02020603050405020304" pitchFamily="18" charset="0"/>
                </a:rPr>
                <a:t>A</a:t>
              </a:r>
              <a:endParaRPr kumimoji="1" lang="en-US" altLang="zh-CN" b="1" i="1">
                <a:latin typeface="Times New Roman" panose="02020603050405020304" pitchFamily="18" charset="0"/>
              </a:endParaRPr>
            </a:p>
          </p:txBody>
        </p:sp>
      </p:grpSp>
      <p:sp>
        <p:nvSpPr>
          <p:cNvPr id="32781" name="Text Box 13"/>
          <p:cNvSpPr txBox="1">
            <a:spLocks noChangeArrowheads="1"/>
          </p:cNvSpPr>
          <p:nvPr/>
        </p:nvSpPr>
        <p:spPr bwMode="auto">
          <a:xfrm>
            <a:off x="0" y="1700213"/>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0066"/>
                </a:solidFill>
                <a:latin typeface="宋体" panose="02010600030101010101" pitchFamily="2" charset="-122"/>
              </a:rPr>
              <a:t>解：</a:t>
            </a:r>
            <a:r>
              <a:rPr kumimoji="1" lang="zh-CN" altLang="en-US" b="1">
                <a:latin typeface="宋体" panose="02010600030101010101" pitchFamily="2" charset="-122"/>
              </a:rPr>
              <a:t>设入射波的表达式为</a:t>
            </a:r>
            <a:endParaRPr kumimoji="1" lang="zh-CN" altLang="en-US" b="1">
              <a:latin typeface="宋体" panose="02010600030101010101" pitchFamily="2" charset="-122"/>
            </a:endParaRPr>
          </a:p>
        </p:txBody>
      </p:sp>
      <p:graphicFrame>
        <p:nvGraphicFramePr>
          <p:cNvPr id="32782" name="Object 2"/>
          <p:cNvGraphicFramePr>
            <a:graphicFrameLocks noChangeAspect="1"/>
          </p:cNvGraphicFramePr>
          <p:nvPr/>
        </p:nvGraphicFramePr>
        <p:xfrm>
          <a:off x="611188" y="2157413"/>
          <a:ext cx="3816350" cy="911225"/>
        </p:xfrm>
        <a:graphic>
          <a:graphicData uri="http://schemas.openxmlformats.org/presentationml/2006/ole">
            <mc:AlternateContent xmlns:mc="http://schemas.openxmlformats.org/markup-compatibility/2006">
              <mc:Choice xmlns:v="urn:schemas-microsoft-com:vml" Requires="v">
                <p:oleObj spid="_x0000_s45211" name="Equation" r:id="rId1" imgW="1562100" imgH="393700" progId="Equation.3">
                  <p:embed/>
                </p:oleObj>
              </mc:Choice>
              <mc:Fallback>
                <p:oleObj name="Equation" r:id="rId1" imgW="1562100" imgH="3937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157413"/>
                        <a:ext cx="3816350" cy="911225"/>
                      </a:xfrm>
                      <a:prstGeom prst="rect">
                        <a:avLst/>
                      </a:prstGeom>
                      <a:noFill/>
                      <a:ln w="9525">
                        <a:solidFill>
                          <a:srgbClr val="0000FF"/>
                        </a:solidFill>
                        <a:miter lim="800000"/>
                        <a:headEnd/>
                        <a:tailEnd/>
                      </a:ln>
                      <a:extLst>
                        <a:ext uri="{909E8E84-426E-40DD-AFC4-6F175D3DCCD1}">
                          <a14:hiddenFill xmlns:a14="http://schemas.microsoft.com/office/drawing/2010/main">
                            <a:solidFill>
                              <a:schemeClr val="bg1"/>
                            </a:solidFill>
                          </a14:hiddenFill>
                        </a:ext>
                      </a:extLst>
                    </p:spPr>
                  </p:pic>
                </p:oleObj>
              </mc:Fallback>
            </mc:AlternateContent>
          </a:graphicData>
        </a:graphic>
      </p:graphicFrame>
      <p:sp>
        <p:nvSpPr>
          <p:cNvPr id="32783" name="Text Box 15"/>
          <p:cNvSpPr txBox="1">
            <a:spLocks noChangeArrowheads="1"/>
          </p:cNvSpPr>
          <p:nvPr/>
        </p:nvSpPr>
        <p:spPr bwMode="auto">
          <a:xfrm>
            <a:off x="539750" y="3116263"/>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latin typeface="宋体" panose="02010600030101010101" pitchFamily="2" charset="-122"/>
              </a:rPr>
              <a:t>则反射波的表达式为</a:t>
            </a:r>
            <a:endParaRPr kumimoji="1" lang="zh-CN" altLang="en-US" b="1">
              <a:latin typeface="宋体" panose="02010600030101010101" pitchFamily="2" charset="-122"/>
            </a:endParaRPr>
          </a:p>
        </p:txBody>
      </p:sp>
      <p:graphicFrame>
        <p:nvGraphicFramePr>
          <p:cNvPr id="3" name="Object 9"/>
          <p:cNvGraphicFramePr>
            <a:graphicFrameLocks noChangeAspect="1"/>
          </p:cNvGraphicFramePr>
          <p:nvPr/>
        </p:nvGraphicFramePr>
        <p:xfrm>
          <a:off x="561975" y="3584575"/>
          <a:ext cx="4002088" cy="911225"/>
        </p:xfrm>
        <a:graphic>
          <a:graphicData uri="http://schemas.openxmlformats.org/presentationml/2006/ole">
            <mc:AlternateContent xmlns:mc="http://schemas.openxmlformats.org/markup-compatibility/2006">
              <mc:Choice xmlns:v="urn:schemas-microsoft-com:vml" Requires="v">
                <p:oleObj spid="_x0000_s45212" name="Equation" r:id="rId3" imgW="1637665" imgH="393700" progId="Equation.3">
                  <p:embed/>
                </p:oleObj>
              </mc:Choice>
              <mc:Fallback>
                <p:oleObj name="Equation" r:id="rId3" imgW="1637665" imgH="3937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975" y="3584575"/>
                        <a:ext cx="4002088" cy="911225"/>
                      </a:xfrm>
                      <a:prstGeom prst="rect">
                        <a:avLst/>
                      </a:prstGeom>
                      <a:noFill/>
                      <a:ln w="9525">
                        <a:solidFill>
                          <a:srgbClr val="0000FF"/>
                        </a:solidFill>
                        <a:miter lim="800000"/>
                        <a:headEnd/>
                        <a:tailEnd/>
                      </a:ln>
                      <a:extLst>
                        <a:ext uri="{909E8E84-426E-40DD-AFC4-6F175D3DCCD1}">
                          <a14:hiddenFill xmlns:a14="http://schemas.microsoft.com/office/drawing/2010/main">
                            <a:solidFill>
                              <a:schemeClr val="bg1"/>
                            </a:solidFill>
                          </a14:hiddenFill>
                        </a:ext>
                      </a:extLst>
                    </p:spPr>
                  </p:pic>
                </p:oleObj>
              </mc:Fallback>
            </mc:AlternateContent>
          </a:graphicData>
        </a:graphic>
      </p:graphicFrame>
      <p:grpSp>
        <p:nvGrpSpPr>
          <p:cNvPr id="6" name="组合 30"/>
          <p:cNvGrpSpPr/>
          <p:nvPr/>
        </p:nvGrpSpPr>
        <p:grpSpPr bwMode="auto">
          <a:xfrm>
            <a:off x="476250" y="4581525"/>
            <a:ext cx="6616700" cy="1368425"/>
            <a:chOff x="476928" y="4221088"/>
            <a:chExt cx="6616476" cy="1368152"/>
          </a:xfrm>
        </p:grpSpPr>
        <p:sp>
          <p:nvSpPr>
            <p:cNvPr id="45069" name="Text Box 21"/>
            <p:cNvSpPr txBox="1">
              <a:spLocks noChangeArrowheads="1"/>
            </p:cNvSpPr>
            <p:nvPr/>
          </p:nvSpPr>
          <p:spPr bwMode="auto">
            <a:xfrm>
              <a:off x="476928" y="4221088"/>
              <a:ext cx="66164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dirty="0">
                  <a:latin typeface="宋体" panose="02010600030101010101" pitchFamily="2" charset="-122"/>
                </a:rPr>
                <a:t>反射点</a:t>
              </a:r>
              <a:r>
                <a:rPr kumimoji="1" lang="en-US" altLang="zh-CN" b="1" dirty="0">
                  <a:latin typeface="宋体" panose="02010600030101010101" pitchFamily="2" charset="-122"/>
                </a:rPr>
                <a:t>A(</a:t>
              </a:r>
              <a:r>
                <a:rPr kumimoji="1" lang="en-US" altLang="zh-CN" b="1" i="1" dirty="0">
                  <a:latin typeface="Times New Roman" panose="02020603050405020304" pitchFamily="18" charset="0"/>
                  <a:cs typeface="Times New Roman" panose="02020603050405020304" pitchFamily="18" charset="0"/>
                </a:rPr>
                <a:t>x</a:t>
              </a:r>
              <a:r>
                <a:rPr kumimoji="1" lang="en-US" altLang="zh-CN" b="1" dirty="0">
                  <a:latin typeface="宋体" panose="02010600030101010101" pitchFamily="2" charset="-122"/>
                </a:rPr>
                <a:t>=7</a:t>
              </a:r>
              <a:r>
                <a:rPr kumimoji="1" lang="en-US" altLang="zh-CN" b="1" i="1" dirty="0">
                  <a:latin typeface="宋体" panose="02010600030101010101" pitchFamily="2" charset="-122"/>
                  <a:sym typeface="Symbol" panose="05050102010706020507" pitchFamily="18" charset="2"/>
                </a:rPr>
                <a:t></a:t>
              </a:r>
              <a:r>
                <a:rPr kumimoji="1" lang="en-US" altLang="zh-CN" b="1" dirty="0">
                  <a:latin typeface="宋体" panose="02010600030101010101" pitchFamily="2" charset="-122"/>
                  <a:sym typeface="Symbol" panose="05050102010706020507" pitchFamily="18" charset="2"/>
                </a:rPr>
                <a:t>/8)</a:t>
              </a:r>
              <a:r>
                <a:rPr kumimoji="1" lang="zh-CN" altLang="en-US" b="1" dirty="0">
                  <a:latin typeface="宋体" panose="02010600030101010101" pitchFamily="2" charset="-122"/>
                  <a:sym typeface="Symbol" panose="05050102010706020507" pitchFamily="18" charset="2"/>
                </a:rPr>
                <a:t>，入射波的相位为</a:t>
              </a:r>
              <a:r>
                <a:rPr kumimoji="1" lang="en-US" altLang="zh-CN" b="1" dirty="0">
                  <a:latin typeface="宋体" panose="02010600030101010101" pitchFamily="2" charset="-122"/>
                </a:rPr>
                <a:t>:</a:t>
              </a:r>
              <a:endParaRPr kumimoji="1" lang="en-US" altLang="zh-CN" b="1" dirty="0">
                <a:latin typeface="宋体" panose="02010600030101010101" pitchFamily="2" charset="-122"/>
              </a:endParaRPr>
            </a:p>
          </p:txBody>
        </p:sp>
        <p:graphicFrame>
          <p:nvGraphicFramePr>
            <p:cNvPr id="2" name="Object 10"/>
            <p:cNvGraphicFramePr>
              <a:graphicFrameLocks noChangeAspect="1"/>
            </p:cNvGraphicFramePr>
            <p:nvPr/>
          </p:nvGraphicFramePr>
          <p:xfrm>
            <a:off x="611560" y="4678015"/>
            <a:ext cx="3475038" cy="911225"/>
          </p:xfrm>
          <a:graphic>
            <a:graphicData uri="http://schemas.openxmlformats.org/presentationml/2006/ole">
              <mc:AlternateContent xmlns:mc="http://schemas.openxmlformats.org/markup-compatibility/2006">
                <mc:Choice xmlns:v="urn:schemas-microsoft-com:vml" Requires="v">
                  <p:oleObj spid="_x0000_s45213" name="Equation" r:id="rId5" imgW="1422400" imgH="393700" progId="Equation.3">
                    <p:embed/>
                  </p:oleObj>
                </mc:Choice>
                <mc:Fallback>
                  <p:oleObj name="Equation" r:id="rId5" imgW="1422400" imgH="3937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560" y="4678015"/>
                          <a:ext cx="3475038" cy="91122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pSp>
      <p:grpSp>
        <p:nvGrpSpPr>
          <p:cNvPr id="7" name="组合 29"/>
          <p:cNvGrpSpPr/>
          <p:nvPr/>
        </p:nvGrpSpPr>
        <p:grpSpPr bwMode="auto">
          <a:xfrm>
            <a:off x="539750" y="5830888"/>
            <a:ext cx="6616700" cy="911225"/>
            <a:chOff x="539552" y="5397500"/>
            <a:chExt cx="6616476" cy="911225"/>
          </a:xfrm>
        </p:grpSpPr>
        <p:sp>
          <p:nvSpPr>
            <p:cNvPr id="45068" name="Text Box 21"/>
            <p:cNvSpPr txBox="1">
              <a:spLocks noChangeArrowheads="1"/>
            </p:cNvSpPr>
            <p:nvPr/>
          </p:nvSpPr>
          <p:spPr bwMode="auto">
            <a:xfrm>
              <a:off x="539552" y="5631631"/>
              <a:ext cx="66164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latin typeface="宋体" panose="02010600030101010101" pitchFamily="2" charset="-122"/>
                  <a:sym typeface="Symbol" panose="05050102010706020507" pitchFamily="18" charset="2"/>
                </a:rPr>
                <a:t>反射波相位</a:t>
              </a:r>
              <a:r>
                <a:rPr kumimoji="1" lang="en-US" altLang="zh-CN" b="1">
                  <a:latin typeface="宋体" panose="02010600030101010101" pitchFamily="2" charset="-122"/>
                </a:rPr>
                <a:t>:</a:t>
              </a:r>
              <a:endParaRPr kumimoji="1" lang="en-US" altLang="zh-CN" b="1">
                <a:latin typeface="宋体" panose="02010600030101010101" pitchFamily="2" charset="-122"/>
              </a:endParaRPr>
            </a:p>
          </p:txBody>
        </p:sp>
        <p:graphicFrame>
          <p:nvGraphicFramePr>
            <p:cNvPr id="4" name="Object 11"/>
            <p:cNvGraphicFramePr>
              <a:graphicFrameLocks noChangeAspect="1"/>
            </p:cNvGraphicFramePr>
            <p:nvPr/>
          </p:nvGraphicFramePr>
          <p:xfrm>
            <a:off x="2549525" y="5397500"/>
            <a:ext cx="3598863" cy="911225"/>
          </p:xfrm>
          <a:graphic>
            <a:graphicData uri="http://schemas.openxmlformats.org/presentationml/2006/ole">
              <mc:AlternateContent xmlns:mc="http://schemas.openxmlformats.org/markup-compatibility/2006">
                <mc:Choice xmlns:v="urn:schemas-microsoft-com:vml" Requires="v">
                  <p:oleObj spid="_x0000_s45214" name="Equation" r:id="rId7" imgW="1473200" imgH="393700" progId="Equation.3">
                    <p:embed/>
                  </p:oleObj>
                </mc:Choice>
                <mc:Fallback>
                  <p:oleObj name="Equation" r:id="rId7" imgW="1473200" imgH="3937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49525" y="5397500"/>
                          <a:ext cx="3598863" cy="91122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781"/>
                                        </p:tgtEl>
                                        <p:attrNameLst>
                                          <p:attrName>style.visibility</p:attrName>
                                        </p:attrNameLst>
                                      </p:cBhvr>
                                      <p:to>
                                        <p:strVal val="visible"/>
                                      </p:to>
                                    </p:set>
                                    <p:anim calcmode="lin" valueType="num">
                                      <p:cBhvr additive="base">
                                        <p:cTn id="7" dur="500" fill="hold"/>
                                        <p:tgtEl>
                                          <p:spTgt spid="32781"/>
                                        </p:tgtEl>
                                        <p:attrNameLst>
                                          <p:attrName>ppt_x</p:attrName>
                                        </p:attrNameLst>
                                      </p:cBhvr>
                                      <p:tavLst>
                                        <p:tav tm="0">
                                          <p:val>
                                            <p:strVal val="0-#ppt_w/2"/>
                                          </p:val>
                                        </p:tav>
                                        <p:tav tm="100000">
                                          <p:val>
                                            <p:strVal val="#ppt_x"/>
                                          </p:val>
                                        </p:tav>
                                      </p:tavLst>
                                    </p:anim>
                                    <p:anim calcmode="lin" valueType="num">
                                      <p:cBhvr additive="base">
                                        <p:cTn id="8" dur="500" fill="hold"/>
                                        <p:tgtEl>
                                          <p:spTgt spid="3278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2782"/>
                                        </p:tgtEl>
                                        <p:attrNameLst>
                                          <p:attrName>style.visibility</p:attrName>
                                        </p:attrNameLst>
                                      </p:cBhvr>
                                      <p:to>
                                        <p:strVal val="visible"/>
                                      </p:to>
                                    </p:set>
                                    <p:anim calcmode="lin" valueType="num">
                                      <p:cBhvr additive="base">
                                        <p:cTn id="13" dur="500" fill="hold"/>
                                        <p:tgtEl>
                                          <p:spTgt spid="32782"/>
                                        </p:tgtEl>
                                        <p:attrNameLst>
                                          <p:attrName>ppt_x</p:attrName>
                                        </p:attrNameLst>
                                      </p:cBhvr>
                                      <p:tavLst>
                                        <p:tav tm="0">
                                          <p:val>
                                            <p:strVal val="0-#ppt_w/2"/>
                                          </p:val>
                                        </p:tav>
                                        <p:tav tm="100000">
                                          <p:val>
                                            <p:strVal val="#ppt_x"/>
                                          </p:val>
                                        </p:tav>
                                      </p:tavLst>
                                    </p:anim>
                                    <p:anim calcmode="lin" valueType="num">
                                      <p:cBhvr additive="base">
                                        <p:cTn id="14" dur="500" fill="hold"/>
                                        <p:tgtEl>
                                          <p:spTgt spid="3278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783"/>
                                        </p:tgtEl>
                                        <p:attrNameLst>
                                          <p:attrName>style.visibility</p:attrName>
                                        </p:attrNameLst>
                                      </p:cBhvr>
                                      <p:to>
                                        <p:strVal val="visible"/>
                                      </p:to>
                                    </p:set>
                                    <p:anim calcmode="lin" valueType="num">
                                      <p:cBhvr additive="base">
                                        <p:cTn id="19" dur="500" fill="hold"/>
                                        <p:tgtEl>
                                          <p:spTgt spid="32783"/>
                                        </p:tgtEl>
                                        <p:attrNameLst>
                                          <p:attrName>ppt_x</p:attrName>
                                        </p:attrNameLst>
                                      </p:cBhvr>
                                      <p:tavLst>
                                        <p:tav tm="0">
                                          <p:val>
                                            <p:strVal val="0-#ppt_w/2"/>
                                          </p:val>
                                        </p:tav>
                                        <p:tav tm="100000">
                                          <p:val>
                                            <p:strVal val="#ppt_x"/>
                                          </p:val>
                                        </p:tav>
                                      </p:tavLst>
                                    </p:anim>
                                    <p:anim calcmode="lin" valueType="num">
                                      <p:cBhvr additive="base">
                                        <p:cTn id="20" dur="500" fill="hold"/>
                                        <p:tgtEl>
                                          <p:spTgt spid="3278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1" grpId="0" autoUpdateAnimBg="0"/>
      <p:bldP spid="32783"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90" name="Text Box 15"/>
          <p:cNvSpPr txBox="1">
            <a:spLocks noChangeArrowheads="1"/>
          </p:cNvSpPr>
          <p:nvPr/>
        </p:nvSpPr>
        <p:spPr bwMode="auto">
          <a:xfrm>
            <a:off x="539750" y="333375"/>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latin typeface="宋体" panose="02010600030101010101" pitchFamily="2" charset="-122"/>
              </a:rPr>
              <a:t>自由端反射点</a:t>
            </a:r>
            <a:endParaRPr kumimoji="1" lang="zh-CN" altLang="en-US" b="1">
              <a:latin typeface="宋体" panose="02010600030101010101" pitchFamily="2" charset="-122"/>
            </a:endParaRPr>
          </a:p>
        </p:txBody>
      </p:sp>
      <p:graphicFrame>
        <p:nvGraphicFramePr>
          <p:cNvPr id="46082" name="Object 2"/>
          <p:cNvGraphicFramePr>
            <a:graphicFrameLocks noChangeAspect="1"/>
          </p:cNvGraphicFramePr>
          <p:nvPr/>
        </p:nvGraphicFramePr>
        <p:xfrm>
          <a:off x="2555875" y="303213"/>
          <a:ext cx="1736725" cy="504825"/>
        </p:xfrm>
        <a:graphic>
          <a:graphicData uri="http://schemas.openxmlformats.org/presentationml/2006/ole">
            <mc:AlternateContent xmlns:mc="http://schemas.openxmlformats.org/markup-compatibility/2006">
              <mc:Choice xmlns:v="urn:schemas-microsoft-com:vml" Requires="v">
                <p:oleObj spid="_x0000_s46358" name="Equation" r:id="rId1" imgW="787400" imgH="228600" progId="Equation.3">
                  <p:embed/>
                </p:oleObj>
              </mc:Choice>
              <mc:Fallback>
                <p:oleObj name="Equation" r:id="rId1" imgW="787400" imgH="2286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303213"/>
                        <a:ext cx="173672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3" name="Object 3"/>
          <p:cNvGraphicFramePr>
            <a:graphicFrameLocks noChangeAspect="1"/>
          </p:cNvGraphicFramePr>
          <p:nvPr/>
        </p:nvGraphicFramePr>
        <p:xfrm>
          <a:off x="755650" y="836613"/>
          <a:ext cx="2897188" cy="647700"/>
        </p:xfrm>
        <a:graphic>
          <a:graphicData uri="http://schemas.openxmlformats.org/presentationml/2006/ole">
            <mc:AlternateContent xmlns:mc="http://schemas.openxmlformats.org/markup-compatibility/2006">
              <mc:Choice xmlns:v="urn:schemas-microsoft-com:vml" Requires="v">
                <p:oleObj spid="_x0000_s46359" name="Equation" r:id="rId3" imgW="964565" imgH="215900" progId="Equation.3">
                  <p:embed/>
                </p:oleObj>
              </mc:Choice>
              <mc:Fallback>
                <p:oleObj name="Equation" r:id="rId3" imgW="964565" imgH="2159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836613"/>
                        <a:ext cx="2897188"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1" name="Text Box 15"/>
          <p:cNvSpPr txBox="1">
            <a:spLocks noChangeArrowheads="1"/>
          </p:cNvSpPr>
          <p:nvPr/>
        </p:nvSpPr>
        <p:spPr bwMode="auto">
          <a:xfrm>
            <a:off x="539750" y="1603375"/>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latin typeface="宋体" panose="02010600030101010101" pitchFamily="2" charset="-122"/>
              </a:rPr>
              <a:t>反射波表达式：</a:t>
            </a:r>
            <a:endParaRPr kumimoji="1" lang="zh-CN" altLang="en-US" b="1">
              <a:latin typeface="宋体" panose="02010600030101010101" pitchFamily="2" charset="-122"/>
            </a:endParaRPr>
          </a:p>
        </p:txBody>
      </p:sp>
      <p:graphicFrame>
        <p:nvGraphicFramePr>
          <p:cNvPr id="32782" name="Object 4"/>
          <p:cNvGraphicFramePr>
            <a:graphicFrameLocks noChangeAspect="1"/>
          </p:cNvGraphicFramePr>
          <p:nvPr/>
        </p:nvGraphicFramePr>
        <p:xfrm>
          <a:off x="363538" y="2060575"/>
          <a:ext cx="4497387" cy="911225"/>
        </p:xfrm>
        <a:graphic>
          <a:graphicData uri="http://schemas.openxmlformats.org/presentationml/2006/ole">
            <mc:AlternateContent xmlns:mc="http://schemas.openxmlformats.org/markup-compatibility/2006">
              <mc:Choice xmlns:v="urn:schemas-microsoft-com:vml" Requires="v">
                <p:oleObj spid="_x0000_s46360" name="Equation" r:id="rId5" imgW="1841500" imgH="393700" progId="Equation.3">
                  <p:embed/>
                </p:oleObj>
              </mc:Choice>
              <mc:Fallback>
                <p:oleObj name="Equation" r:id="rId5" imgW="1841500" imgH="3937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538" y="2060575"/>
                        <a:ext cx="4497387" cy="91122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sp>
        <p:nvSpPr>
          <p:cNvPr id="8" name="Text Box 17"/>
          <p:cNvSpPr txBox="1">
            <a:spLocks noChangeArrowheads="1"/>
          </p:cNvSpPr>
          <p:nvPr/>
        </p:nvSpPr>
        <p:spPr bwMode="auto">
          <a:xfrm>
            <a:off x="611188" y="2924175"/>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latin typeface="宋体" panose="02010600030101010101" pitchFamily="2" charset="-122"/>
              </a:rPr>
              <a:t>驻波的表达式为              </a:t>
            </a:r>
            <a:endParaRPr kumimoji="1" lang="zh-CN" altLang="en-US" b="1">
              <a:latin typeface="宋体" panose="02010600030101010101" pitchFamily="2" charset="-122"/>
            </a:endParaRPr>
          </a:p>
        </p:txBody>
      </p:sp>
      <p:graphicFrame>
        <p:nvGraphicFramePr>
          <p:cNvPr id="7" name="Object 2"/>
          <p:cNvGraphicFramePr>
            <a:graphicFrameLocks noChangeAspect="1"/>
          </p:cNvGraphicFramePr>
          <p:nvPr/>
        </p:nvGraphicFramePr>
        <p:xfrm>
          <a:off x="5219700" y="2060575"/>
          <a:ext cx="3816350" cy="911225"/>
        </p:xfrm>
        <a:graphic>
          <a:graphicData uri="http://schemas.openxmlformats.org/presentationml/2006/ole">
            <mc:AlternateContent xmlns:mc="http://schemas.openxmlformats.org/markup-compatibility/2006">
              <mc:Choice xmlns:v="urn:schemas-microsoft-com:vml" Requires="v">
                <p:oleObj spid="_x0000_s46361" name="Equation" r:id="rId7" imgW="1562100" imgH="393700" progId="Equation.3">
                  <p:embed/>
                </p:oleObj>
              </mc:Choice>
              <mc:Fallback>
                <p:oleObj name="Equation" r:id="rId7" imgW="1562100" imgH="39370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19700" y="2060575"/>
                        <a:ext cx="3816350" cy="91122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aphicFrame>
        <p:nvGraphicFramePr>
          <p:cNvPr id="9" name="Object 7"/>
          <p:cNvGraphicFramePr>
            <a:graphicFrameLocks noChangeAspect="1"/>
          </p:cNvGraphicFramePr>
          <p:nvPr/>
        </p:nvGraphicFramePr>
        <p:xfrm>
          <a:off x="395288" y="3357563"/>
          <a:ext cx="7038975" cy="911225"/>
        </p:xfrm>
        <a:graphic>
          <a:graphicData uri="http://schemas.openxmlformats.org/presentationml/2006/ole">
            <mc:AlternateContent xmlns:mc="http://schemas.openxmlformats.org/markup-compatibility/2006">
              <mc:Choice xmlns:v="urn:schemas-microsoft-com:vml" Requires="v">
                <p:oleObj spid="_x0000_s46362" name="Equation" r:id="rId9" imgW="2882900" imgH="393700" progId="Equation.3">
                  <p:embed/>
                </p:oleObj>
              </mc:Choice>
              <mc:Fallback>
                <p:oleObj name="Equation" r:id="rId9" imgW="2882900" imgH="3937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3357563"/>
                        <a:ext cx="7038975" cy="91122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aphicFrame>
        <p:nvGraphicFramePr>
          <p:cNvPr id="12" name="Object 6"/>
          <p:cNvGraphicFramePr>
            <a:graphicFrameLocks noChangeAspect="1"/>
          </p:cNvGraphicFramePr>
          <p:nvPr/>
        </p:nvGraphicFramePr>
        <p:xfrm>
          <a:off x="179388" y="4292600"/>
          <a:ext cx="4968875" cy="792163"/>
        </p:xfrm>
        <a:graphic>
          <a:graphicData uri="http://schemas.openxmlformats.org/presentationml/2006/ole">
            <mc:AlternateContent xmlns:mc="http://schemas.openxmlformats.org/markup-compatibility/2006">
              <mc:Choice xmlns:v="urn:schemas-microsoft-com:vml" Requires="v">
                <p:oleObj spid="_x0000_s46363" name="公式" r:id="rId11" imgW="2895600" imgH="393700" progId="Equation.3">
                  <p:embed/>
                </p:oleObj>
              </mc:Choice>
              <mc:Fallback>
                <p:oleObj name="公式" r:id="rId11" imgW="2895600" imgH="3937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9388" y="4292600"/>
                        <a:ext cx="4968875" cy="792163"/>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sp>
        <p:nvSpPr>
          <p:cNvPr id="13" name="Text Box 21"/>
          <p:cNvSpPr txBox="1">
            <a:spLocks noChangeArrowheads="1"/>
          </p:cNvSpPr>
          <p:nvPr/>
        </p:nvSpPr>
        <p:spPr bwMode="auto">
          <a:xfrm>
            <a:off x="684213" y="5084763"/>
            <a:ext cx="390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dirty="0">
                <a:latin typeface="宋体" panose="02010600030101010101" pitchFamily="2" charset="-122"/>
              </a:rPr>
              <a:t>B</a:t>
            </a:r>
            <a:r>
              <a:rPr kumimoji="1" lang="zh-CN" altLang="en-US" b="1" dirty="0">
                <a:latin typeface="宋体" panose="02010600030101010101" pitchFamily="2" charset="-122"/>
              </a:rPr>
              <a:t>点</a:t>
            </a:r>
            <a:r>
              <a:rPr kumimoji="1" lang="en-US" altLang="zh-CN" b="1" dirty="0">
                <a:latin typeface="宋体" panose="02010600030101010101" pitchFamily="2" charset="-122"/>
              </a:rPr>
              <a:t>(</a:t>
            </a:r>
            <a:r>
              <a:rPr kumimoji="1" lang="en-US" altLang="zh-CN" b="1" i="1" dirty="0">
                <a:latin typeface="Times New Roman" panose="02020603050405020304" pitchFamily="18" charset="0"/>
                <a:cs typeface="Times New Roman" panose="02020603050405020304" pitchFamily="18" charset="0"/>
              </a:rPr>
              <a:t>x</a:t>
            </a:r>
            <a:r>
              <a:rPr kumimoji="1" lang="en-US" altLang="zh-CN" b="1" dirty="0">
                <a:latin typeface="宋体" panose="02010600030101010101" pitchFamily="2" charset="-122"/>
              </a:rPr>
              <a:t>=</a:t>
            </a:r>
            <a:r>
              <a:rPr kumimoji="1" lang="en-US" altLang="zh-CN" b="1" i="1" dirty="0">
                <a:latin typeface="宋体" panose="02010600030101010101" pitchFamily="2" charset="-122"/>
                <a:sym typeface="Symbol" panose="05050102010706020507" pitchFamily="18" charset="2"/>
              </a:rPr>
              <a:t></a:t>
            </a:r>
            <a:r>
              <a:rPr kumimoji="1" lang="en-US" altLang="zh-CN" b="1" dirty="0">
                <a:latin typeface="宋体" panose="02010600030101010101" pitchFamily="2" charset="-122"/>
                <a:sym typeface="Symbol" panose="05050102010706020507" pitchFamily="18" charset="2"/>
              </a:rPr>
              <a:t>/2)</a:t>
            </a:r>
            <a:r>
              <a:rPr kumimoji="1" lang="zh-CN" altLang="en-US" b="1" dirty="0">
                <a:latin typeface="宋体" panose="02010600030101010101" pitchFamily="2" charset="-122"/>
              </a:rPr>
              <a:t>的振动方程为</a:t>
            </a:r>
            <a:r>
              <a:rPr kumimoji="1" lang="en-US" altLang="zh-CN" b="1" dirty="0">
                <a:latin typeface="宋体" panose="02010600030101010101" pitchFamily="2" charset="-122"/>
              </a:rPr>
              <a:t>:</a:t>
            </a:r>
            <a:endParaRPr kumimoji="1" lang="en-US" altLang="zh-CN" b="1" dirty="0">
              <a:latin typeface="宋体" panose="02010600030101010101" pitchFamily="2" charset="-122"/>
            </a:endParaRPr>
          </a:p>
        </p:txBody>
      </p:sp>
      <p:graphicFrame>
        <p:nvGraphicFramePr>
          <p:cNvPr id="14" name="Object 7"/>
          <p:cNvGraphicFramePr>
            <a:graphicFrameLocks noChangeAspect="1"/>
          </p:cNvGraphicFramePr>
          <p:nvPr/>
        </p:nvGraphicFramePr>
        <p:xfrm>
          <a:off x="468313" y="5805488"/>
          <a:ext cx="6664325" cy="763587"/>
        </p:xfrm>
        <a:graphic>
          <a:graphicData uri="http://schemas.openxmlformats.org/presentationml/2006/ole">
            <mc:AlternateContent xmlns:mc="http://schemas.openxmlformats.org/markup-compatibility/2006">
              <mc:Choice xmlns:v="urn:schemas-microsoft-com:vml" Requires="v">
                <p:oleObj spid="_x0000_s46364" name="Equation" r:id="rId13" imgW="3073400" imgH="393700" progId="Equation.3">
                  <p:embed/>
                </p:oleObj>
              </mc:Choice>
              <mc:Fallback>
                <p:oleObj name="Equation" r:id="rId13" imgW="3073400" imgH="3937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8313" y="5805488"/>
                        <a:ext cx="6664325" cy="763587"/>
                      </a:xfrm>
                      <a:prstGeom prst="rect">
                        <a:avLst/>
                      </a:prstGeom>
                      <a:noFill/>
                      <a:ln w="25400">
                        <a:solidFill>
                          <a:srgbClr val="0000FF"/>
                        </a:solidFill>
                        <a:miter lim="800000"/>
                        <a:headEnd/>
                        <a:tailEnd/>
                      </a:ln>
                      <a:extLst>
                        <a:ext uri="{909E8E84-426E-40DD-AFC4-6F175D3DCCD1}">
                          <a14:hiddenFill xmlns:a14="http://schemas.microsoft.com/office/drawing/2010/main">
                            <a:solidFill>
                              <a:schemeClr val="bg1"/>
                            </a:solidFill>
                          </a14:hiddenFill>
                        </a:ext>
                      </a:extLst>
                    </p:spPr>
                  </p:pic>
                </p:oleObj>
              </mc:Fallback>
            </mc:AlternateContent>
          </a:graphicData>
        </a:graphic>
      </p:graphicFrame>
      <p:graphicFrame>
        <p:nvGraphicFramePr>
          <p:cNvPr id="15" name="Object 8"/>
          <p:cNvGraphicFramePr>
            <a:graphicFrameLocks noChangeAspect="1"/>
          </p:cNvGraphicFramePr>
          <p:nvPr/>
        </p:nvGraphicFramePr>
        <p:xfrm>
          <a:off x="5219700" y="4365625"/>
          <a:ext cx="3719513" cy="719138"/>
        </p:xfrm>
        <a:graphic>
          <a:graphicData uri="http://schemas.openxmlformats.org/presentationml/2006/ole">
            <mc:AlternateContent xmlns:mc="http://schemas.openxmlformats.org/markup-compatibility/2006">
              <mc:Choice xmlns:v="urn:schemas-microsoft-com:vml" Requires="v">
                <p:oleObj spid="_x0000_s46365" name="公式" r:id="rId15" imgW="1841500" imgH="393700" progId="Equation.3">
                  <p:embed/>
                </p:oleObj>
              </mc:Choice>
              <mc:Fallback>
                <p:oleObj name="公式" r:id="rId15" imgW="1841500" imgH="3937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19700" y="4365625"/>
                        <a:ext cx="3719513" cy="719138"/>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2782"/>
                                        </p:tgtEl>
                                        <p:attrNameLst>
                                          <p:attrName>style.visibility</p:attrName>
                                        </p:attrNameLst>
                                      </p:cBhvr>
                                      <p:to>
                                        <p:strVal val="visible"/>
                                      </p:to>
                                    </p:set>
                                    <p:anim calcmode="lin" valueType="num">
                                      <p:cBhvr additive="base">
                                        <p:cTn id="7" dur="500" fill="hold"/>
                                        <p:tgtEl>
                                          <p:spTgt spid="32782"/>
                                        </p:tgtEl>
                                        <p:attrNameLst>
                                          <p:attrName>ppt_x</p:attrName>
                                        </p:attrNameLst>
                                      </p:cBhvr>
                                      <p:tavLst>
                                        <p:tav tm="0">
                                          <p:val>
                                            <p:strVal val="0-#ppt_w/2"/>
                                          </p:val>
                                        </p:tav>
                                        <p:tav tm="100000">
                                          <p:val>
                                            <p:strVal val="#ppt_x"/>
                                          </p:val>
                                        </p:tav>
                                      </p:tavLst>
                                    </p:anim>
                                    <p:anim calcmode="lin" valueType="num">
                                      <p:cBhvr additive="base">
                                        <p:cTn id="8" dur="500" fill="hold"/>
                                        <p:tgtEl>
                                          <p:spTgt spid="3278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0-#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0-#ppt_w/2"/>
                                          </p:val>
                                        </p:tav>
                                        <p:tav tm="100000">
                                          <p:val>
                                            <p:strVal val="#ppt_x"/>
                                          </p:val>
                                        </p:tav>
                                      </p:tavLst>
                                    </p:anim>
                                    <p:anim calcmode="lin" valueType="num">
                                      <p:cBhvr additive="base">
                                        <p:cTn id="3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0-#ppt_w/2"/>
                                          </p:val>
                                        </p:tav>
                                        <p:tav tm="100000">
                                          <p:val>
                                            <p:strVal val="#ppt_x"/>
                                          </p:val>
                                        </p:tav>
                                      </p:tavLst>
                                    </p:anim>
                                    <p:anim calcmode="lin" valueType="num">
                                      <p:cBhvr additive="base">
                                        <p:cTn id="4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0-#ppt_w/2"/>
                                          </p:val>
                                        </p:tav>
                                        <p:tav tm="100000">
                                          <p:val>
                                            <p:strVal val="#ppt_x"/>
                                          </p:val>
                                        </p:tav>
                                      </p:tavLst>
                                    </p:anim>
                                    <p:anim calcmode="lin" valueType="num">
                                      <p:cBhvr additive="base">
                                        <p:cTn id="50"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3" grpId="0" autoUpdateAnimBg="0"/>
    </p:bldLst>
  </p:timing>
</p:sld>
</file>

<file path=ppt/tags/tag1.xml><?xml version="1.0" encoding="utf-8"?>
<p:tagLst xmlns:p="http://schemas.openxmlformats.org/presentationml/2006/main">
  <p:tag name="commondata" val="eyJoZGlkIjoiYjVkZTY4OWU3ZGFmNjg5NTU0YjIzNTljMDQzMDI3ZjQifQ=="/>
</p:tagLst>
</file>

<file path=ppt/theme/theme1.xml><?xml version="1.0" encoding="utf-8"?>
<a:theme xmlns:a="http://schemas.openxmlformats.org/drawingml/2006/main" name="1_默认设计模板">
  <a:themeElements>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25400" cap="flat" cmpd="sng" algn="ctr">
          <a:solidFill>
            <a:schemeClr val="tx1"/>
          </a:solidFill>
          <a:prstDash val="solid"/>
          <a:round/>
          <a:headEnd type="none" w="med" len="med"/>
          <a:tailEnd type="none" w="med" len="lg"/>
        </a:ln>
      </a:spPr>
      <a:bodyPr vert="horz" wrap="square" lIns="91440" tIns="45720" rIns="91440" bIns="45720" numCol="1" rtlCol="0"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5001</Words>
  <Application>WPS 演示</Application>
  <PresentationFormat>全屏显示(4:3)</PresentationFormat>
  <Paragraphs>734</Paragraphs>
  <Slides>51</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239</vt:i4>
      </vt:variant>
      <vt:variant>
        <vt:lpstr>幻灯片标题</vt:lpstr>
      </vt:variant>
      <vt:variant>
        <vt:i4>51</vt:i4>
      </vt:variant>
    </vt:vector>
  </HeadingPairs>
  <TitlesOfParts>
    <vt:vector size="305" baseType="lpstr">
      <vt:lpstr>Arial</vt:lpstr>
      <vt:lpstr>宋体</vt:lpstr>
      <vt:lpstr>Wingdings</vt:lpstr>
      <vt:lpstr>Times New Roman</vt:lpstr>
      <vt:lpstr>华文新魏</vt:lpstr>
      <vt:lpstr>Symbol</vt:lpstr>
      <vt:lpstr>黑体</vt:lpstr>
      <vt:lpstr>楷体_GB2312</vt:lpstr>
      <vt:lpstr>新宋体</vt:lpstr>
      <vt:lpstr>微软雅黑</vt:lpstr>
      <vt:lpstr>Arial Unicode MS</vt:lpstr>
      <vt:lpstr>华文中宋</vt:lpstr>
      <vt:lpstr>隶书</vt:lpstr>
      <vt:lpstr>Cambria Math</vt:lpstr>
      <vt:lpstr>1_默认设计模板</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Equation.DSMT4</vt:lpstr>
      <vt:lpstr>Equation.3</vt:lpstr>
      <vt:lpstr>Equation.DSMT4</vt:lpstr>
      <vt:lpstr>Equation.3</vt:lpstr>
      <vt:lpstr>Equation.3</vt:lpstr>
      <vt:lpstr>Equation.3</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Visio.Drawing.11</vt:lpstr>
      <vt:lpstr>Equation.DSMT4</vt:lpstr>
      <vt:lpstr>Equation.DSMT4</vt:lpstr>
      <vt:lpstr>Equation.DSMT4</vt:lpstr>
      <vt:lpstr>Equation.3</vt:lpstr>
      <vt:lpstr>Equation.3</vt:lpstr>
      <vt:lpstr>Equation.DSMT4</vt:lpstr>
      <vt:lpstr>Equation.3</vt:lpstr>
      <vt:lpstr>Equation.DSMT4</vt:lpstr>
      <vt:lpstr>Equation.3</vt:lpstr>
      <vt:lpstr>Equation.DSMT4</vt:lpstr>
      <vt:lpstr>Equation.DSMT4</vt:lpstr>
      <vt:lpstr>Equation.3</vt:lpstr>
      <vt:lpstr>Equation.3</vt:lpstr>
      <vt:lpstr>Equation.DSMT4</vt:lpstr>
      <vt:lpstr>Equation.DSMT4</vt:lpstr>
      <vt:lpstr>Equation.3</vt:lpstr>
      <vt:lpstr>Equation.DSMT4</vt:lpstr>
      <vt:lpstr>Equation.3</vt:lpstr>
      <vt:lpstr>Equation.3</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Equation.DSMT4</vt:lpstr>
      <vt:lpstr>Equation.DSMT4</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振动和波动 习题课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（3）从计时开始，第一次到达x = 5.0 cm所需时间； （4）连续两次到达x = 5.0 cm处的时间间隔。</vt:lpstr>
      <vt:lpstr>PowerPoint 演示文稿</vt:lpstr>
      <vt:lpstr>PowerPoint 演示文稿</vt:lpstr>
      <vt:lpstr>PowerPoint 演示文稿</vt:lpstr>
      <vt:lpstr>例3  两轮的轴相互平行相距为2d，两轮的转速相同而转向相反。现将质量为m的一匀质木板放在两轮上，木板与两轮之间的摩擦系数均为。若木板的质心偏离对称位置后，试证木板将作简谐振动，并求其振动周期.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波动与光学</dc:title>
  <dc:creator>Billgates</dc:creator>
  <cp:lastModifiedBy>诺维茨基</cp:lastModifiedBy>
  <cp:revision>793</cp:revision>
  <dcterms:created xsi:type="dcterms:W3CDTF">2004-10-12T09:03:00Z</dcterms:created>
  <dcterms:modified xsi:type="dcterms:W3CDTF">2024-12-25T11:58:56Z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92EB2294A36F4C3D9914BDA0C26E5F4E_12</vt:lpwstr>
  </property>
  <property fmtid="{D5CDD505-2E9C-101B-9397-08002B2CF9AE}" pid="3" name="KSOProductBuildVer">
    <vt:lpwstr>2052-12.1.0.19302</vt:lpwstr>
  </property>
</Properties>
</file>