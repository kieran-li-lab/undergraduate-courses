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262" r:id="rId3"/>
    <p:sldId id="261" r:id="rId4"/>
    <p:sldId id="258" r:id="rId5"/>
    <p:sldId id="260" r:id="rId6"/>
    <p:sldId id="263" r:id="rId7"/>
    <p:sldId id="265" r:id="rId8"/>
    <p:sldId id="266" r:id="rId9"/>
    <p:sldId id="267" r:id="rId10"/>
    <p:sldId id="331" r:id="rId11"/>
    <p:sldId id="426" r:id="rId12"/>
    <p:sldId id="275" r:id="rId13"/>
    <p:sldId id="396" r:id="rId14"/>
    <p:sldId id="397" r:id="rId15"/>
    <p:sldId id="419" r:id="rId16"/>
    <p:sldId id="420" r:id="rId17"/>
    <p:sldId id="334" r:id="rId18"/>
    <p:sldId id="335" r:id="rId19"/>
    <p:sldId id="336" r:id="rId20"/>
    <p:sldId id="337" r:id="rId21"/>
    <p:sldId id="339" r:id="rId22"/>
    <p:sldId id="340" r:id="rId23"/>
    <p:sldId id="341" r:id="rId24"/>
    <p:sldId id="342" r:id="rId25"/>
    <p:sldId id="411" r:id="rId26"/>
    <p:sldId id="412" r:id="rId27"/>
    <p:sldId id="413" r:id="rId28"/>
    <p:sldId id="414" r:id="rId29"/>
    <p:sldId id="415" r:id="rId30"/>
    <p:sldId id="416" r:id="rId31"/>
    <p:sldId id="348" r:id="rId32"/>
    <p:sldId id="349" r:id="rId33"/>
    <p:sldId id="350" r:id="rId34"/>
    <p:sldId id="389" r:id="rId35"/>
    <p:sldId id="407" r:id="rId36"/>
    <p:sldId id="403" r:id="rId37"/>
    <p:sldId id="404" r:id="rId38"/>
    <p:sldId id="405" r:id="rId39"/>
    <p:sldId id="423" r:id="rId40"/>
    <p:sldId id="424" r:id="rId41"/>
    <p:sldId id="425" r:id="rId42"/>
    <p:sldId id="408" r:id="rId43"/>
    <p:sldId id="421" r:id="rId44"/>
    <p:sldId id="422" r:id="rId45"/>
    <p:sldId id="418" r:id="rId46"/>
  </p:sldIdLst>
  <p:sldSz cx="9144000" cy="6858000" type="screen4x3"/>
  <p:notesSz cx="6858000" cy="9144000"/>
  <p:custDataLst>
    <p:tags r:id="rId48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ahoma" panose="020B060403050404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600CC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2"/>
    <p:restoredTop sz="94660"/>
  </p:normalViewPr>
  <p:slideViewPr>
    <p:cSldViewPr showGuides="1">
      <p:cViewPr varScale="1">
        <p:scale>
          <a:sx n="108" d="100"/>
          <a:sy n="108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Relationship Id="rId4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w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10" Type="http://schemas.openxmlformats.org/officeDocument/2006/relationships/image" Target="../media/image22.emf"/><Relationship Id="rId4" Type="http://schemas.openxmlformats.org/officeDocument/2006/relationships/image" Target="../media/image16.wmf"/><Relationship Id="rId9" Type="http://schemas.openxmlformats.org/officeDocument/2006/relationships/image" Target="../media/image21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4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10" Type="http://schemas.openxmlformats.org/officeDocument/2006/relationships/image" Target="../media/image44.wmf"/><Relationship Id="rId4" Type="http://schemas.openxmlformats.org/officeDocument/2006/relationships/image" Target="../media/image38.wmf"/><Relationship Id="rId9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47.wmf"/><Relationship Id="rId7" Type="http://schemas.openxmlformats.org/officeDocument/2006/relationships/image" Target="../media/image43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37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Relationship Id="rId4" Type="http://schemas.openxmlformats.org/officeDocument/2006/relationships/image" Target="../media/image53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emf"/><Relationship Id="rId1" Type="http://schemas.openxmlformats.org/officeDocument/2006/relationships/image" Target="../media/image57.e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3" Type="http://schemas.openxmlformats.org/officeDocument/2006/relationships/image" Target="../media/image67.emf"/><Relationship Id="rId7" Type="http://schemas.openxmlformats.org/officeDocument/2006/relationships/image" Target="../media/image71.emf"/><Relationship Id="rId12" Type="http://schemas.openxmlformats.org/officeDocument/2006/relationships/image" Target="../media/image76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Relationship Id="rId6" Type="http://schemas.openxmlformats.org/officeDocument/2006/relationships/image" Target="../media/image70.emf"/><Relationship Id="rId11" Type="http://schemas.openxmlformats.org/officeDocument/2006/relationships/image" Target="../media/image75.emf"/><Relationship Id="rId5" Type="http://schemas.openxmlformats.org/officeDocument/2006/relationships/image" Target="../media/image69.emf"/><Relationship Id="rId10" Type="http://schemas.openxmlformats.org/officeDocument/2006/relationships/image" Target="../media/image74.emf"/><Relationship Id="rId4" Type="http://schemas.openxmlformats.org/officeDocument/2006/relationships/image" Target="../media/image68.wmf"/><Relationship Id="rId9" Type="http://schemas.openxmlformats.org/officeDocument/2006/relationships/image" Target="../media/image73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4" Type="http://schemas.openxmlformats.org/officeDocument/2006/relationships/image" Target="../media/image8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8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4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4" Type="http://schemas.openxmlformats.org/officeDocument/2006/relationships/image" Target="../media/image88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image" Target="../media/image91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image" Target="../media/image9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9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0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4" Type="http://schemas.openxmlformats.org/officeDocument/2006/relationships/image" Target="../media/image10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emf"/><Relationship Id="rId3" Type="http://schemas.openxmlformats.org/officeDocument/2006/relationships/image" Target="../media/image117.emf"/><Relationship Id="rId7" Type="http://schemas.openxmlformats.org/officeDocument/2006/relationships/image" Target="../media/image121.wmf"/><Relationship Id="rId2" Type="http://schemas.openxmlformats.org/officeDocument/2006/relationships/image" Target="../media/image116.emf"/><Relationship Id="rId1" Type="http://schemas.openxmlformats.org/officeDocument/2006/relationships/image" Target="../media/image115.wmf"/><Relationship Id="rId6" Type="http://schemas.openxmlformats.org/officeDocument/2006/relationships/image" Target="../media/image120.wmf"/><Relationship Id="rId11" Type="http://schemas.openxmlformats.org/officeDocument/2006/relationships/image" Target="../media/image125.wmf"/><Relationship Id="rId5" Type="http://schemas.openxmlformats.org/officeDocument/2006/relationships/image" Target="../media/image119.emf"/><Relationship Id="rId10" Type="http://schemas.openxmlformats.org/officeDocument/2006/relationships/image" Target="../media/image124.wmf"/><Relationship Id="rId4" Type="http://schemas.openxmlformats.org/officeDocument/2006/relationships/image" Target="../media/image118.emf"/><Relationship Id="rId9" Type="http://schemas.openxmlformats.org/officeDocument/2006/relationships/image" Target="../media/image123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emf"/><Relationship Id="rId5" Type="http://schemas.openxmlformats.org/officeDocument/2006/relationships/image" Target="../media/image130.emf"/><Relationship Id="rId4" Type="http://schemas.openxmlformats.org/officeDocument/2006/relationships/image" Target="../media/image12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126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126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2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通过测量总辐射出射度，或者辐射光谱的峰值波长，来测定物体的温度。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普朗克根据上式推导出来的普朗克黑体辐射公式，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7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根据上述实验规律，爱因斯坦提出了光量子论，认为光子和电子之间的作用满足能量守恒，也就是满足关系式满足关系式：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11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7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德布罗意在光的波粒二象性的启发下</a:t>
            </a:r>
            <a:r>
              <a:rPr lang="en-US" altLang="zh-CN" dirty="0"/>
              <a:t>,</a:t>
            </a:r>
            <a:r>
              <a:rPr lang="zh-CN" altLang="en-US" dirty="0"/>
              <a:t>从自然界对称性出发，提出了他的设想，认为实物粒子也具有波粒二象性。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12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3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德布罗意在光的波粒二象性的启发下</a:t>
            </a:r>
            <a:r>
              <a:rPr lang="en-US" altLang="zh-CN" dirty="0"/>
              <a:t>,</a:t>
            </a:r>
            <a:r>
              <a:rPr lang="zh-CN" altLang="en-US" dirty="0"/>
              <a:t>从自然界对称性出发，提出了他的设想，认为实物粒子也具有波粒二象性。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19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41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2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先看位置和动量之间的不确定关系：位置和动量不可能同时精确测量，同样</a:t>
            </a:r>
            <a:r>
              <a:rPr lang="en-US" altLang="zh-CN" dirty="0"/>
              <a:t>y</a:t>
            </a:r>
            <a:r>
              <a:rPr lang="zh-CN" altLang="en-US" dirty="0"/>
              <a:t>方向和</a:t>
            </a:r>
            <a:r>
              <a:rPr lang="en-US" altLang="zh-CN" dirty="0"/>
              <a:t>z</a:t>
            </a:r>
            <a:r>
              <a:rPr lang="zh-CN" altLang="en-US" dirty="0"/>
              <a:t>方向也存在这样的不确定关系：动量和位置不确定量的乘积大于</a:t>
            </a:r>
            <a:r>
              <a:rPr lang="en-US" altLang="zh-CN" dirty="0"/>
              <a:t>h/2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20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en-US" altLang="zh-CN" dirty="0"/>
              <a:t>H</a:t>
            </a:r>
            <a:r>
              <a:rPr lang="zh-CN" altLang="en-US" dirty="0"/>
              <a:t>是联系经宏观和微观的重要参量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25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4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实验中发现氢原子的光谱存在这样的规律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26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根据上述实验规律，玻尔提出了氢原子理论，有三个假定</a:t>
            </a:r>
          </a:p>
          <a:p>
            <a:pPr lvl="0" eaLnBrk="1" hangingPunct="1"/>
            <a:r>
              <a:rPr lang="zh-CN" altLang="en-US" dirty="0"/>
              <a:t>吸收或者辐射出的光子能量等于两个能量状态之差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28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第</a:t>
            </a:r>
            <a:r>
              <a:rPr lang="en-US" altLang="zh-CN" dirty="0"/>
              <a:t>n</a:t>
            </a:r>
            <a:r>
              <a:rPr lang="zh-CN" altLang="en-US" dirty="0"/>
              <a:t>个轨道的半径，</a:t>
            </a:r>
            <a:r>
              <a:rPr lang="en-US" altLang="zh-CN" dirty="0"/>
              <a:t>r1</a:t>
            </a:r>
            <a:r>
              <a:rPr lang="zh-CN" altLang="en-US" dirty="0"/>
              <a:t>为最小半径，</a:t>
            </a:r>
            <a:r>
              <a:rPr lang="en-US" altLang="zh-CN" dirty="0"/>
              <a:t>rn</a:t>
            </a:r>
            <a:r>
              <a:rPr lang="zh-CN" altLang="en-US" dirty="0"/>
              <a:t>为第</a:t>
            </a:r>
            <a:r>
              <a:rPr lang="en-US" altLang="zh-CN" dirty="0"/>
              <a:t>n</a:t>
            </a:r>
            <a:r>
              <a:rPr lang="zh-CN" altLang="en-US" dirty="0"/>
              <a:t>个半径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30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55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假设了定态能级，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37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65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5848" name="Group 3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  <a:cs typeface="+mn-cs"/>
                </a:endParaRPr>
              </a:p>
            </p:txBody>
          </p:sp>
        </p:grpSp>
        <p:grpSp>
          <p:nvGrpSpPr>
            <p:cNvPr id="35849" name="Group 6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楷体_GB2312" pitchFamily="49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358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 b="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58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/>
            <a:fld id="{9A0DB2DC-4C9A-4742-B13C-FB6460FD3503}" type="slidenum">
              <a:rPr lang="en-US" altLang="zh-CN" dirty="0">
                <a:solidFill>
                  <a:schemeClr val="bg2"/>
                </a:solidFill>
                <a:ea typeface="宋体" panose="02010600030101010101" pitchFamily="2" charset="-122"/>
              </a:rPr>
              <a:t>‹#›</a:t>
            </a:fld>
            <a:endParaRPr lang="en-US" altLang="zh-CN" dirty="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52400" y="1066800"/>
            <a:ext cx="4286250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91050" y="1066800"/>
            <a:ext cx="4287838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6875" y="0"/>
            <a:ext cx="2197100" cy="605631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52400" y="0"/>
            <a:ext cx="6442075" cy="605631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0"/>
            <a:ext cx="7793037" cy="8524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1066800"/>
            <a:ext cx="4286250" cy="49895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591050" y="1066800"/>
            <a:ext cx="4287838" cy="24177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91050" y="3636963"/>
            <a:ext cx="4287838" cy="24193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0"/>
            <a:ext cx="7793037" cy="8524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1066800"/>
            <a:ext cx="4286250" cy="49895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91050" y="1066800"/>
            <a:ext cx="4287838" cy="498951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14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/>
            <a:fld id="{9A0DB2DC-4C9A-4742-B13C-FB6460FD3503}" type="slidenum">
              <a:rPr lang="en-US" altLang="zh-CN" dirty="0">
                <a:ea typeface="宋体" panose="02010600030101010101" pitchFamily="2" charset="-122"/>
              </a:rPr>
              <a:t>‹#›</a:t>
            </a:fld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22238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22238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544513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544513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471488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14288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804863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5" name="Rectangle 9"/>
          <p:cNvSpPr>
            <a:spLocks noGrp="1"/>
          </p:cNvSpPr>
          <p:nvPr>
            <p:ph type="title"/>
          </p:nvPr>
        </p:nvSpPr>
        <p:spPr>
          <a:xfrm>
            <a:off x="1150938" y="0"/>
            <a:ext cx="7793037" cy="8524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4826" name="Rectangle 10"/>
          <p:cNvSpPr>
            <a:spLocks noGrp="1"/>
          </p:cNvSpPr>
          <p:nvPr>
            <p:ph type="body"/>
          </p:nvPr>
        </p:nvSpPr>
        <p:spPr>
          <a:xfrm>
            <a:off x="152400" y="1066800"/>
            <a:ext cx="8726488" cy="498951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</a:t>
            </a:r>
          </a:p>
          <a:p>
            <a:pPr lvl="0"/>
            <a:r>
              <a:rPr lang="zh-CN" altLang="en-US" dirty="0"/>
              <a:t>母版文本样式</a:t>
            </a:r>
          </a:p>
        </p:txBody>
      </p:sp>
      <p:sp>
        <p:nvSpPr>
          <p:cNvPr id="348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ahoma" panose="020B0604030504040204" pitchFamily="34" charset="0"/>
              </a:rPr>
              <a:t>‹#›</a:t>
            </a:fld>
            <a:endParaRPr lang="en-US" altLang="zh-CN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ahoma" panose="020B0604030504040204" pitchFamily="34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defRPr sz="2400" b="1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emf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5.bin"/><Relationship Id="rId12" Type="http://schemas.openxmlformats.org/officeDocument/2006/relationships/image" Target="../media/image7.emf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emf"/><Relationship Id="rId4" Type="http://schemas.openxmlformats.org/officeDocument/2006/relationships/notesSlide" Target="../notesSlides/notesSlide1.xml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9.bin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0.emf"/><Relationship Id="rId4" Type="http://schemas.openxmlformats.org/officeDocument/2006/relationships/notesSlide" Target="../notesSlides/notesSlide2.xml"/><Relationship Id="rId9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7.wmf"/><Relationship Id="rId18" Type="http://schemas.openxmlformats.org/officeDocument/2006/relationships/oleObject" Target="../embeddings/oleObject20.bin"/><Relationship Id="rId3" Type="http://schemas.openxmlformats.org/officeDocument/2006/relationships/slideLayout" Target="../slideLayouts/slideLayout2.xml"/><Relationship Id="rId21" Type="http://schemas.openxmlformats.org/officeDocument/2006/relationships/image" Target="../media/image21.emf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19.wmf"/><Relationship Id="rId2" Type="http://schemas.openxmlformats.org/officeDocument/2006/relationships/tags" Target="../tags/tag7.xml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5" Type="http://schemas.openxmlformats.org/officeDocument/2006/relationships/image" Target="../media/image18.wmf"/><Relationship Id="rId23" Type="http://schemas.openxmlformats.org/officeDocument/2006/relationships/image" Target="../media/image22.emf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20.e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5.wmf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2" Type="http://schemas.openxmlformats.org/officeDocument/2006/relationships/tags" Target="../tags/tag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5.wmf"/><Relationship Id="rId4" Type="http://schemas.openxmlformats.org/officeDocument/2006/relationships/notesSlide" Target="../notesSlides/notesSlide4.xml"/><Relationship Id="rId9" Type="http://schemas.openxmlformats.org/officeDocument/2006/relationships/oleObject" Target="../embeddings/oleObject2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27.bin"/><Relationship Id="rId2" Type="http://schemas.openxmlformats.org/officeDocument/2006/relationships/tags" Target="../tags/tag10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4.e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1.emf"/><Relationship Id="rId12" Type="http://schemas.openxmlformats.org/officeDocument/2006/relationships/oleObject" Target="../embeddings/oleObject32.bin"/><Relationship Id="rId2" Type="http://schemas.openxmlformats.org/officeDocument/2006/relationships/tags" Target="../tags/tag1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3.emf"/><Relationship Id="rId5" Type="http://schemas.openxmlformats.org/officeDocument/2006/relationships/image" Target="../media/image30.e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2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40.bin"/><Relationship Id="rId3" Type="http://schemas.openxmlformats.org/officeDocument/2006/relationships/slideLayout" Target="../slideLayouts/slideLayout7.xml"/><Relationship Id="rId21" Type="http://schemas.openxmlformats.org/officeDocument/2006/relationships/oleObject" Target="../embeddings/oleObject42.bin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41.wmf"/><Relationship Id="rId2" Type="http://schemas.openxmlformats.org/officeDocument/2006/relationships/tags" Target="../tags/tag12.xml"/><Relationship Id="rId16" Type="http://schemas.openxmlformats.org/officeDocument/2006/relationships/oleObject" Target="../embeddings/oleObject39.bin"/><Relationship Id="rId20" Type="http://schemas.openxmlformats.org/officeDocument/2006/relationships/oleObject" Target="../embeddings/oleObject41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8.wmf"/><Relationship Id="rId24" Type="http://schemas.openxmlformats.org/officeDocument/2006/relationships/image" Target="../media/image44.wmf"/><Relationship Id="rId5" Type="http://schemas.openxmlformats.org/officeDocument/2006/relationships/image" Target="../media/image35.wmf"/><Relationship Id="rId15" Type="http://schemas.openxmlformats.org/officeDocument/2006/relationships/image" Target="../media/image40.wmf"/><Relationship Id="rId23" Type="http://schemas.openxmlformats.org/officeDocument/2006/relationships/oleObject" Target="../embeddings/oleObject43.bin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42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38.bin"/><Relationship Id="rId22" Type="http://schemas.openxmlformats.org/officeDocument/2006/relationships/image" Target="../media/image4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49.wmf"/><Relationship Id="rId18" Type="http://schemas.openxmlformats.org/officeDocument/2006/relationships/oleObject" Target="../embeddings/oleObject51.bin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8.bin"/><Relationship Id="rId17" Type="http://schemas.openxmlformats.org/officeDocument/2006/relationships/image" Target="../media/image43.wmf"/><Relationship Id="rId2" Type="http://schemas.openxmlformats.org/officeDocument/2006/relationships/tags" Target="../tags/tag13.xml"/><Relationship Id="rId16" Type="http://schemas.openxmlformats.org/officeDocument/2006/relationships/oleObject" Target="../embeddings/oleObject50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47.bin"/><Relationship Id="rId19" Type="http://schemas.openxmlformats.org/officeDocument/2006/relationships/image" Target="../media/image44.wmf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49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1.e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53.emf"/><Relationship Id="rId4" Type="http://schemas.openxmlformats.org/officeDocument/2006/relationships/image" Target="../media/image50.emf"/><Relationship Id="rId9" Type="http://schemas.openxmlformats.org/officeDocument/2006/relationships/oleObject" Target="../embeddings/oleObject5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55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7.bin"/><Relationship Id="rId5" Type="http://schemas.openxmlformats.org/officeDocument/2006/relationships/image" Target="../media/image54.e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56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8.e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0.w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6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3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2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71.emf"/><Relationship Id="rId26" Type="http://schemas.openxmlformats.org/officeDocument/2006/relationships/image" Target="../media/image75.emf"/><Relationship Id="rId3" Type="http://schemas.openxmlformats.org/officeDocument/2006/relationships/oleObject" Target="../embeddings/oleObject67.bin"/><Relationship Id="rId21" Type="http://schemas.openxmlformats.org/officeDocument/2006/relationships/oleObject" Target="../embeddings/oleObject76.bin"/><Relationship Id="rId7" Type="http://schemas.openxmlformats.org/officeDocument/2006/relationships/oleObject" Target="../embeddings/oleObject69.bin"/><Relationship Id="rId12" Type="http://schemas.openxmlformats.org/officeDocument/2006/relationships/oleObject" Target="../embeddings/oleObject71.bin"/><Relationship Id="rId17" Type="http://schemas.openxmlformats.org/officeDocument/2006/relationships/oleObject" Target="../embeddings/oleObject74.bin"/><Relationship Id="rId25" Type="http://schemas.openxmlformats.org/officeDocument/2006/relationships/oleObject" Target="../embeddings/oleObject7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0.emf"/><Relationship Id="rId20" Type="http://schemas.openxmlformats.org/officeDocument/2006/relationships/image" Target="../media/image72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6.emf"/><Relationship Id="rId11" Type="http://schemas.openxmlformats.org/officeDocument/2006/relationships/image" Target="../media/image68.wmf"/><Relationship Id="rId24" Type="http://schemas.openxmlformats.org/officeDocument/2006/relationships/image" Target="../media/image74.emf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23" Type="http://schemas.openxmlformats.org/officeDocument/2006/relationships/oleObject" Target="../embeddings/oleObject77.bin"/><Relationship Id="rId28" Type="http://schemas.openxmlformats.org/officeDocument/2006/relationships/image" Target="../media/image76.emf"/><Relationship Id="rId10" Type="http://schemas.openxmlformats.org/officeDocument/2006/relationships/oleObject" Target="../embeddings/oleObject70.bin"/><Relationship Id="rId19" Type="http://schemas.openxmlformats.org/officeDocument/2006/relationships/oleObject" Target="../embeddings/oleObject75.bin"/><Relationship Id="rId4" Type="http://schemas.openxmlformats.org/officeDocument/2006/relationships/image" Target="../media/image65.emf"/><Relationship Id="rId9" Type="http://schemas.openxmlformats.org/officeDocument/2006/relationships/image" Target="../media/image77.png"/><Relationship Id="rId14" Type="http://schemas.openxmlformats.org/officeDocument/2006/relationships/image" Target="../media/image69.emf"/><Relationship Id="rId22" Type="http://schemas.openxmlformats.org/officeDocument/2006/relationships/image" Target="../media/image73.emf"/><Relationship Id="rId27" Type="http://schemas.openxmlformats.org/officeDocument/2006/relationships/oleObject" Target="../embeddings/oleObject7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9.emf"/><Relationship Id="rId5" Type="http://schemas.openxmlformats.org/officeDocument/2006/relationships/oleObject" Target="../embeddings/oleObject81.bin"/><Relationship Id="rId10" Type="http://schemas.openxmlformats.org/officeDocument/2006/relationships/image" Target="../media/image81.e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8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82.emf"/><Relationship Id="rId4" Type="http://schemas.openxmlformats.org/officeDocument/2006/relationships/oleObject" Target="../embeddings/oleObject8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83.emf"/><Relationship Id="rId4" Type="http://schemas.openxmlformats.org/officeDocument/2006/relationships/oleObject" Target="../embeddings/oleObject8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84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8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88.emf"/><Relationship Id="rId5" Type="http://schemas.openxmlformats.org/officeDocument/2006/relationships/image" Target="../media/image85.w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87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89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9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2.emf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4.bin"/><Relationship Id="rId10" Type="http://schemas.openxmlformats.org/officeDocument/2006/relationships/image" Target="../media/image94.emf"/><Relationship Id="rId4" Type="http://schemas.openxmlformats.org/officeDocument/2006/relationships/image" Target="../media/image91.emf"/><Relationship Id="rId9" Type="http://schemas.openxmlformats.org/officeDocument/2006/relationships/oleObject" Target="../embeddings/oleObject96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oleObject" Target="../embeddings/oleObject98.bin"/><Relationship Id="rId7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7.e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99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100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1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0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07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3.e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12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e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22.emf"/><Relationship Id="rId3" Type="http://schemas.openxmlformats.org/officeDocument/2006/relationships/oleObject" Target="../embeddings/oleObject115.bin"/><Relationship Id="rId21" Type="http://schemas.openxmlformats.org/officeDocument/2006/relationships/oleObject" Target="../embeddings/oleObject124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19.emf"/><Relationship Id="rId1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1.wmf"/><Relationship Id="rId20" Type="http://schemas.openxmlformats.org/officeDocument/2006/relationships/image" Target="../media/image123.e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16.emf"/><Relationship Id="rId11" Type="http://schemas.openxmlformats.org/officeDocument/2006/relationships/oleObject" Target="../embeddings/oleObject119.bin"/><Relationship Id="rId24" Type="http://schemas.openxmlformats.org/officeDocument/2006/relationships/image" Target="../media/image125.wmf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23" Type="http://schemas.openxmlformats.org/officeDocument/2006/relationships/oleObject" Target="../embeddings/oleObject125.bin"/><Relationship Id="rId10" Type="http://schemas.openxmlformats.org/officeDocument/2006/relationships/image" Target="../media/image118.emf"/><Relationship Id="rId19" Type="http://schemas.openxmlformats.org/officeDocument/2006/relationships/oleObject" Target="../embeddings/oleObject123.bin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20.wmf"/><Relationship Id="rId22" Type="http://schemas.openxmlformats.org/officeDocument/2006/relationships/image" Target="../media/image124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3" Type="http://schemas.openxmlformats.org/officeDocument/2006/relationships/oleObject" Target="../embeddings/oleObject126.bin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30.e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7.bin"/><Relationship Id="rId10" Type="http://schemas.openxmlformats.org/officeDocument/2006/relationships/image" Target="../media/image129.wmf"/><Relationship Id="rId4" Type="http://schemas.openxmlformats.org/officeDocument/2006/relationships/image" Target="../media/image126.emf"/><Relationship Id="rId9" Type="http://schemas.openxmlformats.org/officeDocument/2006/relationships/oleObject" Target="../embeddings/oleObject12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ctrTitle"/>
          </p:nvPr>
        </p:nvSpPr>
        <p:spPr>
          <a:xfrm>
            <a:off x="990600" y="1677988"/>
            <a:ext cx="7772400" cy="1320800"/>
          </a:xfrm>
        </p:spPr>
        <p:txBody>
          <a:bodyPr vert="horz" wrap="square" lIns="91440" tIns="45720" rIns="91440" bIns="45720" anchor="b" anchorCtr="0"/>
          <a:lstStyle/>
          <a:p>
            <a:pPr algn="ctr" eaLnBrk="1" hangingPunct="1">
              <a:buClrTx/>
              <a:buSzTx/>
              <a:buFontTx/>
            </a:pPr>
            <a:r>
              <a:rPr lang="zh-CN" altLang="en-US" sz="4400" b="1" dirty="0">
                <a:latin typeface="+mj-lt"/>
                <a:ea typeface="+mj-ea"/>
                <a:cs typeface="+mj-cs"/>
              </a:rPr>
              <a:t>量子力学习题课</a:t>
            </a:r>
          </a:p>
        </p:txBody>
      </p:sp>
      <p:sp>
        <p:nvSpPr>
          <p:cNvPr id="37891" name="Text Box 4"/>
          <p:cNvSpPr txBox="1"/>
          <p:nvPr/>
        </p:nvSpPr>
        <p:spPr>
          <a:xfrm>
            <a:off x="3352800" y="3886200"/>
            <a:ext cx="3124200" cy="1476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3600" b="1" dirty="0">
                <a:latin typeface="Times New Roman" panose="02020603050405020304" pitchFamily="18" charset="0"/>
              </a:rPr>
              <a:t>应涛</a:t>
            </a:r>
            <a:endParaRPr lang="en-US" altLang="zh-CN" sz="3600" b="1" dirty="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en-US" altLang="zh-CN" sz="3600" b="1" dirty="0">
                <a:latin typeface="Times New Roman" panose="02020603050405020304" pitchFamily="18" charset="0"/>
              </a:rPr>
              <a:t>2024.12.06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1143000" y="0"/>
            <a:ext cx="7793038" cy="852488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早期量子论</a:t>
            </a:r>
          </a:p>
        </p:txBody>
      </p:sp>
      <p:sp>
        <p:nvSpPr>
          <p:cNvPr id="39939" name="Rectangle 4"/>
          <p:cNvSpPr>
            <a:spLocks noGrp="1"/>
          </p:cNvSpPr>
          <p:nvPr>
            <p:ph idx="1"/>
          </p:nvPr>
        </p:nvSpPr>
        <p:spPr>
          <a:xfrm>
            <a:off x="1981200" y="1295400"/>
            <a:ext cx="5410200" cy="31242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sz="3200" dirty="0"/>
              <a:t>黑体辐射</a:t>
            </a:r>
          </a:p>
          <a:p>
            <a:pPr eaLnBrk="1" hangingPunct="1"/>
            <a:r>
              <a:rPr lang="zh-CN" altLang="en-US" sz="3200" dirty="0"/>
              <a:t>光电效应</a:t>
            </a:r>
          </a:p>
          <a:p>
            <a:pPr eaLnBrk="1" hangingPunct="1"/>
            <a:r>
              <a:rPr lang="zh-CN" altLang="en-US" sz="3200" dirty="0"/>
              <a:t>康普顿效应</a:t>
            </a:r>
          </a:p>
          <a:p>
            <a:pPr eaLnBrk="1" hangingPunct="1"/>
            <a:r>
              <a:rPr lang="zh-CN" altLang="en-US" sz="3200" dirty="0"/>
              <a:t>微观粒子的波粒二象性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、黑体辐射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hlink"/>
                </a:solidFill>
              </a:rPr>
              <a:t>（能量子假说）</a:t>
            </a:r>
          </a:p>
        </p:txBody>
      </p:sp>
      <p:sp>
        <p:nvSpPr>
          <p:cNvPr id="1030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66800"/>
            <a:ext cx="8610600" cy="4989513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latin typeface="楷体_GB2312" pitchFamily="49" charset="-122"/>
              </a:rPr>
              <a:t>一、黑体辐射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latin typeface="楷体_GB2312" pitchFamily="49" charset="-122"/>
              </a:rPr>
              <a:t>  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辐射出射度</a:t>
            </a:r>
            <a:r>
              <a:rPr lang="zh-CN" altLang="en-US" dirty="0">
                <a:latin typeface="楷体_GB2312" pitchFamily="49" charset="-122"/>
              </a:rPr>
              <a:t> </a:t>
            </a:r>
            <a:r>
              <a:rPr lang="en-US" altLang="zh-CN" dirty="0">
                <a:latin typeface="楷体_GB2312" pitchFamily="49" charset="-122"/>
              </a:rPr>
              <a:t>--- 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</a:rPr>
              <a:t>单位时间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内从物体表面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</a:rPr>
              <a:t>单位面积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上所辐射出来的各种波长电磁波能量的总和。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latin typeface="楷体_GB2312" pitchFamily="49" charset="-122"/>
              </a:rPr>
              <a:t>  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单色辐射出射度</a:t>
            </a:r>
            <a:r>
              <a:rPr lang="zh-CN" altLang="en-US" dirty="0">
                <a:latin typeface="楷体_GB2312" pitchFamily="49" charset="-122"/>
              </a:rPr>
              <a:t>：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</a:rPr>
              <a:t>单位时间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从物体表面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</a:rPr>
              <a:t>单位面积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上辐射出的，波长在</a:t>
            </a:r>
            <a:r>
              <a:rPr lang="en-US" altLang="zh-CN" dirty="0">
                <a:solidFill>
                  <a:schemeClr val="tx1"/>
                </a:solidFill>
                <a:latin typeface="楷体_GB2312" pitchFamily="49" charset="-122"/>
              </a:rPr>
              <a:t>λ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附近，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</a:rPr>
              <a:t>单位波长间隔内</a:t>
            </a:r>
            <a:r>
              <a:rPr lang="zh-CN" altLang="en-US" dirty="0">
                <a:solidFill>
                  <a:schemeClr val="tx1"/>
                </a:solidFill>
                <a:latin typeface="楷体_GB2312" pitchFamily="49" charset="-122"/>
              </a:rPr>
              <a:t>的电磁波的能量。</a:t>
            </a:r>
            <a:r>
              <a:rPr lang="zh-CN" altLang="en-US" sz="2000" dirty="0"/>
              <a:t> </a:t>
            </a:r>
          </a:p>
        </p:txBody>
      </p:sp>
      <p:graphicFrame>
        <p:nvGraphicFramePr>
          <p:cNvPr id="1026" name="Object 4"/>
          <p:cNvGraphicFramePr>
            <a:graphicFrameLocks noGrp="1"/>
          </p:cNvGraphicFramePr>
          <p:nvPr>
            <p:ph sz="quarter" idx="2"/>
          </p:nvPr>
        </p:nvGraphicFramePr>
        <p:xfrm>
          <a:off x="3048000" y="2689225"/>
          <a:ext cx="914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r:id="rId4" imgW="568960" imgH="267335" progId="Equation.DSMT4">
                  <p:embed/>
                </p:oleObj>
              </mc:Choice>
              <mc:Fallback>
                <p:oleObj r:id="rId4" imgW="568960" imgH="267335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3048000" y="2689225"/>
                        <a:ext cx="914400" cy="4349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6"/>
          <p:cNvGraphicFramePr>
            <a:graphicFrameLocks noGrp="1"/>
          </p:cNvGraphicFramePr>
          <p:nvPr>
            <p:ph sz="quarter" idx="3"/>
          </p:nvPr>
        </p:nvGraphicFramePr>
        <p:xfrm>
          <a:off x="914400" y="5029200"/>
          <a:ext cx="29718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r:id="rId6" imgW="1594485" imgH="390525" progId="Equation.3">
                  <p:embed/>
                </p:oleObj>
              </mc:Choice>
              <mc:Fallback>
                <p:oleObj r:id="rId6" imgW="1594485" imgH="39052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>
                      <a:xfrm>
                        <a:off x="914400" y="5029200"/>
                        <a:ext cx="2971800" cy="7223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8"/>
          <p:cNvGraphicFramePr/>
          <p:nvPr/>
        </p:nvGraphicFramePr>
        <p:xfrm>
          <a:off x="990600" y="4114800"/>
          <a:ext cx="2590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r:id="rId8" imgW="1293495" imgH="479425" progId="Equation.3">
                  <p:embed/>
                </p:oleObj>
              </mc:Choice>
              <mc:Fallback>
                <p:oleObj r:id="rId8" imgW="1293495" imgH="47942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90600" y="4114800"/>
                        <a:ext cx="25908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2"/>
          <p:cNvSpPr/>
          <p:nvPr/>
        </p:nvSpPr>
        <p:spPr>
          <a:xfrm>
            <a:off x="323850" y="5791200"/>
            <a:ext cx="8305800" cy="930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</a:rPr>
              <a:t>练习</a:t>
            </a:r>
            <a:r>
              <a:rPr lang="zh-CN" altLang="zh-CN" dirty="0">
                <a:latin typeface="Tahoma" panose="020B0604030504040204" pitchFamily="34" charset="0"/>
                <a:ea typeface="黑体" panose="02010609060101010101" pitchFamily="49" charset="-122"/>
              </a:rPr>
              <a:t>下列物体哪一个可以</a:t>
            </a:r>
            <a:r>
              <a:rPr lang="zh-CN" altLang="en-US" dirty="0">
                <a:latin typeface="Tahoma" panose="020B0604030504040204" pitchFamily="34" charset="0"/>
                <a:ea typeface="黑体" panose="02010609060101010101" pitchFamily="49" charset="-122"/>
              </a:rPr>
              <a:t>描述</a:t>
            </a:r>
            <a:r>
              <a:rPr lang="zh-CN" altLang="zh-CN" dirty="0">
                <a:latin typeface="Tahoma" panose="020B0604030504040204" pitchFamily="34" charset="0"/>
                <a:ea typeface="黑体" panose="02010609060101010101" pitchFamily="49" charset="-122"/>
              </a:rPr>
              <a:t>黑体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zh-CN" sz="2000" dirty="0">
                <a:latin typeface="Tahoma" panose="020B0604030504040204" pitchFamily="34" charset="0"/>
                <a:ea typeface="黑体" panose="02010609060101010101" pitchFamily="49" charset="-122"/>
              </a:rPr>
              <a:t>1 不辐射可见光的物体         2 不辐射任何电磁波的物体</a:t>
            </a:r>
            <a:endParaRPr lang="zh-CN" altLang="en-US" sz="2000" dirty="0">
              <a:latin typeface="Tahoma" panose="020B0604030504040204" pitchFamily="34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CN" sz="2000" dirty="0">
                <a:latin typeface="Tahoma" panose="020B0604030504040204" pitchFamily="34" charset="0"/>
                <a:ea typeface="黑体" panose="02010609060101010101" pitchFamily="49" charset="-122"/>
              </a:rPr>
              <a:t>3 </a:t>
            </a:r>
            <a:r>
              <a:rPr lang="zh-CN" altLang="en-US" sz="2000" dirty="0">
                <a:latin typeface="Tahoma" panose="020B0604030504040204" pitchFamily="34" charset="0"/>
                <a:ea typeface="黑体" panose="02010609060101010101" pitchFamily="49" charset="-122"/>
              </a:rPr>
              <a:t>不能反射可见光的物体      </a:t>
            </a:r>
            <a:r>
              <a:rPr lang="en-US" altLang="zh-CN" sz="2000" dirty="0">
                <a:latin typeface="Tahoma" panose="020B0604030504040204" pitchFamily="34" charset="0"/>
                <a:ea typeface="黑体" panose="02010609060101010101" pitchFamily="49" charset="-122"/>
              </a:rPr>
              <a:t>4 </a:t>
            </a:r>
            <a:r>
              <a:rPr lang="zh-CN" altLang="en-US" sz="2000" dirty="0">
                <a:latin typeface="Tahoma" panose="020B0604030504040204" pitchFamily="34" charset="0"/>
                <a:ea typeface="黑体" panose="02010609060101010101" pitchFamily="49" charset="-122"/>
              </a:rPr>
              <a:t>不能反射任何电磁波的物体</a:t>
            </a:r>
          </a:p>
        </p:txBody>
      </p:sp>
      <p:sp>
        <p:nvSpPr>
          <p:cNvPr id="10" name="Rectangle 3"/>
          <p:cNvSpPr/>
          <p:nvPr/>
        </p:nvSpPr>
        <p:spPr>
          <a:xfrm>
            <a:off x="7086600" y="6324600"/>
            <a:ext cx="26638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zh-CN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答案：4</a:t>
            </a:r>
            <a:endParaRPr lang="en-US" altLang="zh-CN" dirty="0">
              <a:solidFill>
                <a:srgbClr val="FF0000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黑体辐射</a:t>
            </a:r>
          </a:p>
        </p:txBody>
      </p:sp>
      <p:sp>
        <p:nvSpPr>
          <p:cNvPr id="205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黑体辐射的实验规律：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2056" name="Text Box 4"/>
          <p:cNvSpPr txBox="1"/>
          <p:nvPr/>
        </p:nvSpPr>
        <p:spPr>
          <a:xfrm>
            <a:off x="488950" y="1752600"/>
            <a:ext cx="55308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</a:rPr>
              <a:t>）斯特藩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——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</a:rPr>
              <a:t>玻耳兹曼定律</a:t>
            </a:r>
          </a:p>
        </p:txBody>
      </p:sp>
      <p:sp>
        <p:nvSpPr>
          <p:cNvPr id="2057" name="Text Box 5"/>
          <p:cNvSpPr txBox="1"/>
          <p:nvPr/>
        </p:nvSpPr>
        <p:spPr>
          <a:xfrm>
            <a:off x="1143000" y="3276600"/>
            <a:ext cx="2311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楷体_GB2312" pitchFamily="49" charset="-122"/>
              </a:rPr>
              <a:t>斯特藩常数</a:t>
            </a:r>
          </a:p>
        </p:txBody>
      </p:sp>
      <p:graphicFrame>
        <p:nvGraphicFramePr>
          <p:cNvPr id="2050" name="Object 6"/>
          <p:cNvGraphicFramePr/>
          <p:nvPr/>
        </p:nvGraphicFramePr>
        <p:xfrm>
          <a:off x="2895600" y="3352800"/>
          <a:ext cx="40909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r:id="rId5" imgW="2018665" imgH="234315" progId="Equation.DSMT4">
                  <p:embed/>
                </p:oleObj>
              </mc:Choice>
              <mc:Fallback>
                <p:oleObj r:id="rId5" imgW="2018665" imgH="234315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95600" y="3352800"/>
                        <a:ext cx="4090988" cy="439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7"/>
          <p:cNvGraphicFramePr/>
          <p:nvPr/>
        </p:nvGraphicFramePr>
        <p:xfrm>
          <a:off x="1600200" y="2286000"/>
          <a:ext cx="512762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r:id="rId7" imgW="2185670" imgH="390525" progId="Equation.DSMT4">
                  <p:embed/>
                </p:oleObj>
              </mc:Choice>
              <mc:Fallback>
                <p:oleObj r:id="rId7" imgW="2185670" imgH="390525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00200" y="2286000"/>
                        <a:ext cx="5127625" cy="94615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Text Box 8"/>
          <p:cNvSpPr txBox="1"/>
          <p:nvPr/>
        </p:nvSpPr>
        <p:spPr>
          <a:xfrm>
            <a:off x="584200" y="3810000"/>
            <a:ext cx="429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</a:rPr>
              <a:t>）维恩位移定律</a:t>
            </a:r>
            <a:endParaRPr lang="zh-CN" altLang="en-US" sz="2400" dirty="0">
              <a:solidFill>
                <a:srgbClr val="FF0000"/>
              </a:solidFill>
              <a:latin typeface="楷体_GB2312" pitchFamily="49" charset="-122"/>
            </a:endParaRPr>
          </a:p>
        </p:txBody>
      </p:sp>
      <p:sp>
        <p:nvSpPr>
          <p:cNvPr id="2059" name="Text Box 9"/>
          <p:cNvSpPr txBox="1"/>
          <p:nvPr/>
        </p:nvSpPr>
        <p:spPr>
          <a:xfrm>
            <a:off x="381000" y="4267200"/>
            <a:ext cx="90805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sz="2400" b="1" dirty="0">
                <a:latin typeface="楷体_GB2312" pitchFamily="49" charset="-122"/>
              </a:rPr>
              <a:t> </a:t>
            </a:r>
            <a:r>
              <a:rPr lang="zh-CN" altLang="en-US" sz="2400" b="1" dirty="0">
                <a:latin typeface="楷体_GB2312" pitchFamily="49" charset="-122"/>
              </a:rPr>
              <a:t>黑体辐射出的光谱中辐射最强的波长 </a:t>
            </a:r>
            <a:r>
              <a:rPr lang="zh-CN" altLang="en-US" sz="2400" b="1" i="1" dirty="0">
                <a:latin typeface="楷体_GB2312" pitchFamily="49" charset="-122"/>
                <a:sym typeface="Symbol" panose="05050102010706020507" pitchFamily="18" charset="2"/>
              </a:rPr>
              <a:t> </a:t>
            </a:r>
            <a:r>
              <a:rPr lang="en-US" altLang="zh-CN" sz="2400" b="1" baseline="-25000" dirty="0">
                <a:latin typeface="楷体_GB2312" pitchFamily="49" charset="-122"/>
                <a:sym typeface="Symbol" panose="05050102010706020507" pitchFamily="18" charset="2"/>
              </a:rPr>
              <a:t>m</a:t>
            </a:r>
            <a:r>
              <a:rPr lang="en-US" altLang="zh-CN" sz="2400" b="1" dirty="0">
                <a:latin typeface="楷体_GB2312" pitchFamily="49" charset="-122"/>
              </a:rPr>
              <a:t> </a:t>
            </a:r>
            <a:r>
              <a:rPr lang="zh-CN" altLang="en-US" sz="2400" b="1" dirty="0">
                <a:latin typeface="楷体_GB2312" pitchFamily="49" charset="-122"/>
              </a:rPr>
              <a:t>与黑体温度 </a:t>
            </a:r>
            <a:r>
              <a:rPr lang="en-US" altLang="zh-CN" sz="2400" b="1" dirty="0">
                <a:latin typeface="楷体_GB2312" pitchFamily="49" charset="-122"/>
              </a:rPr>
              <a:t>T </a:t>
            </a:r>
            <a:r>
              <a:rPr lang="zh-CN" altLang="en-US" sz="2400" b="1" dirty="0">
                <a:latin typeface="楷体_GB2312" pitchFamily="49" charset="-122"/>
              </a:rPr>
              <a:t>之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400" b="1" dirty="0">
                <a:latin typeface="楷体_GB2312" pitchFamily="49" charset="-122"/>
              </a:rPr>
              <a:t>间满足关系</a:t>
            </a:r>
          </a:p>
        </p:txBody>
      </p:sp>
      <p:sp>
        <p:nvSpPr>
          <p:cNvPr id="2060" name="Text Box 10"/>
          <p:cNvSpPr txBox="1"/>
          <p:nvPr/>
        </p:nvSpPr>
        <p:spPr>
          <a:xfrm>
            <a:off x="1149350" y="6019800"/>
            <a:ext cx="1898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维恩常数</a:t>
            </a:r>
          </a:p>
        </p:txBody>
      </p:sp>
      <p:graphicFrame>
        <p:nvGraphicFramePr>
          <p:cNvPr id="2052" name="Object 11"/>
          <p:cNvGraphicFramePr/>
          <p:nvPr/>
        </p:nvGraphicFramePr>
        <p:xfrm>
          <a:off x="2819400" y="6019800"/>
          <a:ext cx="35687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" r:id="rId9" imgW="1784350" imgH="234315" progId="Equation.DSMT4">
                  <p:embed/>
                </p:oleObj>
              </mc:Choice>
              <mc:Fallback>
                <p:oleObj r:id="rId9" imgW="1784350" imgH="234315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6019800"/>
                        <a:ext cx="3568700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12"/>
          <p:cNvGraphicFramePr/>
          <p:nvPr/>
        </p:nvGraphicFramePr>
        <p:xfrm>
          <a:off x="2209800" y="4953000"/>
          <a:ext cx="230346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" r:id="rId11" imgW="635635" imgH="267335" progId="Equation.3">
                  <p:embed/>
                </p:oleObj>
              </mc:Choice>
              <mc:Fallback>
                <p:oleObj r:id="rId11" imgW="635635" imgH="26733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09800" y="4953000"/>
                        <a:ext cx="2303463" cy="8001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" grpId="0"/>
      <p:bldP spid="2059" grpId="0"/>
      <p:bldP spid="20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黑体辐射</a:t>
            </a:r>
          </a:p>
        </p:txBody>
      </p:sp>
      <p:sp>
        <p:nvSpPr>
          <p:cNvPr id="3079" name="Text Box 5"/>
          <p:cNvSpPr txBox="1"/>
          <p:nvPr/>
        </p:nvSpPr>
        <p:spPr>
          <a:xfrm>
            <a:off x="228600" y="3810000"/>
            <a:ext cx="8502650" cy="1079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5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_GB2312" pitchFamily="49" charset="-122"/>
              </a:rPr>
              <a:t>对于一定频率 </a:t>
            </a:r>
            <a:r>
              <a:rPr lang="zh-CN" altLang="en-US" sz="2400" b="1" dirty="0">
                <a:latin typeface="楷体_GB2312" pitchFamily="49" charset="-122"/>
                <a:sym typeface="Symbol" panose="05050102010706020507" pitchFamily="18" charset="2"/>
              </a:rPr>
              <a:t> </a:t>
            </a:r>
            <a:r>
              <a:rPr lang="zh-CN" altLang="en-US" sz="2400" b="1" dirty="0">
                <a:latin typeface="楷体_GB2312" pitchFamily="49" charset="-122"/>
              </a:rPr>
              <a:t>的电磁辐射</a:t>
            </a:r>
            <a:r>
              <a:rPr lang="en-US" altLang="zh-CN" sz="2400" b="1" dirty="0">
                <a:latin typeface="楷体_GB2312" pitchFamily="49" charset="-122"/>
              </a:rPr>
              <a:t>, </a:t>
            </a:r>
            <a:r>
              <a:rPr lang="zh-CN" altLang="en-US" sz="2400" b="1" dirty="0">
                <a:latin typeface="楷体_GB2312" pitchFamily="49" charset="-122"/>
              </a:rPr>
              <a:t>物体只能以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dirty="0">
                <a:latin typeface="楷体_GB2312" pitchFamily="49" charset="-122"/>
                <a:sym typeface="Symbol" panose="05050102010706020507" pitchFamily="18" charset="2"/>
              </a:rPr>
              <a:t></a:t>
            </a:r>
            <a:r>
              <a:rPr lang="zh-CN" altLang="en-US" sz="2400" b="1" dirty="0">
                <a:latin typeface="楷体_GB2312" pitchFamily="49" charset="-122"/>
              </a:rPr>
              <a:t>为单位发射或吸收它。</a:t>
            </a:r>
          </a:p>
        </p:txBody>
      </p:sp>
      <p:sp>
        <p:nvSpPr>
          <p:cNvPr id="2" name="Text Box 6"/>
          <p:cNvSpPr txBox="1"/>
          <p:nvPr/>
        </p:nvSpPr>
        <p:spPr>
          <a:xfrm>
            <a:off x="228600" y="1066800"/>
            <a:ext cx="561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</a:rPr>
              <a:t>普朗克黑体辐射公式</a:t>
            </a:r>
            <a:endParaRPr lang="zh-CN" altLang="en-US" sz="2400" dirty="0">
              <a:solidFill>
                <a:srgbClr val="FF0000"/>
              </a:solidFill>
              <a:latin typeface="楷体_GB2312" pitchFamily="49" charset="-122"/>
            </a:endParaRPr>
          </a:p>
        </p:txBody>
      </p:sp>
      <p:graphicFrame>
        <p:nvGraphicFramePr>
          <p:cNvPr id="3074" name="Object 9"/>
          <p:cNvGraphicFramePr/>
          <p:nvPr/>
        </p:nvGraphicFramePr>
        <p:xfrm>
          <a:off x="2865438" y="1676400"/>
          <a:ext cx="3062287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r:id="rId5" imgW="1929130" imgH="568960" progId="Equation.DSMT4">
                  <p:embed/>
                </p:oleObj>
              </mc:Choice>
              <mc:Fallback>
                <p:oleObj r:id="rId5" imgW="1929130" imgH="56896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65438" y="1676400"/>
                        <a:ext cx="3062287" cy="1014413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Rectangle 12"/>
          <p:cNvSpPr/>
          <p:nvPr/>
        </p:nvSpPr>
        <p:spPr>
          <a:xfrm>
            <a:off x="0" y="405447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3076" name="Object 11"/>
          <p:cNvGraphicFramePr/>
          <p:nvPr/>
        </p:nvGraphicFramePr>
        <p:xfrm>
          <a:off x="3124200" y="4648200"/>
          <a:ext cx="10668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r:id="rId7" imgW="469900" imgH="177800" progId="Equation.3">
                  <p:embed/>
                </p:oleObj>
              </mc:Choice>
              <mc:Fallback>
                <p:oleObj r:id="rId7" imgW="469900" imgH="1778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24200" y="4648200"/>
                        <a:ext cx="1066800" cy="412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" name="Rectangle 13"/>
          <p:cNvSpPr/>
          <p:nvPr/>
        </p:nvSpPr>
        <p:spPr>
          <a:xfrm>
            <a:off x="4572000" y="4648200"/>
            <a:ext cx="11033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400" b="1" dirty="0">
                <a:latin typeface="ˎ̥" charset="0"/>
                <a:ea typeface="宋体" panose="02010600030101010101" pitchFamily="2" charset="-122"/>
              </a:rPr>
              <a:t>能量子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83" name="Text Box 14"/>
          <p:cNvSpPr txBox="1"/>
          <p:nvPr/>
        </p:nvSpPr>
        <p:spPr>
          <a:xfrm>
            <a:off x="1155700" y="5570538"/>
            <a:ext cx="2559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楷体_GB2312" pitchFamily="49" charset="-122"/>
              </a:rPr>
              <a:t>普朗克常数</a:t>
            </a:r>
          </a:p>
        </p:txBody>
      </p:sp>
      <p:graphicFrame>
        <p:nvGraphicFramePr>
          <p:cNvPr id="3" name="Object 15"/>
          <p:cNvGraphicFramePr/>
          <p:nvPr/>
        </p:nvGraphicFramePr>
        <p:xfrm>
          <a:off x="3136900" y="5562600"/>
          <a:ext cx="3916363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r:id="rId9" imgW="1784350" imgH="267335" progId="Equation.3">
                  <p:embed/>
                </p:oleObj>
              </mc:Choice>
              <mc:Fallback>
                <p:oleObj r:id="rId9" imgW="1784350" imgH="267335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36900" y="5562600"/>
                        <a:ext cx="3916363" cy="5413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6"/>
          <p:cNvSpPr txBox="1"/>
          <p:nvPr/>
        </p:nvSpPr>
        <p:spPr>
          <a:xfrm>
            <a:off x="228600" y="3200400"/>
            <a:ext cx="561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_GB2312" pitchFamily="49" charset="-122"/>
              </a:rPr>
              <a:t>能量子假设</a:t>
            </a: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/>
      <p:bldP spid="3081" grpId="0"/>
      <p:bldP spid="3082" grpId="0"/>
      <p:bldP spid="3083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、光电效应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hlink"/>
                </a:solidFill>
              </a:rPr>
              <a:t>（光子假说）</a:t>
            </a:r>
          </a:p>
        </p:txBody>
      </p:sp>
      <p:sp>
        <p:nvSpPr>
          <p:cNvPr id="727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光电效应：</a:t>
            </a:r>
          </a:p>
          <a:p>
            <a:pPr eaLnBrk="1" hangingPunct="1"/>
            <a:r>
              <a:rPr lang="zh-CN" altLang="en-US" dirty="0"/>
              <a:t>当光照射到金属表面上时，能使电子从金属中逸出的现象，称</a:t>
            </a:r>
          </a:p>
          <a:p>
            <a:pPr eaLnBrk="1" hangingPunct="1"/>
            <a:r>
              <a:rPr lang="zh-CN" altLang="en-US" dirty="0"/>
              <a:t>为光电效应，逸出的电子称为光电子。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光电效应的实验规律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</a:p>
          <a:p>
            <a:pPr eaLnBrk="1" hangingPunct="1"/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(1)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同一种光，频率相同时，饱和光电流与入射光强成正比；</a:t>
            </a:r>
            <a:endParaRPr lang="zh-CN" altLang="en-US" dirty="0">
              <a:solidFill>
                <a:schemeClr val="hlink"/>
              </a:solidFill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eaLnBrk="1" hangingPunct="1"/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  <a:sym typeface="Wingdings" panose="05000000000000000000" pitchFamily="2" charset="2"/>
              </a:rPr>
              <a:t>(2)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  <a:sym typeface="Wingdings" panose="05000000000000000000" pitchFamily="2" charset="2"/>
              </a:rPr>
              <a:t>存在截止电压</a:t>
            </a:r>
            <a:r>
              <a:rPr lang="en-US" altLang="zh-CN" i="1" dirty="0">
                <a:latin typeface="华文宋体" panose="02010600040101010101" pitchFamily="2" charset="-122"/>
                <a:ea typeface="华文宋体" panose="02010600040101010101" pitchFamily="2" charset="-122"/>
                <a:sym typeface="Wingdings" panose="05000000000000000000" pitchFamily="2" charset="2"/>
              </a:rPr>
              <a:t>V</a:t>
            </a:r>
            <a:r>
              <a:rPr lang="en-US" altLang="zh-CN" i="1" baseline="-25000" dirty="0">
                <a:latin typeface="华文宋体" panose="02010600040101010101" pitchFamily="2" charset="-122"/>
                <a:ea typeface="华文宋体" panose="02010600040101010101" pitchFamily="2" charset="-122"/>
                <a:sym typeface="Wingdings" panose="05000000000000000000" pitchFamily="2" charset="2"/>
              </a:rPr>
              <a:t>0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  <a:sym typeface="Wingdings" panose="05000000000000000000" pitchFamily="2" charset="2"/>
              </a:rPr>
              <a:t>，</a:t>
            </a:r>
            <a:r>
              <a:rPr lang="en-US" altLang="zh-CN" i="1" dirty="0">
                <a:latin typeface="华文宋体" panose="02010600040101010101" pitchFamily="2" charset="-122"/>
                <a:ea typeface="华文宋体" panose="02010600040101010101" pitchFamily="2" charset="-122"/>
                <a:sym typeface="Wingdings" panose="05000000000000000000" pitchFamily="2" charset="2"/>
              </a:rPr>
              <a:t>V</a:t>
            </a:r>
            <a:r>
              <a:rPr lang="en-US" altLang="zh-CN" i="1" baseline="-25000" dirty="0">
                <a:latin typeface="华文宋体" panose="02010600040101010101" pitchFamily="2" charset="-122"/>
                <a:ea typeface="华文宋体" panose="02010600040101010101" pitchFamily="2" charset="-122"/>
                <a:sym typeface="Wingdings" panose="05000000000000000000" pitchFamily="2" charset="2"/>
              </a:rPr>
              <a:t>0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  <a:sym typeface="Wingdings" panose="05000000000000000000" pitchFamily="2" charset="2"/>
              </a:rPr>
              <a:t>与入射光频率成正比，与入射光强无关；</a:t>
            </a:r>
          </a:p>
          <a:p>
            <a:pPr>
              <a:lnSpc>
                <a:spcPct val="145000"/>
              </a:lnSpc>
              <a:spcBef>
                <a:spcPct val="0"/>
              </a:spcBef>
              <a:buClrTx/>
              <a:buSzTx/>
              <a:buFontTx/>
            </a:pP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  <a:sym typeface="Wingdings" panose="05000000000000000000" pitchFamily="2" charset="2"/>
              </a:rPr>
              <a:t>(3) 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  <a:sym typeface="Wingdings" panose="05000000000000000000" pitchFamily="2" charset="2"/>
              </a:rPr>
              <a:t>对于每一种金属，只有当入射光频率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  <a:sym typeface="Symbol" panose="05050102010706020507" pitchFamily="18" charset="2"/>
              </a:rPr>
              <a:t> 大于截止频率</a:t>
            </a:r>
            <a:r>
              <a:rPr lang="en-US" altLang="zh-CN" baseline="-25000" dirty="0">
                <a:latin typeface="华文宋体" panose="02010600040101010101" pitchFamily="2" charset="-122"/>
                <a:ea typeface="华文宋体" panose="02010600040101010101" pitchFamily="2" charset="-122"/>
                <a:sym typeface="Symbol" panose="05050102010706020507" pitchFamily="18" charset="2"/>
              </a:rPr>
              <a:t>0 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  <a:sym typeface="Symbol" panose="05050102010706020507" pitchFamily="18" charset="2"/>
              </a:rPr>
              <a:t>时，才会产生光电效应；</a:t>
            </a:r>
          </a:p>
          <a:p>
            <a:pPr eaLnBrk="1" hangingPunct="1"/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(4)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光电效应具有瞬时性，弛豫时间不超过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10</a:t>
            </a:r>
            <a:r>
              <a:rPr lang="en-US" altLang="zh-CN" baseline="30000" dirty="0">
                <a:latin typeface="华文宋体" panose="02010600040101010101" pitchFamily="2" charset="-122"/>
                <a:ea typeface="华文宋体" panose="02010600040101010101" pitchFamily="2" charset="-122"/>
              </a:rPr>
              <a:t>-9</a:t>
            </a:r>
            <a:r>
              <a: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rPr>
              <a:t>s</a:t>
            </a: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。</a:t>
            </a:r>
            <a:endParaRPr lang="en-US" altLang="zh-CN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光电效应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爱因斯坦的光量子论：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式中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m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0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为电子的质量，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max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是逸出光电子的最大速度，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A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称为电子的逸出功。由此公式可以解释光电效应的全部实验规律。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光子动量： </a:t>
            </a:r>
          </a:p>
        </p:txBody>
      </p:sp>
      <p:sp>
        <p:nvSpPr>
          <p:cNvPr id="4102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4098" name="Object 4"/>
          <p:cNvGraphicFramePr/>
          <p:nvPr/>
        </p:nvGraphicFramePr>
        <p:xfrm>
          <a:off x="3352800" y="1828800"/>
          <a:ext cx="2286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r:id="rId4" imgW="1180465" imgH="393700" progId="Equation.3">
                  <p:embed/>
                </p:oleObj>
              </mc:Choice>
              <mc:Fallback>
                <p:oleObj r:id="rId4" imgW="1180465" imgH="3937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2800" y="1828800"/>
                        <a:ext cx="22860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Rectangle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4099" name="Object 6"/>
          <p:cNvGraphicFramePr/>
          <p:nvPr/>
        </p:nvGraphicFramePr>
        <p:xfrm>
          <a:off x="3352800" y="5257800"/>
          <a:ext cx="18288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r:id="rId6" imgW="1066165" imgH="393700" progId="Equation.DSMT4">
                  <p:embed/>
                </p:oleObj>
              </mc:Choice>
              <mc:Fallback>
                <p:oleObj r:id="rId6" imgW="1066165" imgH="3937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52800" y="5257800"/>
                        <a:ext cx="1828800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、康普顿效应</a:t>
            </a:r>
          </a:p>
        </p:txBody>
      </p:sp>
      <p:sp>
        <p:nvSpPr>
          <p:cNvPr id="7475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dirty="0"/>
              <a:t>   </a:t>
            </a:r>
            <a:r>
              <a:rPr lang="zh-CN" altLang="en-US" dirty="0"/>
              <a:t>散射光中出现大于入射光波长的散射称为康普顿散射，也称康普顿效应。 </a:t>
            </a:r>
            <a:endParaRPr lang="en-US" altLang="zh-CN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实验规律：</a:t>
            </a:r>
          </a:p>
          <a:p>
            <a:pPr eaLnBrk="1" hangingPunct="1"/>
            <a:r>
              <a:rPr lang="en-US" altLang="zh-CN" dirty="0"/>
              <a:t>(1)</a:t>
            </a:r>
            <a:r>
              <a:rPr lang="zh-CN" altLang="en-US" dirty="0"/>
              <a:t>沿不同方向的散射光线中，</a:t>
            </a:r>
            <a:r>
              <a:rPr lang="zh-CN" altLang="en-US" dirty="0">
                <a:solidFill>
                  <a:schemeClr val="hlink"/>
                </a:solidFill>
              </a:rPr>
              <a:t>出现了波长大于原波长的谱线。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zh-CN" altLang="en-US" dirty="0">
                <a:solidFill>
                  <a:srgbClr val="FF0000"/>
                </a:solidFill>
              </a:rPr>
              <a:t>波长差</a:t>
            </a:r>
            <a:r>
              <a:rPr lang="el-GR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Δλ</a:t>
            </a:r>
            <a:r>
              <a:rPr lang="zh-CN" altLang="en-US" dirty="0">
                <a:solidFill>
                  <a:srgbClr val="FF0000"/>
                </a:solidFill>
              </a:rPr>
              <a:t>随散射角</a:t>
            </a:r>
            <a:r>
              <a:rPr lang="el-GR" altLang="zh-CN" dirty="0">
                <a:solidFill>
                  <a:srgbClr val="FF0000"/>
                </a:solidFill>
              </a:rPr>
              <a:t>θ</a:t>
            </a:r>
            <a:r>
              <a:rPr lang="zh-CN" altLang="en-US" dirty="0">
                <a:solidFill>
                  <a:srgbClr val="FF0000"/>
                </a:solidFill>
              </a:rPr>
              <a:t>的增加而增加，与元素无关。</a:t>
            </a:r>
            <a:r>
              <a:rPr lang="zh-CN" altLang="en-US" dirty="0"/>
              <a:t>随</a:t>
            </a:r>
            <a:r>
              <a:rPr lang="el-GR" altLang="zh-CN" dirty="0"/>
              <a:t>θ</a:t>
            </a:r>
            <a:r>
              <a:rPr lang="zh-CN" altLang="en-US" dirty="0"/>
              <a:t>增大，原波长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baseline="-25000" dirty="0">
                <a:sym typeface="Symbol" panose="05050102010706020507" pitchFamily="18" charset="2"/>
              </a:rPr>
              <a:t>0</a:t>
            </a:r>
            <a:r>
              <a:rPr lang="zh-CN" altLang="en-US" dirty="0"/>
              <a:t>谱线的强度减小，波长为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zh-CN" altLang="en-US" dirty="0"/>
              <a:t>的谱线的强度增大。散射角度越大，康普顿效应越明显。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康普顿效应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hlink"/>
                </a:solidFill>
              </a:rPr>
              <a:t>第一次证明了光子假说</a:t>
            </a:r>
          </a:p>
        </p:txBody>
      </p:sp>
      <p:sp>
        <p:nvSpPr>
          <p:cNvPr id="5130" name="Rectangle 3"/>
          <p:cNvSpPr>
            <a:spLocks noGrp="1"/>
          </p:cNvSpPr>
          <p:nvPr>
            <p:ph idx="1"/>
          </p:nvPr>
        </p:nvSpPr>
        <p:spPr>
          <a:xfrm>
            <a:off x="228600" y="1143000"/>
            <a:ext cx="8726488" cy="498951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用爱因斯坦光子假说解释康普顿散射</a:t>
            </a:r>
            <a:r>
              <a:rPr lang="en-US" altLang="zh-CN" dirty="0">
                <a:sym typeface="Wingdings" panose="05000000000000000000" pitchFamily="2" charset="2"/>
              </a:rPr>
              <a:t>:</a:t>
            </a:r>
            <a:r>
              <a:rPr lang="en-US" altLang="zh-CN" dirty="0">
                <a:solidFill>
                  <a:srgbClr val="FF0000"/>
                </a:solidFill>
                <a:sym typeface="Wingdings" panose="05000000000000000000" pitchFamily="2" charset="2"/>
              </a:rPr>
              <a:t>X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射线中的光子和电子间</a:t>
            </a: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的弹性碰撞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   能量守恒</a:t>
            </a: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   动量守恒</a:t>
            </a:r>
          </a:p>
          <a:p>
            <a:pPr eaLnBrk="1" hangingPunct="1"/>
            <a:r>
              <a:rPr lang="zh-CN" altLang="en-US" dirty="0">
                <a:sym typeface="Wingdings" panose="05000000000000000000" pitchFamily="2" charset="2"/>
              </a:rPr>
              <a:t>   和  分别是碰撞前后光子的动量，</a:t>
            </a:r>
            <a:r>
              <a:rPr lang="en-US" altLang="zh-CN" dirty="0">
                <a:sym typeface="Wingdings" panose="05000000000000000000" pitchFamily="2" charset="2"/>
              </a:rPr>
              <a:t>m</a:t>
            </a:r>
            <a:r>
              <a:rPr lang="en-US" altLang="zh-CN" baseline="-25000" dirty="0">
                <a:sym typeface="Wingdings" panose="05000000000000000000" pitchFamily="2" charset="2"/>
              </a:rPr>
              <a:t>0</a:t>
            </a:r>
            <a:r>
              <a:rPr lang="zh-CN" altLang="en-US" dirty="0">
                <a:sym typeface="Wingdings" panose="05000000000000000000" pitchFamily="2" charset="2"/>
              </a:rPr>
              <a:t>为电子的静质量；</a:t>
            </a:r>
            <a:r>
              <a:rPr lang="en-US" altLang="zh-CN" dirty="0">
                <a:sym typeface="Wingdings" panose="05000000000000000000" pitchFamily="2" charset="2"/>
              </a:rPr>
              <a:t>v</a:t>
            </a:r>
            <a:r>
              <a:rPr lang="zh-CN" altLang="en-US" dirty="0">
                <a:sym typeface="Wingdings" panose="05000000000000000000" pitchFamily="2" charset="2"/>
              </a:rPr>
              <a:t>为碰撞后电子的反冲速度；                    是电子的运动质量。 </a:t>
            </a:r>
          </a:p>
          <a:p>
            <a:pPr eaLnBrk="1" hangingPunct="1"/>
            <a:endParaRPr lang="zh-CN" altLang="en-US" dirty="0">
              <a:sym typeface="Wingdings" panose="05000000000000000000" pitchFamily="2" charset="2"/>
            </a:endParaRPr>
          </a:p>
          <a:p>
            <a:pPr eaLnBrk="1" hangingPunct="1"/>
            <a:endParaRPr lang="zh-CN" altLang="en-US" dirty="0">
              <a:sym typeface="Wingdings" panose="05000000000000000000" pitchFamily="2" charset="2"/>
            </a:endParaRPr>
          </a:p>
          <a:p>
            <a:pPr eaLnBrk="1" hangingPunct="1"/>
            <a:endParaRPr lang="en-US" altLang="zh-CN" dirty="0">
              <a:sym typeface="Wingdings" panose="05000000000000000000" pitchFamily="2" charset="2"/>
            </a:endParaRPr>
          </a:p>
        </p:txBody>
      </p:sp>
      <p:sp>
        <p:nvSpPr>
          <p:cNvPr id="5134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5122" name="Object 4"/>
          <p:cNvGraphicFramePr/>
          <p:nvPr/>
        </p:nvGraphicFramePr>
        <p:xfrm>
          <a:off x="2405063" y="2286000"/>
          <a:ext cx="242728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r:id="rId4" imgW="1421765" imgH="241300" progId="Equation.DSMT4">
                  <p:embed/>
                </p:oleObj>
              </mc:Choice>
              <mc:Fallback>
                <p:oleObj r:id="rId4" imgW="1421765" imgH="2413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05063" y="2286000"/>
                        <a:ext cx="2427287" cy="404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6"/>
          <p:cNvGraphicFramePr/>
          <p:nvPr/>
        </p:nvGraphicFramePr>
        <p:xfrm>
          <a:off x="2397125" y="2667000"/>
          <a:ext cx="395287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r:id="rId6" imgW="2107565" imgH="393700" progId="Equation.DSMT4">
                  <p:embed/>
                </p:oleObj>
              </mc:Choice>
              <mc:Fallback>
                <p:oleObj r:id="rId6" imgW="2107565" imgH="3937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97125" y="2667000"/>
                        <a:ext cx="3952875" cy="739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8"/>
          <p:cNvGraphicFramePr/>
          <p:nvPr/>
        </p:nvGraphicFramePr>
        <p:xfrm>
          <a:off x="654050" y="4572000"/>
          <a:ext cx="37973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" r:id="rId8" imgW="2310130" imgH="431800" progId="Equation.DSMT4">
                  <p:embed/>
                </p:oleObj>
              </mc:Choice>
              <mc:Fallback>
                <p:oleObj r:id="rId8" imgW="2310130" imgH="4318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4050" y="4572000"/>
                        <a:ext cx="3797300" cy="703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Rectangle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5125" name="Object 11"/>
          <p:cNvGraphicFramePr/>
          <p:nvPr/>
        </p:nvGraphicFramePr>
        <p:xfrm>
          <a:off x="685800" y="5257800"/>
          <a:ext cx="12192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r:id="rId10" imgW="622300" imgH="431800" progId="Equation.3">
                  <p:embed/>
                </p:oleObj>
              </mc:Choice>
              <mc:Fallback>
                <p:oleObj r:id="rId10" imgW="622300" imgH="4318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5800" y="5257800"/>
                        <a:ext cx="1219200" cy="844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3"/>
          <p:cNvSpPr txBox="1"/>
          <p:nvPr/>
        </p:nvSpPr>
        <p:spPr>
          <a:xfrm>
            <a:off x="2209800" y="5486400"/>
            <a:ext cx="1708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康普顿波长</a:t>
            </a:r>
          </a:p>
        </p:txBody>
      </p:sp>
      <p:sp>
        <p:nvSpPr>
          <p:cNvPr id="5137" name="Rectangle 1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5126" name="Object 14"/>
          <p:cNvGraphicFramePr/>
          <p:nvPr/>
        </p:nvGraphicFramePr>
        <p:xfrm>
          <a:off x="228600" y="3352800"/>
          <a:ext cx="317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" r:id="rId12" imgW="190500" imgH="228600" progId="Equation.3">
                  <p:embed/>
                </p:oleObj>
              </mc:Choice>
              <mc:Fallback>
                <p:oleObj r:id="rId12" imgW="190500" imgH="2286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8600" y="3352800"/>
                        <a:ext cx="317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Rectangle 1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5127" name="Object 16"/>
          <p:cNvGraphicFramePr/>
          <p:nvPr/>
        </p:nvGraphicFramePr>
        <p:xfrm>
          <a:off x="838200" y="3352800"/>
          <a:ext cx="2905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r:id="rId14" imgW="152400" imgH="203200" progId="Equation.3">
                  <p:embed/>
                </p:oleObj>
              </mc:Choice>
              <mc:Fallback>
                <p:oleObj r:id="rId14" imgW="152400" imgH="203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38200" y="3352800"/>
                        <a:ext cx="290513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9" name="Rectangle 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5128" name="Object 18"/>
          <p:cNvGraphicFramePr/>
          <p:nvPr/>
        </p:nvGraphicFramePr>
        <p:xfrm>
          <a:off x="3598863" y="3748088"/>
          <a:ext cx="19446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5" r:id="rId16" imgW="1332230" imgH="304800" progId="Equation.DSMT4">
                  <p:embed/>
                </p:oleObj>
              </mc:Choice>
              <mc:Fallback>
                <p:oleObj r:id="rId16" imgW="1332230" imgH="3048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598863" y="3748088"/>
                        <a:ext cx="1944687" cy="4429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40" name="Group 27"/>
          <p:cNvGrpSpPr/>
          <p:nvPr/>
        </p:nvGrpSpPr>
        <p:grpSpPr>
          <a:xfrm>
            <a:off x="5065713" y="4391025"/>
            <a:ext cx="3240087" cy="2162175"/>
            <a:chOff x="532" y="2712"/>
            <a:chExt cx="2041" cy="1362"/>
          </a:xfrm>
        </p:grpSpPr>
        <p:grpSp>
          <p:nvGrpSpPr>
            <p:cNvPr id="5141" name="Group 28"/>
            <p:cNvGrpSpPr/>
            <p:nvPr/>
          </p:nvGrpSpPr>
          <p:grpSpPr>
            <a:xfrm>
              <a:off x="532" y="2990"/>
              <a:ext cx="2041" cy="1084"/>
              <a:chOff x="532" y="2990"/>
              <a:chExt cx="2041" cy="1084"/>
            </a:xfrm>
          </p:grpSpPr>
          <p:sp>
            <p:nvSpPr>
              <p:cNvPr id="5144" name="Line 29"/>
              <p:cNvSpPr/>
              <p:nvPr/>
            </p:nvSpPr>
            <p:spPr>
              <a:xfrm>
                <a:off x="1552" y="3376"/>
                <a:ext cx="508" cy="41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lg"/>
              </a:ln>
            </p:spPr>
          </p:sp>
          <p:sp>
            <p:nvSpPr>
              <p:cNvPr id="5145" name="Line 30"/>
              <p:cNvSpPr/>
              <p:nvPr/>
            </p:nvSpPr>
            <p:spPr>
              <a:xfrm flipV="1">
                <a:off x="1552" y="2990"/>
                <a:ext cx="582" cy="37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lg"/>
              </a:ln>
            </p:spPr>
          </p:sp>
          <p:sp>
            <p:nvSpPr>
              <p:cNvPr id="5146" name="Oval 31"/>
              <p:cNvSpPr/>
              <p:nvPr/>
            </p:nvSpPr>
            <p:spPr>
              <a:xfrm>
                <a:off x="1467" y="3305"/>
                <a:ext cx="144" cy="143"/>
              </a:xfrm>
              <a:prstGeom prst="ellipse">
                <a:avLst/>
              </a:prstGeom>
              <a:solidFill>
                <a:srgbClr val="CCFFFF"/>
              </a:solidFill>
              <a:ln w="9525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eaLnBrk="1" hangingPunct="1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5147" name="Line 32"/>
              <p:cNvSpPr/>
              <p:nvPr/>
            </p:nvSpPr>
            <p:spPr>
              <a:xfrm flipV="1">
                <a:off x="665" y="3376"/>
                <a:ext cx="81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lg"/>
              </a:ln>
            </p:spPr>
          </p:sp>
          <p:sp>
            <p:nvSpPr>
              <p:cNvPr id="5148" name="Line 33"/>
              <p:cNvSpPr/>
              <p:nvPr/>
            </p:nvSpPr>
            <p:spPr>
              <a:xfrm>
                <a:off x="1619" y="3376"/>
                <a:ext cx="802" cy="0"/>
              </a:xfrm>
              <a:prstGeom prst="line">
                <a:avLst/>
              </a:prstGeom>
              <a:ln w="28575" cap="flat" cmpd="sng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27" name="Text Box 34"/>
              <p:cNvSpPr txBox="1">
                <a:spLocks noChangeArrowheads="1"/>
              </p:cNvSpPr>
              <p:nvPr/>
            </p:nvSpPr>
            <p:spPr bwMode="blackWhite">
              <a:xfrm>
                <a:off x="1435" y="3004"/>
                <a:ext cx="249" cy="43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/>
              <a:lstStyle/>
              <a:p>
                <a:pPr algn="just" eaLnBrk="1" hangingPunct="1"/>
                <a:r>
                  <a:rPr lang="en-US" altLang="zh-CN" i="1" dirty="0">
                    <a:solidFill>
                      <a:srgbClr val="0000FF"/>
                    </a:solidFill>
                    <a:effectLst>
                      <a:outerShdw blurRad="38100" dist="38100" dir="2700000">
                        <a:srgbClr val="C0C0C0"/>
                      </a:outerShdw>
                    </a:effectLst>
                    <a:latin typeface="Tahoma" panose="020B0604030504040204" pitchFamily="34" charset="0"/>
                    <a:ea typeface="黑体" panose="02010609060101010101" pitchFamily="49" charset="-122"/>
                  </a:rPr>
                  <a:t>e</a:t>
                </a:r>
              </a:p>
            </p:txBody>
          </p:sp>
          <p:sp>
            <p:nvSpPr>
              <p:cNvPr id="28" name="Text Box 35"/>
              <p:cNvSpPr txBox="1">
                <a:spLocks noChangeArrowheads="1"/>
              </p:cNvSpPr>
              <p:nvPr/>
            </p:nvSpPr>
            <p:spPr bwMode="blackWhite">
              <a:xfrm>
                <a:off x="532" y="3790"/>
                <a:ext cx="2041" cy="28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/>
              <a:lstStyle/>
              <a:p>
                <a:pPr marR="0" defTabSz="914400" eaLnBrk="1" hangingPunct="1">
                  <a:buClrTx/>
                  <a:buSzTx/>
                  <a:buFontTx/>
                  <a:buNone/>
                  <a:defRPr/>
                </a:pPr>
                <a:r>
                  <a:rPr kumimoji="0" lang="zh-CN" altLang="en-US" kern="1200" cap="none" spc="0" normalizeH="0" baseline="0" noProof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panose="020B0604030504040204" pitchFamily="34" charset="0"/>
                    <a:ea typeface="黑体" panose="02010609060101010101" pitchFamily="49" charset="-122"/>
                    <a:cs typeface="+mn-cs"/>
                  </a:rPr>
                  <a:t>自由电子（静止）</a:t>
                </a:r>
              </a:p>
            </p:txBody>
          </p:sp>
          <p:sp>
            <p:nvSpPr>
              <p:cNvPr id="5151" name="Line 36"/>
              <p:cNvSpPr/>
              <p:nvPr/>
            </p:nvSpPr>
            <p:spPr>
              <a:xfrm flipV="1">
                <a:off x="981" y="3431"/>
                <a:ext cx="535" cy="368"/>
              </a:xfrm>
              <a:prstGeom prst="line">
                <a:avLst/>
              </a:prstGeom>
              <a:ln w="1270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5152" name="Freeform 37"/>
              <p:cNvSpPr/>
              <p:nvPr/>
            </p:nvSpPr>
            <p:spPr>
              <a:xfrm>
                <a:off x="1795" y="3211"/>
                <a:ext cx="59" cy="165"/>
              </a:xfrm>
              <a:custGeom>
                <a:avLst/>
                <a:gdLst>
                  <a:gd name="txL" fmla="*/ 0 w 120"/>
                  <a:gd name="txT" fmla="*/ 0 h 315"/>
                  <a:gd name="txR" fmla="*/ 120 w 120"/>
                  <a:gd name="txB" fmla="*/ 315 h 315"/>
                </a:gdLst>
                <a:ahLst/>
                <a:cxnLst>
                  <a:cxn ang="0">
                    <a:pos x="0" y="0"/>
                  </a:cxn>
                  <a:cxn ang="0">
                    <a:pos x="26" y="45"/>
                  </a:cxn>
                  <a:cxn ang="0">
                    <a:pos x="22" y="86"/>
                  </a:cxn>
                </a:cxnLst>
                <a:rect l="txL" t="txT" r="txR" b="txB"/>
                <a:pathLst>
                  <a:path w="120" h="315">
                    <a:moveTo>
                      <a:pt x="0" y="0"/>
                    </a:moveTo>
                    <a:cubicBezTo>
                      <a:pt x="45" y="56"/>
                      <a:pt x="90" y="113"/>
                      <a:pt x="105" y="165"/>
                    </a:cubicBezTo>
                    <a:cubicBezTo>
                      <a:pt x="120" y="217"/>
                      <a:pt x="105" y="266"/>
                      <a:pt x="90" y="315"/>
                    </a:cubicBezTo>
                  </a:path>
                </a:pathLst>
              </a:custGeom>
              <a:noFill/>
              <a:ln w="28575" cap="flat" cmpd="sng">
                <a:solidFill>
                  <a:srgbClr val="008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5129" name="Object 9"/>
              <p:cNvGraphicFramePr/>
              <p:nvPr/>
            </p:nvGraphicFramePr>
            <p:xfrm>
              <a:off x="761" y="3058"/>
              <a:ext cx="354" cy="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6" r:id="rId18" imgW="323215" imgH="267335" progId="Equation.3">
                      <p:embed/>
                    </p:oleObj>
                  </mc:Choice>
                  <mc:Fallback>
                    <p:oleObj r:id="rId18" imgW="323215" imgH="267335" progId="Equation.3">
                      <p:embed/>
                      <p:pic>
                        <p:nvPicPr>
                          <p:cNvPr id="0" name="图片 3086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761" y="3058"/>
                            <a:ext cx="354" cy="35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" name="Object 19"/>
              <p:cNvGraphicFramePr/>
              <p:nvPr/>
            </p:nvGraphicFramePr>
            <p:xfrm>
              <a:off x="2058" y="3630"/>
              <a:ext cx="424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7" r:id="rId20" imgW="345440" imgH="234315" progId="Equation.3">
                      <p:embed/>
                    </p:oleObj>
                  </mc:Choice>
                  <mc:Fallback>
                    <p:oleObj r:id="rId20" imgW="345440" imgH="234315" progId="Equation.3">
                      <p:embed/>
                      <p:pic>
                        <p:nvPicPr>
                          <p:cNvPr id="0" name="图片 3083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2058" y="3630"/>
                            <a:ext cx="424" cy="29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31" name="Object 20"/>
              <p:cNvGraphicFramePr/>
              <p:nvPr/>
            </p:nvGraphicFramePr>
            <p:xfrm>
              <a:off x="1901" y="3162"/>
              <a:ext cx="163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228" r:id="rId22" imgW="256540" imgH="323215" progId="Equation.3">
                      <p:embed/>
                    </p:oleObj>
                  </mc:Choice>
                  <mc:Fallback>
                    <p:oleObj r:id="rId22" imgW="256540" imgH="323215" progId="Equation.3">
                      <p:embed/>
                      <p:pic>
                        <p:nvPicPr>
                          <p:cNvPr id="0" name="图片 3087"/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1901" y="3162"/>
                            <a:ext cx="163" cy="21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" name="Text Box 44"/>
            <p:cNvSpPr txBox="1">
              <a:spLocks noChangeArrowheads="1"/>
            </p:cNvSpPr>
            <p:nvPr/>
          </p:nvSpPr>
          <p:spPr bwMode="blackWhite">
            <a:xfrm>
              <a:off x="1392" y="3373"/>
              <a:ext cx="578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i="1" kern="1200" cap="none" spc="0" normalizeH="0" baseline="0" noProof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m</a:t>
              </a:r>
              <a:r>
                <a:rPr kumimoji="0" lang="en-US" altLang="zh-CN" kern="1200" cap="none" spc="0" normalizeH="0" baseline="-25000" noProof="0">
                  <a:solidFill>
                    <a:srgbClr val="0000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panose="020B0604030504040204" pitchFamily="34" charset="0"/>
                  <a:ea typeface="黑体" panose="02010609060101010101" pitchFamily="49" charset="-122"/>
                  <a:cs typeface="+mn-cs"/>
                </a:rPr>
                <a:t>0</a:t>
              </a:r>
              <a:endParaRPr kumimoji="0" lang="en-US" altLang="zh-CN" kern="1200" cap="none" spc="0" normalizeH="0" baseline="0" noProof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1" name="Text Box 45"/>
            <p:cNvSpPr txBox="1">
              <a:spLocks noChangeArrowheads="1"/>
            </p:cNvSpPr>
            <p:nvPr/>
          </p:nvSpPr>
          <p:spPr bwMode="blackWhite">
            <a:xfrm>
              <a:off x="1974" y="2712"/>
              <a:ext cx="450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R="0" defTabSz="914400" eaLnBrk="1" hangingPunct="1">
                <a:buClrTx/>
                <a:buSzTx/>
                <a:buFontTx/>
                <a:buNone/>
                <a:defRPr/>
              </a:pPr>
              <a:r>
                <a:rPr kumimoji="0" lang="en-US" altLang="zh-CN" sz="2400" i="1" kern="1200" cap="none" spc="0" normalizeH="0" baseline="0" noProof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h</a:t>
              </a:r>
              <a:r>
                <a:rPr kumimoji="0" lang="en-US" altLang="zh-CN" sz="2400" i="1" kern="1200" cap="none" spc="0" normalizeH="0" baseline="0" noProof="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</a:t>
              </a:r>
              <a:endParaRPr kumimoji="0" lang="en-US" altLang="zh-CN" sz="2400" i="1" kern="1200" cap="none" spc="0" normalizeH="0" baseline="0" noProof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5"/>
          <p:cNvSpPr txBox="1"/>
          <p:nvPr/>
        </p:nvSpPr>
        <p:spPr>
          <a:xfrm>
            <a:off x="609600" y="2438400"/>
            <a:ext cx="8304213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 两种效应中电子与光子两者组成的系统都服从动量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守恒定律。</a:t>
            </a:r>
          </a:p>
        </p:txBody>
      </p:sp>
      <p:sp>
        <p:nvSpPr>
          <p:cNvPr id="43011" name="Text Box 6"/>
          <p:cNvSpPr txBox="1"/>
          <p:nvPr/>
        </p:nvSpPr>
        <p:spPr>
          <a:xfrm>
            <a:off x="533400" y="3581400"/>
            <a:ext cx="8151813" cy="54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两种效应都相当于电子和光子的弹性碰撞过程。</a:t>
            </a:r>
          </a:p>
        </p:txBody>
      </p:sp>
      <p:sp>
        <p:nvSpPr>
          <p:cNvPr id="43012" name="Text Box 7"/>
          <p:cNvSpPr txBox="1"/>
          <p:nvPr/>
        </p:nvSpPr>
        <p:spPr>
          <a:xfrm>
            <a:off x="533400" y="4495800"/>
            <a:ext cx="8075613" cy="54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两种效应都属于电子吸收光子的过程。</a:t>
            </a:r>
          </a:p>
        </p:txBody>
      </p:sp>
      <p:sp>
        <p:nvSpPr>
          <p:cNvPr id="43013" name="Text Box 8"/>
          <p:cNvSpPr txBox="1"/>
          <p:nvPr/>
        </p:nvSpPr>
        <p:spPr>
          <a:xfrm>
            <a:off x="533400" y="5486400"/>
            <a:ext cx="8216900" cy="1006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光电效应是吸收光子的过程，而康普顿效应则相当于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光子和电子的弹性碰撞。</a:t>
            </a:r>
          </a:p>
        </p:txBody>
      </p:sp>
      <p:sp>
        <p:nvSpPr>
          <p:cNvPr id="43014" name="Text Box 16"/>
          <p:cNvSpPr txBox="1"/>
          <p:nvPr/>
        </p:nvSpPr>
        <p:spPr>
          <a:xfrm>
            <a:off x="228600" y="1219200"/>
            <a:ext cx="7610475" cy="1016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练习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光电效应和康普顿效应都包含有电子与光子的相互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作用过程。对此，在以下几种理解中，正确的是</a:t>
            </a:r>
          </a:p>
        </p:txBody>
      </p:sp>
      <p:sp>
        <p:nvSpPr>
          <p:cNvPr id="9" name="Text Box 7"/>
          <p:cNvSpPr txBox="1"/>
          <p:nvPr/>
        </p:nvSpPr>
        <p:spPr>
          <a:xfrm>
            <a:off x="7543800" y="1752600"/>
            <a:ext cx="12239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defTabSz="717550"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、微观粒子的波粒二象性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德布罗意假设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不仅光具有波粒二象性，而且一切实物粒子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静止质量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≠0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的粒子）也具有波粒二象性。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一个总能量为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，动量为 </a:t>
            </a: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的实物粒子同时具有波动性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且满足德布罗意关系式：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2290" name="Object 4"/>
          <p:cNvGraphicFramePr/>
          <p:nvPr/>
        </p:nvGraphicFramePr>
        <p:xfrm>
          <a:off x="4435475" y="3276600"/>
          <a:ext cx="210185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r:id="rId5" imgW="1014730" imgH="490855" progId="Equation.DSMT4">
                  <p:embed/>
                </p:oleObj>
              </mc:Choice>
              <mc:Fallback>
                <p:oleObj r:id="rId5" imgW="1014730" imgH="490855" progId="Equation.DSMT4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35475" y="3276600"/>
                        <a:ext cx="2101850" cy="833438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6"/>
          <p:cNvGraphicFramePr/>
          <p:nvPr/>
        </p:nvGraphicFramePr>
        <p:xfrm>
          <a:off x="1143000" y="3276600"/>
          <a:ext cx="190500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4" r:id="rId7" imgW="981075" imgH="501650" progId="Equation.DSMT4">
                  <p:embed/>
                </p:oleObj>
              </mc:Choice>
              <mc:Fallback>
                <p:oleObj r:id="rId7" imgW="981075" imgH="50165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43000" y="3276600"/>
                        <a:ext cx="1905000" cy="852488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6" name="Text Box 7"/>
          <p:cNvSpPr txBox="1"/>
          <p:nvPr/>
        </p:nvSpPr>
        <p:spPr>
          <a:xfrm>
            <a:off x="609600" y="5334000"/>
            <a:ext cx="8229600" cy="511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 sz="2400" b="1" dirty="0">
                <a:latin typeface="楷体_GB2312" pitchFamily="49" charset="-122"/>
              </a:rPr>
              <a:t>与实物粒子相联系的波称为物质波，或德布罗意波。</a:t>
            </a:r>
          </a:p>
        </p:txBody>
      </p:sp>
      <p:sp>
        <p:nvSpPr>
          <p:cNvPr id="6153" name="Rectangle 9"/>
          <p:cNvSpPr/>
          <p:nvPr/>
        </p:nvSpPr>
        <p:spPr>
          <a:xfrm>
            <a:off x="0" y="3338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12292" name="Object 8"/>
          <p:cNvGraphicFramePr/>
          <p:nvPr/>
        </p:nvGraphicFramePr>
        <p:xfrm>
          <a:off x="4376738" y="4495800"/>
          <a:ext cx="126206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5" r:id="rId9" imgW="481965" imgH="177800" progId="Equation.3">
                  <p:embed/>
                </p:oleObj>
              </mc:Choice>
              <mc:Fallback>
                <p:oleObj r:id="rId9" imgW="481965" imgH="1778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76738" y="4495800"/>
                        <a:ext cx="1262062" cy="473075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11"/>
          <p:cNvSpPr/>
          <p:nvPr/>
        </p:nvSpPr>
        <p:spPr>
          <a:xfrm>
            <a:off x="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12293" name="Object 10"/>
          <p:cNvGraphicFramePr/>
          <p:nvPr/>
        </p:nvGraphicFramePr>
        <p:xfrm>
          <a:off x="1752600" y="4267200"/>
          <a:ext cx="9906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r:id="rId11" imgW="431800" imgH="393700" progId="Equation.3">
                  <p:embed/>
                </p:oleObj>
              </mc:Choice>
              <mc:Fallback>
                <p:oleObj r:id="rId11" imgW="431800" imgH="3937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52600" y="4267200"/>
                        <a:ext cx="990600" cy="901700"/>
                      </a:xfrm>
                      <a:prstGeom prst="rect">
                        <a:avLst/>
                      </a:prstGeom>
                      <a:noFill/>
                      <a:ln w="9525" cap="flat" cmpd="sng">
                        <a:solidFill>
                          <a:schemeClr val="tx2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6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en-US" altLang="zh-CN" dirty="0"/>
              <a:t>4</a:t>
            </a:r>
            <a:r>
              <a:rPr lang="zh-CN" altLang="en-US" dirty="0"/>
              <a:t>、微观粒子的波粒二象性</a:t>
            </a:r>
          </a:p>
        </p:txBody>
      </p:sp>
      <p:sp>
        <p:nvSpPr>
          <p:cNvPr id="7172" name="Text Box 7"/>
          <p:cNvSpPr txBox="1"/>
          <p:nvPr/>
        </p:nvSpPr>
        <p:spPr>
          <a:xfrm>
            <a:off x="457200" y="1214438"/>
            <a:ext cx="7793038" cy="5095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Tahoma" panose="020B0604030504040204" pitchFamily="34" charset="0"/>
              </a:rPr>
              <a:t>德布罗意波的实验验证</a:t>
            </a:r>
            <a:r>
              <a:rPr lang="en-US" altLang="zh-CN" sz="2400" dirty="0">
                <a:latin typeface="Arial" panose="020B0604020202020204" pitchFamily="34" charset="0"/>
              </a:rPr>
              <a:t>——</a:t>
            </a:r>
            <a:r>
              <a:rPr lang="zh-CN" altLang="en-US" sz="2400" dirty="0">
                <a:latin typeface="Tahoma" panose="020B0604030504040204" pitchFamily="34" charset="0"/>
              </a:rPr>
              <a:t>电子衍射（</a:t>
            </a:r>
            <a:r>
              <a:rPr lang="zh-CN" altLang="en-US" sz="2400" b="1" dirty="0">
                <a:latin typeface="Times New Roman" panose="02020603050405020304" pitchFamily="18" charset="0"/>
              </a:rPr>
              <a:t>戴维逊</a:t>
            </a:r>
            <a:r>
              <a:rPr lang="en-US" altLang="zh-CN" sz="2400" b="1" dirty="0">
                <a:latin typeface="Times New Roman" panose="02020603050405020304" pitchFamily="18" charset="0"/>
              </a:rPr>
              <a:t>-</a:t>
            </a:r>
            <a:r>
              <a:rPr lang="zh-CN" altLang="en-US" sz="2400" b="1" dirty="0">
                <a:latin typeface="Times New Roman" panose="02020603050405020304" pitchFamily="18" charset="0"/>
              </a:rPr>
              <a:t>革末实验</a:t>
            </a:r>
            <a:r>
              <a:rPr lang="zh-CN" altLang="en-US" sz="2400" dirty="0">
                <a:latin typeface="Tahoma" panose="020B0604030504040204" pitchFamily="34" charset="0"/>
              </a:rPr>
              <a:t>）</a:t>
            </a:r>
            <a:endParaRPr lang="en-US" altLang="zh-CN" sz="2400" dirty="0">
              <a:latin typeface="Tahoma" panose="020B0604030504040204" pitchFamily="34" charset="0"/>
            </a:endParaRPr>
          </a:p>
        </p:txBody>
      </p:sp>
      <p:pic>
        <p:nvPicPr>
          <p:cNvPr id="7173" name="Picture 6" descr="dai4-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25" y="1709738"/>
            <a:ext cx="4283075" cy="2357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Text Box 7"/>
          <p:cNvSpPr txBox="1"/>
          <p:nvPr/>
        </p:nvSpPr>
        <p:spPr>
          <a:xfrm>
            <a:off x="606425" y="4878388"/>
            <a:ext cx="4037013" cy="511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dirty="0">
                <a:latin typeface="Tahoma" panose="020B0604030504040204" pitchFamily="34" charset="0"/>
              </a:rPr>
              <a:t>二维画（小姑娘和老太太）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5246688" y="1727200"/>
            <a:ext cx="3721100" cy="4960938"/>
            <a:chOff x="528" y="1056"/>
            <a:chExt cx="2496" cy="3264"/>
          </a:xfrm>
        </p:grpSpPr>
        <p:grpSp>
          <p:nvGrpSpPr>
            <p:cNvPr id="7176" name="Group 3"/>
            <p:cNvGrpSpPr/>
            <p:nvPr/>
          </p:nvGrpSpPr>
          <p:grpSpPr>
            <a:xfrm>
              <a:off x="768" y="1248"/>
              <a:ext cx="2016" cy="3072"/>
              <a:chOff x="768" y="1248"/>
              <a:chExt cx="2016" cy="3072"/>
            </a:xfrm>
          </p:grpSpPr>
          <p:pic>
            <p:nvPicPr>
              <p:cNvPr id="7177" name="Picture 4" descr="tu1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8" y="1248"/>
                <a:ext cx="2016" cy="307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7178" name="Rectangle 5"/>
              <p:cNvSpPr/>
              <p:nvPr/>
            </p:nvSpPr>
            <p:spPr>
              <a:xfrm>
                <a:off x="768" y="3984"/>
                <a:ext cx="2016" cy="336"/>
              </a:xfrm>
              <a:prstGeom prst="rect">
                <a:avLst/>
              </a:prstGeom>
              <a:solidFill>
                <a:srgbClr val="CCECFF"/>
              </a:solidFill>
              <a:ln w="9525">
                <a:noFill/>
              </a:ln>
            </p:spPr>
            <p:txBody>
              <a:bodyPr anchor="ctr" anchorCtr="0"/>
              <a:lstStyle/>
              <a:p>
                <a:pPr eaLnBrk="1" hangingPunct="1"/>
                <a:endParaRPr lang="zh-CN" altLang="en-US" dirty="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7170" name="Object 6"/>
            <p:cNvGraphicFramePr>
              <a:graphicFrameLocks noChangeAspect="1"/>
            </p:cNvGraphicFramePr>
            <p:nvPr/>
          </p:nvGraphicFramePr>
          <p:xfrm>
            <a:off x="528" y="1056"/>
            <a:ext cx="2496" cy="3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2" r:id="rId7" imgW="3104515" imgH="3021965" progId="">
                    <p:embed/>
                  </p:oleObj>
                </mc:Choice>
                <mc:Fallback>
                  <p:oleObj r:id="rId7" imgW="3104515" imgH="3021965" progId="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28" y="1056"/>
                          <a:ext cx="2496" cy="32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矩形 1"/>
          <p:cNvSpPr/>
          <p:nvPr/>
        </p:nvSpPr>
        <p:spPr>
          <a:xfrm>
            <a:off x="3549650" y="3244850"/>
            <a:ext cx="1730375" cy="1014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6000" b="1" dirty="0">
                <a:solidFill>
                  <a:srgbClr val="0000FF"/>
                </a:solidFill>
                <a:latin typeface="Tahoma" panose="020B0604030504040204" pitchFamily="34" charset="0"/>
              </a:rPr>
              <a:t>习题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solidFill>
                  <a:schemeClr val="accent2"/>
                </a:solidFill>
              </a:rPr>
              <a:t>例</a:t>
            </a:r>
            <a:r>
              <a:rPr lang="en-US" altLang="zh-CN" dirty="0">
                <a:solidFill>
                  <a:schemeClr val="accent2"/>
                </a:solidFill>
              </a:rPr>
              <a:t>1</a:t>
            </a:r>
            <a:r>
              <a:rPr lang="zh-CN" altLang="en-US" dirty="0">
                <a:solidFill>
                  <a:schemeClr val="accent2"/>
                </a:solidFill>
              </a:rPr>
              <a:t>、</a:t>
            </a:r>
            <a:r>
              <a:rPr lang="zh-CN" altLang="en-US" dirty="0">
                <a:solidFill>
                  <a:schemeClr val="tx1"/>
                </a:solidFill>
              </a:rPr>
              <a:t>铝的逸出功是</a:t>
            </a:r>
            <a:r>
              <a:rPr lang="en-US" altLang="zh-CN" dirty="0">
                <a:solidFill>
                  <a:schemeClr val="tx1"/>
                </a:solidFill>
              </a:rPr>
              <a:t>4.2eV</a:t>
            </a:r>
            <a:r>
              <a:rPr lang="zh-CN" altLang="en-US" dirty="0">
                <a:solidFill>
                  <a:schemeClr val="tx1"/>
                </a:solidFill>
              </a:rPr>
              <a:t>，今用波长为</a:t>
            </a:r>
            <a:r>
              <a:rPr lang="en-US" altLang="zh-CN" dirty="0">
                <a:solidFill>
                  <a:schemeClr val="tx1"/>
                </a:solidFill>
              </a:rPr>
              <a:t>200nm</a:t>
            </a:r>
            <a:r>
              <a:rPr lang="zh-CN" altLang="en-US" dirty="0">
                <a:solidFill>
                  <a:schemeClr val="tx1"/>
                </a:solidFill>
              </a:rPr>
              <a:t>的光照射铝表面，求：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） 光电子最大初动能；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） 遏止电压；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） 铝的截止波长。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5" name="Text Box 3"/>
          <p:cNvSpPr txBox="1"/>
          <p:nvPr/>
        </p:nvSpPr>
        <p:spPr>
          <a:xfrm>
            <a:off x="381000" y="2597150"/>
            <a:ext cx="32289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由光电效应方程</a:t>
            </a:r>
          </a:p>
        </p:txBody>
      </p:sp>
      <p:graphicFrame>
        <p:nvGraphicFramePr>
          <p:cNvPr id="6" name="Object 4"/>
          <p:cNvGraphicFramePr/>
          <p:nvPr/>
        </p:nvGraphicFramePr>
        <p:xfrm>
          <a:off x="4281488" y="2436813"/>
          <a:ext cx="23209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r:id="rId4" imgW="1170940" imgH="457200" progId="Equation.DSMT4">
                  <p:embed/>
                </p:oleObj>
              </mc:Choice>
              <mc:Fallback>
                <p:oleObj r:id="rId4" imgW="1170940" imgH="4572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CF01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281488" y="2436813"/>
                        <a:ext cx="2320925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/>
          <p:cNvSpPr txBox="1"/>
          <p:nvPr/>
        </p:nvSpPr>
        <p:spPr>
          <a:xfrm>
            <a:off x="1233488" y="3030538"/>
            <a:ext cx="38020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）光电子最大初动能</a:t>
            </a:r>
          </a:p>
        </p:txBody>
      </p:sp>
      <p:graphicFrame>
        <p:nvGraphicFramePr>
          <p:cNvPr id="8" name="Object 6"/>
          <p:cNvGraphicFramePr/>
          <p:nvPr/>
        </p:nvGraphicFramePr>
        <p:xfrm>
          <a:off x="1898650" y="3343275"/>
          <a:ext cx="56261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r:id="rId6" imgW="3178175" imgH="457200" progId="Equation.DSMT4">
                  <p:embed/>
                </p:oleObj>
              </mc:Choice>
              <mc:Fallback>
                <p:oleObj r:id="rId6" imgW="3178175" imgH="4572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CF01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98650" y="3343275"/>
                        <a:ext cx="5626100" cy="76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7"/>
          <p:cNvSpPr txBox="1"/>
          <p:nvPr/>
        </p:nvSpPr>
        <p:spPr>
          <a:xfrm>
            <a:off x="1271588" y="4062413"/>
            <a:ext cx="7235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）初动能全部用于克服电场力作功，截止电压为</a:t>
            </a:r>
          </a:p>
        </p:txBody>
      </p:sp>
      <p:graphicFrame>
        <p:nvGraphicFramePr>
          <p:cNvPr id="10" name="Object 8"/>
          <p:cNvGraphicFramePr/>
          <p:nvPr/>
        </p:nvGraphicFramePr>
        <p:xfrm>
          <a:off x="2222500" y="4549775"/>
          <a:ext cx="1919288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r:id="rId8" imgW="1081405" imgH="457200" progId="Equation.DSMT4">
                  <p:embed/>
                </p:oleObj>
              </mc:Choice>
              <mc:Fallback>
                <p:oleObj r:id="rId8" imgW="1081405" imgH="4572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CF01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22500" y="4549775"/>
                        <a:ext cx="1919288" cy="644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9"/>
          <p:cNvSpPr txBox="1"/>
          <p:nvPr/>
        </p:nvSpPr>
        <p:spPr>
          <a:xfrm>
            <a:off x="1254125" y="5262563"/>
            <a:ext cx="72532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）由光电效应方程，电子最大初动能为零时</a:t>
            </a:r>
          </a:p>
        </p:txBody>
      </p:sp>
      <p:graphicFrame>
        <p:nvGraphicFramePr>
          <p:cNvPr id="12" name="Object 10"/>
          <p:cNvGraphicFramePr/>
          <p:nvPr/>
        </p:nvGraphicFramePr>
        <p:xfrm>
          <a:off x="1982788" y="5791200"/>
          <a:ext cx="531018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" r:id="rId10" imgW="3178175" imgH="501650" progId="Equation.DSMT4">
                  <p:embed/>
                </p:oleObj>
              </mc:Choice>
              <mc:Fallback>
                <p:oleObj r:id="rId10" imgW="3178175" imgH="50165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CF01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982788" y="5791200"/>
                        <a:ext cx="5310187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4" name="Object 11"/>
          <p:cNvGraphicFramePr/>
          <p:nvPr/>
        </p:nvGraphicFramePr>
        <p:xfrm>
          <a:off x="4508500" y="4495800"/>
          <a:ext cx="278447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r:id="rId12" imgW="1572260" imgH="490855" progId="Equation.DSMT4">
                  <p:embed/>
                </p:oleObj>
              </mc:Choice>
              <mc:Fallback>
                <p:oleObj r:id="rId12" imgW="1572260" imgH="490855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3">
                        <a:clrChange>
                          <a:clrFrom>
                            <a:srgbClr val="000000"/>
                          </a:clrFrom>
                          <a:clrTo>
                            <a:srgbClr val="FFCF01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08500" y="4495800"/>
                        <a:ext cx="2784475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9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2"/>
          <p:cNvSpPr txBox="1"/>
          <p:nvPr/>
        </p:nvSpPr>
        <p:spPr>
          <a:xfrm>
            <a:off x="76200" y="981075"/>
            <a:ext cx="9144000" cy="12017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设康普顿效应中入射的X射线的波长为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=0.07nm,散射的 X射线与入射的X射线垂直,求:1)反冲电子的动能E</a:t>
            </a:r>
            <a:r>
              <a:rPr lang="zh-CN" altLang="en-US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; 2)反冲电子运动的方向与入射的X射线之间的夹角.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291" name="Text Box 3"/>
          <p:cNvSpPr txBox="1"/>
          <p:nvPr/>
        </p:nvSpPr>
        <p:spPr>
          <a:xfrm>
            <a:off x="0" y="2144713"/>
            <a:ext cx="762000" cy="369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zh-CN" b="1" dirty="0">
                <a:solidFill>
                  <a:srgbClr val="FF0066"/>
                </a:solidFill>
                <a:latin typeface="Tahoma" panose="020B0604030504040204" pitchFamily="34" charset="0"/>
              </a:rPr>
              <a:t>解: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449263" y="2009775"/>
            <a:ext cx="8313737" cy="962025"/>
            <a:chOff x="0" y="59"/>
            <a:chExt cx="5700" cy="606"/>
          </a:xfrm>
        </p:grpSpPr>
        <p:sp>
          <p:nvSpPr>
            <p:cNvPr id="9245" name="Text Box 5"/>
            <p:cNvSpPr txBox="1"/>
            <p:nvPr/>
          </p:nvSpPr>
          <p:spPr>
            <a:xfrm>
              <a:off x="0" y="83"/>
              <a:ext cx="5700" cy="58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algn="just" eaLnBrk="1" hangingPunct="1">
                <a:lnSpc>
                  <a:spcPct val="150000"/>
                </a:lnSpc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tx2"/>
                  </a:solidFill>
                  <a:latin typeface="Tahoma" panose="020B0604030504040204" pitchFamily="34" charset="0"/>
                </a:rPr>
                <a:t>令           和              分别为入射与散射X光子的动量和频率,           为反冲电子的动量.</a:t>
              </a:r>
            </a:p>
          </p:txBody>
        </p:sp>
        <p:graphicFrame>
          <p:nvGraphicFramePr>
            <p:cNvPr id="9226" name="Object 6"/>
            <p:cNvGraphicFramePr>
              <a:graphicFrameLocks noChangeAspect="1"/>
            </p:cNvGraphicFramePr>
            <p:nvPr/>
          </p:nvGraphicFramePr>
          <p:xfrm>
            <a:off x="214" y="84"/>
            <a:ext cx="525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0" r:id="rId4" imgW="280035" imgH="203835" progId="Equation.3">
                    <p:embed/>
                  </p:oleObj>
                </mc:Choice>
                <mc:Fallback>
                  <p:oleObj r:id="rId4" imgW="280035" imgH="203835" progId="Equation.3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4" y="84"/>
                          <a:ext cx="525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7" name="Object 7"/>
            <p:cNvGraphicFramePr>
              <a:graphicFrameLocks noChangeAspect="1"/>
            </p:cNvGraphicFramePr>
            <p:nvPr/>
          </p:nvGraphicFramePr>
          <p:xfrm>
            <a:off x="945" y="84"/>
            <a:ext cx="642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1" r:id="rId6" imgW="343535" imgH="203835" progId="Equation.3">
                    <p:embed/>
                  </p:oleObj>
                </mc:Choice>
                <mc:Fallback>
                  <p:oleObj r:id="rId6" imgW="343535" imgH="203835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945" y="84"/>
                          <a:ext cx="642" cy="3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8" name="Object 8"/>
            <p:cNvGraphicFramePr>
              <a:graphicFrameLocks noChangeAspect="1"/>
            </p:cNvGraphicFramePr>
            <p:nvPr/>
          </p:nvGraphicFramePr>
          <p:xfrm>
            <a:off x="4415" y="59"/>
            <a:ext cx="501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2" r:id="rId8" imgW="267335" imgH="178435" progId="Equation.3">
                    <p:embed/>
                  </p:oleObj>
                </mc:Choice>
                <mc:Fallback>
                  <p:oleObj r:id="rId8" imgW="267335" imgH="178435" progId="Equation.3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415" y="59"/>
                          <a:ext cx="501" cy="3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346075" y="3235325"/>
          <a:ext cx="7100888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3" r:id="rId10" imgW="2564130" imgH="431800" progId="Equation.DSMT4">
                  <p:embed/>
                </p:oleObj>
              </mc:Choice>
              <mc:Fallback>
                <p:oleObj r:id="rId10" imgW="2564130" imgH="4318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6075" y="3235325"/>
                        <a:ext cx="7100888" cy="1184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Text Box 10"/>
          <p:cNvSpPr txBox="1"/>
          <p:nvPr/>
        </p:nvSpPr>
        <p:spPr>
          <a:xfrm>
            <a:off x="381000" y="4354513"/>
            <a:ext cx="3581400" cy="369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1)  根据能量守恒定律:</a:t>
            </a:r>
          </a:p>
        </p:txBody>
      </p:sp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838200" y="4751388"/>
          <a:ext cx="3690938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4" r:id="rId12" imgW="1334770" imgH="241300" progId="Equation.3">
                  <p:embed/>
                </p:oleObj>
              </mc:Choice>
              <mc:Fallback>
                <p:oleObj r:id="rId12" imgW="1334770" imgH="2413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38200" y="4751388"/>
                        <a:ext cx="3690938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0" name="Text Box 12"/>
          <p:cNvSpPr txBox="1"/>
          <p:nvPr/>
        </p:nvSpPr>
        <p:spPr>
          <a:xfrm>
            <a:off x="914400" y="5607050"/>
            <a:ext cx="838200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而且</a:t>
            </a:r>
          </a:p>
        </p:txBody>
      </p:sp>
      <p:graphicFrame>
        <p:nvGraphicFramePr>
          <p:cNvPr id="12301" name="Object 13"/>
          <p:cNvGraphicFramePr>
            <a:graphicFrameLocks noChangeAspect="1"/>
          </p:cNvGraphicFramePr>
          <p:nvPr/>
        </p:nvGraphicFramePr>
        <p:xfrm>
          <a:off x="304800" y="6153150"/>
          <a:ext cx="57673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" r:id="rId14" imgW="2083435" imgH="228600" progId="Equation.3">
                  <p:embed/>
                </p:oleObj>
              </mc:Choice>
              <mc:Fallback>
                <p:oleObj r:id="rId14" imgW="2083435" imgH="2286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4800" y="6153150"/>
                        <a:ext cx="5767388" cy="62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/>
          <p:cNvGraphicFramePr>
            <a:graphicFrameLocks noChangeAspect="1"/>
          </p:cNvGraphicFramePr>
          <p:nvPr/>
        </p:nvGraphicFramePr>
        <p:xfrm>
          <a:off x="2133600" y="5435600"/>
          <a:ext cx="284956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6" r:id="rId16" imgW="1029335" imgH="241300" progId="Equation.3">
                  <p:embed/>
                </p:oleObj>
              </mc:Choice>
              <mc:Fallback>
                <p:oleObj r:id="rId16" imgW="1029335" imgH="2413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133600" y="5435600"/>
                        <a:ext cx="2849563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Object 15"/>
          <p:cNvGraphicFramePr>
            <a:graphicFrameLocks noChangeAspect="1"/>
          </p:cNvGraphicFramePr>
          <p:nvPr/>
        </p:nvGraphicFramePr>
        <p:xfrm>
          <a:off x="6172200" y="6096000"/>
          <a:ext cx="26019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7" r:id="rId18" imgW="940435" imgH="203200" progId="Equation.3">
                  <p:embed/>
                </p:oleObj>
              </mc:Choice>
              <mc:Fallback>
                <p:oleObj r:id="rId18" imgW="940435" imgH="2032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72200" y="6096000"/>
                        <a:ext cx="2601913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6"/>
          <p:cNvGrpSpPr/>
          <p:nvPr/>
        </p:nvGrpSpPr>
        <p:grpSpPr>
          <a:xfrm>
            <a:off x="5410200" y="4084638"/>
            <a:ext cx="3810000" cy="2011362"/>
            <a:chOff x="-130" y="288"/>
            <a:chExt cx="2400" cy="1267"/>
          </a:xfrm>
        </p:grpSpPr>
        <p:sp>
          <p:nvSpPr>
            <p:cNvPr id="9236" name="Line 17"/>
            <p:cNvSpPr/>
            <p:nvPr/>
          </p:nvSpPr>
          <p:spPr>
            <a:xfrm>
              <a:off x="155" y="912"/>
              <a:ext cx="1872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37" name="Line 18"/>
            <p:cNvSpPr/>
            <p:nvPr/>
          </p:nvSpPr>
          <p:spPr>
            <a:xfrm flipV="1">
              <a:off x="155" y="336"/>
              <a:ext cx="0" cy="57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38" name="Line 19"/>
            <p:cNvSpPr/>
            <p:nvPr/>
          </p:nvSpPr>
          <p:spPr>
            <a:xfrm>
              <a:off x="155" y="912"/>
              <a:ext cx="1824" cy="489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239" name="Line 20"/>
            <p:cNvSpPr/>
            <p:nvPr/>
          </p:nvSpPr>
          <p:spPr>
            <a:xfrm>
              <a:off x="1979" y="912"/>
              <a:ext cx="0" cy="52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9240" name="Line 21"/>
            <p:cNvSpPr/>
            <p:nvPr/>
          </p:nvSpPr>
          <p:spPr>
            <a:xfrm flipH="1" flipV="1">
              <a:off x="155" y="353"/>
              <a:ext cx="1824" cy="547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9241" name="Line 22"/>
            <p:cNvSpPr/>
            <p:nvPr/>
          </p:nvSpPr>
          <p:spPr>
            <a:xfrm>
              <a:off x="155" y="816"/>
              <a:ext cx="96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2" name="Line 23"/>
            <p:cNvSpPr/>
            <p:nvPr/>
          </p:nvSpPr>
          <p:spPr>
            <a:xfrm>
              <a:off x="251" y="816"/>
              <a:ext cx="0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3" name="未知"/>
            <p:cNvSpPr/>
            <p:nvPr/>
          </p:nvSpPr>
          <p:spPr>
            <a:xfrm>
              <a:off x="657" y="842"/>
              <a:ext cx="29" cy="233"/>
            </a:xfrm>
            <a:custGeom>
              <a:avLst/>
              <a:gdLst>
                <a:gd name="txL" fmla="*/ 0 w 80"/>
                <a:gd name="txT" fmla="*/ 0 h 208"/>
                <a:gd name="txR" fmla="*/ 80 w 80"/>
                <a:gd name="txB" fmla="*/ 208 h 208"/>
              </a:gdLst>
              <a:ahLst/>
              <a:cxnLst>
                <a:cxn ang="0">
                  <a:pos x="0" y="140"/>
                </a:cxn>
                <a:cxn ang="0">
                  <a:pos x="0" y="261"/>
                </a:cxn>
              </a:cxnLst>
              <a:rect l="txL" t="txT" r="txR" b="txB"/>
              <a:pathLst>
                <a:path w="80" h="208">
                  <a:moveTo>
                    <a:pt x="0" y="112"/>
                  </a:moveTo>
                  <a:cubicBezTo>
                    <a:pt x="40" y="56"/>
                    <a:pt x="80" y="0"/>
                    <a:pt x="0" y="208"/>
                  </a:cubicBezTo>
                </a:path>
              </a:pathLst>
            </a:custGeom>
            <a:noFill/>
            <a:ln w="381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Text Box 25"/>
            <p:cNvSpPr txBox="1"/>
            <p:nvPr/>
          </p:nvSpPr>
          <p:spPr>
            <a:xfrm>
              <a:off x="659" y="880"/>
              <a:ext cx="43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zh-CN" b="1" dirty="0">
                  <a:solidFill>
                    <a:schemeClr val="tx2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</a:t>
              </a:r>
              <a:endParaRPr lang="zh-CN" altLang="zh-CN" b="1" dirty="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graphicFrame>
          <p:nvGraphicFramePr>
            <p:cNvPr id="9223" name="Object 26"/>
            <p:cNvGraphicFramePr>
              <a:graphicFrameLocks noChangeAspect="1"/>
            </p:cNvGraphicFramePr>
            <p:nvPr/>
          </p:nvGraphicFramePr>
          <p:xfrm>
            <a:off x="805" y="1250"/>
            <a:ext cx="461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8" r:id="rId20" imgW="267335" imgH="178435" progId="Equation.3">
                    <p:embed/>
                  </p:oleObj>
                </mc:Choice>
                <mc:Fallback>
                  <p:oleObj r:id="rId20" imgW="267335" imgH="178435" progId="Equation.3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05" y="1250"/>
                          <a:ext cx="461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4" name="Object 27"/>
            <p:cNvGraphicFramePr>
              <a:graphicFrameLocks noChangeAspect="1"/>
            </p:cNvGraphicFramePr>
            <p:nvPr/>
          </p:nvGraphicFramePr>
          <p:xfrm>
            <a:off x="2008" y="650"/>
            <a:ext cx="262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9" r:id="rId21" imgW="153035" imgH="203835" progId="Equation.3">
                    <p:embed/>
                  </p:oleObj>
                </mc:Choice>
                <mc:Fallback>
                  <p:oleObj r:id="rId21" imgW="153035" imgH="203835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008" y="650"/>
                          <a:ext cx="262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5" name="Object 28"/>
            <p:cNvGraphicFramePr>
              <a:graphicFrameLocks noChangeAspect="1"/>
            </p:cNvGraphicFramePr>
            <p:nvPr/>
          </p:nvGraphicFramePr>
          <p:xfrm>
            <a:off x="-130" y="288"/>
            <a:ext cx="284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30" r:id="rId23" imgW="165735" imgH="203835" progId="Equation.3">
                    <p:embed/>
                  </p:oleObj>
                </mc:Choice>
                <mc:Fallback>
                  <p:oleObj r:id="rId23" imgW="165735" imgH="203835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-130" y="288"/>
                          <a:ext cx="284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317" name="Text Box 29"/>
          <p:cNvSpPr txBox="1"/>
          <p:nvPr/>
        </p:nvSpPr>
        <p:spPr>
          <a:xfrm>
            <a:off x="457200" y="2906713"/>
            <a:ext cx="6400800" cy="369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</a:rPr>
              <a:t>根据散射线与入射线垂直,可求散射X射线波长</a:t>
            </a: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12298" grpId="0" build="p"/>
      <p:bldP spid="12300" grpId="0" build="p"/>
      <p:bldP spid="1231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/>
          <p:nvPr/>
        </p:nvSpPr>
        <p:spPr>
          <a:xfrm>
            <a:off x="228600" y="1012825"/>
            <a:ext cx="3276600" cy="368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zh-CN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2） 根据动量守恒定律</a:t>
            </a:r>
          </a:p>
        </p:txBody>
      </p:sp>
      <p:graphicFrame>
        <p:nvGraphicFramePr>
          <p:cNvPr id="13315" name="Object 3"/>
          <p:cNvGraphicFramePr>
            <a:graphicFrameLocks noChangeAspect="1"/>
          </p:cNvGraphicFramePr>
          <p:nvPr/>
        </p:nvGraphicFramePr>
        <p:xfrm>
          <a:off x="2743200" y="968375"/>
          <a:ext cx="20399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r:id="rId4" imgW="737235" imgH="203200" progId="Equation.3">
                  <p:embed/>
                </p:oleObj>
              </mc:Choice>
              <mc:Fallback>
                <p:oleObj r:id="rId4" imgW="737235" imgH="2032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43200" y="968375"/>
                        <a:ext cx="2039938" cy="555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/>
          <p:cNvSpPr txBox="1"/>
          <p:nvPr/>
        </p:nvSpPr>
        <p:spPr>
          <a:xfrm>
            <a:off x="457200" y="1839913"/>
            <a:ext cx="533400" cy="369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则</a:t>
            </a:r>
          </a:p>
        </p:txBody>
      </p:sp>
      <p:graphicFrame>
        <p:nvGraphicFramePr>
          <p:cNvPr id="13317" name="Object 5"/>
          <p:cNvGraphicFramePr>
            <a:graphicFrameLocks noChangeAspect="1"/>
          </p:cNvGraphicFramePr>
          <p:nvPr/>
        </p:nvGraphicFramePr>
        <p:xfrm>
          <a:off x="1092200" y="1590675"/>
          <a:ext cx="64674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0" r:id="rId6" imgW="2336800" imgH="279400" progId="Equation.DSMT4">
                  <p:embed/>
                </p:oleObj>
              </mc:Choice>
              <mc:Fallback>
                <p:oleObj r:id="rId6" imgW="2336800" imgH="2794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92200" y="1590675"/>
                        <a:ext cx="6467475" cy="771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381000" y="2436813"/>
          <a:ext cx="5872163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1" r:id="rId8" imgW="2121535" imgH="469900" progId="Equation.3">
                  <p:embed/>
                </p:oleObj>
              </mc:Choice>
              <mc:Fallback>
                <p:oleObj r:id="rId8" imgW="2121535" imgH="4699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1000" y="2436813"/>
                        <a:ext cx="5872163" cy="1296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7"/>
          <p:cNvGraphicFramePr>
            <a:graphicFrameLocks noChangeAspect="1"/>
          </p:cNvGraphicFramePr>
          <p:nvPr/>
        </p:nvGraphicFramePr>
        <p:xfrm>
          <a:off x="1295400" y="3730625"/>
          <a:ext cx="267335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r:id="rId10" imgW="965835" imgH="445135" progId="Equation.3">
                  <p:embed/>
                </p:oleObj>
              </mc:Choice>
              <mc:Fallback>
                <p:oleObj r:id="rId10" imgW="965835" imgH="445135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95400" y="3730625"/>
                        <a:ext cx="2673350" cy="1222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8"/>
          <p:cNvGraphicFramePr>
            <a:graphicFrameLocks noChangeAspect="1"/>
          </p:cNvGraphicFramePr>
          <p:nvPr/>
        </p:nvGraphicFramePr>
        <p:xfrm>
          <a:off x="304800" y="5026025"/>
          <a:ext cx="5170488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3" r:id="rId12" imgW="1866900" imgH="444500" progId="Equation.3">
                  <p:embed/>
                </p:oleObj>
              </mc:Choice>
              <mc:Fallback>
                <p:oleObj r:id="rId12" imgW="1866900" imgH="4445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4800" y="5026025"/>
                        <a:ext cx="5170488" cy="1222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/>
          <p:nvPr/>
        </p:nvGrpSpPr>
        <p:grpSpPr>
          <a:xfrm>
            <a:off x="5540375" y="3814763"/>
            <a:ext cx="3603625" cy="2468562"/>
            <a:chOff x="0" y="0"/>
            <a:chExt cx="2270" cy="1555"/>
          </a:xfrm>
        </p:grpSpPr>
        <p:sp>
          <p:nvSpPr>
            <p:cNvPr id="10253" name="Line 10"/>
            <p:cNvSpPr/>
            <p:nvPr/>
          </p:nvSpPr>
          <p:spPr>
            <a:xfrm>
              <a:off x="155" y="912"/>
              <a:ext cx="1872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4" name="Line 11"/>
            <p:cNvSpPr/>
            <p:nvPr/>
          </p:nvSpPr>
          <p:spPr>
            <a:xfrm flipV="1">
              <a:off x="155" y="336"/>
              <a:ext cx="0" cy="57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5" name="Line 12"/>
            <p:cNvSpPr/>
            <p:nvPr/>
          </p:nvSpPr>
          <p:spPr>
            <a:xfrm>
              <a:off x="155" y="912"/>
              <a:ext cx="1824" cy="489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256" name="Line 13"/>
            <p:cNvSpPr/>
            <p:nvPr/>
          </p:nvSpPr>
          <p:spPr>
            <a:xfrm>
              <a:off x="1979" y="912"/>
              <a:ext cx="0" cy="528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0257" name="Line 14"/>
            <p:cNvSpPr/>
            <p:nvPr/>
          </p:nvSpPr>
          <p:spPr>
            <a:xfrm flipH="1" flipV="1">
              <a:off x="155" y="353"/>
              <a:ext cx="1824" cy="547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0258" name="Line 15"/>
            <p:cNvSpPr/>
            <p:nvPr/>
          </p:nvSpPr>
          <p:spPr>
            <a:xfrm>
              <a:off x="155" y="816"/>
              <a:ext cx="96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9" name="Line 16"/>
            <p:cNvSpPr/>
            <p:nvPr/>
          </p:nvSpPr>
          <p:spPr>
            <a:xfrm>
              <a:off x="251" y="816"/>
              <a:ext cx="0" cy="96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60" name="未知"/>
            <p:cNvSpPr/>
            <p:nvPr/>
          </p:nvSpPr>
          <p:spPr>
            <a:xfrm>
              <a:off x="491" y="788"/>
              <a:ext cx="116" cy="233"/>
            </a:xfrm>
            <a:custGeom>
              <a:avLst/>
              <a:gdLst>
                <a:gd name="txL" fmla="*/ 0 w 80"/>
                <a:gd name="txT" fmla="*/ 0 h 208"/>
                <a:gd name="txR" fmla="*/ 80 w 80"/>
                <a:gd name="txB" fmla="*/ 208 h 208"/>
              </a:gdLst>
              <a:ahLst/>
              <a:cxnLst>
                <a:cxn ang="0">
                  <a:pos x="0" y="140"/>
                </a:cxn>
                <a:cxn ang="0">
                  <a:pos x="0" y="261"/>
                </a:cxn>
              </a:cxnLst>
              <a:rect l="txL" t="txT" r="txR" b="txB"/>
              <a:pathLst>
                <a:path w="80" h="208">
                  <a:moveTo>
                    <a:pt x="0" y="112"/>
                  </a:moveTo>
                  <a:cubicBezTo>
                    <a:pt x="40" y="56"/>
                    <a:pt x="80" y="0"/>
                    <a:pt x="0" y="208"/>
                  </a:cubicBezTo>
                </a:path>
              </a:pathLst>
            </a:custGeom>
            <a:noFill/>
            <a:ln w="38100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1" name="Text Box 18"/>
            <p:cNvSpPr txBox="1"/>
            <p:nvPr/>
          </p:nvSpPr>
          <p:spPr>
            <a:xfrm>
              <a:off x="659" y="880"/>
              <a:ext cx="43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zh-CN" b="1" dirty="0">
                  <a:solidFill>
                    <a:schemeClr val="tx2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</a:t>
              </a:r>
              <a:endParaRPr lang="zh-CN" altLang="zh-CN" b="1" dirty="0">
                <a:solidFill>
                  <a:schemeClr val="tx2"/>
                </a:solidFill>
                <a:latin typeface="Tahoma" panose="020B0604030504040204" pitchFamily="34" charset="0"/>
              </a:endParaRPr>
            </a:p>
          </p:txBody>
        </p:sp>
        <p:graphicFrame>
          <p:nvGraphicFramePr>
            <p:cNvPr id="10247" name="Object 19"/>
            <p:cNvGraphicFramePr>
              <a:graphicFrameLocks noChangeAspect="1"/>
            </p:cNvGraphicFramePr>
            <p:nvPr/>
          </p:nvGraphicFramePr>
          <p:xfrm>
            <a:off x="805" y="1250"/>
            <a:ext cx="461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4" r:id="rId14" imgW="267335" imgH="178435" progId="Equation.3">
                    <p:embed/>
                  </p:oleObj>
                </mc:Choice>
                <mc:Fallback>
                  <p:oleObj r:id="rId14" imgW="267335" imgH="178435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05" y="1250"/>
                          <a:ext cx="461" cy="3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8" name="Object 20"/>
            <p:cNvGraphicFramePr>
              <a:graphicFrameLocks noChangeAspect="1"/>
            </p:cNvGraphicFramePr>
            <p:nvPr/>
          </p:nvGraphicFramePr>
          <p:xfrm>
            <a:off x="2008" y="650"/>
            <a:ext cx="262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5" r:id="rId16" imgW="153035" imgH="203835" progId="Equation.3">
                    <p:embed/>
                  </p:oleObj>
                </mc:Choice>
                <mc:Fallback>
                  <p:oleObj r:id="rId16" imgW="153035" imgH="203835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008" y="650"/>
                          <a:ext cx="262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49" name="Object 21"/>
            <p:cNvGraphicFramePr>
              <a:graphicFrameLocks noChangeAspect="1"/>
            </p:cNvGraphicFramePr>
            <p:nvPr/>
          </p:nvGraphicFramePr>
          <p:xfrm>
            <a:off x="0" y="0"/>
            <a:ext cx="284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6" r:id="rId18" imgW="165735" imgH="203835" progId="Equation.3">
                    <p:embed/>
                  </p:oleObj>
                </mc:Choice>
                <mc:Fallback>
                  <p:oleObj r:id="rId18" imgW="165735" imgH="203835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284" cy="34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1198563" y="0"/>
            <a:ext cx="7793037" cy="852488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量子力学初步</a:t>
            </a:r>
          </a:p>
        </p:txBody>
      </p:sp>
      <p:sp>
        <p:nvSpPr>
          <p:cNvPr id="45059" name="Text Box 4"/>
          <p:cNvSpPr txBox="1"/>
          <p:nvPr/>
        </p:nvSpPr>
        <p:spPr>
          <a:xfrm>
            <a:off x="1066800" y="1412875"/>
            <a:ext cx="251618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</a:rPr>
              <a:t>一</a:t>
            </a:r>
            <a:r>
              <a:rPr lang="en-US" altLang="zh-CN" sz="3200" b="1" dirty="0">
                <a:solidFill>
                  <a:srgbClr val="FF0000"/>
                </a:solidFill>
                <a:latin typeface="楷体_GB2312" pitchFamily="49" charset="-122"/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</a:rPr>
              <a:t> 波函数</a:t>
            </a:r>
          </a:p>
        </p:txBody>
      </p:sp>
      <p:sp>
        <p:nvSpPr>
          <p:cNvPr id="45060" name="Text Box 6"/>
          <p:cNvSpPr txBox="1"/>
          <p:nvPr/>
        </p:nvSpPr>
        <p:spPr>
          <a:xfrm>
            <a:off x="1065213" y="3073400"/>
            <a:ext cx="4116387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</a:rPr>
              <a:t>三</a:t>
            </a:r>
            <a:r>
              <a:rPr lang="en-US" altLang="zh-CN" sz="3200" b="1" dirty="0">
                <a:solidFill>
                  <a:srgbClr val="FF0000"/>
                </a:solidFill>
                <a:latin typeface="楷体_GB2312" pitchFamily="49" charset="-122"/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</a:rPr>
              <a:t> 薛定谔方程及应用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1" name="Text Box 4"/>
          <p:cNvSpPr txBox="1"/>
          <p:nvPr/>
        </p:nvSpPr>
        <p:spPr>
          <a:xfrm>
            <a:off x="1065213" y="2239963"/>
            <a:ext cx="32781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</a:rPr>
              <a:t>二</a:t>
            </a:r>
            <a:r>
              <a:rPr lang="en-US" altLang="zh-CN" sz="3200" b="1" dirty="0">
                <a:solidFill>
                  <a:srgbClr val="FF0000"/>
                </a:solidFill>
                <a:latin typeface="楷体_GB2312" pitchFamily="49" charset="-122"/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</a:rPr>
              <a:t> 不确定关系</a:t>
            </a:r>
          </a:p>
        </p:txBody>
      </p:sp>
      <p:sp>
        <p:nvSpPr>
          <p:cNvPr id="45062" name="Text Box 8"/>
          <p:cNvSpPr txBox="1"/>
          <p:nvPr/>
        </p:nvSpPr>
        <p:spPr>
          <a:xfrm>
            <a:off x="1066800" y="3886200"/>
            <a:ext cx="6324600" cy="587375"/>
          </a:xfrm>
          <a:prstGeom prst="rect">
            <a:avLst/>
          </a:prstGeom>
          <a:noFill/>
          <a:ln w="317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</a:rPr>
              <a:t>四</a:t>
            </a:r>
            <a:r>
              <a:rPr lang="en-US" altLang="zh-CN" sz="3200" b="1" dirty="0">
                <a:solidFill>
                  <a:srgbClr val="FF0000"/>
                </a:solidFill>
                <a:latin typeface="楷体_GB2312" pitchFamily="49" charset="-122"/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latin typeface="楷体_GB2312" pitchFamily="49" charset="-122"/>
              </a:rPr>
              <a:t> 氢原子的量子理论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Text Box 2"/>
          <p:cNvSpPr txBox="1"/>
          <p:nvPr/>
        </p:nvSpPr>
        <p:spPr>
          <a:xfrm>
            <a:off x="1065213" y="333375"/>
            <a:ext cx="289718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CC0066"/>
                </a:solidFill>
                <a:latin typeface="楷体_GB2312" pitchFamily="49" charset="-122"/>
              </a:rPr>
              <a:t>一</a:t>
            </a:r>
            <a:r>
              <a:rPr lang="en-US" altLang="zh-CN" sz="3200" b="1" dirty="0">
                <a:solidFill>
                  <a:srgbClr val="CC0066"/>
                </a:solidFill>
                <a:latin typeface="楷体_GB2312" pitchFamily="49" charset="-122"/>
              </a:rPr>
              <a:t>. </a:t>
            </a:r>
            <a:r>
              <a:rPr lang="zh-CN" altLang="en-US" sz="3200" b="1" dirty="0">
                <a:solidFill>
                  <a:srgbClr val="CC0066"/>
                </a:solidFill>
                <a:latin typeface="楷体_GB2312" pitchFamily="49" charset="-122"/>
              </a:rPr>
              <a:t>波函数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395288" y="1270000"/>
            <a:ext cx="8501062" cy="503238"/>
            <a:chOff x="249" y="709"/>
            <a:chExt cx="5355" cy="317"/>
          </a:xfrm>
        </p:grpSpPr>
        <p:sp>
          <p:nvSpPr>
            <p:cNvPr id="11280" name="Rectangle 7"/>
            <p:cNvSpPr/>
            <p:nvPr/>
          </p:nvSpPr>
          <p:spPr>
            <a:xfrm>
              <a:off x="249" y="709"/>
              <a:ext cx="5355" cy="302"/>
            </a:xfrm>
            <a:prstGeom prst="rect">
              <a:avLst/>
            </a:prstGeom>
            <a:solidFill>
              <a:srgbClr val="FFFF99"/>
            </a:solidFill>
            <a:ln w="222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4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    </a:t>
              </a:r>
              <a:r>
                <a:rPr lang="zh-CN" altLang="en-US" sz="2400" b="1" dirty="0">
                  <a:solidFill>
                    <a:srgbClr val="0000FF"/>
                  </a:solidFill>
                  <a:latin typeface="宋体" panose="02010600030101010101" pitchFamily="2" charset="-122"/>
                </a:rPr>
                <a:t>微观粒子的运动状态可以用波函数        完全</a:t>
              </a:r>
              <a:r>
                <a:rPr lang="zh-CN" altLang="zh-CN" sz="2400" b="1" dirty="0">
                  <a:solidFill>
                    <a:srgbClr val="0000FF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描述</a:t>
              </a:r>
              <a:r>
                <a:rPr lang="zh-CN" altLang="en-US" sz="2400" b="1" dirty="0">
                  <a:solidFill>
                    <a:srgbClr val="0000FF"/>
                  </a:solidFill>
                  <a:latin typeface="宋体" panose="02010600030101010101" pitchFamily="2" charset="-122"/>
                  <a:sym typeface="Symbol" panose="05050102010706020507" pitchFamily="18" charset="2"/>
                </a:rPr>
                <a:t>。</a:t>
              </a:r>
              <a:endPara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11269" name="Object 22"/>
            <p:cNvGraphicFramePr/>
            <p:nvPr/>
          </p:nvGraphicFramePr>
          <p:xfrm>
            <a:off x="3682" y="726"/>
            <a:ext cx="55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3" r:id="rId3" imgW="501650" imgH="234315" progId="Equation.DSMT4">
                    <p:embed/>
                  </p:oleObj>
                </mc:Choice>
                <mc:Fallback>
                  <p:oleObj r:id="rId3" imgW="501650" imgH="234315" progId="Equation.DSMT4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  <a:lum contrast="6000"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82" y="726"/>
                          <a:ext cx="559" cy="3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1023" name="Object 15"/>
          <p:cNvGraphicFramePr/>
          <p:nvPr/>
        </p:nvGraphicFramePr>
        <p:xfrm>
          <a:off x="2411413" y="1901825"/>
          <a:ext cx="40576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4" r:id="rId5" imgW="1962785" imgH="356870" progId="Equation.DSMT4">
                  <p:embed/>
                </p:oleObj>
              </mc:Choice>
              <mc:Fallback>
                <p:oleObj r:id="rId5" imgW="1962785" imgH="35687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  <a:clrChange>
                          <a:clrFrom>
                            <a:srgbClr val="FF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11413" y="1901825"/>
                        <a:ext cx="4057650" cy="735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"/>
          <p:cNvGrpSpPr/>
          <p:nvPr/>
        </p:nvGrpSpPr>
        <p:grpSpPr>
          <a:xfrm>
            <a:off x="228600" y="2811463"/>
            <a:ext cx="9144000" cy="534987"/>
            <a:chOff x="68" y="1771"/>
            <a:chExt cx="5760" cy="337"/>
          </a:xfrm>
        </p:grpSpPr>
        <p:sp>
          <p:nvSpPr>
            <p:cNvPr id="11279" name="Rectangle 16"/>
            <p:cNvSpPr/>
            <p:nvPr/>
          </p:nvSpPr>
          <p:spPr>
            <a:xfrm>
              <a:off x="68" y="1771"/>
              <a:ext cx="5760" cy="3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表示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t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时刻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,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微观粒子在空间</a:t>
              </a:r>
              <a:r>
                <a:rPr lang="zh-CN" altLang="en-US" sz="2400" b="1" i="1" dirty="0">
                  <a:latin typeface="Times New Roman" panose="02020603050405020304" pitchFamily="18" charset="0"/>
                </a:rPr>
                <a:t>   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点出现的</a:t>
              </a:r>
              <a:r>
                <a:rPr lang="zh-CN" altLang="en-US" sz="2400" b="1" dirty="0">
                  <a:solidFill>
                    <a:srgbClr val="D60093"/>
                  </a:solidFill>
                  <a:latin typeface="Times New Roman" panose="02020603050405020304" pitchFamily="18" charset="0"/>
                </a:rPr>
                <a:t>概率密度</a:t>
              </a:r>
              <a:r>
                <a:rPr lang="zh-CN" altLang="en-US" sz="24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。</a:t>
              </a:r>
            </a:p>
          </p:txBody>
        </p:sp>
        <p:graphicFrame>
          <p:nvGraphicFramePr>
            <p:cNvPr id="11268" name="Object 18"/>
            <p:cNvGraphicFramePr/>
            <p:nvPr/>
          </p:nvGraphicFramePr>
          <p:xfrm>
            <a:off x="2496" y="1776"/>
            <a:ext cx="249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5" r:id="rId7" imgW="144780" imgH="178435" progId="Equation.DSMT4">
                    <p:embed/>
                  </p:oleObj>
                </mc:Choice>
                <mc:Fallback>
                  <p:oleObj r:id="rId7" imgW="144780" imgH="178435" progId="Equation.DSMT4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CC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96" y="1776"/>
                          <a:ext cx="249" cy="2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8727" name="Text Box 7"/>
          <p:cNvSpPr txBox="1"/>
          <p:nvPr/>
        </p:nvSpPr>
        <p:spPr>
          <a:xfrm>
            <a:off x="381000" y="427355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2) </a:t>
            </a:r>
            <a:r>
              <a:rPr lang="zh-CN" altLang="en-US" sz="2400" b="1" dirty="0">
                <a:latin typeface="Times New Roman" panose="02020603050405020304" pitchFamily="18" charset="0"/>
              </a:rPr>
              <a:t>要求</a:t>
            </a:r>
          </a:p>
        </p:txBody>
      </p:sp>
      <p:graphicFrame>
        <p:nvGraphicFramePr>
          <p:cNvPr id="158728" name="Object 8"/>
          <p:cNvGraphicFramePr/>
          <p:nvPr/>
        </p:nvGraphicFramePr>
        <p:xfrm>
          <a:off x="1450975" y="4251325"/>
          <a:ext cx="10636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r:id="rId9" imgW="613410" imgH="323215" progId="Equation.3">
                  <p:embed/>
                </p:oleObj>
              </mc:Choice>
              <mc:Fallback>
                <p:oleObj r:id="rId9" imgW="613410" imgH="323215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50975" y="4251325"/>
                        <a:ext cx="106362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9" name="Text Box 9"/>
          <p:cNvSpPr txBox="1"/>
          <p:nvPr/>
        </p:nvSpPr>
        <p:spPr>
          <a:xfrm>
            <a:off x="2466975" y="4275138"/>
            <a:ext cx="21764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单值</a:t>
            </a:r>
          </a:p>
        </p:txBody>
      </p:sp>
      <p:sp>
        <p:nvSpPr>
          <p:cNvPr id="158737" name="Rectangle 17"/>
          <p:cNvSpPr/>
          <p:nvPr/>
        </p:nvSpPr>
        <p:spPr>
          <a:xfrm>
            <a:off x="381000" y="4921250"/>
            <a:ext cx="26590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3) </a:t>
            </a:r>
            <a:r>
              <a:rPr lang="zh-CN" altLang="en-US" sz="2400" b="1" dirty="0">
                <a:latin typeface="宋体" panose="02010600030101010101" pitchFamily="2" charset="-122"/>
              </a:rPr>
              <a:t>波函数的</a:t>
            </a:r>
            <a:r>
              <a:rPr lang="zh-CN" altLang="en-US" sz="2400" b="1" dirty="0">
                <a:solidFill>
                  <a:srgbClr val="FF0066"/>
                </a:solidFill>
                <a:latin typeface="宋体" panose="02010600030101010101" pitchFamily="2" charset="-122"/>
              </a:rPr>
              <a:t>连续性</a:t>
            </a:r>
          </a:p>
        </p:txBody>
      </p:sp>
      <p:sp>
        <p:nvSpPr>
          <p:cNvPr id="158733" name="Text Box 13"/>
          <p:cNvSpPr txBox="1"/>
          <p:nvPr/>
        </p:nvSpPr>
        <p:spPr>
          <a:xfrm>
            <a:off x="395288" y="5546725"/>
            <a:ext cx="70564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4)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粒子在空间各点的概率的总和为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17" name="矩形 21"/>
          <p:cNvSpPr/>
          <p:nvPr/>
        </p:nvSpPr>
        <p:spPr>
          <a:xfrm>
            <a:off x="5443538" y="5562600"/>
            <a:ext cx="36433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----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波函数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归一化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条件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58723" name="Text Box 3"/>
          <p:cNvSpPr txBox="1"/>
          <p:nvPr/>
        </p:nvSpPr>
        <p:spPr>
          <a:xfrm>
            <a:off x="381000" y="3649663"/>
            <a:ext cx="853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1)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空间任何有限体积元中找到粒子的概率为</a:t>
            </a:r>
            <a:r>
              <a:rPr lang="zh-CN" altLang="en-US" sz="2400" b="1" dirty="0">
                <a:solidFill>
                  <a:srgbClr val="FF0066"/>
                </a:solidFill>
                <a:latin typeface="Times New Roman" panose="02020603050405020304" pitchFamily="18" charset="0"/>
              </a:rPr>
              <a:t>有限值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58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8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500"/>
                                        <p:tgtEl>
                                          <p:spTgt spid="15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75"/>
                                        <p:tgtEl>
                                          <p:spTgt spid="158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7" grpId="0" build="p"/>
      <p:bldP spid="158729" grpId="0" build="p"/>
      <p:bldP spid="158737" grpId="0"/>
      <p:bldP spid="158733" grpId="0" build="p"/>
      <p:bldP spid="4117" grpId="0"/>
      <p:bldP spid="15872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/>
          </p:cNvSpPr>
          <p:nvPr>
            <p:ph type="title"/>
          </p:nvPr>
        </p:nvSpPr>
        <p:spPr>
          <a:xfrm>
            <a:off x="1143000" y="304800"/>
            <a:ext cx="2971800" cy="609600"/>
          </a:xfrm>
        </p:spPr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二</a:t>
            </a:r>
            <a:r>
              <a:rPr lang="en-US" altLang="zh-CN" dirty="0">
                <a:solidFill>
                  <a:srgbClr val="0000FF"/>
                </a:solidFill>
              </a:rPr>
              <a:t>. </a:t>
            </a:r>
            <a:r>
              <a:rPr lang="zh-CN" altLang="en-US" dirty="0">
                <a:solidFill>
                  <a:srgbClr val="0000FF"/>
                </a:solidFill>
              </a:rPr>
              <a:t>不确定关系</a:t>
            </a:r>
          </a:p>
        </p:txBody>
      </p:sp>
      <p:sp>
        <p:nvSpPr>
          <p:cNvPr id="12294" name="Rectangle 3"/>
          <p:cNvSpPr>
            <a:spLocks noGrp="1"/>
          </p:cNvSpPr>
          <p:nvPr>
            <p:ph type="body" sz="half" idx="1"/>
          </p:nvPr>
        </p:nvSpPr>
        <p:spPr>
          <a:xfrm>
            <a:off x="468313" y="1268413"/>
            <a:ext cx="8120062" cy="4525962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>
                <a:latin typeface="楷体" panose="02010609060101010101" pitchFamily="49" charset="-122"/>
              </a:rPr>
              <a:t>1. </a:t>
            </a:r>
            <a:r>
              <a:rPr lang="zh-CN" altLang="en-US" dirty="0">
                <a:solidFill>
                  <a:srgbClr val="6600CC"/>
                </a:solidFill>
                <a:latin typeface="楷体" panose="02010609060101010101" pitchFamily="49" charset="-122"/>
              </a:rPr>
              <a:t>位置</a:t>
            </a:r>
            <a:r>
              <a:rPr lang="zh-CN" altLang="en-US" dirty="0">
                <a:solidFill>
                  <a:srgbClr val="6600CC"/>
                </a:solidFill>
              </a:rPr>
              <a:t>和</a:t>
            </a:r>
            <a:r>
              <a:rPr lang="zh-CN" altLang="en-US" dirty="0">
                <a:solidFill>
                  <a:srgbClr val="6600CC"/>
                </a:solidFill>
                <a:sym typeface="Symbol" panose="05050102010706020507" pitchFamily="18" charset="2"/>
              </a:rPr>
              <a:t>动量</a:t>
            </a:r>
            <a:r>
              <a:rPr lang="zh-CN" altLang="en-US" dirty="0">
                <a:solidFill>
                  <a:srgbClr val="6600CC"/>
                </a:solidFill>
              </a:rPr>
              <a:t>之间的不确定关系</a:t>
            </a:r>
            <a:r>
              <a:rPr lang="zh-CN" altLang="en-US" dirty="0"/>
              <a:t>：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800" dirty="0"/>
              <a:t>   如果测量一个粒子位置的不确定范围是 </a:t>
            </a:r>
            <a:r>
              <a:rPr lang="zh-CN" altLang="en-US" sz="2800" dirty="0">
                <a:sym typeface="Symbol" panose="05050102010706020507" pitchFamily="18" charset="2"/>
              </a:rPr>
              <a:t>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ym typeface="Symbol" panose="05050102010706020507" pitchFamily="18" charset="2"/>
              </a:rPr>
              <a:t>, </a:t>
            </a:r>
            <a:r>
              <a:rPr lang="zh-CN" altLang="en-US" sz="2800" dirty="0">
                <a:sym typeface="Symbol" panose="05050102010706020507" pitchFamily="18" charset="2"/>
              </a:rPr>
              <a:t>则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同时</a:t>
            </a:r>
            <a:r>
              <a:rPr lang="zh-CN" altLang="en-US" sz="2800" dirty="0">
                <a:sym typeface="Symbol" panose="05050102010706020507" pitchFamily="18" charset="2"/>
              </a:rPr>
              <a:t>测量其动量也有一个不确定范围</a:t>
            </a:r>
            <a:r>
              <a:rPr lang="en-US" altLang="zh-CN" sz="2800" dirty="0">
                <a:sym typeface="Symbol" panose="05050102010706020507" pitchFamily="18" charset="2"/>
              </a:rPr>
              <a:t>p</a:t>
            </a:r>
            <a:r>
              <a:rPr lang="en-US" altLang="zh-CN" sz="2800" baseline="-25000" dirty="0"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ym typeface="Symbol" panose="05050102010706020507" pitchFamily="18" charset="2"/>
              </a:rPr>
              <a:t> ,  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800" dirty="0"/>
          </a:p>
        </p:txBody>
      </p:sp>
      <p:graphicFrame>
        <p:nvGraphicFramePr>
          <p:cNvPr id="12290" name="Object 2"/>
          <p:cNvGraphicFramePr/>
          <p:nvPr/>
        </p:nvGraphicFramePr>
        <p:xfrm>
          <a:off x="3492500" y="2997200"/>
          <a:ext cx="1447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r:id="rId4" imgW="948055" imgH="479425" progId="Equation.3">
                  <p:embed/>
                </p:oleObj>
              </mc:Choice>
              <mc:Fallback>
                <p:oleObj r:id="rId4" imgW="948055" imgH="479425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2997200"/>
                        <a:ext cx="1447800" cy="723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/>
          <p:nvPr/>
        </p:nvGraphicFramePr>
        <p:xfrm>
          <a:off x="1331913" y="4437063"/>
          <a:ext cx="6240462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r:id="rId6" imgW="3490595" imgH="479425" progId="Equation.DSMT4">
                  <p:embed/>
                </p:oleObj>
              </mc:Choice>
              <mc:Fallback>
                <p:oleObj r:id="rId6" imgW="3490595" imgH="479425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4437063"/>
                        <a:ext cx="6240462" cy="782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Rectangle 6"/>
          <p:cNvSpPr/>
          <p:nvPr/>
        </p:nvSpPr>
        <p:spPr>
          <a:xfrm>
            <a:off x="900113" y="3789363"/>
            <a:ext cx="2428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  <a:ea typeface="楷体" panose="02010609060101010101" pitchFamily="49" charset="-122"/>
              </a:rPr>
              <a:t>若在三维空间有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  <a:ea typeface="楷体" panose="02010609060101010101" pitchFamily="49" charset="-122"/>
              </a:rPr>
              <a:t>:</a:t>
            </a:r>
          </a:p>
        </p:txBody>
      </p:sp>
      <p:sp>
        <p:nvSpPr>
          <p:cNvPr id="29705" name="Rectangle 7"/>
          <p:cNvSpPr/>
          <p:nvPr/>
        </p:nvSpPr>
        <p:spPr>
          <a:xfrm>
            <a:off x="349250" y="5410200"/>
            <a:ext cx="5060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2. </a:t>
            </a:r>
            <a:r>
              <a:rPr lang="zh-CN" altLang="en-US" sz="2400" b="1" dirty="0">
                <a:solidFill>
                  <a:srgbClr val="66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能量和时间之间的不确定关系：</a:t>
            </a:r>
          </a:p>
        </p:txBody>
      </p:sp>
      <p:graphicFrame>
        <p:nvGraphicFramePr>
          <p:cNvPr id="3" name="Object 4"/>
          <p:cNvGraphicFramePr>
            <a:graphicFrameLocks noGrp="1"/>
          </p:cNvGraphicFramePr>
          <p:nvPr>
            <p:ph sz="quarter" idx="3"/>
          </p:nvPr>
        </p:nvGraphicFramePr>
        <p:xfrm>
          <a:off x="3657600" y="5867400"/>
          <a:ext cx="15240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r:id="rId8" imgW="880745" imgH="479425" progId="Equation.DSMT4">
                  <p:embed/>
                </p:oleObj>
              </mc:Choice>
              <mc:Fallback>
                <p:oleObj r:id="rId8" imgW="880745" imgH="479425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3657600" y="5867400"/>
                        <a:ext cx="1524000" cy="8270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/>
      <p:bldP spid="2970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/>
          </p:cNvSpPr>
          <p:nvPr>
            <p:ph idx="1"/>
          </p:nvPr>
        </p:nvSpPr>
        <p:spPr>
          <a:xfrm>
            <a:off x="457200" y="1493838"/>
            <a:ext cx="8229600" cy="2925762"/>
          </a:xfrm>
        </p:spPr>
        <p:txBody>
          <a:bodyPr vert="horz" wrap="square" lIns="91440" tIns="45720" rIns="91440" bIns="45720" anchor="t" anchorCtr="0"/>
          <a:lstStyle/>
          <a:p>
            <a:pPr marL="457200" indent="-457200" eaLnBrk="1" hangingPunct="1"/>
            <a:r>
              <a:rPr lang="en-US" altLang="zh-CN" dirty="0"/>
              <a:t>1. </a:t>
            </a:r>
            <a:r>
              <a:rPr lang="zh-CN" altLang="en-US" dirty="0"/>
              <a:t>反应了</a:t>
            </a:r>
            <a:r>
              <a:rPr lang="zh-CN" altLang="en-US" dirty="0">
                <a:solidFill>
                  <a:srgbClr val="FF0000"/>
                </a:solidFill>
              </a:rPr>
              <a:t>波粒二象性</a:t>
            </a:r>
            <a:r>
              <a:rPr lang="zh-CN" altLang="en-US" dirty="0"/>
              <a:t>的本质。</a:t>
            </a:r>
          </a:p>
          <a:p>
            <a:pPr marL="457200" indent="-457200" eaLnBrk="1" hangingPunct="1"/>
            <a:r>
              <a:rPr lang="en-US" altLang="zh-CN" dirty="0"/>
              <a:t>2. </a:t>
            </a:r>
            <a:r>
              <a:rPr lang="zh-CN" altLang="en-US" dirty="0"/>
              <a:t>不确定关系说明微观粒子的位置和</a:t>
            </a:r>
            <a:r>
              <a:rPr lang="zh-CN" altLang="en-US" dirty="0">
                <a:sym typeface="Symbol" panose="05050102010706020507" pitchFamily="18" charset="2"/>
              </a:rPr>
              <a:t>动量不可能同时精确测定，这是微观世界的</a:t>
            </a:r>
            <a:r>
              <a:rPr lang="zh-CN" altLang="en-US" dirty="0">
                <a:solidFill>
                  <a:schemeClr val="hlink"/>
                </a:solidFill>
                <a:sym typeface="Symbol" panose="05050102010706020507" pitchFamily="18" charset="2"/>
              </a:rPr>
              <a:t>固有规律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  <a:p>
            <a:pPr marL="457200" indent="-457200" eaLnBrk="1" hangingPunct="1"/>
            <a:r>
              <a:rPr lang="en-US" altLang="zh-CN" dirty="0"/>
              <a:t>3. </a:t>
            </a:r>
            <a:r>
              <a:rPr lang="zh-CN" altLang="en-US" dirty="0"/>
              <a:t>不确定关系说明微观粒子</a:t>
            </a:r>
            <a:r>
              <a:rPr lang="zh-CN" altLang="en-US" dirty="0">
                <a:solidFill>
                  <a:srgbClr val="FF0000"/>
                </a:solidFill>
              </a:rPr>
              <a:t>不可能静止</a:t>
            </a:r>
            <a:r>
              <a:rPr lang="zh-CN" altLang="en-US" dirty="0"/>
              <a:t>。</a:t>
            </a:r>
          </a:p>
          <a:p>
            <a:pPr marL="457200" indent="-457200" eaLnBrk="1" hangingPunct="1"/>
            <a:r>
              <a:rPr lang="zh-CN" altLang="en-US" dirty="0"/>
              <a:t>           </a:t>
            </a:r>
            <a:r>
              <a:rPr lang="en-US" altLang="zh-CN" dirty="0"/>
              <a:t>------</a:t>
            </a:r>
            <a:r>
              <a:rPr lang="zh-CN" altLang="en-US" dirty="0"/>
              <a:t>零点能存在</a:t>
            </a:r>
          </a:p>
        </p:txBody>
      </p:sp>
      <p:sp>
        <p:nvSpPr>
          <p:cNvPr id="4" name="矩形 3"/>
          <p:cNvSpPr/>
          <p:nvPr/>
        </p:nvSpPr>
        <p:spPr>
          <a:xfrm>
            <a:off x="1181100" y="228600"/>
            <a:ext cx="3467100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marR="0" lvl="0" indent="-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不确定关系的理解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Text Box 2"/>
          <p:cNvSpPr txBox="1"/>
          <p:nvPr/>
        </p:nvSpPr>
        <p:spPr>
          <a:xfrm>
            <a:off x="1152525" y="330200"/>
            <a:ext cx="288607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CC0066"/>
                </a:solidFill>
                <a:latin typeface="楷体_GB2312" pitchFamily="49" charset="-122"/>
              </a:rPr>
              <a:t>三</a:t>
            </a:r>
            <a:r>
              <a:rPr lang="en-US" altLang="zh-CN" sz="3200" b="1" dirty="0">
                <a:solidFill>
                  <a:srgbClr val="CC0066"/>
                </a:solidFill>
                <a:latin typeface="楷体_GB2312" pitchFamily="49" charset="-122"/>
              </a:rPr>
              <a:t>. </a:t>
            </a:r>
            <a:r>
              <a:rPr lang="zh-CN" altLang="en-US" sz="3200" b="1" dirty="0">
                <a:solidFill>
                  <a:srgbClr val="CC0066"/>
                </a:solidFill>
                <a:latin typeface="楷体_GB2312" pitchFamily="49" charset="-122"/>
              </a:rPr>
              <a:t>薛定谔方程</a:t>
            </a:r>
            <a:endParaRPr lang="zh-CN" altLang="en-US" sz="3200" b="1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8851" name="Object 2"/>
          <p:cNvGraphicFramePr>
            <a:graphicFrameLocks noGrp="1"/>
          </p:cNvGraphicFramePr>
          <p:nvPr>
            <p:ph/>
          </p:nvPr>
        </p:nvGraphicFramePr>
        <p:xfrm>
          <a:off x="1763713" y="1412875"/>
          <a:ext cx="5467350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r:id="rId3" imgW="3356610" imgH="568960" progId="Equation.DSMT4">
                  <p:embed/>
                </p:oleObj>
              </mc:Choice>
              <mc:Fallback>
                <p:oleObj r:id="rId3" imgW="3356610" imgH="56896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1763713" y="1412875"/>
                        <a:ext cx="5467350" cy="919163"/>
                      </a:xfrm>
                      <a:prstGeom prst="rect">
                        <a:avLst/>
                      </a:prstGeom>
                      <a:solidFill>
                        <a:srgbClr val="FFFF00">
                          <a:alpha val="100000"/>
                        </a:srgbClr>
                      </a:solidFill>
                      <a:ln w="19050">
                        <a:solidFill>
                          <a:srgbClr val="FF0000">
                            <a:alpha val="100000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/>
          <p:nvPr/>
        </p:nvGrpSpPr>
        <p:grpSpPr>
          <a:xfrm>
            <a:off x="468313" y="4652963"/>
            <a:ext cx="7488237" cy="1041400"/>
            <a:chOff x="158" y="2886"/>
            <a:chExt cx="4717" cy="656"/>
          </a:xfrm>
        </p:grpSpPr>
        <p:sp>
          <p:nvSpPr>
            <p:cNvPr id="13327" name="Rectangle 5"/>
            <p:cNvSpPr/>
            <p:nvPr/>
          </p:nvSpPr>
          <p:spPr>
            <a:xfrm>
              <a:off x="158" y="2886"/>
              <a:ext cx="4717" cy="6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）其解波函数   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i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      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是一个</a:t>
              </a:r>
              <a:r>
                <a:rPr lang="zh-CN" altLang="en-US" sz="2400" b="1" u="sng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复函数</a:t>
              </a:r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。只有其模方才有直接的物理意义。</a:t>
              </a:r>
            </a:p>
          </p:txBody>
        </p:sp>
        <p:graphicFrame>
          <p:nvGraphicFramePr>
            <p:cNvPr id="13318" name="Object 6"/>
            <p:cNvGraphicFramePr/>
            <p:nvPr/>
          </p:nvGraphicFramePr>
          <p:xfrm>
            <a:off x="1810" y="2886"/>
            <a:ext cx="662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7" r:id="rId5" imgW="523875" imgH="256540" progId="Equation.3">
                    <p:embed/>
                  </p:oleObj>
                </mc:Choice>
                <mc:Fallback>
                  <p:oleObj r:id="rId5" imgW="523875" imgH="25654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810" y="2886"/>
                          <a:ext cx="662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855" name="Rectangle 7"/>
          <p:cNvSpPr/>
          <p:nvPr/>
        </p:nvSpPr>
        <p:spPr>
          <a:xfrm>
            <a:off x="684213" y="2779713"/>
            <a:ext cx="52562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）它的解满足态的叠加原理</a:t>
            </a:r>
          </a:p>
        </p:txBody>
      </p:sp>
      <p:grpSp>
        <p:nvGrpSpPr>
          <p:cNvPr id="3" name="Group 8"/>
          <p:cNvGrpSpPr/>
          <p:nvPr/>
        </p:nvGrpSpPr>
        <p:grpSpPr>
          <a:xfrm>
            <a:off x="773113" y="3429000"/>
            <a:ext cx="7543800" cy="538163"/>
            <a:chOff x="476" y="2115"/>
            <a:chExt cx="4752" cy="339"/>
          </a:xfrm>
        </p:grpSpPr>
        <p:sp>
          <p:nvSpPr>
            <p:cNvPr id="13326" name="Rectangle 9"/>
            <p:cNvSpPr/>
            <p:nvPr/>
          </p:nvSpPr>
          <p:spPr>
            <a:xfrm>
              <a:off x="476" y="2115"/>
              <a:ext cx="47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若                 和                 是薛定谔方程的解，</a:t>
              </a:r>
            </a:p>
          </p:txBody>
        </p:sp>
        <p:graphicFrame>
          <p:nvGraphicFramePr>
            <p:cNvPr id="13316" name="Object 4"/>
            <p:cNvGraphicFramePr/>
            <p:nvPr/>
          </p:nvGraphicFramePr>
          <p:xfrm>
            <a:off x="1722" y="2115"/>
            <a:ext cx="795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8" r:id="rId7" imgW="507365" imgH="215900" progId="Equation.3">
                    <p:embed/>
                  </p:oleObj>
                </mc:Choice>
                <mc:Fallback>
                  <p:oleObj r:id="rId7" imgW="507365" imgH="215900" progId="Equation.3">
                    <p:embed/>
                    <p:pic>
                      <p:nvPicPr>
                        <p:cNvPr id="0" name="图片 3114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22" y="2115"/>
                          <a:ext cx="795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7" name="Object 5"/>
            <p:cNvGraphicFramePr/>
            <p:nvPr/>
          </p:nvGraphicFramePr>
          <p:xfrm>
            <a:off x="721" y="2115"/>
            <a:ext cx="798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9" r:id="rId9" imgW="494665" imgH="215900" progId="Equation.3">
                    <p:embed/>
                  </p:oleObj>
                </mc:Choice>
                <mc:Fallback>
                  <p:oleObj r:id="rId9" imgW="494665" imgH="215900" progId="Equation.3">
                    <p:embed/>
                    <p:pic>
                      <p:nvPicPr>
                        <p:cNvPr id="0" name="图片 311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21" y="2115"/>
                          <a:ext cx="798" cy="33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/>
          <p:cNvGrpSpPr/>
          <p:nvPr/>
        </p:nvGrpSpPr>
        <p:grpSpPr>
          <a:xfrm>
            <a:off x="815975" y="4076700"/>
            <a:ext cx="8077200" cy="539750"/>
            <a:chOff x="816" y="2544"/>
            <a:chExt cx="5088" cy="340"/>
          </a:xfrm>
        </p:grpSpPr>
        <p:sp>
          <p:nvSpPr>
            <p:cNvPr id="13325" name="Rectangle 13"/>
            <p:cNvSpPr/>
            <p:nvPr/>
          </p:nvSpPr>
          <p:spPr>
            <a:xfrm>
              <a:off x="816" y="2548"/>
              <a:ext cx="50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/>
              <a:r>
                <a:rPr lang="zh-CN" altLang="en-US" sz="2400" b="1" dirty="0">
                  <a:latin typeface="宋体" panose="02010600030101010101" pitchFamily="2" charset="-122"/>
                </a:rPr>
                <a:t>则                     也是薛定谔方程的解。</a:t>
              </a:r>
            </a:p>
          </p:txBody>
        </p:sp>
        <p:graphicFrame>
          <p:nvGraphicFramePr>
            <p:cNvPr id="13315" name="Object 3"/>
            <p:cNvGraphicFramePr/>
            <p:nvPr/>
          </p:nvGraphicFramePr>
          <p:xfrm>
            <a:off x="1058" y="2544"/>
            <a:ext cx="1941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0" r:id="rId11" imgW="1318895" imgH="215900" progId="Equation.3">
                    <p:embed/>
                  </p:oleObj>
                </mc:Choice>
                <mc:Fallback>
                  <p:oleObj r:id="rId11" imgW="1318895" imgH="2159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58" y="2544"/>
                          <a:ext cx="1941" cy="3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863" name="Rectangle 15"/>
          <p:cNvSpPr/>
          <p:nvPr/>
        </p:nvSpPr>
        <p:spPr>
          <a:xfrm>
            <a:off x="611188" y="5780088"/>
            <a:ext cx="66246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）它是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非相对论</a:t>
            </a:r>
            <a:r>
              <a:rPr lang="zh-CN" altLang="en-US" sz="2400" b="1" dirty="0">
                <a:latin typeface="Times New Roman" panose="02020603050405020304" pitchFamily="18" charset="0"/>
              </a:rPr>
              <a:t>形式的方程。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8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Text Box 4"/>
          <p:cNvSpPr txBox="1"/>
          <p:nvPr/>
        </p:nvSpPr>
        <p:spPr>
          <a:xfrm>
            <a:off x="-36512" y="1816100"/>
            <a:ext cx="26352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宋体" panose="02010600030101010101" pitchFamily="2" charset="-122"/>
              </a:rPr>
              <a:t>势场中运动的粒子</a:t>
            </a:r>
          </a:p>
        </p:txBody>
      </p:sp>
      <p:sp>
        <p:nvSpPr>
          <p:cNvPr id="20487" name="Text Box 5"/>
          <p:cNvSpPr txBox="1"/>
          <p:nvPr/>
        </p:nvSpPr>
        <p:spPr>
          <a:xfrm>
            <a:off x="0" y="4019550"/>
            <a:ext cx="23288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定态薛定谔方程</a:t>
            </a:r>
          </a:p>
        </p:txBody>
      </p:sp>
      <p:graphicFrame>
        <p:nvGraphicFramePr>
          <p:cNvPr id="14338" name="Object 2"/>
          <p:cNvGraphicFramePr/>
          <p:nvPr/>
        </p:nvGraphicFramePr>
        <p:xfrm>
          <a:off x="2771775" y="1600200"/>
          <a:ext cx="6072188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r:id="rId3" imgW="2943860" imgH="490855" progId="Equation.DSMT4">
                  <p:embed/>
                </p:oleObj>
              </mc:Choice>
              <mc:Fallback>
                <p:oleObj r:id="rId3" imgW="2943860" imgH="490855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775" y="1600200"/>
                        <a:ext cx="6072188" cy="839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/>
          <p:nvPr/>
        </p:nvGraphicFramePr>
        <p:xfrm>
          <a:off x="2628900" y="3760788"/>
          <a:ext cx="504031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1" r:id="rId5" imgW="2263775" imgH="490855" progId="Equation.DSMT4">
                  <p:embed/>
                </p:oleObj>
              </mc:Choice>
              <mc:Fallback>
                <p:oleObj r:id="rId5" imgW="2263775" imgH="490855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28900" y="3760788"/>
                        <a:ext cx="5040313" cy="908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Text Box 11"/>
          <p:cNvSpPr txBox="1"/>
          <p:nvPr/>
        </p:nvSpPr>
        <p:spPr>
          <a:xfrm>
            <a:off x="11113" y="2824163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自由粒子</a:t>
            </a:r>
          </a:p>
        </p:txBody>
      </p:sp>
      <p:graphicFrame>
        <p:nvGraphicFramePr>
          <p:cNvPr id="2" name="Object 5"/>
          <p:cNvGraphicFramePr/>
          <p:nvPr/>
        </p:nvGraphicFramePr>
        <p:xfrm>
          <a:off x="2711450" y="2608263"/>
          <a:ext cx="4537075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" r:id="rId7" imgW="2107565" imgH="490855" progId="Equation.DSMT4">
                  <p:embed/>
                </p:oleObj>
              </mc:Choice>
              <mc:Fallback>
                <p:oleObj r:id="rId7" imgW="2107565" imgH="490855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1450" y="2608263"/>
                        <a:ext cx="4537075" cy="8747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2"/>
          <p:cNvSpPr txBox="1"/>
          <p:nvPr/>
        </p:nvSpPr>
        <p:spPr>
          <a:xfrm>
            <a:off x="1152525" y="330200"/>
            <a:ext cx="2886075" cy="584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CC0066"/>
                </a:solidFill>
                <a:latin typeface="楷体_GB2312" pitchFamily="49" charset="-122"/>
              </a:rPr>
              <a:t>三</a:t>
            </a:r>
            <a:r>
              <a:rPr lang="en-US" altLang="zh-CN" sz="3200" b="1" dirty="0">
                <a:solidFill>
                  <a:srgbClr val="CC0066"/>
                </a:solidFill>
                <a:latin typeface="楷体_GB2312" pitchFamily="49" charset="-122"/>
              </a:rPr>
              <a:t>. </a:t>
            </a:r>
            <a:r>
              <a:rPr lang="zh-CN" altLang="en-US" sz="3200" b="1" dirty="0">
                <a:solidFill>
                  <a:srgbClr val="CC0066"/>
                </a:solidFill>
                <a:latin typeface="楷体_GB2312" pitchFamily="49" charset="-122"/>
              </a:rPr>
              <a:t>薛定谔方程</a:t>
            </a:r>
            <a:endParaRPr lang="zh-CN" altLang="en-US" sz="3200" b="1" dirty="0">
              <a:solidFill>
                <a:srgbClr val="CC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2048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5" name="Text Box 2"/>
          <p:cNvSpPr txBox="1"/>
          <p:nvPr/>
        </p:nvSpPr>
        <p:spPr>
          <a:xfrm>
            <a:off x="1371600" y="376238"/>
            <a:ext cx="2659063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一维无限深方势阱</a:t>
            </a:r>
          </a:p>
        </p:txBody>
      </p:sp>
      <p:sp>
        <p:nvSpPr>
          <p:cNvPr id="32778" name="Text Box 3"/>
          <p:cNvSpPr txBox="1"/>
          <p:nvPr/>
        </p:nvSpPr>
        <p:spPr>
          <a:xfrm>
            <a:off x="3505200" y="4800600"/>
            <a:ext cx="14097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本征值：</a:t>
            </a:r>
          </a:p>
        </p:txBody>
      </p:sp>
      <p:graphicFrame>
        <p:nvGraphicFramePr>
          <p:cNvPr id="32770" name="Object 2"/>
          <p:cNvGraphicFramePr/>
          <p:nvPr/>
        </p:nvGraphicFramePr>
        <p:xfrm>
          <a:off x="4953000" y="4572000"/>
          <a:ext cx="4038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4" r:id="rId3" imgW="1795145" imgH="490855" progId="Equation.DSMT4">
                  <p:embed/>
                </p:oleObj>
              </mc:Choice>
              <mc:Fallback>
                <p:oleObj r:id="rId3" imgW="1795145" imgH="490855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3000" y="4572000"/>
                        <a:ext cx="40386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9" name="Text Box 5"/>
          <p:cNvSpPr txBox="1"/>
          <p:nvPr/>
        </p:nvSpPr>
        <p:spPr>
          <a:xfrm>
            <a:off x="0" y="4876800"/>
            <a:ext cx="17160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本征函数：</a:t>
            </a:r>
          </a:p>
        </p:txBody>
      </p:sp>
      <p:graphicFrame>
        <p:nvGraphicFramePr>
          <p:cNvPr id="14" name="Object 14"/>
          <p:cNvGraphicFramePr/>
          <p:nvPr/>
        </p:nvGraphicFramePr>
        <p:xfrm>
          <a:off x="533400" y="908050"/>
          <a:ext cx="17018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r:id="rId5" imgW="858520" imgH="535305" progId="Equation.3">
                  <p:embed/>
                </p:oleObj>
              </mc:Choice>
              <mc:Fallback>
                <p:oleObj r:id="rId5" imgW="858520" imgH="535305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3400" y="908050"/>
                        <a:ext cx="1701800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/>
          <p:nvPr/>
        </p:nvGraphicFramePr>
        <p:xfrm>
          <a:off x="2438400" y="955675"/>
          <a:ext cx="185102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6" r:id="rId7" imgW="936625" imgH="479425" progId="Equation.3">
                  <p:embed/>
                </p:oleObj>
              </mc:Choice>
              <mc:Fallback>
                <p:oleObj r:id="rId7" imgW="936625" imgH="479425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38400" y="955675"/>
                        <a:ext cx="1851025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>
          <a:xfrm>
            <a:off x="1339850" y="3716338"/>
            <a:ext cx="830263" cy="746125"/>
            <a:chOff x="768" y="3530"/>
            <a:chExt cx="613" cy="550"/>
          </a:xfrm>
        </p:grpSpPr>
        <p:sp>
          <p:nvSpPr>
            <p:cNvPr id="15417" name="Oval 6"/>
            <p:cNvSpPr/>
            <p:nvPr/>
          </p:nvSpPr>
          <p:spPr>
            <a:xfrm>
              <a:off x="1162" y="3888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3300"/>
                </a:gs>
                <a:gs pos="100000">
                  <a:srgbClr val="8F1D00"/>
                </a:gs>
              </a:gsLst>
              <a:path path="shape">
                <a:fillToRect l="50000" t="50000" r="50000" b="50000"/>
              </a:path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8" name="Text Box 7"/>
            <p:cNvSpPr txBox="1">
              <a:spLocks noChangeArrowheads="1"/>
            </p:cNvSpPr>
            <p:nvPr/>
          </p:nvSpPr>
          <p:spPr bwMode="auto">
            <a:xfrm>
              <a:off x="1103" y="3530"/>
              <a:ext cx="278" cy="27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dirty="0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m</a:t>
              </a:r>
            </a:p>
          </p:txBody>
        </p:sp>
        <p:sp>
          <p:nvSpPr>
            <p:cNvPr id="19" name="Text Box 8"/>
            <p:cNvSpPr txBox="1">
              <a:spLocks noChangeArrowheads="1"/>
            </p:cNvSpPr>
            <p:nvPr/>
          </p:nvSpPr>
          <p:spPr bwMode="auto">
            <a:xfrm>
              <a:off x="768" y="3770"/>
              <a:ext cx="250" cy="27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i="1" dirty="0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533400" y="1844675"/>
            <a:ext cx="2808288" cy="3149600"/>
            <a:chOff x="3787" y="3410"/>
            <a:chExt cx="1769" cy="1984"/>
          </a:xfrm>
        </p:grpSpPr>
        <p:sp>
          <p:nvSpPr>
            <p:cNvPr id="15407" name="Rectangle 14" descr="浅色上对角线"/>
            <p:cNvSpPr/>
            <p:nvPr/>
          </p:nvSpPr>
          <p:spPr>
            <a:xfrm>
              <a:off x="4921" y="3999"/>
              <a:ext cx="454" cy="1133"/>
            </a:xfrm>
            <a:prstGeom prst="rect">
              <a:avLst/>
            </a:prstGeom>
            <a:blipFill rotWithShape="0">
              <a:blip r:embed="rId9"/>
            </a:blip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5408" name="Rectangle 15" descr="浅色上对角线"/>
            <p:cNvSpPr/>
            <p:nvPr/>
          </p:nvSpPr>
          <p:spPr>
            <a:xfrm>
              <a:off x="3787" y="3999"/>
              <a:ext cx="454" cy="1133"/>
            </a:xfrm>
            <a:prstGeom prst="rect">
              <a:avLst/>
            </a:prstGeom>
            <a:blipFill rotWithShape="0">
              <a:blip r:embed="rId9"/>
            </a:blip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15409" name="Text Box 16"/>
            <p:cNvSpPr txBox="1"/>
            <p:nvPr/>
          </p:nvSpPr>
          <p:spPr>
            <a:xfrm>
              <a:off x="4150" y="5063"/>
              <a:ext cx="228" cy="331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15410" name="Text Box 17"/>
            <p:cNvSpPr txBox="1"/>
            <p:nvPr/>
          </p:nvSpPr>
          <p:spPr>
            <a:xfrm>
              <a:off x="4830" y="5063"/>
              <a:ext cx="187" cy="23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11" name="Line 18"/>
            <p:cNvSpPr/>
            <p:nvPr/>
          </p:nvSpPr>
          <p:spPr>
            <a:xfrm>
              <a:off x="3787" y="5133"/>
              <a:ext cx="1769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15412" name="Text Box 19"/>
            <p:cNvSpPr txBox="1"/>
            <p:nvPr/>
          </p:nvSpPr>
          <p:spPr>
            <a:xfrm>
              <a:off x="5353" y="5138"/>
              <a:ext cx="187" cy="234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5413" name="Text Box 20"/>
            <p:cNvSpPr txBox="1"/>
            <p:nvPr/>
          </p:nvSpPr>
          <p:spPr>
            <a:xfrm>
              <a:off x="4345" y="3410"/>
              <a:ext cx="253" cy="288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none" lIns="90000" tIns="46800" rIns="90000" bIns="468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latin typeface="Tahoma" panose="020B0604030504040204" pitchFamily="34" charset="0"/>
                  <a:ea typeface="宋体" panose="02010600030101010101" pitchFamily="2" charset="-122"/>
                </a:rPr>
                <a:t>U</a:t>
              </a:r>
            </a:p>
          </p:txBody>
        </p:sp>
        <p:sp>
          <p:nvSpPr>
            <p:cNvPr id="15414" name="Line 21"/>
            <p:cNvSpPr/>
            <p:nvPr/>
          </p:nvSpPr>
          <p:spPr>
            <a:xfrm flipV="1">
              <a:off x="4230" y="3506"/>
              <a:ext cx="0" cy="16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415" name="Line 22"/>
            <p:cNvSpPr/>
            <p:nvPr/>
          </p:nvSpPr>
          <p:spPr>
            <a:xfrm flipV="1">
              <a:off x="4925" y="3890"/>
              <a:ext cx="0" cy="12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416" name="Line 23"/>
            <p:cNvSpPr/>
            <p:nvPr/>
          </p:nvSpPr>
          <p:spPr>
            <a:xfrm flipV="1">
              <a:off x="4224" y="3890"/>
              <a:ext cx="0" cy="124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aphicFrame>
          <p:nvGraphicFramePr>
            <p:cNvPr id="15373" name="Object 16"/>
            <p:cNvGraphicFramePr/>
            <p:nvPr/>
          </p:nvGraphicFramePr>
          <p:xfrm>
            <a:off x="4967" y="3838"/>
            <a:ext cx="259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77" r:id="rId10" imgW="151765" imgH="127000" progId="Equation.3">
                    <p:embed/>
                  </p:oleObj>
                </mc:Choice>
                <mc:Fallback>
                  <p:oleObj r:id="rId10" imgW="151765" imgH="1270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967" y="3838"/>
                          <a:ext cx="259" cy="1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4" name="Object 17"/>
            <p:cNvGraphicFramePr/>
            <p:nvPr/>
          </p:nvGraphicFramePr>
          <p:xfrm>
            <a:off x="3923" y="3838"/>
            <a:ext cx="259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78" r:id="rId12" imgW="151765" imgH="127000" progId="Equation.3">
                    <p:embed/>
                  </p:oleObj>
                </mc:Choice>
                <mc:Fallback>
                  <p:oleObj r:id="rId12" imgW="151765" imgH="1270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3923" y="3838"/>
                          <a:ext cx="259" cy="16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18"/>
          <p:cNvGraphicFramePr/>
          <p:nvPr/>
        </p:nvGraphicFramePr>
        <p:xfrm>
          <a:off x="76200" y="5772150"/>
          <a:ext cx="12842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9" r:id="rId13" imgW="613410" imgH="267335" progId="Equation.3">
                  <p:embed/>
                </p:oleObj>
              </mc:Choice>
              <mc:Fallback>
                <p:oleObj r:id="rId13" imgW="613410" imgH="267335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6200" y="5772150"/>
                        <a:ext cx="1284288" cy="565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9"/>
          <p:cNvGraphicFramePr/>
          <p:nvPr/>
        </p:nvGraphicFramePr>
        <p:xfrm>
          <a:off x="1416050" y="5238750"/>
          <a:ext cx="54022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0" r:id="rId15" imgW="2988310" imgH="523875" progId="Equation.DSMT4">
                  <p:embed/>
                </p:oleObj>
              </mc:Choice>
              <mc:Fallback>
                <p:oleObj r:id="rId15" imgW="2988310" imgH="523875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16050" y="5238750"/>
                        <a:ext cx="5402263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AutoShape 16"/>
          <p:cNvSpPr/>
          <p:nvPr/>
        </p:nvSpPr>
        <p:spPr>
          <a:xfrm>
            <a:off x="1357313" y="5270500"/>
            <a:ext cx="142875" cy="1395413"/>
          </a:xfrm>
          <a:prstGeom prst="leftBrace">
            <a:avLst>
              <a:gd name="adj1" fmla="val 81343"/>
              <a:gd name="adj2" fmla="val 50000"/>
            </a:avLst>
          </a:prstGeom>
          <a:noFill/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36" name="Object 20"/>
          <p:cNvGraphicFramePr/>
          <p:nvPr/>
        </p:nvGraphicFramePr>
        <p:xfrm>
          <a:off x="1671638" y="6224588"/>
          <a:ext cx="342106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1" r:id="rId17" imgW="1293495" imgH="234315" progId="Equation.DSMT4">
                  <p:embed/>
                </p:oleObj>
              </mc:Choice>
              <mc:Fallback>
                <p:oleObj r:id="rId17" imgW="1293495" imgH="234315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71638" y="6224588"/>
                        <a:ext cx="3421062" cy="4810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Line 55"/>
          <p:cNvSpPr/>
          <p:nvPr/>
        </p:nvSpPr>
        <p:spPr>
          <a:xfrm flipV="1">
            <a:off x="8088313" y="768350"/>
            <a:ext cx="1587" cy="3560763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38" name="Freeform 56"/>
          <p:cNvSpPr/>
          <p:nvPr/>
        </p:nvSpPr>
        <p:spPr>
          <a:xfrm>
            <a:off x="5602288" y="3605213"/>
            <a:ext cx="2498725" cy="644525"/>
          </a:xfrm>
          <a:custGeom>
            <a:avLst/>
            <a:gdLst>
              <a:gd name="txL" fmla="*/ 0 w 1152"/>
              <a:gd name="txT" fmla="*/ 0 h 1008"/>
              <a:gd name="txR" fmla="*/ 1152 w 1152"/>
              <a:gd name="txB" fmla="*/ 1008 h 1008"/>
            </a:gdLst>
            <a:ahLst/>
            <a:cxnLst>
              <a:cxn ang="0">
                <a:pos x="0" y="412115611"/>
              </a:cxn>
              <a:cxn ang="0">
                <a:pos x="903301990" y="215869865"/>
              </a:cxn>
              <a:cxn ang="0">
                <a:pos x="1806603980" y="58873656"/>
              </a:cxn>
              <a:cxn ang="0">
                <a:pos x="2147483647" y="0"/>
              </a:cxn>
              <a:cxn ang="0">
                <a:pos x="2147483647" y="58873656"/>
              </a:cxn>
              <a:cxn ang="0">
                <a:pos x="2147483647" y="215869865"/>
              </a:cxn>
              <a:cxn ang="0">
                <a:pos x="2147483647" y="412115611"/>
              </a:cxn>
            </a:cxnLst>
            <a:rect l="txL" t="txT" r="txR" b="txB"/>
            <a:pathLst>
              <a:path w="1152" h="1008">
                <a:moveTo>
                  <a:pt x="0" y="1008"/>
                </a:moveTo>
                <a:cubicBezTo>
                  <a:pt x="64" y="840"/>
                  <a:pt x="128" y="672"/>
                  <a:pt x="192" y="528"/>
                </a:cubicBezTo>
                <a:cubicBezTo>
                  <a:pt x="256" y="384"/>
                  <a:pt x="320" y="232"/>
                  <a:pt x="384" y="144"/>
                </a:cubicBezTo>
                <a:cubicBezTo>
                  <a:pt x="448" y="56"/>
                  <a:pt x="512" y="0"/>
                  <a:pt x="576" y="0"/>
                </a:cubicBezTo>
                <a:cubicBezTo>
                  <a:pt x="640" y="0"/>
                  <a:pt x="704" y="56"/>
                  <a:pt x="768" y="144"/>
                </a:cubicBezTo>
                <a:cubicBezTo>
                  <a:pt x="832" y="232"/>
                  <a:pt x="896" y="384"/>
                  <a:pt x="960" y="528"/>
                </a:cubicBezTo>
                <a:cubicBezTo>
                  <a:pt x="1024" y="672"/>
                  <a:pt x="1120" y="928"/>
                  <a:pt x="1152" y="1008"/>
                </a:cubicBezTo>
              </a:path>
            </a:pathLst>
          </a:custGeom>
          <a:solidFill>
            <a:srgbClr val="CCFFFF">
              <a:alpha val="50195"/>
            </a:srgbClr>
          </a:solidFill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57"/>
          <p:cNvGrpSpPr/>
          <p:nvPr/>
        </p:nvGrpSpPr>
        <p:grpSpPr>
          <a:xfrm>
            <a:off x="5556250" y="1658938"/>
            <a:ext cx="2582863" cy="458787"/>
            <a:chOff x="3539" y="2178"/>
            <a:chExt cx="1843" cy="229"/>
          </a:xfrm>
        </p:grpSpPr>
        <p:sp>
          <p:nvSpPr>
            <p:cNvPr id="15402" name="Line 58"/>
            <p:cNvSpPr/>
            <p:nvPr/>
          </p:nvSpPr>
          <p:spPr>
            <a:xfrm>
              <a:off x="3551" y="2405"/>
              <a:ext cx="18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grpSp>
          <p:nvGrpSpPr>
            <p:cNvPr id="15403" name="Group 59"/>
            <p:cNvGrpSpPr/>
            <p:nvPr/>
          </p:nvGrpSpPr>
          <p:grpSpPr>
            <a:xfrm>
              <a:off x="3539" y="2178"/>
              <a:ext cx="1824" cy="229"/>
              <a:chOff x="2928" y="1824"/>
              <a:chExt cx="1824" cy="229"/>
            </a:xfrm>
          </p:grpSpPr>
          <p:sp>
            <p:nvSpPr>
              <p:cNvPr id="15404" name="Freeform 60"/>
              <p:cNvSpPr/>
              <p:nvPr/>
            </p:nvSpPr>
            <p:spPr>
              <a:xfrm>
                <a:off x="3531" y="1824"/>
                <a:ext cx="609" cy="229"/>
              </a:xfrm>
              <a:custGeom>
                <a:avLst/>
                <a:gdLst>
                  <a:gd name="txL" fmla="*/ 0 w 1152"/>
                  <a:gd name="txT" fmla="*/ 0 h 1008"/>
                  <a:gd name="txR" fmla="*/ 1152 w 1152"/>
                  <a:gd name="txB" fmla="*/ 1008 h 1008"/>
                </a:gdLst>
                <a:ahLst/>
                <a:cxnLst>
                  <a:cxn ang="0">
                    <a:pos x="0" y="52"/>
                  </a:cxn>
                  <a:cxn ang="0">
                    <a:pos x="54" y="27"/>
                  </a:cxn>
                  <a:cxn ang="0">
                    <a:pos x="107" y="7"/>
                  </a:cxn>
                  <a:cxn ang="0">
                    <a:pos x="161" y="0"/>
                  </a:cxn>
                  <a:cxn ang="0">
                    <a:pos x="215" y="7"/>
                  </a:cxn>
                  <a:cxn ang="0">
                    <a:pos x="269" y="27"/>
                  </a:cxn>
                  <a:cxn ang="0">
                    <a:pos x="322" y="52"/>
                  </a:cxn>
                </a:cxnLst>
                <a:rect l="txL" t="txT" r="txR" b="txB"/>
                <a:pathLst>
                  <a:path w="1152" h="1008">
                    <a:moveTo>
                      <a:pt x="0" y="1008"/>
                    </a:moveTo>
                    <a:cubicBezTo>
                      <a:pt x="64" y="840"/>
                      <a:pt x="128" y="672"/>
                      <a:pt x="192" y="528"/>
                    </a:cubicBezTo>
                    <a:cubicBezTo>
                      <a:pt x="256" y="384"/>
                      <a:pt x="320" y="232"/>
                      <a:pt x="384" y="144"/>
                    </a:cubicBezTo>
                    <a:cubicBezTo>
                      <a:pt x="448" y="56"/>
                      <a:pt x="512" y="0"/>
                      <a:pt x="576" y="0"/>
                    </a:cubicBezTo>
                    <a:cubicBezTo>
                      <a:pt x="640" y="0"/>
                      <a:pt x="704" y="56"/>
                      <a:pt x="768" y="144"/>
                    </a:cubicBezTo>
                    <a:cubicBezTo>
                      <a:pt x="832" y="232"/>
                      <a:pt x="896" y="384"/>
                      <a:pt x="960" y="528"/>
                    </a:cubicBezTo>
                    <a:cubicBezTo>
                      <a:pt x="1024" y="672"/>
                      <a:pt x="1120" y="928"/>
                      <a:pt x="1152" y="1008"/>
                    </a:cubicBezTo>
                  </a:path>
                </a:pathLst>
              </a:custGeom>
              <a:solidFill>
                <a:srgbClr val="CCFFFF">
                  <a:alpha val="50195"/>
                </a:srgbClr>
              </a:solidFill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5" name="Freeform 61"/>
              <p:cNvSpPr/>
              <p:nvPr/>
            </p:nvSpPr>
            <p:spPr>
              <a:xfrm>
                <a:off x="4143" y="1824"/>
                <a:ext cx="609" cy="229"/>
              </a:xfrm>
              <a:custGeom>
                <a:avLst/>
                <a:gdLst>
                  <a:gd name="txL" fmla="*/ 0 w 1152"/>
                  <a:gd name="txT" fmla="*/ 0 h 1008"/>
                  <a:gd name="txR" fmla="*/ 1152 w 1152"/>
                  <a:gd name="txB" fmla="*/ 1008 h 1008"/>
                </a:gdLst>
                <a:ahLst/>
                <a:cxnLst>
                  <a:cxn ang="0">
                    <a:pos x="0" y="52"/>
                  </a:cxn>
                  <a:cxn ang="0">
                    <a:pos x="54" y="27"/>
                  </a:cxn>
                  <a:cxn ang="0">
                    <a:pos x="107" y="7"/>
                  </a:cxn>
                  <a:cxn ang="0">
                    <a:pos x="161" y="0"/>
                  </a:cxn>
                  <a:cxn ang="0">
                    <a:pos x="215" y="7"/>
                  </a:cxn>
                  <a:cxn ang="0">
                    <a:pos x="269" y="27"/>
                  </a:cxn>
                  <a:cxn ang="0">
                    <a:pos x="322" y="52"/>
                  </a:cxn>
                </a:cxnLst>
                <a:rect l="txL" t="txT" r="txR" b="txB"/>
                <a:pathLst>
                  <a:path w="1152" h="1008">
                    <a:moveTo>
                      <a:pt x="0" y="1008"/>
                    </a:moveTo>
                    <a:cubicBezTo>
                      <a:pt x="64" y="840"/>
                      <a:pt x="128" y="672"/>
                      <a:pt x="192" y="528"/>
                    </a:cubicBezTo>
                    <a:cubicBezTo>
                      <a:pt x="256" y="384"/>
                      <a:pt x="320" y="232"/>
                      <a:pt x="384" y="144"/>
                    </a:cubicBezTo>
                    <a:cubicBezTo>
                      <a:pt x="448" y="56"/>
                      <a:pt x="512" y="0"/>
                      <a:pt x="576" y="0"/>
                    </a:cubicBezTo>
                    <a:cubicBezTo>
                      <a:pt x="640" y="0"/>
                      <a:pt x="704" y="56"/>
                      <a:pt x="768" y="144"/>
                    </a:cubicBezTo>
                    <a:cubicBezTo>
                      <a:pt x="832" y="232"/>
                      <a:pt x="896" y="384"/>
                      <a:pt x="960" y="528"/>
                    </a:cubicBezTo>
                    <a:cubicBezTo>
                      <a:pt x="1024" y="672"/>
                      <a:pt x="1120" y="928"/>
                      <a:pt x="1152" y="1008"/>
                    </a:cubicBezTo>
                  </a:path>
                </a:pathLst>
              </a:custGeom>
              <a:solidFill>
                <a:srgbClr val="CCFFFF">
                  <a:alpha val="50195"/>
                </a:srgbClr>
              </a:solidFill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6" name="Freeform 62"/>
              <p:cNvSpPr/>
              <p:nvPr/>
            </p:nvSpPr>
            <p:spPr>
              <a:xfrm>
                <a:off x="2928" y="1824"/>
                <a:ext cx="609" cy="229"/>
              </a:xfrm>
              <a:custGeom>
                <a:avLst/>
                <a:gdLst>
                  <a:gd name="txL" fmla="*/ 0 w 1152"/>
                  <a:gd name="txT" fmla="*/ 0 h 1008"/>
                  <a:gd name="txR" fmla="*/ 1152 w 1152"/>
                  <a:gd name="txB" fmla="*/ 1008 h 1008"/>
                </a:gdLst>
                <a:ahLst/>
                <a:cxnLst>
                  <a:cxn ang="0">
                    <a:pos x="0" y="52"/>
                  </a:cxn>
                  <a:cxn ang="0">
                    <a:pos x="54" y="27"/>
                  </a:cxn>
                  <a:cxn ang="0">
                    <a:pos x="107" y="7"/>
                  </a:cxn>
                  <a:cxn ang="0">
                    <a:pos x="161" y="0"/>
                  </a:cxn>
                  <a:cxn ang="0">
                    <a:pos x="215" y="7"/>
                  </a:cxn>
                  <a:cxn ang="0">
                    <a:pos x="269" y="27"/>
                  </a:cxn>
                  <a:cxn ang="0">
                    <a:pos x="322" y="52"/>
                  </a:cxn>
                </a:cxnLst>
                <a:rect l="txL" t="txT" r="txR" b="txB"/>
                <a:pathLst>
                  <a:path w="1152" h="1008">
                    <a:moveTo>
                      <a:pt x="0" y="1008"/>
                    </a:moveTo>
                    <a:cubicBezTo>
                      <a:pt x="64" y="840"/>
                      <a:pt x="128" y="672"/>
                      <a:pt x="192" y="528"/>
                    </a:cubicBezTo>
                    <a:cubicBezTo>
                      <a:pt x="256" y="384"/>
                      <a:pt x="320" y="232"/>
                      <a:pt x="384" y="144"/>
                    </a:cubicBezTo>
                    <a:cubicBezTo>
                      <a:pt x="448" y="56"/>
                      <a:pt x="512" y="0"/>
                      <a:pt x="576" y="0"/>
                    </a:cubicBezTo>
                    <a:cubicBezTo>
                      <a:pt x="640" y="0"/>
                      <a:pt x="704" y="56"/>
                      <a:pt x="768" y="144"/>
                    </a:cubicBezTo>
                    <a:cubicBezTo>
                      <a:pt x="832" y="232"/>
                      <a:pt x="896" y="384"/>
                      <a:pt x="960" y="528"/>
                    </a:cubicBezTo>
                    <a:cubicBezTo>
                      <a:pt x="1024" y="672"/>
                      <a:pt x="1120" y="928"/>
                      <a:pt x="1152" y="1008"/>
                    </a:cubicBezTo>
                  </a:path>
                </a:pathLst>
              </a:custGeom>
              <a:solidFill>
                <a:srgbClr val="CCFFFF">
                  <a:alpha val="50195"/>
                </a:srgbClr>
              </a:solidFill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63"/>
          <p:cNvGrpSpPr/>
          <p:nvPr/>
        </p:nvGrpSpPr>
        <p:grpSpPr>
          <a:xfrm>
            <a:off x="4800600" y="76200"/>
            <a:ext cx="3679825" cy="4703763"/>
            <a:chOff x="2939" y="827"/>
            <a:chExt cx="2848" cy="3384"/>
          </a:xfrm>
        </p:grpSpPr>
        <p:grpSp>
          <p:nvGrpSpPr>
            <p:cNvPr id="15396" name="Group 64"/>
            <p:cNvGrpSpPr/>
            <p:nvPr/>
          </p:nvGrpSpPr>
          <p:grpSpPr>
            <a:xfrm>
              <a:off x="3551" y="1255"/>
              <a:ext cx="2100" cy="2592"/>
              <a:chOff x="672" y="0"/>
              <a:chExt cx="1872" cy="2352"/>
            </a:xfrm>
          </p:grpSpPr>
          <p:sp>
            <p:nvSpPr>
              <p:cNvPr id="15400" name="Line 65"/>
              <p:cNvSpPr/>
              <p:nvPr/>
            </p:nvSpPr>
            <p:spPr>
              <a:xfrm>
                <a:off x="672" y="2352"/>
                <a:ext cx="187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5401" name="Line 66"/>
              <p:cNvSpPr/>
              <p:nvPr/>
            </p:nvSpPr>
            <p:spPr>
              <a:xfrm flipV="1">
                <a:off x="672" y="0"/>
                <a:ext cx="0" cy="235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5397" name="Text Box 67"/>
            <p:cNvSpPr txBox="1"/>
            <p:nvPr/>
          </p:nvSpPr>
          <p:spPr>
            <a:xfrm>
              <a:off x="5217" y="3849"/>
              <a:ext cx="26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i="1" dirty="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5398" name="Text Box 68"/>
            <p:cNvSpPr txBox="1"/>
            <p:nvPr/>
          </p:nvSpPr>
          <p:spPr>
            <a:xfrm>
              <a:off x="3408" y="3882"/>
              <a:ext cx="26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dirty="0"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5399" name="Text Box 69"/>
            <p:cNvSpPr txBox="1"/>
            <p:nvPr/>
          </p:nvSpPr>
          <p:spPr>
            <a:xfrm>
              <a:off x="5365" y="3851"/>
              <a:ext cx="422" cy="2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1" i="1" dirty="0">
                  <a:latin typeface="Tahoma" panose="020B0604030504040204" pitchFamily="34" charset="0"/>
                </a:rPr>
                <a:t>   X</a:t>
              </a:r>
            </a:p>
          </p:txBody>
        </p:sp>
        <p:graphicFrame>
          <p:nvGraphicFramePr>
            <p:cNvPr id="15372" name="Object 21"/>
            <p:cNvGraphicFramePr/>
            <p:nvPr/>
          </p:nvGraphicFramePr>
          <p:xfrm>
            <a:off x="2939" y="827"/>
            <a:ext cx="967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2" r:id="rId19" imgW="613410" imgH="323215" progId="Equation.3">
                    <p:embed/>
                  </p:oleObj>
                </mc:Choice>
                <mc:Fallback>
                  <p:oleObj r:id="rId19" imgW="613410" imgH="323215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939" y="827"/>
                          <a:ext cx="967" cy="5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" name="Object 22"/>
          <p:cNvGraphicFramePr/>
          <p:nvPr/>
        </p:nvGraphicFramePr>
        <p:xfrm>
          <a:off x="6343650" y="2163763"/>
          <a:ext cx="116205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3" r:id="rId21" imgW="591185" imgH="323215" progId="Equation.3">
                  <p:embed/>
                </p:oleObj>
              </mc:Choice>
              <mc:Fallback>
                <p:oleObj r:id="rId21" imgW="591185" imgH="323215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43650" y="2163763"/>
                        <a:ext cx="1162050" cy="661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23"/>
          <p:cNvGraphicFramePr/>
          <p:nvPr/>
        </p:nvGraphicFramePr>
        <p:xfrm>
          <a:off x="6383338" y="1112838"/>
          <a:ext cx="109855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4" r:id="rId23" imgW="591185" imgH="323215" progId="Equation.3">
                  <p:embed/>
                </p:oleObj>
              </mc:Choice>
              <mc:Fallback>
                <p:oleObj r:id="rId23" imgW="591185" imgH="323215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383338" y="1112838"/>
                        <a:ext cx="1098550" cy="622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24"/>
          <p:cNvGraphicFramePr/>
          <p:nvPr/>
        </p:nvGraphicFramePr>
        <p:xfrm>
          <a:off x="6415088" y="147638"/>
          <a:ext cx="1100137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5" r:id="rId25" imgW="591185" imgH="323215" progId="Equation.3">
                  <p:embed/>
                </p:oleObj>
              </mc:Choice>
              <mc:Fallback>
                <p:oleObj r:id="rId25" imgW="591185" imgH="323215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415088" y="147638"/>
                        <a:ext cx="1100137" cy="625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25"/>
          <p:cNvGraphicFramePr/>
          <p:nvPr/>
        </p:nvGraphicFramePr>
        <p:xfrm>
          <a:off x="6270625" y="3759200"/>
          <a:ext cx="11525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6" r:id="rId27" imgW="579755" imgH="323215" progId="Equation.3">
                  <p:embed/>
                </p:oleObj>
              </mc:Choice>
              <mc:Fallback>
                <p:oleObj r:id="rId27" imgW="579755" imgH="323215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270625" y="3759200"/>
                        <a:ext cx="1152525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5"/>
          <p:cNvGrpSpPr/>
          <p:nvPr/>
        </p:nvGrpSpPr>
        <p:grpSpPr>
          <a:xfrm>
            <a:off x="5545138" y="650875"/>
            <a:ext cx="2566987" cy="404813"/>
            <a:chOff x="3532" y="1536"/>
            <a:chExt cx="1831" cy="199"/>
          </a:xfrm>
        </p:grpSpPr>
        <p:sp>
          <p:nvSpPr>
            <p:cNvPr id="15391" name="Line 76"/>
            <p:cNvSpPr/>
            <p:nvPr/>
          </p:nvSpPr>
          <p:spPr>
            <a:xfrm>
              <a:off x="3532" y="1735"/>
              <a:ext cx="18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15392" name="Freeform 77"/>
            <p:cNvSpPr/>
            <p:nvPr/>
          </p:nvSpPr>
          <p:spPr>
            <a:xfrm>
              <a:off x="3552" y="1543"/>
              <a:ext cx="460" cy="192"/>
            </a:xfrm>
            <a:custGeom>
              <a:avLst/>
              <a:gdLst>
                <a:gd name="txL" fmla="*/ 0 w 1152"/>
                <a:gd name="txT" fmla="*/ 0 h 1008"/>
                <a:gd name="txR" fmla="*/ 1152 w 1152"/>
                <a:gd name="txB" fmla="*/ 1008 h 1008"/>
              </a:gdLst>
              <a:ahLst/>
              <a:cxnLst>
                <a:cxn ang="0">
                  <a:pos x="0" y="37"/>
                </a:cxn>
                <a:cxn ang="0">
                  <a:pos x="31" y="19"/>
                </a:cxn>
                <a:cxn ang="0">
                  <a:pos x="61" y="5"/>
                </a:cxn>
                <a:cxn ang="0">
                  <a:pos x="92" y="0"/>
                </a:cxn>
                <a:cxn ang="0">
                  <a:pos x="123" y="5"/>
                </a:cxn>
                <a:cxn ang="0">
                  <a:pos x="153" y="19"/>
                </a:cxn>
                <a:cxn ang="0">
                  <a:pos x="184" y="37"/>
                </a:cxn>
              </a:cxnLst>
              <a:rect l="txL" t="txT" r="txR" b="txB"/>
              <a:pathLst>
                <a:path w="1152" h="1008">
                  <a:moveTo>
                    <a:pt x="0" y="1008"/>
                  </a:moveTo>
                  <a:cubicBezTo>
                    <a:pt x="64" y="840"/>
                    <a:pt x="128" y="672"/>
                    <a:pt x="192" y="528"/>
                  </a:cubicBezTo>
                  <a:cubicBezTo>
                    <a:pt x="256" y="384"/>
                    <a:pt x="320" y="232"/>
                    <a:pt x="384" y="144"/>
                  </a:cubicBezTo>
                  <a:cubicBezTo>
                    <a:pt x="448" y="56"/>
                    <a:pt x="512" y="0"/>
                    <a:pt x="576" y="0"/>
                  </a:cubicBezTo>
                  <a:cubicBezTo>
                    <a:pt x="640" y="0"/>
                    <a:pt x="704" y="56"/>
                    <a:pt x="768" y="144"/>
                  </a:cubicBezTo>
                  <a:cubicBezTo>
                    <a:pt x="832" y="232"/>
                    <a:pt x="896" y="384"/>
                    <a:pt x="960" y="528"/>
                  </a:cubicBezTo>
                  <a:cubicBezTo>
                    <a:pt x="1024" y="672"/>
                    <a:pt x="1120" y="928"/>
                    <a:pt x="1152" y="1008"/>
                  </a:cubicBezTo>
                </a:path>
              </a:pathLst>
            </a:custGeom>
            <a:solidFill>
              <a:srgbClr val="CCFFFF">
                <a:alpha val="50195"/>
              </a:srgbClr>
            </a:solidFill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Freeform 78"/>
            <p:cNvSpPr/>
            <p:nvPr/>
          </p:nvSpPr>
          <p:spPr>
            <a:xfrm>
              <a:off x="4478" y="1543"/>
              <a:ext cx="434" cy="192"/>
            </a:xfrm>
            <a:custGeom>
              <a:avLst/>
              <a:gdLst>
                <a:gd name="txL" fmla="*/ 0 w 1152"/>
                <a:gd name="txT" fmla="*/ 0 h 1008"/>
                <a:gd name="txR" fmla="*/ 1152 w 1152"/>
                <a:gd name="txB" fmla="*/ 1008 h 1008"/>
              </a:gdLst>
              <a:ahLst/>
              <a:cxnLst>
                <a:cxn ang="0">
                  <a:pos x="0" y="37"/>
                </a:cxn>
                <a:cxn ang="0">
                  <a:pos x="27" y="19"/>
                </a:cxn>
                <a:cxn ang="0">
                  <a:pos x="55" y="5"/>
                </a:cxn>
                <a:cxn ang="0">
                  <a:pos x="82" y="0"/>
                </a:cxn>
                <a:cxn ang="0">
                  <a:pos x="109" y="5"/>
                </a:cxn>
                <a:cxn ang="0">
                  <a:pos x="136" y="19"/>
                </a:cxn>
                <a:cxn ang="0">
                  <a:pos x="164" y="37"/>
                </a:cxn>
              </a:cxnLst>
              <a:rect l="txL" t="txT" r="txR" b="txB"/>
              <a:pathLst>
                <a:path w="1152" h="1008">
                  <a:moveTo>
                    <a:pt x="0" y="1008"/>
                  </a:moveTo>
                  <a:cubicBezTo>
                    <a:pt x="64" y="840"/>
                    <a:pt x="128" y="672"/>
                    <a:pt x="192" y="528"/>
                  </a:cubicBezTo>
                  <a:cubicBezTo>
                    <a:pt x="256" y="384"/>
                    <a:pt x="320" y="232"/>
                    <a:pt x="384" y="144"/>
                  </a:cubicBezTo>
                  <a:cubicBezTo>
                    <a:pt x="448" y="56"/>
                    <a:pt x="512" y="0"/>
                    <a:pt x="576" y="0"/>
                  </a:cubicBezTo>
                  <a:cubicBezTo>
                    <a:pt x="640" y="0"/>
                    <a:pt x="704" y="56"/>
                    <a:pt x="768" y="144"/>
                  </a:cubicBezTo>
                  <a:cubicBezTo>
                    <a:pt x="832" y="232"/>
                    <a:pt x="896" y="384"/>
                    <a:pt x="960" y="528"/>
                  </a:cubicBezTo>
                  <a:cubicBezTo>
                    <a:pt x="1024" y="672"/>
                    <a:pt x="1120" y="928"/>
                    <a:pt x="1152" y="1008"/>
                  </a:cubicBezTo>
                </a:path>
              </a:pathLst>
            </a:custGeom>
            <a:solidFill>
              <a:srgbClr val="CCFFFF">
                <a:alpha val="50195"/>
              </a:srgbClr>
            </a:solidFill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Freeform 79"/>
            <p:cNvSpPr/>
            <p:nvPr/>
          </p:nvSpPr>
          <p:spPr>
            <a:xfrm>
              <a:off x="4929" y="1543"/>
              <a:ext cx="434" cy="192"/>
            </a:xfrm>
            <a:custGeom>
              <a:avLst/>
              <a:gdLst>
                <a:gd name="txL" fmla="*/ 0 w 1152"/>
                <a:gd name="txT" fmla="*/ 0 h 1008"/>
                <a:gd name="txR" fmla="*/ 1152 w 1152"/>
                <a:gd name="txB" fmla="*/ 1008 h 1008"/>
              </a:gdLst>
              <a:ahLst/>
              <a:cxnLst>
                <a:cxn ang="0">
                  <a:pos x="0" y="37"/>
                </a:cxn>
                <a:cxn ang="0">
                  <a:pos x="27" y="19"/>
                </a:cxn>
                <a:cxn ang="0">
                  <a:pos x="55" y="5"/>
                </a:cxn>
                <a:cxn ang="0">
                  <a:pos x="82" y="0"/>
                </a:cxn>
                <a:cxn ang="0">
                  <a:pos x="109" y="5"/>
                </a:cxn>
                <a:cxn ang="0">
                  <a:pos x="136" y="19"/>
                </a:cxn>
                <a:cxn ang="0">
                  <a:pos x="164" y="37"/>
                </a:cxn>
              </a:cxnLst>
              <a:rect l="txL" t="txT" r="txR" b="txB"/>
              <a:pathLst>
                <a:path w="1152" h="1008">
                  <a:moveTo>
                    <a:pt x="0" y="1008"/>
                  </a:moveTo>
                  <a:cubicBezTo>
                    <a:pt x="64" y="840"/>
                    <a:pt x="128" y="672"/>
                    <a:pt x="192" y="528"/>
                  </a:cubicBezTo>
                  <a:cubicBezTo>
                    <a:pt x="256" y="384"/>
                    <a:pt x="320" y="232"/>
                    <a:pt x="384" y="144"/>
                  </a:cubicBezTo>
                  <a:cubicBezTo>
                    <a:pt x="448" y="56"/>
                    <a:pt x="512" y="0"/>
                    <a:pt x="576" y="0"/>
                  </a:cubicBezTo>
                  <a:cubicBezTo>
                    <a:pt x="640" y="0"/>
                    <a:pt x="704" y="56"/>
                    <a:pt x="768" y="144"/>
                  </a:cubicBezTo>
                  <a:cubicBezTo>
                    <a:pt x="832" y="232"/>
                    <a:pt x="896" y="384"/>
                    <a:pt x="960" y="528"/>
                  </a:cubicBezTo>
                  <a:cubicBezTo>
                    <a:pt x="1024" y="672"/>
                    <a:pt x="1120" y="928"/>
                    <a:pt x="1152" y="1008"/>
                  </a:cubicBezTo>
                </a:path>
              </a:pathLst>
            </a:custGeom>
            <a:solidFill>
              <a:srgbClr val="CCFFFF">
                <a:alpha val="50195"/>
              </a:srgbClr>
            </a:solidFill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Freeform 80"/>
            <p:cNvSpPr/>
            <p:nvPr/>
          </p:nvSpPr>
          <p:spPr>
            <a:xfrm>
              <a:off x="4032" y="1536"/>
              <a:ext cx="480" cy="192"/>
            </a:xfrm>
            <a:custGeom>
              <a:avLst/>
              <a:gdLst>
                <a:gd name="txL" fmla="*/ 0 w 1152"/>
                <a:gd name="txT" fmla="*/ 0 h 1008"/>
                <a:gd name="txR" fmla="*/ 1152 w 1152"/>
                <a:gd name="txB" fmla="*/ 1008 h 1008"/>
              </a:gdLst>
              <a:ahLst/>
              <a:cxnLst>
                <a:cxn ang="0">
                  <a:pos x="0" y="37"/>
                </a:cxn>
                <a:cxn ang="0">
                  <a:pos x="33" y="19"/>
                </a:cxn>
                <a:cxn ang="0">
                  <a:pos x="67" y="5"/>
                </a:cxn>
                <a:cxn ang="0">
                  <a:pos x="100" y="0"/>
                </a:cxn>
                <a:cxn ang="0">
                  <a:pos x="133" y="5"/>
                </a:cxn>
                <a:cxn ang="0">
                  <a:pos x="167" y="19"/>
                </a:cxn>
                <a:cxn ang="0">
                  <a:pos x="200" y="37"/>
                </a:cxn>
              </a:cxnLst>
              <a:rect l="txL" t="txT" r="txR" b="txB"/>
              <a:pathLst>
                <a:path w="1152" h="1008">
                  <a:moveTo>
                    <a:pt x="0" y="1008"/>
                  </a:moveTo>
                  <a:cubicBezTo>
                    <a:pt x="64" y="840"/>
                    <a:pt x="128" y="672"/>
                    <a:pt x="192" y="528"/>
                  </a:cubicBezTo>
                  <a:cubicBezTo>
                    <a:pt x="256" y="384"/>
                    <a:pt x="320" y="232"/>
                    <a:pt x="384" y="144"/>
                  </a:cubicBezTo>
                  <a:cubicBezTo>
                    <a:pt x="448" y="56"/>
                    <a:pt x="512" y="0"/>
                    <a:pt x="576" y="0"/>
                  </a:cubicBezTo>
                  <a:cubicBezTo>
                    <a:pt x="640" y="0"/>
                    <a:pt x="704" y="56"/>
                    <a:pt x="768" y="144"/>
                  </a:cubicBezTo>
                  <a:cubicBezTo>
                    <a:pt x="832" y="232"/>
                    <a:pt x="896" y="384"/>
                    <a:pt x="960" y="528"/>
                  </a:cubicBezTo>
                  <a:cubicBezTo>
                    <a:pt x="1024" y="672"/>
                    <a:pt x="1120" y="928"/>
                    <a:pt x="1152" y="1008"/>
                  </a:cubicBezTo>
                </a:path>
              </a:pathLst>
            </a:custGeom>
            <a:solidFill>
              <a:srgbClr val="CCFFFF">
                <a:alpha val="50195"/>
              </a:srgbClr>
            </a:solidFill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81"/>
          <p:cNvGrpSpPr/>
          <p:nvPr/>
        </p:nvGrpSpPr>
        <p:grpSpPr>
          <a:xfrm>
            <a:off x="5545138" y="2740025"/>
            <a:ext cx="2592387" cy="514350"/>
            <a:chOff x="3532" y="2815"/>
            <a:chExt cx="1850" cy="320"/>
          </a:xfrm>
        </p:grpSpPr>
        <p:sp>
          <p:nvSpPr>
            <p:cNvPr id="15387" name="Line 82"/>
            <p:cNvSpPr/>
            <p:nvPr/>
          </p:nvSpPr>
          <p:spPr>
            <a:xfrm>
              <a:off x="3551" y="3120"/>
              <a:ext cx="18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  <p:grpSp>
          <p:nvGrpSpPr>
            <p:cNvPr id="15388" name="Group 83"/>
            <p:cNvGrpSpPr/>
            <p:nvPr/>
          </p:nvGrpSpPr>
          <p:grpSpPr>
            <a:xfrm>
              <a:off x="3532" y="2815"/>
              <a:ext cx="1844" cy="320"/>
              <a:chOff x="3532" y="2815"/>
              <a:chExt cx="1844" cy="320"/>
            </a:xfrm>
          </p:grpSpPr>
          <p:sp>
            <p:nvSpPr>
              <p:cNvPr id="15389" name="Freeform 84"/>
              <p:cNvSpPr/>
              <p:nvPr/>
            </p:nvSpPr>
            <p:spPr>
              <a:xfrm>
                <a:off x="3532" y="2815"/>
                <a:ext cx="916" cy="303"/>
              </a:xfrm>
              <a:custGeom>
                <a:avLst/>
                <a:gdLst>
                  <a:gd name="txL" fmla="*/ 0 w 916"/>
                  <a:gd name="txT" fmla="*/ 0 h 303"/>
                  <a:gd name="txR" fmla="*/ 916 w 916"/>
                  <a:gd name="txB" fmla="*/ 303 h 303"/>
                </a:gdLst>
                <a:ahLst/>
                <a:cxnLst>
                  <a:cxn ang="0">
                    <a:pos x="0" y="303"/>
                  </a:cxn>
                  <a:cxn ang="0">
                    <a:pos x="153" y="160"/>
                  </a:cxn>
                  <a:cxn ang="0">
                    <a:pos x="302" y="63"/>
                  </a:cxn>
                  <a:cxn ang="0">
                    <a:pos x="458" y="2"/>
                  </a:cxn>
                  <a:cxn ang="0">
                    <a:pos x="602" y="51"/>
                  </a:cxn>
                  <a:cxn ang="0">
                    <a:pos x="763" y="160"/>
                  </a:cxn>
                  <a:cxn ang="0">
                    <a:pos x="916" y="303"/>
                  </a:cxn>
                </a:cxnLst>
                <a:rect l="txL" t="txT" r="txR" b="txB"/>
                <a:pathLst>
                  <a:path w="916" h="303">
                    <a:moveTo>
                      <a:pt x="0" y="303"/>
                    </a:moveTo>
                    <a:cubicBezTo>
                      <a:pt x="51" y="253"/>
                      <a:pt x="103" y="200"/>
                      <a:pt x="153" y="160"/>
                    </a:cubicBezTo>
                    <a:cubicBezTo>
                      <a:pt x="203" y="120"/>
                      <a:pt x="251" y="89"/>
                      <a:pt x="302" y="63"/>
                    </a:cubicBezTo>
                    <a:cubicBezTo>
                      <a:pt x="353" y="37"/>
                      <a:pt x="408" y="4"/>
                      <a:pt x="458" y="2"/>
                    </a:cubicBezTo>
                    <a:cubicBezTo>
                      <a:pt x="508" y="0"/>
                      <a:pt x="551" y="25"/>
                      <a:pt x="602" y="51"/>
                    </a:cubicBezTo>
                    <a:cubicBezTo>
                      <a:pt x="653" y="77"/>
                      <a:pt x="711" y="118"/>
                      <a:pt x="763" y="160"/>
                    </a:cubicBezTo>
                    <a:cubicBezTo>
                      <a:pt x="815" y="202"/>
                      <a:pt x="891" y="279"/>
                      <a:pt x="916" y="303"/>
                    </a:cubicBezTo>
                  </a:path>
                </a:pathLst>
              </a:custGeom>
              <a:solidFill>
                <a:srgbClr val="CCFFFF">
                  <a:alpha val="50195"/>
                </a:srgbClr>
              </a:solidFill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0" name="Freeform 85"/>
              <p:cNvSpPr/>
              <p:nvPr/>
            </p:nvSpPr>
            <p:spPr>
              <a:xfrm>
                <a:off x="4460" y="2829"/>
                <a:ext cx="916" cy="306"/>
              </a:xfrm>
              <a:custGeom>
                <a:avLst/>
                <a:gdLst>
                  <a:gd name="txL" fmla="*/ 0 w 916"/>
                  <a:gd name="txT" fmla="*/ 0 h 306"/>
                  <a:gd name="txR" fmla="*/ 916 w 916"/>
                  <a:gd name="txB" fmla="*/ 306 h 306"/>
                </a:gdLst>
                <a:ahLst/>
                <a:cxnLst>
                  <a:cxn ang="0">
                    <a:pos x="0" y="306"/>
                  </a:cxn>
                  <a:cxn ang="0">
                    <a:pos x="153" y="163"/>
                  </a:cxn>
                  <a:cxn ang="0">
                    <a:pos x="307" y="60"/>
                  </a:cxn>
                  <a:cxn ang="0">
                    <a:pos x="463" y="4"/>
                  </a:cxn>
                  <a:cxn ang="0">
                    <a:pos x="674" y="82"/>
                  </a:cxn>
                  <a:cxn ang="0">
                    <a:pos x="807" y="193"/>
                  </a:cxn>
                  <a:cxn ang="0">
                    <a:pos x="916" y="306"/>
                  </a:cxn>
                </a:cxnLst>
                <a:rect l="txL" t="txT" r="txR" b="txB"/>
                <a:pathLst>
                  <a:path w="916" h="306">
                    <a:moveTo>
                      <a:pt x="0" y="306"/>
                    </a:moveTo>
                    <a:cubicBezTo>
                      <a:pt x="51" y="256"/>
                      <a:pt x="102" y="204"/>
                      <a:pt x="153" y="163"/>
                    </a:cubicBezTo>
                    <a:cubicBezTo>
                      <a:pt x="204" y="122"/>
                      <a:pt x="255" y="87"/>
                      <a:pt x="307" y="60"/>
                    </a:cubicBezTo>
                    <a:cubicBezTo>
                      <a:pt x="359" y="33"/>
                      <a:pt x="402" y="0"/>
                      <a:pt x="463" y="4"/>
                    </a:cubicBezTo>
                    <a:cubicBezTo>
                      <a:pt x="524" y="8"/>
                      <a:pt x="617" y="51"/>
                      <a:pt x="674" y="82"/>
                    </a:cubicBezTo>
                    <a:cubicBezTo>
                      <a:pt x="731" y="113"/>
                      <a:pt x="767" y="156"/>
                      <a:pt x="807" y="193"/>
                    </a:cubicBezTo>
                    <a:cubicBezTo>
                      <a:pt x="847" y="230"/>
                      <a:pt x="893" y="283"/>
                      <a:pt x="916" y="306"/>
                    </a:cubicBezTo>
                  </a:path>
                </a:pathLst>
              </a:custGeom>
              <a:solidFill>
                <a:srgbClr val="CCFFFF">
                  <a:alpha val="50195"/>
                </a:srgbClr>
              </a:solidFill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8" grpId="0"/>
      <p:bldP spid="32779" grpId="0"/>
      <p:bldP spid="3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Text Box 2"/>
          <p:cNvSpPr txBox="1"/>
          <p:nvPr/>
        </p:nvSpPr>
        <p:spPr>
          <a:xfrm>
            <a:off x="1339850" y="381000"/>
            <a:ext cx="38417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势垒穿透（隧道效应）问题</a:t>
            </a:r>
          </a:p>
        </p:txBody>
      </p:sp>
      <p:sp>
        <p:nvSpPr>
          <p:cNvPr id="16391" name="Line 3"/>
          <p:cNvSpPr/>
          <p:nvPr/>
        </p:nvSpPr>
        <p:spPr>
          <a:xfrm flipV="1">
            <a:off x="809625" y="2887663"/>
            <a:ext cx="2209800" cy="793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92" name="Line 4"/>
          <p:cNvSpPr/>
          <p:nvPr/>
        </p:nvSpPr>
        <p:spPr>
          <a:xfrm flipV="1">
            <a:off x="1343025" y="1143000"/>
            <a:ext cx="0" cy="1752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93" name="Line 5"/>
          <p:cNvSpPr/>
          <p:nvPr/>
        </p:nvSpPr>
        <p:spPr>
          <a:xfrm>
            <a:off x="1343025" y="1752600"/>
            <a:ext cx="838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4" name="Line 6"/>
          <p:cNvSpPr/>
          <p:nvPr/>
        </p:nvSpPr>
        <p:spPr>
          <a:xfrm>
            <a:off x="2181225" y="1752600"/>
            <a:ext cx="0" cy="11430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395" name="Line 7"/>
          <p:cNvSpPr/>
          <p:nvPr/>
        </p:nvSpPr>
        <p:spPr>
          <a:xfrm>
            <a:off x="733425" y="2057400"/>
            <a:ext cx="609600" cy="0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96" name="Line 8"/>
          <p:cNvSpPr/>
          <p:nvPr/>
        </p:nvSpPr>
        <p:spPr>
          <a:xfrm>
            <a:off x="2181225" y="2057400"/>
            <a:ext cx="457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97" name="Line 9"/>
          <p:cNvSpPr/>
          <p:nvPr/>
        </p:nvSpPr>
        <p:spPr>
          <a:xfrm flipH="1">
            <a:off x="962025" y="2514600"/>
            <a:ext cx="38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6398" name="Text Box 10"/>
          <p:cNvSpPr txBox="1"/>
          <p:nvPr/>
        </p:nvSpPr>
        <p:spPr>
          <a:xfrm>
            <a:off x="581025" y="23622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Ⅰ</a:t>
            </a:r>
          </a:p>
        </p:txBody>
      </p:sp>
      <p:sp>
        <p:nvSpPr>
          <p:cNvPr id="16399" name="Text Box 11"/>
          <p:cNvSpPr txBox="1"/>
          <p:nvPr/>
        </p:nvSpPr>
        <p:spPr>
          <a:xfrm>
            <a:off x="1344613" y="2057400"/>
            <a:ext cx="48736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Ⅱ</a:t>
            </a:r>
          </a:p>
        </p:txBody>
      </p:sp>
      <p:sp>
        <p:nvSpPr>
          <p:cNvPr id="16400" name="Text Box 12"/>
          <p:cNvSpPr txBox="1"/>
          <p:nvPr/>
        </p:nvSpPr>
        <p:spPr>
          <a:xfrm>
            <a:off x="2563813" y="2057400"/>
            <a:ext cx="487362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Ⅲ</a:t>
            </a:r>
          </a:p>
        </p:txBody>
      </p:sp>
      <p:sp>
        <p:nvSpPr>
          <p:cNvPr id="16401" name="Text Box 13"/>
          <p:cNvSpPr txBox="1"/>
          <p:nvPr/>
        </p:nvSpPr>
        <p:spPr>
          <a:xfrm>
            <a:off x="1300163" y="1047750"/>
            <a:ext cx="757237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U(x)</a:t>
            </a:r>
          </a:p>
        </p:txBody>
      </p:sp>
      <p:sp>
        <p:nvSpPr>
          <p:cNvPr id="16402" name="Text Box 14"/>
          <p:cNvSpPr txBox="1"/>
          <p:nvPr/>
        </p:nvSpPr>
        <p:spPr>
          <a:xfrm>
            <a:off x="3095625" y="2582863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6403" name="Text Box 15"/>
          <p:cNvSpPr txBox="1"/>
          <p:nvPr/>
        </p:nvSpPr>
        <p:spPr>
          <a:xfrm>
            <a:off x="1038225" y="28956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6404" name="Text Box 16"/>
          <p:cNvSpPr txBox="1"/>
          <p:nvPr/>
        </p:nvSpPr>
        <p:spPr>
          <a:xfrm>
            <a:off x="2028825" y="2895600"/>
            <a:ext cx="3333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6405" name="Text Box 17"/>
          <p:cNvSpPr txBox="1"/>
          <p:nvPr/>
        </p:nvSpPr>
        <p:spPr>
          <a:xfrm>
            <a:off x="3673475" y="2286000"/>
            <a:ext cx="2879725" cy="46355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考虑   </a:t>
            </a:r>
            <a:r>
              <a:rPr lang="en-US" altLang="zh-CN" sz="2400" b="1" dirty="0">
                <a:latin typeface="Times New Roman" panose="02020603050405020304" pitchFamily="18" charset="0"/>
              </a:rPr>
              <a:t>E</a:t>
            </a:r>
            <a:r>
              <a:rPr lang="zh-CN" altLang="en-US" sz="2400" b="1" dirty="0">
                <a:latin typeface="Times New Roman" panose="02020603050405020304" pitchFamily="18" charset="0"/>
              </a:rPr>
              <a:t>＜</a:t>
            </a:r>
            <a:r>
              <a:rPr lang="en-US" altLang="zh-CN" sz="2400" b="1" dirty="0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的情况</a:t>
            </a:r>
          </a:p>
        </p:txBody>
      </p:sp>
      <p:sp>
        <p:nvSpPr>
          <p:cNvPr id="16406" name="Text Box 18"/>
          <p:cNvSpPr txBox="1"/>
          <p:nvPr/>
        </p:nvSpPr>
        <p:spPr>
          <a:xfrm>
            <a:off x="868363" y="1428750"/>
            <a:ext cx="503237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>
            <a:spAutoFit/>
          </a:bodyPr>
          <a:lstStyle/>
          <a:p>
            <a:pPr algn="ctr"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386" name="Object 2"/>
          <p:cNvGraphicFramePr/>
          <p:nvPr/>
        </p:nvGraphicFramePr>
        <p:xfrm>
          <a:off x="3740150" y="1379538"/>
          <a:ext cx="15938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r:id="rId3" imgW="769620" imgH="300990" progId="Equation.DSMT4">
                  <p:embed/>
                </p:oleObj>
              </mc:Choice>
              <mc:Fallback>
                <p:oleObj r:id="rId3" imgW="769620" imgH="30099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40150" y="1379538"/>
                        <a:ext cx="159385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7" name="Text Box 20"/>
          <p:cNvSpPr txBox="1"/>
          <p:nvPr/>
        </p:nvSpPr>
        <p:spPr>
          <a:xfrm>
            <a:off x="5105400" y="1196975"/>
            <a:ext cx="2590800" cy="1004888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         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Ⅱ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　　　　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0 </a:t>
            </a:r>
            <a:r>
              <a:rPr lang="zh-CN" altLang="en-US" sz="2400" b="1" dirty="0">
                <a:latin typeface="Times New Roman" panose="02020603050405020304" pitchFamily="18" charset="0"/>
              </a:rPr>
              <a:t>　　　</a:t>
            </a:r>
            <a:r>
              <a:rPr lang="en-US" altLang="zh-CN" sz="2400" b="1" dirty="0">
                <a:latin typeface="Times New Roman" panose="02020603050405020304" pitchFamily="18" charset="0"/>
              </a:rPr>
              <a:t>Ⅰ,Ⅲ      </a:t>
            </a:r>
            <a:r>
              <a:rPr lang="zh-CN" altLang="en-US" sz="2400" b="1" baseline="-25000" dirty="0">
                <a:latin typeface="Times New Roman" panose="02020603050405020304" pitchFamily="18" charset="0"/>
              </a:rPr>
              <a:t>　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799" name="Object 7"/>
          <p:cNvGraphicFramePr/>
          <p:nvPr/>
        </p:nvGraphicFramePr>
        <p:xfrm>
          <a:off x="152400" y="3754438"/>
          <a:ext cx="399732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r:id="rId5" imgW="1684020" imgH="300990" progId="Equation.DSMT4">
                  <p:embed/>
                </p:oleObj>
              </mc:Choice>
              <mc:Fallback>
                <p:oleObj r:id="rId5" imgW="1684020" imgH="30099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2400" y="3754438"/>
                        <a:ext cx="3997325" cy="617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8"/>
          <p:cNvGraphicFramePr/>
          <p:nvPr/>
        </p:nvGraphicFramePr>
        <p:xfrm>
          <a:off x="228600" y="4713288"/>
          <a:ext cx="399732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r:id="rId7" imgW="1706245" imgH="300990" progId="Equation.DSMT4">
                  <p:embed/>
                </p:oleObj>
              </mc:Choice>
              <mc:Fallback>
                <p:oleObj r:id="rId7" imgW="1706245" imgH="30099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8600" y="4713288"/>
                        <a:ext cx="3997325" cy="547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9"/>
          <p:cNvGraphicFramePr/>
          <p:nvPr/>
        </p:nvGraphicFramePr>
        <p:xfrm>
          <a:off x="228600" y="5662613"/>
          <a:ext cx="26924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6" r:id="rId9" imgW="1293495" imgH="312420" progId="Equation.DSMT4">
                  <p:embed/>
                </p:oleObj>
              </mc:Choice>
              <mc:Fallback>
                <p:oleObj r:id="rId9" imgW="1293495" imgH="31242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8600" y="5662613"/>
                        <a:ext cx="2692400" cy="661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Text Box 28"/>
          <p:cNvSpPr txBox="1"/>
          <p:nvPr/>
        </p:nvSpPr>
        <p:spPr>
          <a:xfrm>
            <a:off x="152400" y="1962150"/>
            <a:ext cx="38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i="1" dirty="0">
                <a:latin typeface="Tahoma" panose="020B0604030504040204" pitchFamily="34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6409" name="Oval 29"/>
          <p:cNvSpPr/>
          <p:nvPr/>
        </p:nvSpPr>
        <p:spPr>
          <a:xfrm>
            <a:off x="495300" y="1881188"/>
            <a:ext cx="338138" cy="312737"/>
          </a:xfrm>
          <a:prstGeom prst="ellipse">
            <a:avLst/>
          </a:prstGeom>
          <a:gradFill rotWithShape="0">
            <a:gsLst>
              <a:gs pos="0">
                <a:srgbClr val="66FF33"/>
              </a:gs>
              <a:gs pos="100000">
                <a:srgbClr val="44A922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anchor="ctr" anchorCtr="0"/>
          <a:lstStyle/>
          <a:p>
            <a:pPr algn="ctr" eaLnBrk="1" hangingPunct="1"/>
            <a:endParaRPr lang="zh-CN" altLang="zh-CN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410" name="Text Box 30"/>
          <p:cNvSpPr txBox="1"/>
          <p:nvPr/>
        </p:nvSpPr>
        <p:spPr>
          <a:xfrm>
            <a:off x="152400" y="1581150"/>
            <a:ext cx="420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b="1" i="1" dirty="0">
                <a:latin typeface="Tahoma" panose="020B0604030504040204" pitchFamily="34" charset="0"/>
                <a:ea typeface="宋体" panose="02010600030101010101" pitchFamily="2" charset="-122"/>
              </a:rPr>
              <a:t>m</a:t>
            </a:r>
          </a:p>
        </p:txBody>
      </p:sp>
      <p:grpSp>
        <p:nvGrpSpPr>
          <p:cNvPr id="2" name="Group 10"/>
          <p:cNvGrpSpPr/>
          <p:nvPr/>
        </p:nvGrpSpPr>
        <p:grpSpPr>
          <a:xfrm>
            <a:off x="4546600" y="3605213"/>
            <a:ext cx="3987800" cy="2414587"/>
            <a:chOff x="3398" y="501"/>
            <a:chExt cx="2512" cy="1521"/>
          </a:xfrm>
        </p:grpSpPr>
        <p:grpSp>
          <p:nvGrpSpPr>
            <p:cNvPr id="16412" name="Group 11"/>
            <p:cNvGrpSpPr/>
            <p:nvPr/>
          </p:nvGrpSpPr>
          <p:grpSpPr>
            <a:xfrm>
              <a:off x="3398" y="501"/>
              <a:ext cx="2512" cy="1521"/>
              <a:chOff x="2831" y="412"/>
              <a:chExt cx="2512" cy="1521"/>
            </a:xfrm>
          </p:grpSpPr>
          <p:sp>
            <p:nvSpPr>
              <p:cNvPr id="69" name="Text Box 12"/>
              <p:cNvSpPr txBox="1">
                <a:spLocks noChangeArrowheads="1"/>
              </p:cNvSpPr>
              <p:nvPr/>
            </p:nvSpPr>
            <p:spPr bwMode="blackWhite">
              <a:xfrm>
                <a:off x="3678" y="1434"/>
                <a:ext cx="187" cy="234"/>
              </a:xfrm>
              <a:prstGeom prst="rect">
                <a:avLst/>
              </a:prstGeom>
              <a:noFill/>
              <a:ln w="38100" cap="rnd">
                <a:noFill/>
                <a:prstDash val="sysDot"/>
                <a:miter lim="800000"/>
              </a:ln>
              <a:effectLst/>
            </p:spPr>
            <p:txBody>
              <a:bodyPr wrap="none" lIns="90000" tIns="46800" rIns="90000" bIns="46800">
                <a:spAutoFit/>
              </a:bodyPr>
              <a:lstStyle/>
              <a:p>
                <a:pPr eaLnBrk="1" hangingPunct="1"/>
                <a:r>
                  <a:rPr lang="en-US" altLang="zh-CN" b="1" dirty="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</a:p>
            </p:txBody>
          </p:sp>
          <p:grpSp>
            <p:nvGrpSpPr>
              <p:cNvPr id="16441" name="Group 13"/>
              <p:cNvGrpSpPr/>
              <p:nvPr/>
            </p:nvGrpSpPr>
            <p:grpSpPr>
              <a:xfrm>
                <a:off x="2831" y="412"/>
                <a:ext cx="2512" cy="1521"/>
                <a:chOff x="2831" y="412"/>
                <a:chExt cx="2512" cy="1521"/>
              </a:xfrm>
            </p:grpSpPr>
            <p:sp>
              <p:nvSpPr>
                <p:cNvPr id="71" name="Text Box 14"/>
                <p:cNvSpPr txBox="1">
                  <a:spLocks noChangeArrowheads="1"/>
                </p:cNvSpPr>
                <p:nvPr/>
              </p:nvSpPr>
              <p:spPr bwMode="blackWhite">
                <a:xfrm>
                  <a:off x="4394" y="1434"/>
                  <a:ext cx="187" cy="234"/>
                </a:xfrm>
                <a:prstGeom prst="rect">
                  <a:avLst/>
                </a:prstGeom>
                <a:noFill/>
                <a:ln w="38100" cap="rnd">
                  <a:noFill/>
                  <a:prstDash val="sysDot"/>
                  <a:miter lim="800000"/>
                </a:ln>
                <a:effectLst/>
              </p:spPr>
              <p:txBody>
                <a:bodyPr wrap="none" lIns="90000" tIns="46800" rIns="90000" bIns="46800">
                  <a:spAutoFit/>
                </a:bodyPr>
                <a:lstStyle/>
                <a:p>
                  <a:pPr eaLnBrk="1" hangingPunct="1"/>
                  <a:r>
                    <a:rPr lang="en-US" altLang="zh-CN" b="1" dirty="0">
                      <a:effectLst>
                        <a:outerShdw blurRad="38100" dist="38100" dir="2700000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a</a:t>
                  </a:r>
                </a:p>
              </p:txBody>
            </p:sp>
            <p:grpSp>
              <p:nvGrpSpPr>
                <p:cNvPr id="16443" name="Group 15"/>
                <p:cNvGrpSpPr/>
                <p:nvPr/>
              </p:nvGrpSpPr>
              <p:grpSpPr>
                <a:xfrm>
                  <a:off x="2831" y="412"/>
                  <a:ext cx="2512" cy="1521"/>
                  <a:chOff x="2831" y="412"/>
                  <a:chExt cx="2512" cy="1521"/>
                </a:xfrm>
              </p:grpSpPr>
              <p:sp>
                <p:nvSpPr>
                  <p:cNvPr id="73" name="Text Box 16"/>
                  <p:cNvSpPr txBox="1">
                    <a:spLocks noChangeArrowheads="1"/>
                  </p:cNvSpPr>
                  <p:nvPr/>
                </p:nvSpPr>
                <p:spPr bwMode="blackWhite">
                  <a:xfrm>
                    <a:off x="4830" y="1600"/>
                    <a:ext cx="306" cy="331"/>
                  </a:xfrm>
                  <a:prstGeom prst="rect">
                    <a:avLst/>
                  </a:prstGeom>
                  <a:noFill/>
                  <a:ln w="3175" cap="rnd">
                    <a:noFill/>
                    <a:prstDash val="sysDot"/>
                    <a:miter lim="800000"/>
                  </a:ln>
                  <a:effectLst/>
                </p:spPr>
                <p:txBody>
                  <a:bodyPr lIns="90000" tIns="46800" rIns="90000" bIns="46800">
                    <a:spAutoFit/>
                  </a:bodyPr>
                  <a:lstStyle/>
                  <a:p>
                    <a:pPr marR="0" defTabSz="914400" eaLnBrk="1" hangingPunct="1"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800" b="1" kern="1200" cap="none" spc="0" normalizeH="0" baseline="0" noProof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③</a:t>
                    </a:r>
                  </a:p>
                </p:txBody>
              </p:sp>
              <p:grpSp>
                <p:nvGrpSpPr>
                  <p:cNvPr id="16445" name="Group 17"/>
                  <p:cNvGrpSpPr/>
                  <p:nvPr/>
                </p:nvGrpSpPr>
                <p:grpSpPr>
                  <a:xfrm>
                    <a:off x="2831" y="412"/>
                    <a:ext cx="2512" cy="1521"/>
                    <a:chOff x="288" y="432"/>
                    <a:chExt cx="2512" cy="1521"/>
                  </a:xfrm>
                </p:grpSpPr>
                <p:grpSp>
                  <p:nvGrpSpPr>
                    <p:cNvPr id="16446" name="Group 18"/>
                    <p:cNvGrpSpPr/>
                    <p:nvPr/>
                  </p:nvGrpSpPr>
                  <p:grpSpPr>
                    <a:xfrm>
                      <a:off x="288" y="528"/>
                      <a:ext cx="2251" cy="1422"/>
                      <a:chOff x="624" y="960"/>
                      <a:chExt cx="2016" cy="1104"/>
                    </a:xfrm>
                  </p:grpSpPr>
                  <p:sp>
                    <p:nvSpPr>
                      <p:cNvPr id="16451" name="Line 19"/>
                      <p:cNvSpPr/>
                      <p:nvPr/>
                    </p:nvSpPr>
                    <p:spPr>
                      <a:xfrm>
                        <a:off x="624" y="1728"/>
                        <a:ext cx="2016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</p:sp>
                  <p:sp>
                    <p:nvSpPr>
                      <p:cNvPr id="16452" name="Line 20"/>
                      <p:cNvSpPr/>
                      <p:nvPr/>
                    </p:nvSpPr>
                    <p:spPr>
                      <a:xfrm flipV="1">
                        <a:off x="1536" y="960"/>
                        <a:ext cx="0" cy="1104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</p:sp>
                </p:grpSp>
                <p:sp>
                  <p:nvSpPr>
                    <p:cNvPr id="76" name="Text Box 21"/>
                    <p:cNvSpPr txBox="1">
                      <a:spLocks noChangeArrowheads="1"/>
                    </p:cNvSpPr>
                    <p:nvPr/>
                  </p:nvSpPr>
                  <p:spPr bwMode="blackWhite">
                    <a:xfrm>
                      <a:off x="2554" y="1377"/>
                      <a:ext cx="246" cy="368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32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</a:p>
                  </p:txBody>
                </p:sp>
                <p:sp>
                  <p:nvSpPr>
                    <p:cNvPr id="77" name="Text Box 22"/>
                    <p:cNvSpPr txBox="1">
                      <a:spLocks noChangeArrowheads="1"/>
                    </p:cNvSpPr>
                    <p:nvPr/>
                  </p:nvSpPr>
                  <p:spPr bwMode="blackWhite">
                    <a:xfrm>
                      <a:off x="1338" y="432"/>
                      <a:ext cx="301" cy="36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pPr eaLnBrk="1" hangingPunct="1"/>
                      <a:r>
                        <a:rPr lang="en-US" altLang="zh-CN" sz="3200" b="1" dirty="0"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</a:t>
                      </a:r>
                    </a:p>
                  </p:txBody>
                </p:sp>
                <p:sp>
                  <p:nvSpPr>
                    <p:cNvPr id="78" name="Text Box 23"/>
                    <p:cNvSpPr txBox="1">
                      <a:spLocks noChangeArrowheads="1"/>
                    </p:cNvSpPr>
                    <p:nvPr/>
                  </p:nvSpPr>
                  <p:spPr bwMode="blackWhite">
                    <a:xfrm>
                      <a:off x="755" y="1561"/>
                      <a:ext cx="345" cy="36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pPr marR="0" defTabSz="914400" eaLnBrk="1" hangingPunct="1"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200" b="1" kern="1200" cap="none" spc="0" normalizeH="0" baseline="0" noProof="0" dirty="0"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</a:t>
                      </a:r>
                      <a:endParaRPr kumimoji="0" lang="en-US" altLang="zh-CN" sz="3200" b="1" kern="1200" cap="none" spc="0" normalizeH="0" baseline="0" noProof="0" dirty="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79" name="Rectangle 24"/>
                    <p:cNvSpPr>
                      <a:spLocks noChangeArrowheads="1"/>
                    </p:cNvSpPr>
                    <p:nvPr/>
                  </p:nvSpPr>
                  <p:spPr bwMode="blackWhite">
                    <a:xfrm>
                      <a:off x="1605" y="1588"/>
                      <a:ext cx="345" cy="365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</a:ln>
                    <a:effectLst/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</a:t>
                      </a:r>
                    </a:p>
                  </p:txBody>
                </p:sp>
              </p:grpSp>
            </p:grpSp>
          </p:grpSp>
        </p:grpSp>
        <p:sp>
          <p:nvSpPr>
            <p:cNvPr id="42" name="Text Box 25"/>
            <p:cNvSpPr txBox="1">
              <a:spLocks noChangeArrowheads="1"/>
            </p:cNvSpPr>
            <p:nvPr/>
          </p:nvSpPr>
          <p:spPr bwMode="blackWhite">
            <a:xfrm>
              <a:off x="3830" y="1125"/>
              <a:ext cx="287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200" b="1" dirty="0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</a:p>
          </p:txBody>
        </p:sp>
        <p:grpSp>
          <p:nvGrpSpPr>
            <p:cNvPr id="16414" name="Group 26"/>
            <p:cNvGrpSpPr/>
            <p:nvPr/>
          </p:nvGrpSpPr>
          <p:grpSpPr>
            <a:xfrm>
              <a:off x="3405" y="1240"/>
              <a:ext cx="905" cy="365"/>
              <a:chOff x="295" y="1171"/>
              <a:chExt cx="905" cy="365"/>
            </a:xfrm>
          </p:grpSpPr>
          <p:sp>
            <p:nvSpPr>
              <p:cNvPr id="66" name="Oval 27"/>
              <p:cNvSpPr>
                <a:spLocks noChangeArrowheads="1"/>
              </p:cNvSpPr>
              <p:nvPr/>
            </p:nvSpPr>
            <p:spPr bwMode="blackWhite">
              <a:xfrm>
                <a:off x="585" y="1278"/>
                <a:ext cx="213" cy="197"/>
              </a:xfrm>
              <a:prstGeom prst="ellipse">
                <a:avLst/>
              </a:prstGeom>
              <a:gradFill rotWithShape="0">
                <a:gsLst>
                  <a:gs pos="0">
                    <a:srgbClr val="66FF33"/>
                  </a:gs>
                  <a:gs pos="100000">
                    <a:srgbClr val="66FF33">
                      <a:gamma/>
                      <a:shade val="66275"/>
                      <a:invGamma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3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Text Box 28"/>
              <p:cNvSpPr txBox="1">
                <a:spLocks noChangeArrowheads="1"/>
              </p:cNvSpPr>
              <p:nvPr/>
            </p:nvSpPr>
            <p:spPr bwMode="blackWhite">
              <a:xfrm>
                <a:off x="295" y="1171"/>
                <a:ext cx="329" cy="36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3200" b="1" dirty="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m</a:t>
                </a:r>
              </a:p>
            </p:txBody>
          </p:sp>
          <p:sp>
            <p:nvSpPr>
              <p:cNvPr id="16439" name="Line 29"/>
              <p:cNvSpPr/>
              <p:nvPr/>
            </p:nvSpPr>
            <p:spPr>
              <a:xfrm>
                <a:off x="816" y="1392"/>
                <a:ext cx="384" cy="0"/>
              </a:xfrm>
              <a:prstGeom prst="line">
                <a:avLst/>
              </a:prstGeom>
              <a:ln w="38100" cap="flat" cmpd="sng">
                <a:solidFill>
                  <a:srgbClr val="808000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16415" name="Group 30"/>
            <p:cNvGrpSpPr/>
            <p:nvPr/>
          </p:nvGrpSpPr>
          <p:grpSpPr>
            <a:xfrm>
              <a:off x="3494" y="958"/>
              <a:ext cx="2269" cy="503"/>
              <a:chOff x="3072" y="1296"/>
              <a:chExt cx="2269" cy="503"/>
            </a:xfrm>
          </p:grpSpPr>
          <p:grpSp>
            <p:nvGrpSpPr>
              <p:cNvPr id="16425" name="Group 31"/>
              <p:cNvGrpSpPr/>
              <p:nvPr/>
            </p:nvGrpSpPr>
            <p:grpSpPr>
              <a:xfrm rot="103979">
                <a:off x="3072" y="1296"/>
                <a:ext cx="861" cy="245"/>
                <a:chOff x="3840" y="2928"/>
                <a:chExt cx="1189" cy="293"/>
              </a:xfrm>
            </p:grpSpPr>
            <p:sp>
              <p:nvSpPr>
                <p:cNvPr id="16433" name="Freeform 32"/>
                <p:cNvSpPr/>
                <p:nvPr/>
              </p:nvSpPr>
              <p:spPr>
                <a:xfrm flipV="1">
                  <a:off x="4128" y="3072"/>
                  <a:ext cx="302" cy="146"/>
                </a:xfrm>
                <a:custGeom>
                  <a:avLst/>
                  <a:gdLst>
                    <a:gd name="txL" fmla="*/ 0 w 1152"/>
                    <a:gd name="txT" fmla="*/ 0 h 1008"/>
                    <a:gd name="txR" fmla="*/ 1152 w 1152"/>
                    <a:gd name="txB" fmla="*/ 1008 h 1008"/>
                  </a:gdLst>
                  <a:ahLst/>
                  <a:cxnLst>
                    <a:cxn ang="0">
                      <a:pos x="0" y="21"/>
                    </a:cxn>
                    <a:cxn ang="0">
                      <a:pos x="13" y="11"/>
                    </a:cxn>
                    <a:cxn ang="0">
                      <a:pos x="26" y="3"/>
                    </a:cxn>
                    <a:cxn ang="0">
                      <a:pos x="40" y="0"/>
                    </a:cxn>
                    <a:cxn ang="0">
                      <a:pos x="53" y="3"/>
                    </a:cxn>
                    <a:cxn ang="0">
                      <a:pos x="66" y="11"/>
                    </a:cxn>
                    <a:cxn ang="0">
                      <a:pos x="79" y="21"/>
                    </a:cxn>
                  </a:cxnLst>
                  <a:rect l="txL" t="txT" r="txR" b="tx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8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4" name="Freeform 33"/>
                <p:cNvSpPr/>
                <p:nvPr/>
              </p:nvSpPr>
              <p:spPr>
                <a:xfrm>
                  <a:off x="4425" y="2928"/>
                  <a:ext cx="302" cy="147"/>
                </a:xfrm>
                <a:custGeom>
                  <a:avLst/>
                  <a:gdLst>
                    <a:gd name="txL" fmla="*/ 0 w 1152"/>
                    <a:gd name="txT" fmla="*/ 0 h 1008"/>
                    <a:gd name="txR" fmla="*/ 1152 w 1152"/>
                    <a:gd name="txB" fmla="*/ 1008 h 1008"/>
                  </a:gdLst>
                  <a:ahLst/>
                  <a:cxnLst>
                    <a:cxn ang="0">
                      <a:pos x="0" y="21"/>
                    </a:cxn>
                    <a:cxn ang="0">
                      <a:pos x="13" y="11"/>
                    </a:cxn>
                    <a:cxn ang="0">
                      <a:pos x="26" y="3"/>
                    </a:cxn>
                    <a:cxn ang="0">
                      <a:pos x="40" y="0"/>
                    </a:cxn>
                    <a:cxn ang="0">
                      <a:pos x="53" y="3"/>
                    </a:cxn>
                    <a:cxn ang="0">
                      <a:pos x="66" y="11"/>
                    </a:cxn>
                    <a:cxn ang="0">
                      <a:pos x="79" y="21"/>
                    </a:cxn>
                  </a:cxnLst>
                  <a:rect l="txL" t="txT" r="txR" b="tx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8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5" name="Freeform 34"/>
                <p:cNvSpPr/>
                <p:nvPr/>
              </p:nvSpPr>
              <p:spPr>
                <a:xfrm flipV="1">
                  <a:off x="4727" y="3075"/>
                  <a:ext cx="302" cy="146"/>
                </a:xfrm>
                <a:custGeom>
                  <a:avLst/>
                  <a:gdLst>
                    <a:gd name="txL" fmla="*/ 0 w 1152"/>
                    <a:gd name="txT" fmla="*/ 0 h 1008"/>
                    <a:gd name="txR" fmla="*/ 1152 w 1152"/>
                    <a:gd name="txB" fmla="*/ 1008 h 1008"/>
                  </a:gdLst>
                  <a:ahLst/>
                  <a:cxnLst>
                    <a:cxn ang="0">
                      <a:pos x="0" y="21"/>
                    </a:cxn>
                    <a:cxn ang="0">
                      <a:pos x="13" y="11"/>
                    </a:cxn>
                    <a:cxn ang="0">
                      <a:pos x="26" y="3"/>
                    </a:cxn>
                    <a:cxn ang="0">
                      <a:pos x="40" y="0"/>
                    </a:cxn>
                    <a:cxn ang="0">
                      <a:pos x="53" y="3"/>
                    </a:cxn>
                    <a:cxn ang="0">
                      <a:pos x="66" y="11"/>
                    </a:cxn>
                    <a:cxn ang="0">
                      <a:pos x="79" y="21"/>
                    </a:cxn>
                  </a:cxnLst>
                  <a:rect l="txL" t="txT" r="txR" b="tx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8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6" name="Freeform 35"/>
                <p:cNvSpPr/>
                <p:nvPr/>
              </p:nvSpPr>
              <p:spPr>
                <a:xfrm>
                  <a:off x="3840" y="2928"/>
                  <a:ext cx="302" cy="147"/>
                </a:xfrm>
                <a:custGeom>
                  <a:avLst/>
                  <a:gdLst>
                    <a:gd name="txL" fmla="*/ 0 w 1152"/>
                    <a:gd name="txT" fmla="*/ 0 h 1008"/>
                    <a:gd name="txR" fmla="*/ 1152 w 1152"/>
                    <a:gd name="txB" fmla="*/ 1008 h 1008"/>
                  </a:gdLst>
                  <a:ahLst/>
                  <a:cxnLst>
                    <a:cxn ang="0">
                      <a:pos x="0" y="21"/>
                    </a:cxn>
                    <a:cxn ang="0">
                      <a:pos x="13" y="11"/>
                    </a:cxn>
                    <a:cxn ang="0">
                      <a:pos x="26" y="3"/>
                    </a:cxn>
                    <a:cxn ang="0">
                      <a:pos x="40" y="0"/>
                    </a:cxn>
                    <a:cxn ang="0">
                      <a:pos x="53" y="3"/>
                    </a:cxn>
                    <a:cxn ang="0">
                      <a:pos x="66" y="11"/>
                    </a:cxn>
                    <a:cxn ang="0">
                      <a:pos x="79" y="21"/>
                    </a:cxn>
                  </a:cxnLst>
                  <a:rect l="txL" t="txT" r="txR" b="tx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8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426" name="Freeform 36"/>
              <p:cNvSpPr/>
              <p:nvPr/>
            </p:nvSpPr>
            <p:spPr>
              <a:xfrm>
                <a:off x="3930" y="1349"/>
                <a:ext cx="198" cy="89"/>
              </a:xfrm>
              <a:custGeom>
                <a:avLst/>
                <a:gdLst>
                  <a:gd name="txL" fmla="*/ 0 w 198"/>
                  <a:gd name="txT" fmla="*/ 0 h 89"/>
                  <a:gd name="txR" fmla="*/ 198 w 198"/>
                  <a:gd name="txB" fmla="*/ 89 h 89"/>
                </a:gdLst>
                <a:ahLst/>
                <a:cxnLst>
                  <a:cxn ang="0">
                    <a:pos x="0" y="89"/>
                  </a:cxn>
                  <a:cxn ang="0">
                    <a:pos x="27" y="33"/>
                  </a:cxn>
                  <a:cxn ang="0">
                    <a:pos x="51" y="16"/>
                  </a:cxn>
                  <a:cxn ang="0">
                    <a:pos x="74" y="10"/>
                  </a:cxn>
                  <a:cxn ang="0">
                    <a:pos x="190" y="79"/>
                  </a:cxn>
                  <a:cxn ang="0">
                    <a:pos x="123" y="34"/>
                  </a:cxn>
                  <a:cxn ang="0">
                    <a:pos x="142" y="60"/>
                  </a:cxn>
                </a:cxnLst>
                <a:rect l="txL" t="txT" r="txR" b="txB"/>
                <a:pathLst>
                  <a:path w="198" h="89">
                    <a:moveTo>
                      <a:pt x="0" y="89"/>
                    </a:moveTo>
                    <a:cubicBezTo>
                      <a:pt x="4" y="82"/>
                      <a:pt x="19" y="45"/>
                      <a:pt x="27" y="33"/>
                    </a:cubicBezTo>
                    <a:cubicBezTo>
                      <a:pt x="35" y="21"/>
                      <a:pt x="43" y="20"/>
                      <a:pt x="51" y="16"/>
                    </a:cubicBezTo>
                    <a:cubicBezTo>
                      <a:pt x="59" y="12"/>
                      <a:pt x="51" y="0"/>
                      <a:pt x="74" y="10"/>
                    </a:cubicBezTo>
                    <a:cubicBezTo>
                      <a:pt x="97" y="20"/>
                      <a:pt x="182" y="75"/>
                      <a:pt x="190" y="79"/>
                    </a:cubicBezTo>
                    <a:cubicBezTo>
                      <a:pt x="198" y="83"/>
                      <a:pt x="131" y="37"/>
                      <a:pt x="123" y="34"/>
                    </a:cubicBezTo>
                    <a:cubicBezTo>
                      <a:pt x="115" y="31"/>
                      <a:pt x="138" y="55"/>
                      <a:pt x="142" y="60"/>
                    </a:cubicBezTo>
                  </a:path>
                </a:pathLst>
              </a:custGeom>
              <a:noFill/>
              <a:ln w="38100" cap="flat" cmpd="sng">
                <a:solidFill>
                  <a:srgbClr val="008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7" name="Freeform 37"/>
              <p:cNvSpPr/>
              <p:nvPr/>
            </p:nvSpPr>
            <p:spPr>
              <a:xfrm>
                <a:off x="4471" y="1721"/>
                <a:ext cx="278" cy="78"/>
              </a:xfrm>
              <a:custGeom>
                <a:avLst/>
                <a:gdLst>
                  <a:gd name="txL" fmla="*/ 0 w 278"/>
                  <a:gd name="txT" fmla="*/ 0 h 78"/>
                  <a:gd name="txR" fmla="*/ 278 w 278"/>
                  <a:gd name="txB" fmla="*/ 78 h 78"/>
                </a:gdLst>
                <a:ahLst/>
                <a:cxnLst>
                  <a:cxn ang="0">
                    <a:pos x="0" y="0"/>
                  </a:cxn>
                  <a:cxn ang="0">
                    <a:pos x="77" y="53"/>
                  </a:cxn>
                  <a:cxn ang="0">
                    <a:pos x="140" y="70"/>
                  </a:cxn>
                  <a:cxn ang="0">
                    <a:pos x="170" y="77"/>
                  </a:cxn>
                  <a:cxn ang="0">
                    <a:pos x="201" y="72"/>
                  </a:cxn>
                  <a:cxn ang="0">
                    <a:pos x="245" y="53"/>
                  </a:cxn>
                  <a:cxn ang="0">
                    <a:pos x="278" y="18"/>
                  </a:cxn>
                </a:cxnLst>
                <a:rect l="txL" t="txT" r="txR" b="txB"/>
                <a:pathLst>
                  <a:path w="278" h="78">
                    <a:moveTo>
                      <a:pt x="0" y="0"/>
                    </a:moveTo>
                    <a:cubicBezTo>
                      <a:pt x="13" y="7"/>
                      <a:pt x="54" y="41"/>
                      <a:pt x="77" y="53"/>
                    </a:cubicBezTo>
                    <a:cubicBezTo>
                      <a:pt x="100" y="65"/>
                      <a:pt x="124" y="67"/>
                      <a:pt x="140" y="70"/>
                    </a:cubicBezTo>
                    <a:cubicBezTo>
                      <a:pt x="155" y="74"/>
                      <a:pt x="159" y="77"/>
                      <a:pt x="170" y="77"/>
                    </a:cubicBezTo>
                    <a:cubicBezTo>
                      <a:pt x="180" y="78"/>
                      <a:pt x="189" y="76"/>
                      <a:pt x="201" y="72"/>
                    </a:cubicBezTo>
                    <a:cubicBezTo>
                      <a:pt x="213" y="69"/>
                      <a:pt x="232" y="62"/>
                      <a:pt x="245" y="53"/>
                    </a:cubicBezTo>
                    <a:cubicBezTo>
                      <a:pt x="258" y="45"/>
                      <a:pt x="271" y="26"/>
                      <a:pt x="278" y="18"/>
                    </a:cubicBezTo>
                  </a:path>
                </a:pathLst>
              </a:custGeom>
              <a:noFill/>
              <a:ln w="38100" cap="flat" cmpd="sng">
                <a:solidFill>
                  <a:srgbClr val="008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8" name="Freeform 38"/>
              <p:cNvSpPr/>
              <p:nvPr/>
            </p:nvSpPr>
            <p:spPr>
              <a:xfrm>
                <a:off x="4749" y="1673"/>
                <a:ext cx="241" cy="77"/>
              </a:xfrm>
              <a:custGeom>
                <a:avLst/>
                <a:gdLst>
                  <a:gd name="txL" fmla="*/ 0 w 241"/>
                  <a:gd name="txT" fmla="*/ 0 h 77"/>
                  <a:gd name="txR" fmla="*/ 241 w 241"/>
                  <a:gd name="txB" fmla="*/ 77 h 77"/>
                </a:gdLst>
                <a:ahLst/>
                <a:cxnLst>
                  <a:cxn ang="0">
                    <a:pos x="0" y="76"/>
                  </a:cxn>
                  <a:cxn ang="0">
                    <a:pos x="41" y="36"/>
                  </a:cxn>
                  <a:cxn ang="0">
                    <a:pos x="81" y="9"/>
                  </a:cxn>
                  <a:cxn ang="0">
                    <a:pos x="123" y="1"/>
                  </a:cxn>
                  <a:cxn ang="0">
                    <a:pos x="162" y="12"/>
                  </a:cxn>
                  <a:cxn ang="0">
                    <a:pos x="202" y="41"/>
                  </a:cxn>
                  <a:cxn ang="0">
                    <a:pos x="241" y="77"/>
                  </a:cxn>
                </a:cxnLst>
                <a:rect l="txL" t="txT" r="txR" b="txB"/>
                <a:pathLst>
                  <a:path w="241" h="77">
                    <a:moveTo>
                      <a:pt x="0" y="76"/>
                    </a:moveTo>
                    <a:cubicBezTo>
                      <a:pt x="9" y="69"/>
                      <a:pt x="28" y="47"/>
                      <a:pt x="41" y="36"/>
                    </a:cubicBezTo>
                    <a:cubicBezTo>
                      <a:pt x="54" y="25"/>
                      <a:pt x="68" y="16"/>
                      <a:pt x="81" y="9"/>
                    </a:cubicBezTo>
                    <a:cubicBezTo>
                      <a:pt x="96" y="4"/>
                      <a:pt x="109" y="0"/>
                      <a:pt x="123" y="1"/>
                    </a:cubicBezTo>
                    <a:cubicBezTo>
                      <a:pt x="136" y="1"/>
                      <a:pt x="149" y="5"/>
                      <a:pt x="162" y="12"/>
                    </a:cubicBezTo>
                    <a:cubicBezTo>
                      <a:pt x="176" y="19"/>
                      <a:pt x="189" y="31"/>
                      <a:pt x="202" y="41"/>
                    </a:cubicBezTo>
                    <a:cubicBezTo>
                      <a:pt x="215" y="52"/>
                      <a:pt x="235" y="71"/>
                      <a:pt x="241" y="77"/>
                    </a:cubicBezTo>
                  </a:path>
                </a:pathLst>
              </a:custGeom>
              <a:noFill/>
              <a:ln w="38100" cap="flat" cmpd="sng">
                <a:solidFill>
                  <a:srgbClr val="008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429" name="Group 39"/>
              <p:cNvGrpSpPr/>
              <p:nvPr/>
            </p:nvGrpSpPr>
            <p:grpSpPr>
              <a:xfrm rot="103979">
                <a:off x="4990" y="1720"/>
                <a:ext cx="351" cy="75"/>
                <a:chOff x="3768" y="3006"/>
                <a:chExt cx="926" cy="199"/>
              </a:xfrm>
            </p:grpSpPr>
            <p:sp>
              <p:nvSpPr>
                <p:cNvPr id="16431" name="Freeform 40"/>
                <p:cNvSpPr/>
                <p:nvPr/>
              </p:nvSpPr>
              <p:spPr>
                <a:xfrm flipV="1">
                  <a:off x="3768" y="3098"/>
                  <a:ext cx="465" cy="107"/>
                </a:xfrm>
                <a:custGeom>
                  <a:avLst/>
                  <a:gdLst>
                    <a:gd name="txL" fmla="*/ 0 w 1152"/>
                    <a:gd name="txT" fmla="*/ 0 h 1008"/>
                    <a:gd name="txR" fmla="*/ 1152 w 1152"/>
                    <a:gd name="txB" fmla="*/ 1008 h 1008"/>
                  </a:gdLst>
                  <a:ahLst/>
                  <a:cxnLst>
                    <a:cxn ang="0">
                      <a:pos x="0" y="11"/>
                    </a:cxn>
                    <a:cxn ang="0">
                      <a:pos x="31" y="6"/>
                    </a:cxn>
                    <a:cxn ang="0">
                      <a:pos x="63" y="2"/>
                    </a:cxn>
                    <a:cxn ang="0">
                      <a:pos x="94" y="0"/>
                    </a:cxn>
                    <a:cxn ang="0">
                      <a:pos x="125" y="2"/>
                    </a:cxn>
                    <a:cxn ang="0">
                      <a:pos x="157" y="6"/>
                    </a:cxn>
                    <a:cxn ang="0">
                      <a:pos x="188" y="11"/>
                    </a:cxn>
                  </a:cxnLst>
                  <a:rect l="txL" t="txT" r="txR" b="tx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8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2" name="Freeform 41"/>
                <p:cNvSpPr/>
                <p:nvPr/>
              </p:nvSpPr>
              <p:spPr>
                <a:xfrm>
                  <a:off x="4229" y="3006"/>
                  <a:ext cx="465" cy="108"/>
                </a:xfrm>
                <a:custGeom>
                  <a:avLst/>
                  <a:gdLst>
                    <a:gd name="txL" fmla="*/ 0 w 1152"/>
                    <a:gd name="txT" fmla="*/ 0 h 1008"/>
                    <a:gd name="txR" fmla="*/ 1152 w 1152"/>
                    <a:gd name="txB" fmla="*/ 1008 h 1008"/>
                  </a:gdLst>
                  <a:ahLst/>
                  <a:cxnLst>
                    <a:cxn ang="0">
                      <a:pos x="0" y="12"/>
                    </a:cxn>
                    <a:cxn ang="0">
                      <a:pos x="31" y="6"/>
                    </a:cxn>
                    <a:cxn ang="0">
                      <a:pos x="63" y="2"/>
                    </a:cxn>
                    <a:cxn ang="0">
                      <a:pos x="94" y="0"/>
                    </a:cxn>
                    <a:cxn ang="0">
                      <a:pos x="125" y="2"/>
                    </a:cxn>
                    <a:cxn ang="0">
                      <a:pos x="157" y="6"/>
                    </a:cxn>
                    <a:cxn ang="0">
                      <a:pos x="188" y="12"/>
                    </a:cxn>
                  </a:cxnLst>
                  <a:rect l="txL" t="txT" r="txR" b="txB"/>
                  <a:pathLst>
                    <a:path w="1152" h="1008">
                      <a:moveTo>
                        <a:pt x="0" y="1008"/>
                      </a:moveTo>
                      <a:cubicBezTo>
                        <a:pt x="64" y="840"/>
                        <a:pt x="128" y="672"/>
                        <a:pt x="192" y="528"/>
                      </a:cubicBezTo>
                      <a:cubicBezTo>
                        <a:pt x="256" y="384"/>
                        <a:pt x="320" y="232"/>
                        <a:pt x="384" y="144"/>
                      </a:cubicBezTo>
                      <a:cubicBezTo>
                        <a:pt x="448" y="56"/>
                        <a:pt x="512" y="0"/>
                        <a:pt x="576" y="0"/>
                      </a:cubicBezTo>
                      <a:cubicBezTo>
                        <a:pt x="640" y="0"/>
                        <a:pt x="704" y="56"/>
                        <a:pt x="768" y="144"/>
                      </a:cubicBezTo>
                      <a:cubicBezTo>
                        <a:pt x="832" y="232"/>
                        <a:pt x="896" y="384"/>
                        <a:pt x="960" y="528"/>
                      </a:cubicBezTo>
                      <a:cubicBezTo>
                        <a:pt x="1024" y="672"/>
                        <a:pt x="1120" y="928"/>
                        <a:pt x="1152" y="1008"/>
                      </a:cubicBezTo>
                    </a:path>
                  </a:pathLst>
                </a:custGeom>
                <a:noFill/>
                <a:ln w="38100" cap="flat" cmpd="sng">
                  <a:solidFill>
                    <a:srgbClr val="008000">
                      <a:alpha val="100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430" name="Freeform 42"/>
              <p:cNvSpPr/>
              <p:nvPr/>
            </p:nvSpPr>
            <p:spPr>
              <a:xfrm>
                <a:off x="4109" y="1417"/>
                <a:ext cx="388" cy="321"/>
              </a:xfrm>
              <a:custGeom>
                <a:avLst/>
                <a:gdLst>
                  <a:gd name="txL" fmla="*/ 0 w 388"/>
                  <a:gd name="txT" fmla="*/ 0 h 321"/>
                  <a:gd name="txR" fmla="*/ 388 w 388"/>
                  <a:gd name="txB" fmla="*/ 321 h 321"/>
                </a:gdLst>
                <a:ahLst/>
                <a:cxnLst>
                  <a:cxn ang="0">
                    <a:pos x="0" y="0"/>
                  </a:cxn>
                  <a:cxn ang="0">
                    <a:pos x="77" y="88"/>
                  </a:cxn>
                  <a:cxn ang="0">
                    <a:pos x="244" y="233"/>
                  </a:cxn>
                  <a:cxn ang="0">
                    <a:pos x="388" y="321"/>
                  </a:cxn>
                </a:cxnLst>
                <a:rect l="txL" t="txT" r="txR" b="txB"/>
                <a:pathLst>
                  <a:path w="388" h="321">
                    <a:moveTo>
                      <a:pt x="0" y="0"/>
                    </a:moveTo>
                    <a:cubicBezTo>
                      <a:pt x="11" y="15"/>
                      <a:pt x="36" y="49"/>
                      <a:pt x="77" y="88"/>
                    </a:cubicBezTo>
                    <a:cubicBezTo>
                      <a:pt x="118" y="127"/>
                      <a:pt x="192" y="194"/>
                      <a:pt x="244" y="233"/>
                    </a:cubicBezTo>
                    <a:cubicBezTo>
                      <a:pt x="296" y="272"/>
                      <a:pt x="358" y="303"/>
                      <a:pt x="388" y="321"/>
                    </a:cubicBezTo>
                  </a:path>
                </a:pathLst>
              </a:custGeom>
              <a:noFill/>
              <a:ln w="28575" cap="flat" cmpd="sng">
                <a:solidFill>
                  <a:srgbClr val="008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6416" name="Group 43"/>
            <p:cNvGrpSpPr/>
            <p:nvPr/>
          </p:nvGrpSpPr>
          <p:grpSpPr>
            <a:xfrm>
              <a:off x="3428" y="686"/>
              <a:ext cx="2060" cy="919"/>
              <a:chOff x="2861" y="597"/>
              <a:chExt cx="2060" cy="919"/>
            </a:xfrm>
          </p:grpSpPr>
          <p:grpSp>
            <p:nvGrpSpPr>
              <p:cNvPr id="16417" name="Group 44"/>
              <p:cNvGrpSpPr/>
              <p:nvPr/>
            </p:nvGrpSpPr>
            <p:grpSpPr>
              <a:xfrm>
                <a:off x="2861" y="597"/>
                <a:ext cx="1669" cy="919"/>
                <a:chOff x="318" y="624"/>
                <a:chExt cx="1669" cy="919"/>
              </a:xfrm>
            </p:grpSpPr>
            <p:sp>
              <p:nvSpPr>
                <p:cNvPr id="48" name="Text Box 45"/>
                <p:cNvSpPr txBox="1">
                  <a:spLocks noChangeArrowheads="1"/>
                </p:cNvSpPr>
                <p:nvPr/>
              </p:nvSpPr>
              <p:spPr bwMode="blackWhite">
                <a:xfrm>
                  <a:off x="960" y="624"/>
                  <a:ext cx="389" cy="3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marR="0" defTabSz="914400" eaLnBrk="1" hangingPunct="1"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3200" b="1" kern="1200" cap="none" spc="0" normalizeH="0" baseline="0" noProof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U</a:t>
                  </a:r>
                  <a:r>
                    <a:rPr kumimoji="0" lang="en-US" altLang="zh-CN" sz="3200" b="1" kern="1200" cap="none" spc="0" normalizeH="0" baseline="-25000" noProof="0"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0</a:t>
                  </a:r>
                  <a:endParaRPr kumimoji="0" lang="en-US" altLang="zh-CN" sz="3200" b="1" kern="1200" cap="none" spc="0" normalizeH="0" baseline="0" noProof="0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6420" name="Group 46"/>
                <p:cNvGrpSpPr/>
                <p:nvPr/>
              </p:nvGrpSpPr>
              <p:grpSpPr>
                <a:xfrm>
                  <a:off x="318" y="768"/>
                  <a:ext cx="1669" cy="775"/>
                  <a:chOff x="318" y="768"/>
                  <a:chExt cx="1669" cy="775"/>
                </a:xfrm>
              </p:grpSpPr>
              <p:sp>
                <p:nvSpPr>
                  <p:cNvPr id="16421" name="Line 47"/>
                  <p:cNvSpPr/>
                  <p:nvPr/>
                </p:nvSpPr>
                <p:spPr>
                  <a:xfrm>
                    <a:off x="318" y="1527"/>
                    <a:ext cx="978" cy="0"/>
                  </a:xfrm>
                  <a:prstGeom prst="line">
                    <a:avLst/>
                  </a:prstGeom>
                  <a:ln w="38100" cap="flat" cmpd="sng">
                    <a:solidFill>
                      <a:srgbClr val="FF33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6422" name="Line 48"/>
                  <p:cNvSpPr/>
                  <p:nvPr/>
                </p:nvSpPr>
                <p:spPr>
                  <a:xfrm flipV="1">
                    <a:off x="1296" y="776"/>
                    <a:ext cx="691" cy="9"/>
                  </a:xfrm>
                  <a:prstGeom prst="line">
                    <a:avLst/>
                  </a:prstGeom>
                  <a:ln w="38100" cap="flat" cmpd="sng">
                    <a:solidFill>
                      <a:srgbClr val="FF33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6423" name="Line 49"/>
                  <p:cNvSpPr/>
                  <p:nvPr/>
                </p:nvSpPr>
                <p:spPr>
                  <a:xfrm>
                    <a:off x="1307" y="776"/>
                    <a:ext cx="0" cy="767"/>
                  </a:xfrm>
                  <a:prstGeom prst="line">
                    <a:avLst/>
                  </a:prstGeom>
                  <a:ln w="38100" cap="flat" cmpd="sng">
                    <a:solidFill>
                      <a:srgbClr val="FF33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6424" name="Line 50"/>
                  <p:cNvSpPr/>
                  <p:nvPr/>
                </p:nvSpPr>
                <p:spPr>
                  <a:xfrm>
                    <a:off x="1968" y="768"/>
                    <a:ext cx="0" cy="767"/>
                  </a:xfrm>
                  <a:prstGeom prst="line">
                    <a:avLst/>
                  </a:prstGeom>
                  <a:ln w="38100" cap="flat" cmpd="sng">
                    <a:solidFill>
                      <a:srgbClr val="FF33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16418" name="Line 51"/>
              <p:cNvSpPr/>
              <p:nvPr/>
            </p:nvSpPr>
            <p:spPr>
              <a:xfrm>
                <a:off x="4513" y="1498"/>
                <a:ext cx="408" cy="0"/>
              </a:xfrm>
              <a:prstGeom prst="line">
                <a:avLst/>
              </a:prstGeom>
              <a:ln w="38100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四、玻尔的氢原子理论</a:t>
            </a: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以卢瑟福的原子核式结构模型为基础。</a:t>
            </a:r>
          </a:p>
          <a:p>
            <a:pPr eaLnBrk="1" hangingPunct="1"/>
            <a:r>
              <a:rPr lang="zh-CN" altLang="en-US" dirty="0"/>
              <a:t>氢原子光谱的实验规律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17413" name="Text Box 4"/>
          <p:cNvSpPr txBox="1"/>
          <p:nvPr/>
        </p:nvSpPr>
        <p:spPr>
          <a:xfrm>
            <a:off x="609600" y="3124200"/>
            <a:ext cx="7772400" cy="212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m=1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每个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对应一个线系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对于每个确定的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n=m+1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m+2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m+3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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是里德堡常数	</a:t>
            </a:r>
          </a:p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 </a:t>
            </a:r>
          </a:p>
        </p:txBody>
      </p:sp>
      <p:graphicFrame>
        <p:nvGraphicFramePr>
          <p:cNvPr id="17410" name="Object 5"/>
          <p:cNvGraphicFramePr/>
          <p:nvPr/>
        </p:nvGraphicFramePr>
        <p:xfrm>
          <a:off x="3087688" y="2144713"/>
          <a:ext cx="2281237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r:id="rId4" imgW="1282700" imgH="501650" progId="Equation.DSMT4">
                  <p:embed/>
                </p:oleObj>
              </mc:Choice>
              <mc:Fallback>
                <p:oleObj r:id="rId4" imgW="1282700" imgH="501650" progId="Equation.DSMT4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087688" y="2144713"/>
                        <a:ext cx="2281237" cy="8016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玻尔的氢原子理论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chemeClr val="hlink"/>
                </a:solidFill>
              </a:rPr>
              <a:t>微观体系量子化</a:t>
            </a:r>
          </a:p>
        </p:txBody>
      </p:sp>
      <p:sp>
        <p:nvSpPr>
          <p:cNvPr id="8196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66800"/>
            <a:ext cx="8839200" cy="4989513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/>
              <a:t>玻尔的氢原子理论</a:t>
            </a:r>
            <a:r>
              <a:rPr lang="zh-CN" altLang="en-US" dirty="0">
                <a:solidFill>
                  <a:schemeClr val="hlink"/>
                </a:solidFill>
              </a:rPr>
              <a:t>假设</a:t>
            </a:r>
            <a:r>
              <a:rPr lang="zh-CN" altLang="en-US" dirty="0"/>
              <a:t>：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en-US" altLang="zh-CN" dirty="0"/>
              <a:t>1</a:t>
            </a:r>
            <a:r>
              <a:rPr lang="zh-CN" altLang="en-US" dirty="0"/>
              <a:t>）定态假设（能量条件）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/>
              <a:t>      原子能够而且只能够稳定地存在于</a:t>
            </a:r>
            <a:r>
              <a:rPr lang="zh-CN" altLang="en-US" dirty="0">
                <a:solidFill>
                  <a:schemeClr val="hlink"/>
                </a:solidFill>
              </a:rPr>
              <a:t>离散能量状态</a:t>
            </a:r>
            <a:r>
              <a:rPr lang="en-US" altLang="zh-CN" dirty="0"/>
              <a:t>( 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i="1" dirty="0"/>
              <a:t>E</a:t>
            </a:r>
            <a:r>
              <a:rPr lang="en-US" altLang="zh-CN" baseline="-25000" dirty="0"/>
              <a:t>2</a:t>
            </a:r>
            <a:r>
              <a:rPr lang="en-US" altLang="zh-CN" dirty="0"/>
              <a:t>  </a:t>
            </a:r>
            <a:r>
              <a:rPr lang="en-US" altLang="zh-CN" dirty="0">
                <a:sym typeface="Symbol" panose="05050102010706020507" pitchFamily="18" charset="2"/>
              </a:rPr>
              <a:t></a:t>
            </a:r>
            <a:r>
              <a:rPr lang="en-US" altLang="zh-CN" dirty="0"/>
              <a:t>   ) </a:t>
            </a:r>
            <a:r>
              <a:rPr lang="zh-CN" altLang="en-US" dirty="0"/>
              <a:t>上 </a:t>
            </a:r>
            <a:r>
              <a:rPr lang="en-US" altLang="zh-CN" dirty="0"/>
              <a:t>---- </a:t>
            </a:r>
            <a:r>
              <a:rPr lang="zh-CN" altLang="en-US" dirty="0"/>
              <a:t>定态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）跃迁条件（频率条件）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dirty="0"/>
              <a:t>       原子能量的任何变化，包括发射或吸收电磁辐射，只能在两个定态之间跃迁。原子在两定态 </a:t>
            </a:r>
            <a:r>
              <a:rPr lang="en-US" altLang="zh-CN" dirty="0"/>
              <a:t>( </a:t>
            </a:r>
            <a:r>
              <a:rPr lang="en-US" altLang="zh-CN" i="1" dirty="0"/>
              <a:t>E</a:t>
            </a:r>
            <a:r>
              <a:rPr lang="en-US" altLang="zh-CN" baseline="-25000" dirty="0"/>
              <a:t>n</a:t>
            </a:r>
            <a:r>
              <a:rPr lang="en-US" altLang="zh-CN" dirty="0"/>
              <a:t>  &gt; </a:t>
            </a:r>
            <a:r>
              <a:rPr lang="en-US" altLang="zh-CN" i="1" dirty="0"/>
              <a:t>E</a:t>
            </a:r>
            <a:r>
              <a:rPr lang="en-US" altLang="zh-CN" baseline="-25000" dirty="0"/>
              <a:t>m</a:t>
            </a:r>
            <a:r>
              <a:rPr lang="en-US" altLang="zh-CN" dirty="0"/>
              <a:t> )</a:t>
            </a:r>
            <a:r>
              <a:rPr lang="zh-CN" altLang="en-US" dirty="0"/>
              <a:t>之间跃迁，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sz="2000" dirty="0"/>
          </a:p>
        </p:txBody>
      </p:sp>
      <p:graphicFrame>
        <p:nvGraphicFramePr>
          <p:cNvPr id="8194" name="Object 6"/>
          <p:cNvGraphicFramePr>
            <a:graphicFrameLocks noGrp="1"/>
          </p:cNvGraphicFramePr>
          <p:nvPr>
            <p:ph sz="half" idx="2"/>
          </p:nvPr>
        </p:nvGraphicFramePr>
        <p:xfrm>
          <a:off x="3048000" y="4800600"/>
          <a:ext cx="21336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6" r:id="rId4" imgW="992505" imgH="267335" progId="Equation.DSMT4">
                  <p:embed/>
                </p:oleObj>
              </mc:Choice>
              <mc:Fallback>
                <p:oleObj r:id="rId4" imgW="992505" imgH="267335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3048000" y="4800600"/>
                        <a:ext cx="2133600" cy="5730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玻尔的氢原子理论</a:t>
            </a:r>
          </a:p>
        </p:txBody>
      </p:sp>
      <p:sp>
        <p:nvSpPr>
          <p:cNvPr id="19460" name="Rectangle 3"/>
          <p:cNvSpPr>
            <a:spLocks noGrp="1"/>
          </p:cNvSpPr>
          <p:nvPr>
            <p:ph type="body" sz="half" idx="1"/>
          </p:nvPr>
        </p:nvSpPr>
        <p:spPr>
          <a:xfrm>
            <a:off x="152400" y="1066800"/>
            <a:ext cx="8991600" cy="4989513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zh-CN" dirty="0"/>
              <a:t>3）轨道角动量量子化假设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zh-CN" dirty="0"/>
              <a:t>      </a:t>
            </a:r>
            <a:r>
              <a:rPr lang="zh-CN" altLang="zh-CN" dirty="0">
                <a:solidFill>
                  <a:schemeClr val="hlink"/>
                </a:solidFill>
              </a:rPr>
              <a:t>定态</a:t>
            </a:r>
            <a:r>
              <a:rPr lang="zh-CN" altLang="zh-CN" dirty="0"/>
              <a:t>与电子绕核运动的一系列分立</a:t>
            </a:r>
            <a:r>
              <a:rPr lang="zh-CN" altLang="zh-CN" dirty="0">
                <a:solidFill>
                  <a:schemeClr val="hlink"/>
                </a:solidFill>
              </a:rPr>
              <a:t>圆周轨道相对应</a:t>
            </a:r>
            <a:r>
              <a:rPr lang="zh-CN" altLang="zh-CN" dirty="0"/>
              <a:t>，电子轨道角动量</a:t>
            </a:r>
            <a:r>
              <a:rPr lang="en-US" altLang="zh-CN" dirty="0">
                <a:solidFill>
                  <a:schemeClr val="hlink"/>
                </a:solidFill>
              </a:rPr>
              <a:t>L</a:t>
            </a:r>
            <a:r>
              <a:rPr lang="zh-CN" altLang="zh-CN" dirty="0">
                <a:solidFill>
                  <a:schemeClr val="hlink"/>
                </a:solidFill>
              </a:rPr>
              <a:t>只能是（</a:t>
            </a:r>
            <a:r>
              <a:rPr lang="en-US" altLang="zh-CN" dirty="0">
                <a:solidFill>
                  <a:schemeClr val="hlink"/>
                </a:solidFill>
              </a:rPr>
              <a:t>h/2</a:t>
            </a: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</a:t>
            </a:r>
            <a:r>
              <a:rPr lang="zh-CN" altLang="en-US" dirty="0">
                <a:solidFill>
                  <a:schemeClr val="hlink"/>
                </a:solidFill>
                <a:sym typeface="Symbol" panose="05050102010706020507" pitchFamily="18" charset="2"/>
              </a:rPr>
              <a:t>）</a:t>
            </a:r>
            <a:r>
              <a:rPr lang="zh-CN" altLang="en-US" dirty="0">
                <a:solidFill>
                  <a:schemeClr val="hlink"/>
                </a:solidFill>
              </a:rPr>
              <a:t> </a:t>
            </a:r>
            <a:r>
              <a:rPr lang="zh-CN" altLang="zh-CN" dirty="0">
                <a:solidFill>
                  <a:schemeClr val="hlink"/>
                </a:solidFill>
              </a:rPr>
              <a:t>的</a:t>
            </a:r>
            <a:r>
              <a:rPr lang="zh-CN" altLang="en-US" dirty="0">
                <a:solidFill>
                  <a:schemeClr val="hlink"/>
                </a:solidFill>
              </a:rPr>
              <a:t>整数倍</a:t>
            </a:r>
            <a:r>
              <a:rPr lang="zh-CN" altLang="en-US" dirty="0"/>
              <a:t>，即</a:t>
            </a:r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/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zh-CN" altLang="en-US" dirty="0"/>
          </a:p>
          <a:p>
            <a:pPr mar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</a:pPr>
            <a:endParaRPr lang="en-US" altLang="zh-CN" dirty="0"/>
          </a:p>
        </p:txBody>
      </p:sp>
      <p:graphicFrame>
        <p:nvGraphicFramePr>
          <p:cNvPr id="19458" name="Object 4"/>
          <p:cNvGraphicFramePr>
            <a:graphicFrameLocks noGrp="1"/>
          </p:cNvGraphicFramePr>
          <p:nvPr>
            <p:ph sz="half" idx="2"/>
          </p:nvPr>
        </p:nvGraphicFramePr>
        <p:xfrm>
          <a:off x="2819400" y="2743200"/>
          <a:ext cx="29718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r:id="rId3" imgW="1661795" imgH="457200" progId="Equation.3">
                  <p:embed/>
                </p:oleObj>
              </mc:Choice>
              <mc:Fallback>
                <p:oleObj r:id="rId3" imgW="1661795" imgH="4572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2819400" y="2743200"/>
                        <a:ext cx="2971800" cy="8223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Rectangle 7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19462" name="Rectangle 9"/>
          <p:cNvSpPr/>
          <p:nvPr/>
        </p:nvSpPr>
        <p:spPr>
          <a:xfrm>
            <a:off x="0" y="32194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玻尔的氢原子理论</a:t>
            </a:r>
          </a:p>
        </p:txBody>
      </p:sp>
      <p:sp>
        <p:nvSpPr>
          <p:cNvPr id="204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根据上述理论，可得氢原子稳定能量态的半径和能量：</a:t>
            </a:r>
          </a:p>
        </p:txBody>
      </p:sp>
      <p:graphicFrame>
        <p:nvGraphicFramePr>
          <p:cNvPr id="20482" name="Object 4"/>
          <p:cNvGraphicFramePr/>
          <p:nvPr/>
        </p:nvGraphicFramePr>
        <p:xfrm>
          <a:off x="2555875" y="1676400"/>
          <a:ext cx="29305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r:id="rId4" imgW="1333500" imgH="457200" progId="Equation.3">
                  <p:embed/>
                </p:oleObj>
              </mc:Choice>
              <mc:Fallback>
                <p:oleObj r:id="rId4" imgW="1333500" imgH="4572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55875" y="1676400"/>
                        <a:ext cx="2930525" cy="1000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5"/>
          <p:cNvGraphicFramePr/>
          <p:nvPr/>
        </p:nvGraphicFramePr>
        <p:xfrm>
          <a:off x="2590800" y="2743200"/>
          <a:ext cx="2733675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r:id="rId6" imgW="1308100" imgH="457200" progId="Equation.3">
                  <p:embed/>
                </p:oleObj>
              </mc:Choice>
              <mc:Fallback>
                <p:oleObj r:id="rId6" imgW="1308100" imgH="4572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90800" y="2743200"/>
                        <a:ext cx="2733675" cy="954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Text Box 6"/>
          <p:cNvSpPr txBox="1"/>
          <p:nvPr/>
        </p:nvSpPr>
        <p:spPr>
          <a:xfrm>
            <a:off x="4419600" y="5414963"/>
            <a:ext cx="3054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基态能量</a:t>
            </a:r>
          </a:p>
        </p:txBody>
      </p:sp>
      <p:sp>
        <p:nvSpPr>
          <p:cNvPr id="20489" name="Text Box 7"/>
          <p:cNvSpPr txBox="1"/>
          <p:nvPr/>
        </p:nvSpPr>
        <p:spPr>
          <a:xfrm>
            <a:off x="4572000" y="4343400"/>
            <a:ext cx="3797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——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玻尔半径</a:t>
            </a:r>
          </a:p>
        </p:txBody>
      </p:sp>
      <p:graphicFrame>
        <p:nvGraphicFramePr>
          <p:cNvPr id="20484" name="Object 8"/>
          <p:cNvGraphicFramePr/>
          <p:nvPr/>
        </p:nvGraphicFramePr>
        <p:xfrm>
          <a:off x="947738" y="4114800"/>
          <a:ext cx="3289300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1" r:id="rId8" imgW="1772920" imgH="535305" progId="Equation.3">
                  <p:embed/>
                </p:oleObj>
              </mc:Choice>
              <mc:Fallback>
                <p:oleObj r:id="rId8" imgW="1772920" imgH="535305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47738" y="4114800"/>
                        <a:ext cx="3289300" cy="981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9"/>
          <p:cNvGraphicFramePr/>
          <p:nvPr/>
        </p:nvGraphicFramePr>
        <p:xfrm>
          <a:off x="1120775" y="5029200"/>
          <a:ext cx="3046413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2" r:id="rId10" imgW="1661795" imgH="535305" progId="Equation.DSMT4">
                  <p:embed/>
                </p:oleObj>
              </mc:Choice>
              <mc:Fallback>
                <p:oleObj r:id="rId10" imgW="1661795" imgH="535305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20775" y="5029200"/>
                        <a:ext cx="3046413" cy="97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玻尔的氢原子理论</a:t>
            </a:r>
          </a:p>
        </p:txBody>
      </p:sp>
      <p:sp>
        <p:nvSpPr>
          <p:cNvPr id="215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从一个能级向另一个能级跃迁所发出的光谱线的波长满足</a:t>
            </a:r>
          </a:p>
        </p:txBody>
      </p:sp>
      <p:graphicFrame>
        <p:nvGraphicFramePr>
          <p:cNvPr id="21506" name="Object 4"/>
          <p:cNvGraphicFramePr/>
          <p:nvPr/>
        </p:nvGraphicFramePr>
        <p:xfrm>
          <a:off x="2865438" y="3276600"/>
          <a:ext cx="4292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r:id="rId3" imgW="2352675" imgH="535305" progId="Equation.3">
                  <p:embed/>
                </p:oleObj>
              </mc:Choice>
              <mc:Fallback>
                <p:oleObj r:id="rId3" imgW="2352675" imgH="535305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333399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65438" y="3276600"/>
                        <a:ext cx="4292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5"/>
          <p:cNvSpPr txBox="1"/>
          <p:nvPr/>
        </p:nvSpPr>
        <p:spPr>
          <a:xfrm>
            <a:off x="304800" y="3505200"/>
            <a:ext cx="31369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里德堡理论值：</a:t>
            </a:r>
          </a:p>
        </p:txBody>
      </p:sp>
      <p:sp>
        <p:nvSpPr>
          <p:cNvPr id="21511" name="Rectangle 10"/>
          <p:cNvSpPr/>
          <p:nvPr/>
        </p:nvSpPr>
        <p:spPr>
          <a:xfrm>
            <a:off x="0" y="32242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21507" name="Object 9"/>
          <p:cNvGraphicFramePr/>
          <p:nvPr/>
        </p:nvGraphicFramePr>
        <p:xfrm>
          <a:off x="1676400" y="1905000"/>
          <a:ext cx="37338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r:id="rId5" imgW="1764665" imgH="406400" progId="Equation.3">
                  <p:embed/>
                </p:oleObj>
              </mc:Choice>
              <mc:Fallback>
                <p:oleObj r:id="rId5" imgW="1764665" imgH="4064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76400" y="1905000"/>
                        <a:ext cx="3733800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lstStyle/>
          <a:p>
            <a:pPr eaLnBrk="1" hangingPunct="1"/>
            <a:r>
              <a:rPr lang="zh-CN" altLang="en-US" dirty="0"/>
              <a:t>玻尔的氢原子理论</a:t>
            </a:r>
          </a:p>
        </p:txBody>
      </p:sp>
      <p:sp>
        <p:nvSpPr>
          <p:cNvPr id="47107" name="Text Box 4"/>
          <p:cNvSpPr txBox="1"/>
          <p:nvPr/>
        </p:nvSpPr>
        <p:spPr>
          <a:xfrm>
            <a:off x="560388" y="1309688"/>
            <a:ext cx="3455987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玻尔氢原子理论：</a:t>
            </a:r>
          </a:p>
        </p:txBody>
      </p:sp>
      <p:sp>
        <p:nvSpPr>
          <p:cNvPr id="47108" name="Text Box 5"/>
          <p:cNvSpPr txBox="1"/>
          <p:nvPr/>
        </p:nvSpPr>
        <p:spPr>
          <a:xfrm>
            <a:off x="1220788" y="1919288"/>
            <a:ext cx="1708150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成功之处：</a:t>
            </a:r>
          </a:p>
        </p:txBody>
      </p:sp>
      <p:sp>
        <p:nvSpPr>
          <p:cNvPr id="47109" name="Text Box 6"/>
          <p:cNvSpPr txBox="1"/>
          <p:nvPr/>
        </p:nvSpPr>
        <p:spPr>
          <a:xfrm>
            <a:off x="2667000" y="1905000"/>
            <a:ext cx="1658938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定态能级</a:t>
            </a:r>
          </a:p>
        </p:txBody>
      </p:sp>
      <p:sp>
        <p:nvSpPr>
          <p:cNvPr id="47110" name="Text Box 7"/>
          <p:cNvSpPr txBox="1"/>
          <p:nvPr/>
        </p:nvSpPr>
        <p:spPr>
          <a:xfrm>
            <a:off x="2590800" y="2438400"/>
            <a:ext cx="3540125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能级跃迁决定辐射频率</a:t>
            </a:r>
          </a:p>
        </p:txBody>
      </p:sp>
      <p:sp>
        <p:nvSpPr>
          <p:cNvPr id="47111" name="Text Box 8"/>
          <p:cNvSpPr txBox="1"/>
          <p:nvPr/>
        </p:nvSpPr>
        <p:spPr>
          <a:xfrm>
            <a:off x="5715000" y="1676400"/>
            <a:ext cx="696913" cy="1311275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8000" b="1" dirty="0"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12" name="Text Box 9"/>
          <p:cNvSpPr txBox="1"/>
          <p:nvPr/>
        </p:nvSpPr>
        <p:spPr>
          <a:xfrm>
            <a:off x="1238250" y="3498850"/>
            <a:ext cx="1709738" cy="457200"/>
          </a:xfrm>
          <a:prstGeom prst="rect">
            <a:avLst/>
          </a:prstGeom>
          <a:noFill/>
          <a:ln w="2857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不足之处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47113" name="Text Box 10"/>
          <p:cNvSpPr txBox="1"/>
          <p:nvPr/>
        </p:nvSpPr>
        <p:spPr>
          <a:xfrm>
            <a:off x="3352800" y="3429000"/>
            <a:ext cx="5257800" cy="12001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仍然使用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‘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轨道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’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这一经典概念来描述电子的运动</a:t>
            </a:r>
            <a:endParaRPr lang="en-US" altLang="zh-CN" sz="2400" b="1" dirty="0">
              <a:solidFill>
                <a:schemeClr val="tx2"/>
              </a:solidFill>
              <a:latin typeface="楷体_GB2312" pitchFamily="49" charset="-122"/>
            </a:endParaRPr>
          </a:p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强行加上</a:t>
            </a:r>
            <a:r>
              <a:rPr lang="zh-CN" altLang="zh-CN" sz="2400" b="1" dirty="0">
                <a:solidFill>
                  <a:schemeClr val="tx2"/>
                </a:solidFill>
                <a:latin typeface="楷体_GB2312" pitchFamily="49" charset="-122"/>
              </a:rPr>
              <a:t>轨道角动量量子化假设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</a:endParaRPr>
          </a:p>
        </p:txBody>
      </p:sp>
      <p:sp>
        <p:nvSpPr>
          <p:cNvPr id="47114" name="Text Box 14"/>
          <p:cNvSpPr txBox="1"/>
          <p:nvPr/>
        </p:nvSpPr>
        <p:spPr>
          <a:xfrm>
            <a:off x="6324600" y="1981200"/>
            <a:ext cx="2246313" cy="82232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现代量子力学重要概念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5" name="Text Box 4"/>
          <p:cNvSpPr txBox="1"/>
          <p:nvPr/>
        </p:nvSpPr>
        <p:spPr>
          <a:xfrm>
            <a:off x="1143000" y="250825"/>
            <a:ext cx="6324600" cy="587375"/>
          </a:xfrm>
          <a:prstGeom prst="rect">
            <a:avLst/>
          </a:prstGeom>
          <a:noFill/>
          <a:ln w="3175">
            <a:noFill/>
          </a:ln>
        </p:spPr>
        <p:txBody>
          <a:bodyPr lIns="90000" tIns="46800" rIns="90000" bIns="46800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CC0066"/>
                </a:solidFill>
                <a:latin typeface="楷体_GB2312" pitchFamily="49" charset="-122"/>
              </a:rPr>
              <a:t>五</a:t>
            </a:r>
            <a:r>
              <a:rPr lang="en-US" altLang="zh-CN" sz="3200" b="1" dirty="0">
                <a:solidFill>
                  <a:srgbClr val="CC0066"/>
                </a:solidFill>
                <a:latin typeface="楷体_GB2312" pitchFamily="49" charset="-122"/>
              </a:rPr>
              <a:t>.</a:t>
            </a:r>
            <a:r>
              <a:rPr lang="zh-CN" altLang="en-US" sz="3200" b="1" dirty="0">
                <a:solidFill>
                  <a:srgbClr val="CC0066"/>
                </a:solidFill>
                <a:latin typeface="楷体_GB2312" pitchFamily="49" charset="-122"/>
              </a:rPr>
              <a:t>氢原子的量子理论</a:t>
            </a:r>
          </a:p>
        </p:txBody>
      </p:sp>
      <p:sp>
        <p:nvSpPr>
          <p:cNvPr id="11269" name="Text Box 5"/>
          <p:cNvSpPr txBox="1"/>
          <p:nvPr/>
        </p:nvSpPr>
        <p:spPr>
          <a:xfrm>
            <a:off x="803275" y="1125538"/>
            <a:ext cx="449580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D60093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D60093"/>
                </a:solidFill>
                <a:latin typeface="Times New Roman" panose="02020603050405020304" pitchFamily="18" charset="0"/>
              </a:rPr>
              <a:t>、能量量子化和主量子数</a:t>
            </a:r>
          </a:p>
        </p:txBody>
      </p:sp>
      <p:sp>
        <p:nvSpPr>
          <p:cNvPr id="11270" name="Text Box 6"/>
          <p:cNvSpPr txBox="1"/>
          <p:nvPr/>
        </p:nvSpPr>
        <p:spPr>
          <a:xfrm>
            <a:off x="4765675" y="1631950"/>
            <a:ext cx="3657600" cy="100488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式中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n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称为主量子数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=1,2,3…</a:t>
            </a:r>
          </a:p>
        </p:txBody>
      </p:sp>
      <p:graphicFrame>
        <p:nvGraphicFramePr>
          <p:cNvPr id="11271" name="Object 2"/>
          <p:cNvGraphicFramePr/>
          <p:nvPr/>
        </p:nvGraphicFramePr>
        <p:xfrm>
          <a:off x="1371600" y="1600200"/>
          <a:ext cx="2624138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r:id="rId3" imgW="1293495" imgH="535305" progId="Equation.DSMT4">
                  <p:embed/>
                </p:oleObj>
              </mc:Choice>
              <mc:Fallback>
                <p:oleObj r:id="rId3" imgW="1293495" imgH="535305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600" y="1600200"/>
                        <a:ext cx="2624138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Text Box 8"/>
          <p:cNvSpPr txBox="1"/>
          <p:nvPr/>
        </p:nvSpPr>
        <p:spPr>
          <a:xfrm>
            <a:off x="796925" y="2781300"/>
            <a:ext cx="449580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D60093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D60093"/>
                </a:solidFill>
                <a:latin typeface="Times New Roman" panose="02020603050405020304" pitchFamily="18" charset="0"/>
              </a:rPr>
              <a:t>、角动量量子化和角量子数</a:t>
            </a:r>
          </a:p>
        </p:txBody>
      </p:sp>
      <p:graphicFrame>
        <p:nvGraphicFramePr>
          <p:cNvPr id="11273" name="Object 3"/>
          <p:cNvGraphicFramePr/>
          <p:nvPr/>
        </p:nvGraphicFramePr>
        <p:xfrm>
          <a:off x="1412875" y="3314700"/>
          <a:ext cx="217011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r:id="rId5" imgW="1014730" imgH="300990" progId="Equation.DSMT4">
                  <p:embed/>
                </p:oleObj>
              </mc:Choice>
              <mc:Fallback>
                <p:oleObj r:id="rId5" imgW="1014730" imgH="30099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12875" y="3314700"/>
                        <a:ext cx="2170113" cy="63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Text Box 10"/>
          <p:cNvSpPr txBox="1"/>
          <p:nvPr/>
        </p:nvSpPr>
        <p:spPr>
          <a:xfrm>
            <a:off x="3698875" y="3429000"/>
            <a:ext cx="541020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式中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l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称为角量子数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1275" name="Object 4"/>
          <p:cNvGraphicFramePr/>
          <p:nvPr/>
        </p:nvGraphicFramePr>
        <p:xfrm>
          <a:off x="1793875" y="4000500"/>
          <a:ext cx="3657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r:id="rId7" imgW="1237615" imgH="234315" progId="Equation.DSMT4">
                  <p:embed/>
                </p:oleObj>
              </mc:Choice>
              <mc:Fallback>
                <p:oleObj r:id="rId7" imgW="1237615" imgH="234315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93875" y="4000500"/>
                        <a:ext cx="3657600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Text Box 12"/>
          <p:cNvSpPr txBox="1"/>
          <p:nvPr/>
        </p:nvSpPr>
        <p:spPr>
          <a:xfrm>
            <a:off x="762000" y="4549775"/>
            <a:ext cx="532765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D60093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D60093"/>
                </a:solidFill>
                <a:latin typeface="Times New Roman" panose="02020603050405020304" pitchFamily="18" charset="0"/>
              </a:rPr>
              <a:t>、角动量空间量子化和磁量子数</a:t>
            </a:r>
          </a:p>
        </p:txBody>
      </p:sp>
      <p:graphicFrame>
        <p:nvGraphicFramePr>
          <p:cNvPr id="11277" name="Object 5"/>
          <p:cNvGraphicFramePr/>
          <p:nvPr/>
        </p:nvGraphicFramePr>
        <p:xfrm>
          <a:off x="704850" y="5126038"/>
          <a:ext cx="1760538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r:id="rId9" imgW="657860" imgH="267335" progId="Equation.DSMT4">
                  <p:embed/>
                </p:oleObj>
              </mc:Choice>
              <mc:Fallback>
                <p:oleObj r:id="rId9" imgW="657860" imgH="267335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4850" y="5126038"/>
                        <a:ext cx="1760538" cy="719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Text Box 14"/>
          <p:cNvSpPr txBox="1"/>
          <p:nvPr/>
        </p:nvSpPr>
        <p:spPr>
          <a:xfrm>
            <a:off x="2895600" y="5202238"/>
            <a:ext cx="4419600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式中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称为磁量子数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1279" name="Object 6"/>
          <p:cNvGraphicFramePr/>
          <p:nvPr/>
        </p:nvGraphicFramePr>
        <p:xfrm>
          <a:off x="503238" y="5921375"/>
          <a:ext cx="275113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r:id="rId11" imgW="1371600" imgH="267335" progId="Equation.DSMT4">
                  <p:embed/>
                </p:oleObj>
              </mc:Choice>
              <mc:Fallback>
                <p:oleObj r:id="rId11" imgW="1371600" imgH="267335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3238" y="5921375"/>
                        <a:ext cx="2751137" cy="5318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0" name="Text Box 16"/>
          <p:cNvSpPr txBox="1"/>
          <p:nvPr/>
        </p:nvSpPr>
        <p:spPr>
          <a:xfrm>
            <a:off x="3240088" y="5918200"/>
            <a:ext cx="5903912" cy="45720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角动量在空间的取向只有 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(2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+1)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种可能。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  <p:bldP spid="11270" grpId="0"/>
      <p:bldP spid="11272" grpId="0"/>
      <p:bldP spid="11274" grpId="0"/>
      <p:bldP spid="11276" grpId="0"/>
      <p:bldP spid="11278" grpId="0"/>
      <p:bldP spid="1128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5" name="Text Box 7"/>
          <p:cNvSpPr txBox="1"/>
          <p:nvPr/>
        </p:nvSpPr>
        <p:spPr>
          <a:xfrm>
            <a:off x="2667000" y="1143000"/>
            <a:ext cx="32400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施特恩</a:t>
            </a:r>
            <a:r>
              <a:rPr lang="en-US" altLang="zh-CN" sz="2400" b="1" dirty="0">
                <a:latin typeface="Times New Roman" panose="02020603050405020304" pitchFamily="18" charset="0"/>
              </a:rPr>
              <a:t>—</a:t>
            </a:r>
            <a:r>
              <a:rPr lang="zh-CN" altLang="en-US" sz="2400" b="1" dirty="0">
                <a:latin typeface="Times New Roman" panose="02020603050405020304" pitchFamily="18" charset="0"/>
              </a:rPr>
              <a:t>格拉赫实验</a:t>
            </a:r>
          </a:p>
        </p:txBody>
      </p:sp>
      <p:sp>
        <p:nvSpPr>
          <p:cNvPr id="12296" name="Text Box 8"/>
          <p:cNvSpPr txBox="1"/>
          <p:nvPr/>
        </p:nvSpPr>
        <p:spPr>
          <a:xfrm>
            <a:off x="914400" y="1676400"/>
            <a:ext cx="647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乌伦贝克和高斯密特假设 </a:t>
            </a:r>
            <a:r>
              <a:rPr lang="en-US" altLang="zh-CN" sz="2400" b="1" dirty="0">
                <a:latin typeface="Times New Roman" panose="02020603050405020304" pitchFamily="18" charset="0"/>
              </a:rPr>
              <a:t>-- </a:t>
            </a:r>
            <a:r>
              <a:rPr lang="zh-CN" altLang="en-US" sz="2400" b="1" dirty="0">
                <a:latin typeface="Times New Roman" panose="02020603050405020304" pitchFamily="18" charset="0"/>
              </a:rPr>
              <a:t>电子自旋假设</a:t>
            </a:r>
          </a:p>
        </p:txBody>
      </p:sp>
      <p:sp>
        <p:nvSpPr>
          <p:cNvPr id="12297" name="Text Box 9"/>
          <p:cNvSpPr txBox="1"/>
          <p:nvPr/>
        </p:nvSpPr>
        <p:spPr>
          <a:xfrm>
            <a:off x="468313" y="3843338"/>
            <a:ext cx="20891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自旋磁量子数</a:t>
            </a:r>
          </a:p>
        </p:txBody>
      </p:sp>
      <p:graphicFrame>
        <p:nvGraphicFramePr>
          <p:cNvPr id="12298" name="Object 2"/>
          <p:cNvGraphicFramePr/>
          <p:nvPr/>
        </p:nvGraphicFramePr>
        <p:xfrm>
          <a:off x="3132138" y="3581400"/>
          <a:ext cx="16002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6" r:id="rId3" imgW="669290" imgH="457200" progId="Equation.DSMT4">
                  <p:embed/>
                </p:oleObj>
              </mc:Choice>
              <mc:Fallback>
                <p:oleObj r:id="rId3" imgW="669290" imgH="457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  <a:clrChange>
                          <a:clrFrom>
                            <a:srgbClr val="FFFFFF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32138" y="3581400"/>
                        <a:ext cx="1600200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11"/>
          <p:cNvSpPr txBox="1"/>
          <p:nvPr/>
        </p:nvSpPr>
        <p:spPr>
          <a:xfrm>
            <a:off x="457200" y="1143000"/>
            <a:ext cx="2755900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rgbClr val="CC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CC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、电子自旋</a:t>
            </a:r>
          </a:p>
        </p:txBody>
      </p:sp>
      <p:sp>
        <p:nvSpPr>
          <p:cNvPr id="12300" name="Text Box 12"/>
          <p:cNvSpPr txBox="1"/>
          <p:nvPr/>
        </p:nvSpPr>
        <p:spPr>
          <a:xfrm>
            <a:off x="395288" y="3200400"/>
            <a:ext cx="55451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电子自旋角动量在外磁场方向上的分量  </a:t>
            </a:r>
          </a:p>
        </p:txBody>
      </p:sp>
      <p:graphicFrame>
        <p:nvGraphicFramePr>
          <p:cNvPr id="12301" name="Object 3"/>
          <p:cNvGraphicFramePr>
            <a:graphicFrameLocks noChangeAspect="1"/>
          </p:cNvGraphicFramePr>
          <p:nvPr/>
        </p:nvGraphicFramePr>
        <p:xfrm>
          <a:off x="6288088" y="3124200"/>
          <a:ext cx="166846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r:id="rId5" imgW="713740" imgH="267335" progId="Equation.DSMT4">
                  <p:embed/>
                </p:oleObj>
              </mc:Choice>
              <mc:Fallback>
                <p:oleObj r:id="rId5" imgW="713740" imgH="267335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288088" y="3124200"/>
                        <a:ext cx="1668462" cy="582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2" name="Text Box 14"/>
          <p:cNvSpPr txBox="1"/>
          <p:nvPr/>
        </p:nvSpPr>
        <p:spPr>
          <a:xfrm>
            <a:off x="395288" y="2382838"/>
            <a:ext cx="2808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自旋角动量大小</a:t>
            </a:r>
          </a:p>
        </p:txBody>
      </p:sp>
      <p:graphicFrame>
        <p:nvGraphicFramePr>
          <p:cNvPr id="12303" name="Object 4"/>
          <p:cNvGraphicFramePr/>
          <p:nvPr/>
        </p:nvGraphicFramePr>
        <p:xfrm>
          <a:off x="2916238" y="2133600"/>
          <a:ext cx="291465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8" r:id="rId7" imgW="1638935" imgH="523875" progId="Equation.DSMT4">
                  <p:embed/>
                </p:oleObj>
              </mc:Choice>
              <mc:Fallback>
                <p:oleObj r:id="rId7" imgW="1638935" imgH="523875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916238" y="2133600"/>
                        <a:ext cx="2914650" cy="96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4" name="Text Box 16"/>
          <p:cNvSpPr txBox="1"/>
          <p:nvPr/>
        </p:nvSpPr>
        <p:spPr>
          <a:xfrm>
            <a:off x="6227763" y="2382838"/>
            <a:ext cx="23971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</a:rPr>
              <a:t>自旋量子数</a:t>
            </a:r>
            <a:r>
              <a:rPr lang="en-US" altLang="zh-CN" sz="2400" b="1" dirty="0">
                <a:latin typeface="Times New Roman" panose="02020603050405020304" pitchFamily="18" charset="0"/>
              </a:rPr>
              <a:t>s=1/2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/>
      <p:bldP spid="12296" grpId="0"/>
      <p:bldP spid="12300" grpId="0"/>
      <p:bldP spid="1230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/>
          <p:nvPr/>
        </p:nvSpPr>
        <p:spPr>
          <a:xfrm>
            <a:off x="323850" y="1054100"/>
            <a:ext cx="8496300" cy="2640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CC0066"/>
                </a:solidFill>
                <a:latin typeface="Times New Roman" panose="02020603050405020304" pitchFamily="18" charset="0"/>
              </a:rPr>
              <a:t>5. </a:t>
            </a:r>
            <a:r>
              <a:rPr lang="zh-CN" altLang="en-US" sz="2800" b="1" dirty="0">
                <a:solidFill>
                  <a:srgbClr val="CC0066"/>
                </a:solidFill>
                <a:latin typeface="Times New Roman" panose="02020603050405020304" pitchFamily="18" charset="0"/>
              </a:rPr>
              <a:t>四个量子数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(1)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主量子数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确定氢原子中电子的能量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(2)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角量子数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确定电子的轨道角动量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(3)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磁量子数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400" b="1" dirty="0">
                <a:latin typeface="Times New Roman" panose="02020603050405020304" pitchFamily="18" charset="0"/>
              </a:rPr>
              <a:t>确定轨道角动量在外磁场方向上的分量</a:t>
            </a:r>
          </a:p>
          <a:p>
            <a:pPr eaLnBrk="1" hangingPunct="1">
              <a:lnSpc>
                <a:spcPct val="145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(4)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自旋磁量子数 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确定自旋角动量在外磁场方向上的分量</a:t>
            </a:r>
          </a:p>
        </p:txBody>
      </p:sp>
      <p:sp>
        <p:nvSpPr>
          <p:cNvPr id="13315" name="Text Box 3"/>
          <p:cNvSpPr txBox="1"/>
          <p:nvPr/>
        </p:nvSpPr>
        <p:spPr>
          <a:xfrm>
            <a:off x="323850" y="3657600"/>
            <a:ext cx="701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D6009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电子以四个量子数为标志的可能状态数分布如下：</a:t>
            </a:r>
          </a:p>
        </p:txBody>
      </p:sp>
      <p:sp>
        <p:nvSpPr>
          <p:cNvPr id="13316" name="Rectangle 4"/>
          <p:cNvSpPr/>
          <p:nvPr/>
        </p:nvSpPr>
        <p:spPr>
          <a:xfrm>
            <a:off x="476250" y="4191000"/>
            <a:ext cx="777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①   n 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 </a:t>
            </a:r>
            <a:r>
              <a:rPr lang="en-US" altLang="zh-CN" sz="2400" b="1" dirty="0">
                <a:latin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m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l</a:t>
            </a:r>
            <a:r>
              <a:rPr lang="zh-CN" altLang="en-US" sz="2400" b="1" dirty="0">
                <a:latin typeface="Times New Roman" panose="02020603050405020304" pitchFamily="18" charset="0"/>
              </a:rPr>
              <a:t>相同 ，但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不同的可能状态有两个。</a:t>
            </a:r>
            <a:r>
              <a:rPr lang="zh-CN" altLang="en-US" sz="1200" b="1" dirty="0">
                <a:latin typeface="Times New Roman" panose="02020603050405020304" pitchFamily="18" charset="0"/>
              </a:rPr>
              <a:t>            </a:t>
            </a:r>
          </a:p>
        </p:txBody>
      </p:sp>
      <p:sp>
        <p:nvSpPr>
          <p:cNvPr id="13317" name="Rectangle 5"/>
          <p:cNvSpPr/>
          <p:nvPr/>
        </p:nvSpPr>
        <p:spPr>
          <a:xfrm>
            <a:off x="400050" y="5486400"/>
            <a:ext cx="71961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③   n</a:t>
            </a:r>
            <a:r>
              <a:rPr lang="zh-CN" altLang="en-US" sz="2400" b="1" dirty="0">
                <a:latin typeface="Times New Roman" panose="02020603050405020304" pitchFamily="18" charset="0"/>
              </a:rPr>
              <a:t>相同 ，但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 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l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不同的状态有</a:t>
            </a:r>
            <a:r>
              <a:rPr lang="zh-CN" altLang="en-US" sz="1200" b="1" dirty="0">
                <a:latin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41986" name="Object 2"/>
          <p:cNvGraphicFramePr/>
          <p:nvPr/>
        </p:nvGraphicFramePr>
        <p:xfrm>
          <a:off x="1066800" y="5867400"/>
          <a:ext cx="331787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r:id="rId3" imgW="1337945" imgH="501650" progId="Equation.DSMT4">
                  <p:embed/>
                </p:oleObj>
              </mc:Choice>
              <mc:Fallback>
                <p:oleObj r:id="rId3" imgW="1337945" imgH="50165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0066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066800" y="5867400"/>
                        <a:ext cx="3317875" cy="946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1" name="Rectangle 9"/>
          <p:cNvSpPr/>
          <p:nvPr/>
        </p:nvSpPr>
        <p:spPr>
          <a:xfrm>
            <a:off x="400050" y="4667250"/>
            <a:ext cx="8420100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 ②   n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 </a:t>
            </a:r>
            <a:r>
              <a:rPr lang="zh-CN" altLang="en-US" sz="2400" b="1" dirty="0">
                <a:latin typeface="Times New Roman" panose="02020603050405020304" pitchFamily="18" charset="0"/>
              </a:rPr>
              <a:t>相同 ，但 </a:t>
            </a:r>
            <a:r>
              <a:rPr lang="zh-CN" altLang="en-US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l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</a:rPr>
              <a:t>m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不同的可能状态有 </a:t>
            </a:r>
            <a:r>
              <a:rPr lang="en-US" altLang="zh-CN" sz="2400" b="1" dirty="0">
                <a:solidFill>
                  <a:srgbClr val="D60093"/>
                </a:solidFill>
                <a:latin typeface="Times New Roman" panose="02020603050405020304" pitchFamily="18" charset="0"/>
              </a:rPr>
              <a:t>2( 2</a:t>
            </a:r>
            <a:r>
              <a:rPr lang="en-US" altLang="zh-CN" sz="2400" b="1" i="1" dirty="0">
                <a:solidFill>
                  <a:srgbClr val="D60093"/>
                </a:solidFill>
                <a:latin typeface="Times New Roman" panose="02020603050405020304" pitchFamily="18" charset="0"/>
              </a:rPr>
              <a:t>l </a:t>
            </a:r>
            <a:r>
              <a:rPr lang="en-US" altLang="zh-CN" sz="2400" b="1" dirty="0">
                <a:solidFill>
                  <a:srgbClr val="D60093"/>
                </a:solidFill>
                <a:latin typeface="Times New Roman" panose="02020603050405020304" pitchFamily="18" charset="0"/>
              </a:rPr>
              <a:t>+1)</a:t>
            </a:r>
            <a:r>
              <a:rPr lang="zh-CN" altLang="en-US" sz="2400" b="1" dirty="0">
                <a:latin typeface="Times New Roman" panose="02020603050405020304" pitchFamily="18" charset="0"/>
              </a:rPr>
              <a:t>个，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组成一个次壳层。</a:t>
            </a:r>
            <a:endParaRPr lang="zh-CN" altLang="en-US" sz="1200" b="1" dirty="0">
              <a:latin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67200" y="6096000"/>
            <a:ext cx="28194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</a:rPr>
              <a:t>个，组成一个壳层。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3316" grpId="0"/>
      <p:bldP spid="13317" grpId="0"/>
      <p:bldP spid="13321" grpId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2"/>
          <p:cNvSpPr txBox="1"/>
          <p:nvPr/>
        </p:nvSpPr>
        <p:spPr>
          <a:xfrm>
            <a:off x="381000" y="3509963"/>
            <a:ext cx="84582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在一个原子系统内，不可能有两个或两个以上的电子具有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相同的状态，亦即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不可能</a:t>
            </a:r>
            <a:r>
              <a:rPr lang="zh-CN" altLang="en-US" sz="2400" b="1" dirty="0">
                <a:latin typeface="宋体" panose="02010600030101010101" pitchFamily="2" charset="-122"/>
              </a:rPr>
              <a:t>具有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完全相同</a:t>
            </a:r>
            <a:r>
              <a:rPr lang="zh-CN" altLang="en-US" sz="2400" b="1" dirty="0">
                <a:latin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四</a:t>
            </a:r>
            <a:r>
              <a:rPr lang="zh-CN" altLang="en-US" sz="2400" b="1" dirty="0">
                <a:latin typeface="宋体" panose="02010600030101010101" pitchFamily="2" charset="-122"/>
              </a:rPr>
              <a:t>个量子数。</a:t>
            </a:r>
          </a:p>
        </p:txBody>
      </p:sp>
      <p:sp>
        <p:nvSpPr>
          <p:cNvPr id="17" name="Rectangle 3"/>
          <p:cNvSpPr/>
          <p:nvPr/>
        </p:nvSpPr>
        <p:spPr>
          <a:xfrm>
            <a:off x="395288" y="2900363"/>
            <a:ext cx="44783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 a.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泡利不相容原理</a:t>
            </a:r>
          </a:p>
        </p:txBody>
      </p:sp>
      <p:sp>
        <p:nvSpPr>
          <p:cNvPr id="18" name="Text Box 4"/>
          <p:cNvSpPr txBox="1"/>
          <p:nvPr/>
        </p:nvSpPr>
        <p:spPr>
          <a:xfrm>
            <a:off x="400050" y="5110163"/>
            <a:ext cx="83486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</a:rPr>
              <a:t>原子系统处于正常状态时，每个电子趋向占有</a:t>
            </a:r>
            <a:r>
              <a:rPr lang="zh-CN" altLang="en-US" sz="2400" b="1" dirty="0">
                <a:solidFill>
                  <a:srgbClr val="D60093"/>
                </a:solidFill>
                <a:latin typeface="宋体" panose="02010600030101010101" pitchFamily="2" charset="-122"/>
              </a:rPr>
              <a:t>最低的能级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19" name="Rectangle 5"/>
          <p:cNvSpPr/>
          <p:nvPr/>
        </p:nvSpPr>
        <p:spPr>
          <a:xfrm>
            <a:off x="601663" y="4576763"/>
            <a:ext cx="38989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b.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能量最小原理</a:t>
            </a:r>
          </a:p>
        </p:txBody>
      </p:sp>
      <p:grpSp>
        <p:nvGrpSpPr>
          <p:cNvPr id="2" name="Group 10"/>
          <p:cNvGrpSpPr/>
          <p:nvPr/>
        </p:nvGrpSpPr>
        <p:grpSpPr>
          <a:xfrm>
            <a:off x="395288" y="5643563"/>
            <a:ext cx="6775450" cy="990600"/>
            <a:chOff x="249" y="3248"/>
            <a:chExt cx="4268" cy="624"/>
          </a:xfrm>
        </p:grpSpPr>
        <p:graphicFrame>
          <p:nvGraphicFramePr>
            <p:cNvPr id="25602" name="Object 2"/>
            <p:cNvGraphicFramePr/>
            <p:nvPr/>
          </p:nvGraphicFramePr>
          <p:xfrm>
            <a:off x="1022" y="3556"/>
            <a:ext cx="3495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54" r:id="rId3" imgW="2319655" imgH="234315" progId="Equation.DSMT4">
                    <p:embed/>
                  </p:oleObj>
                </mc:Choice>
                <mc:Fallback>
                  <p:oleObj r:id="rId3" imgW="2319655" imgH="234315" progId="Equation.DSMT4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FFFFFF"/>
                            </a:clrFrom>
                            <a:clrTo>
                              <a:srgbClr val="000000"/>
                            </a:clrTo>
                          </a:clrChange>
                          <a:clrChange>
                            <a:clrFrom>
                              <a:srgbClr val="000000"/>
                            </a:clrFrom>
                            <a:clrTo>
                              <a:srgbClr val="333399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22" y="3556"/>
                          <a:ext cx="3495" cy="3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1" name="Rectangle 9"/>
            <p:cNvSpPr/>
            <p:nvPr/>
          </p:nvSpPr>
          <p:spPr>
            <a:xfrm>
              <a:off x="249" y="3248"/>
              <a:ext cx="31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rgbClr val="FF0000"/>
                  </a:solidFill>
                  <a:latin typeface="Tahoma" panose="020B0604030504040204" pitchFamily="34" charset="0"/>
                </a:rPr>
                <a:t>能级能量高低次序如下：</a:t>
              </a:r>
            </a:p>
          </p:txBody>
        </p:sp>
      </p:grpSp>
      <p:sp>
        <p:nvSpPr>
          <p:cNvPr id="25608" name="Text Box 17"/>
          <p:cNvSpPr txBox="1"/>
          <p:nvPr/>
        </p:nvSpPr>
        <p:spPr>
          <a:xfrm>
            <a:off x="395288" y="1066800"/>
            <a:ext cx="5761037" cy="457200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zh-CN" sz="2400" b="1" dirty="0">
                <a:solidFill>
                  <a:srgbClr val="CC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</a:t>
            </a:r>
            <a:r>
              <a:rPr lang="zh-CN" altLang="en-US" sz="2400" b="1" dirty="0">
                <a:solidFill>
                  <a:srgbClr val="CC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、多电子原子的壳层结构</a:t>
            </a:r>
          </a:p>
        </p:txBody>
      </p:sp>
      <p:sp>
        <p:nvSpPr>
          <p:cNvPr id="25" name="Text Box 18"/>
          <p:cNvSpPr txBox="1"/>
          <p:nvPr/>
        </p:nvSpPr>
        <p:spPr>
          <a:xfrm>
            <a:off x="536575" y="1625600"/>
            <a:ext cx="81391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主量子数：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</a:rPr>
              <a:t>=1,  2,  3,  4, …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壳层：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K, L, M, N</a:t>
            </a:r>
            <a:endParaRPr lang="en-US" altLang="zh-CN" sz="2400" b="1" baseline="30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 Box 19"/>
          <p:cNvSpPr txBox="1"/>
          <p:nvPr/>
        </p:nvSpPr>
        <p:spPr>
          <a:xfrm>
            <a:off x="539750" y="2214563"/>
            <a:ext cx="81391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角量子数：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latin typeface="Times New Roman" panose="02020603050405020304" pitchFamily="18" charset="0"/>
              </a:rPr>
              <a:t>=0,  1,  2,  3, …           </a:t>
            </a:r>
            <a:r>
              <a:rPr lang="zh-CN" altLang="en-US" sz="2400" b="1" dirty="0">
                <a:latin typeface="Times New Roman" panose="02020603050405020304" pitchFamily="18" charset="0"/>
              </a:rPr>
              <a:t>次壳层：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s,  p,  d,  f</a:t>
            </a:r>
            <a:endParaRPr lang="en-US" altLang="zh-CN" sz="2400" b="1" baseline="30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矩形 1"/>
          <p:cNvSpPr/>
          <p:nvPr/>
        </p:nvSpPr>
        <p:spPr>
          <a:xfrm>
            <a:off x="3549650" y="3244850"/>
            <a:ext cx="1730375" cy="10144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6000" b="1" dirty="0">
                <a:solidFill>
                  <a:srgbClr val="0000FF"/>
                </a:solidFill>
                <a:latin typeface="Tahoma" panose="020B0604030504040204" pitchFamily="34" charset="0"/>
              </a:rPr>
              <a:t>习题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/>
          <p:nvPr/>
        </p:nvSpPr>
        <p:spPr>
          <a:xfrm>
            <a:off x="381000" y="1100138"/>
            <a:ext cx="8153400" cy="927100"/>
          </a:xfrm>
          <a:prstGeom prst="rect">
            <a:avLst/>
          </a:prstGeom>
          <a:noFill/>
          <a:ln w="9525">
            <a:noFill/>
          </a:ln>
        </p:spPr>
        <p:txBody>
          <a:bodyPr lIns="71689" tIns="35844" rIns="71689" bIns="35844">
            <a:spAutoFit/>
          </a:bodyPr>
          <a:lstStyle/>
          <a:p>
            <a:pPr defTabSz="717550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2800" b="1" dirty="0">
                <a:latin typeface="楷体_GB2312" pitchFamily="49" charset="-122"/>
              </a:rPr>
              <a:t>下列各量子数中，哪一组可以描述原子中电子的状态？</a:t>
            </a:r>
          </a:p>
        </p:txBody>
      </p:sp>
      <p:sp>
        <p:nvSpPr>
          <p:cNvPr id="49155" name="Text Box 3"/>
          <p:cNvSpPr txBox="1"/>
          <p:nvPr/>
        </p:nvSpPr>
        <p:spPr>
          <a:xfrm>
            <a:off x="1219200" y="2014538"/>
            <a:ext cx="4745038" cy="500062"/>
          </a:xfrm>
          <a:prstGeom prst="rect">
            <a:avLst/>
          </a:prstGeom>
          <a:noFill/>
          <a:ln w="9525">
            <a:noFill/>
          </a:ln>
        </p:spPr>
        <p:txBody>
          <a:bodyPr lIns="71689" tIns="35844" rIns="71689" bIns="35844">
            <a:spAutoFit/>
          </a:bodyPr>
          <a:lstStyle/>
          <a:p>
            <a:pPr defTabSz="717550"/>
            <a:r>
              <a:rPr lang="en-US" altLang="zh-CN" sz="2800" b="1" dirty="0">
                <a:latin typeface="Times New Roman" panose="02020603050405020304" pitchFamily="18" charset="0"/>
              </a:rPr>
              <a:t>(A)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</a:rPr>
              <a:t>=2,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</a:rPr>
              <a:t>=2,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=0,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=1/2</a:t>
            </a:r>
          </a:p>
        </p:txBody>
      </p:sp>
      <p:sp>
        <p:nvSpPr>
          <p:cNvPr id="49156" name="Text Box 4"/>
          <p:cNvSpPr txBox="1"/>
          <p:nvPr/>
        </p:nvSpPr>
        <p:spPr>
          <a:xfrm>
            <a:off x="1219200" y="2624138"/>
            <a:ext cx="4945063" cy="500062"/>
          </a:xfrm>
          <a:prstGeom prst="rect">
            <a:avLst/>
          </a:prstGeom>
          <a:noFill/>
          <a:ln w="9525">
            <a:noFill/>
          </a:ln>
        </p:spPr>
        <p:txBody>
          <a:bodyPr wrap="none" lIns="71689" tIns="35844" rIns="71689" bIns="35844">
            <a:spAutoFit/>
          </a:bodyPr>
          <a:lstStyle/>
          <a:p>
            <a:pPr defTabSz="717550"/>
            <a:r>
              <a:rPr lang="en-US" altLang="zh-CN" sz="2800" b="1" dirty="0">
                <a:latin typeface="Times New Roman" panose="02020603050405020304" pitchFamily="18" charset="0"/>
              </a:rPr>
              <a:t>(B)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</a:rPr>
              <a:t>=3,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</a:rPr>
              <a:t>=1,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1,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1/2</a:t>
            </a:r>
          </a:p>
        </p:txBody>
      </p:sp>
      <p:sp>
        <p:nvSpPr>
          <p:cNvPr id="49157" name="Text Box 5"/>
          <p:cNvSpPr txBox="1"/>
          <p:nvPr/>
        </p:nvSpPr>
        <p:spPr>
          <a:xfrm>
            <a:off x="1219200" y="3233738"/>
            <a:ext cx="4397375" cy="500062"/>
          </a:xfrm>
          <a:prstGeom prst="rect">
            <a:avLst/>
          </a:prstGeom>
          <a:noFill/>
          <a:ln w="9525">
            <a:noFill/>
          </a:ln>
        </p:spPr>
        <p:txBody>
          <a:bodyPr wrap="none" lIns="71689" tIns="35844" rIns="71689" bIns="35844">
            <a:spAutoFit/>
          </a:bodyPr>
          <a:lstStyle/>
          <a:p>
            <a:pPr defTabSz="717550"/>
            <a:r>
              <a:rPr lang="en-US" altLang="zh-CN" sz="2800" b="1" dirty="0">
                <a:latin typeface="Times New Roman" panose="02020603050405020304" pitchFamily="18" charset="0"/>
              </a:rPr>
              <a:t>(C)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800" b="1" dirty="0">
                <a:latin typeface="Times New Roman" panose="02020603050405020304" pitchFamily="18" charset="0"/>
              </a:rPr>
              <a:t>=1,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</a:rPr>
              <a:t>=2,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</a:rPr>
              <a:t>=1,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=1/2</a:t>
            </a:r>
          </a:p>
        </p:txBody>
      </p:sp>
      <p:sp>
        <p:nvSpPr>
          <p:cNvPr id="49158" name="Text Box 6"/>
          <p:cNvSpPr txBox="1"/>
          <p:nvPr/>
        </p:nvSpPr>
        <p:spPr>
          <a:xfrm>
            <a:off x="1219200" y="3843338"/>
            <a:ext cx="4592638" cy="500062"/>
          </a:xfrm>
          <a:prstGeom prst="rect">
            <a:avLst/>
          </a:prstGeom>
          <a:noFill/>
          <a:ln w="9525">
            <a:noFill/>
          </a:ln>
        </p:spPr>
        <p:txBody>
          <a:bodyPr wrap="none" lIns="71689" tIns="35844" rIns="71689" bIns="35844">
            <a:spAutoFit/>
          </a:bodyPr>
          <a:lstStyle/>
          <a:p>
            <a:pPr defTabSz="717550"/>
            <a:r>
              <a:rPr lang="en-US" altLang="zh-CN" sz="2800" b="1" dirty="0">
                <a:latin typeface="Times New Roman" panose="02020603050405020304" pitchFamily="18" charset="0"/>
              </a:rPr>
              <a:t>(D)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=1,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</a:rPr>
              <a:t>=0,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</a:rPr>
              <a:t>=1,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=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800" b="1" dirty="0">
                <a:latin typeface="Times New Roman" panose="02020603050405020304" pitchFamily="18" charset="0"/>
              </a:rPr>
              <a:t>1/2</a:t>
            </a:r>
          </a:p>
        </p:txBody>
      </p:sp>
      <p:sp>
        <p:nvSpPr>
          <p:cNvPr id="35847" name="Text Box 7"/>
          <p:cNvSpPr txBox="1"/>
          <p:nvPr/>
        </p:nvSpPr>
        <p:spPr>
          <a:xfrm>
            <a:off x="6629400" y="3614738"/>
            <a:ext cx="12239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defTabSz="717550"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35848" name="Text Box 8"/>
          <p:cNvSpPr txBox="1"/>
          <p:nvPr/>
        </p:nvSpPr>
        <p:spPr>
          <a:xfrm>
            <a:off x="71438" y="4529138"/>
            <a:ext cx="9396412" cy="500062"/>
          </a:xfrm>
          <a:prstGeom prst="rect">
            <a:avLst/>
          </a:prstGeom>
          <a:noFill/>
          <a:ln w="9525">
            <a:noFill/>
          </a:ln>
        </p:spPr>
        <p:txBody>
          <a:bodyPr lIns="71689" tIns="35844" rIns="71689" bIns="35844">
            <a:spAutoFit/>
          </a:bodyPr>
          <a:lstStyle/>
          <a:p>
            <a:pPr defTabSz="717550"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2.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原子内电子的量子态由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</a:rPr>
              <a:t>及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四个量子数表征。</a:t>
            </a:r>
          </a:p>
        </p:txBody>
      </p:sp>
      <p:sp>
        <p:nvSpPr>
          <p:cNvPr id="35849" name="Text Box 9"/>
          <p:cNvSpPr txBox="1"/>
          <p:nvPr/>
        </p:nvSpPr>
        <p:spPr>
          <a:xfrm>
            <a:off x="762000" y="5181600"/>
            <a:ext cx="7986713" cy="1354138"/>
          </a:xfrm>
          <a:prstGeom prst="rect">
            <a:avLst/>
          </a:prstGeom>
          <a:noFill/>
          <a:ln w="9525">
            <a:noFill/>
          </a:ln>
        </p:spPr>
        <p:txBody>
          <a:bodyPr lIns="71689" tIns="35844" rIns="71689" bIns="35844">
            <a:spAutoFit/>
          </a:bodyPr>
          <a:lstStyle/>
          <a:p>
            <a:pPr defTabSz="717550"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</a:t>
            </a:r>
            <a:r>
              <a:rPr lang="zh-CN" altLang="en-US" sz="2800" b="1" dirty="0">
                <a:latin typeface="Times New Roman" panose="02020603050405020304" pitchFamily="18" charset="0"/>
              </a:rPr>
              <a:t>一定时，不同的量子态数目为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   ），</a:t>
            </a:r>
          </a:p>
          <a:p>
            <a:pPr defTabSz="717550"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一定时，不同的量子态数目为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      ），</a:t>
            </a:r>
          </a:p>
          <a:p>
            <a:pPr defTabSz="717550" eaLnBrk="1" hangingPunct="1"/>
            <a:r>
              <a:rPr lang="zh-CN" altLang="en-US" sz="2800" b="1" dirty="0">
                <a:latin typeface="Times New Roman" panose="02020603050405020304" pitchFamily="18" charset="0"/>
              </a:rPr>
              <a:t>当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zh-CN" altLang="en-US" sz="2800" b="1" dirty="0">
                <a:latin typeface="Times New Roman" panose="02020603050405020304" pitchFamily="18" charset="0"/>
              </a:rPr>
              <a:t>一定时，不同的量子态数目为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（     ）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5850" name="Rectangle 10"/>
          <p:cNvSpPr/>
          <p:nvPr/>
        </p:nvSpPr>
        <p:spPr>
          <a:xfrm>
            <a:off x="7162800" y="51816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defTabSz="717550"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5851" name="Rectangle 11"/>
          <p:cNvSpPr/>
          <p:nvPr/>
        </p:nvSpPr>
        <p:spPr>
          <a:xfrm>
            <a:off x="6705600" y="5638800"/>
            <a:ext cx="14668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defTabSz="717550"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+2</a:t>
            </a:r>
          </a:p>
        </p:txBody>
      </p:sp>
      <p:sp>
        <p:nvSpPr>
          <p:cNvPr id="35852" name="Rectangle 12"/>
          <p:cNvSpPr/>
          <p:nvPr/>
        </p:nvSpPr>
        <p:spPr>
          <a:xfrm>
            <a:off x="6300788" y="6042025"/>
            <a:ext cx="1919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defTabSz="717550" eaLnBrk="1" hangingPunct="1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7" grpId="0"/>
      <p:bldP spid="35848" grpId="0"/>
      <p:bldP spid="35849" grpId="0"/>
      <p:bldP spid="35850" grpId="0"/>
      <p:bldP spid="35851" grpId="0"/>
      <p:bldP spid="3585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/>
          <p:nvPr/>
        </p:nvSpPr>
        <p:spPr>
          <a:xfrm>
            <a:off x="468313" y="1065213"/>
            <a:ext cx="8280400" cy="115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lnSpc>
                <a:spcPct val="12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800" b="1" dirty="0">
                <a:latin typeface="Times New Roman" panose="02020603050405020304" pitchFamily="18" charset="0"/>
              </a:rPr>
              <a:t>将波函数在空间各点的振幅同时增加</a:t>
            </a:r>
            <a:r>
              <a:rPr lang="en-US" altLang="zh-CN" sz="2800" b="1" dirty="0"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</a:rPr>
              <a:t>倍，则粒子在空间的分布概率将</a:t>
            </a:r>
          </a:p>
        </p:txBody>
      </p:sp>
      <p:sp>
        <p:nvSpPr>
          <p:cNvPr id="50179" name="Rectangle 3"/>
          <p:cNvSpPr/>
          <p:nvPr/>
        </p:nvSpPr>
        <p:spPr>
          <a:xfrm>
            <a:off x="1042988" y="2133600"/>
            <a:ext cx="6246812" cy="115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2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latin typeface="Times New Roman" panose="02020603050405020304" pitchFamily="18" charset="0"/>
              </a:rPr>
              <a:t>）增加</a:t>
            </a:r>
            <a:r>
              <a:rPr lang="en-US" altLang="zh-CN" sz="2800" b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latin typeface="Times New Roman" panose="02020603050405020304" pitchFamily="18" charset="0"/>
              </a:rPr>
              <a:t>倍；（</a:t>
            </a:r>
            <a:r>
              <a:rPr lang="en-US" altLang="zh-CN" sz="2800" b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）增加</a:t>
            </a:r>
            <a:r>
              <a:rPr lang="en-US" altLang="zh-CN" sz="2800" b="1" dirty="0">
                <a:latin typeface="Times New Roman" panose="02020603050405020304" pitchFamily="18" charset="0"/>
              </a:rPr>
              <a:t>2D</a:t>
            </a:r>
            <a:r>
              <a:rPr lang="zh-CN" altLang="en-US" sz="2800" b="1" dirty="0">
                <a:latin typeface="Times New Roman" panose="02020603050405020304" pitchFamily="18" charset="0"/>
              </a:rPr>
              <a:t>倍；</a:t>
            </a:r>
          </a:p>
          <a:p>
            <a:pPr algn="just" eaLnBrk="1" hangingPunct="1">
              <a:lnSpc>
                <a:spcPct val="125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latin typeface="Times New Roman" panose="02020603050405020304" pitchFamily="18" charset="0"/>
              </a:rPr>
              <a:t>）增加</a:t>
            </a:r>
            <a:r>
              <a:rPr lang="en-US" altLang="zh-CN" sz="2800" b="1" dirty="0"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</a:rPr>
              <a:t>倍； （</a:t>
            </a:r>
            <a:r>
              <a:rPr lang="en-US" altLang="zh-CN" sz="2800" b="1" dirty="0"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latin typeface="Times New Roman" panose="02020603050405020304" pitchFamily="18" charset="0"/>
              </a:rPr>
              <a:t>）不变；</a:t>
            </a:r>
          </a:p>
        </p:txBody>
      </p:sp>
      <p:sp>
        <p:nvSpPr>
          <p:cNvPr id="36868" name="Rectangle 4"/>
          <p:cNvSpPr/>
          <p:nvPr/>
        </p:nvSpPr>
        <p:spPr>
          <a:xfrm>
            <a:off x="4406900" y="1641475"/>
            <a:ext cx="11557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4" name="Text Box 4"/>
          <p:cNvSpPr txBox="1"/>
          <p:nvPr/>
        </p:nvSpPr>
        <p:spPr>
          <a:xfrm>
            <a:off x="442913" y="3441700"/>
            <a:ext cx="8243887" cy="115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2800" b="1" dirty="0">
                <a:latin typeface="Times New Roman" panose="02020603050405020304" pitchFamily="18" charset="0"/>
              </a:rPr>
              <a:t>在氢原子处于</a:t>
            </a:r>
            <a:r>
              <a:rPr lang="en-US" altLang="zh-CN" sz="2800" b="1" dirty="0">
                <a:latin typeface="Times New Roman" panose="02020603050405020304" pitchFamily="18" charset="0"/>
              </a:rPr>
              <a:t>2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p</a:t>
            </a:r>
            <a:r>
              <a:rPr lang="zh-CN" altLang="en-US" sz="2800" b="1" dirty="0">
                <a:latin typeface="Times New Roman" panose="02020603050405020304" pitchFamily="18" charset="0"/>
              </a:rPr>
              <a:t>态的电子，量子数（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, 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l </a:t>
            </a:r>
            <a:r>
              <a:rPr lang="en-US" altLang="zh-CN" sz="2800" b="1" dirty="0">
                <a:latin typeface="Times New Roman" panose="02020603050405020304" pitchFamily="18" charset="0"/>
              </a:rPr>
              <a:t>,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s</a:t>
            </a:r>
            <a:r>
              <a:rPr lang="zh-CN" altLang="en-US" sz="2800" b="1" dirty="0">
                <a:latin typeface="Times New Roman" panose="02020603050405020304" pitchFamily="18" charset="0"/>
              </a:rPr>
              <a:t>）可能取值为：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803275" y="4738688"/>
            <a:ext cx="7091363" cy="1281112"/>
            <a:chOff x="768" y="2880"/>
            <a:chExt cx="4080" cy="807"/>
          </a:xfrm>
        </p:grpSpPr>
        <p:sp>
          <p:nvSpPr>
            <p:cNvPr id="50184" name="Text Box 6"/>
            <p:cNvSpPr txBox="1"/>
            <p:nvPr/>
          </p:nvSpPr>
          <p:spPr>
            <a:xfrm>
              <a:off x="816" y="2880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(A)  (2,1,0, 1/2)</a:t>
              </a:r>
            </a:p>
          </p:txBody>
        </p:sp>
        <p:sp>
          <p:nvSpPr>
            <p:cNvPr id="50185" name="Text Box 7"/>
            <p:cNvSpPr txBox="1"/>
            <p:nvPr/>
          </p:nvSpPr>
          <p:spPr>
            <a:xfrm>
              <a:off x="768" y="3360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(C)  (2,0,0, 1/2)</a:t>
              </a:r>
            </a:p>
          </p:txBody>
        </p:sp>
        <p:sp>
          <p:nvSpPr>
            <p:cNvPr id="50186" name="Text Box 8"/>
            <p:cNvSpPr txBox="1"/>
            <p:nvPr/>
          </p:nvSpPr>
          <p:spPr>
            <a:xfrm>
              <a:off x="3360" y="3360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(D)  (2,1, 1, -1/2)</a:t>
              </a:r>
            </a:p>
          </p:txBody>
        </p:sp>
        <p:sp>
          <p:nvSpPr>
            <p:cNvPr id="50187" name="Text Box 9"/>
            <p:cNvSpPr txBox="1"/>
            <p:nvPr/>
          </p:nvSpPr>
          <p:spPr>
            <a:xfrm>
              <a:off x="3360" y="2880"/>
              <a:ext cx="14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(B)  (2,1,-1,-1/2)</a:t>
              </a:r>
            </a:p>
          </p:txBody>
        </p:sp>
      </p:grpSp>
      <p:sp>
        <p:nvSpPr>
          <p:cNvPr id="20" name="Rectangle 10"/>
          <p:cNvSpPr/>
          <p:nvPr/>
        </p:nvSpPr>
        <p:spPr>
          <a:xfrm>
            <a:off x="3062288" y="4038600"/>
            <a:ext cx="166211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ABD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/>
      <p:bldP spid="14" grpId="0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1"/>
          <p:cNvSpPr txBox="1"/>
          <p:nvPr/>
        </p:nvSpPr>
        <p:spPr>
          <a:xfrm>
            <a:off x="395288" y="1376363"/>
            <a:ext cx="8243887" cy="11699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5.  </a:t>
            </a:r>
            <a:r>
              <a:rPr lang="zh-CN" altLang="en-US" sz="2800" b="1" dirty="0">
                <a:latin typeface="Times New Roman" panose="02020603050405020304" pitchFamily="18" charset="0"/>
              </a:rPr>
              <a:t>斯特恩</a:t>
            </a:r>
            <a:r>
              <a:rPr lang="en-US" altLang="zh-CN" sz="2800" b="1" dirty="0">
                <a:latin typeface="Times New Roman" panose="02020603050405020304" pitchFamily="18" charset="0"/>
              </a:rPr>
              <a:t>-</a:t>
            </a:r>
            <a:r>
              <a:rPr lang="zh-CN" altLang="en-US" sz="2800" b="1" dirty="0">
                <a:latin typeface="Times New Roman" panose="02020603050405020304" pitchFamily="18" charset="0"/>
              </a:rPr>
              <a:t>格拉赫实验证实了         ；康普顿效应证实了       ；戴维逊</a:t>
            </a:r>
            <a:r>
              <a:rPr lang="en-US" altLang="zh-CN" sz="2800" b="1" dirty="0">
                <a:latin typeface="Times New Roman" panose="02020603050405020304" pitchFamily="18" charset="0"/>
              </a:rPr>
              <a:t>-</a:t>
            </a:r>
            <a:r>
              <a:rPr lang="zh-CN" altLang="en-US" sz="2800" b="1" dirty="0">
                <a:latin typeface="Times New Roman" panose="02020603050405020304" pitchFamily="18" charset="0"/>
              </a:rPr>
              <a:t>革末实验证实了         。</a:t>
            </a:r>
          </a:p>
        </p:txBody>
      </p:sp>
      <p:grpSp>
        <p:nvGrpSpPr>
          <p:cNvPr id="2" name="Group 21"/>
          <p:cNvGrpSpPr/>
          <p:nvPr/>
        </p:nvGrpSpPr>
        <p:grpSpPr>
          <a:xfrm>
            <a:off x="755650" y="2719388"/>
            <a:ext cx="7956550" cy="1090612"/>
            <a:chOff x="476" y="3158"/>
            <a:chExt cx="5012" cy="687"/>
          </a:xfrm>
        </p:grpSpPr>
        <p:sp>
          <p:nvSpPr>
            <p:cNvPr id="51208" name="Text Box 13"/>
            <p:cNvSpPr txBox="1"/>
            <p:nvPr/>
          </p:nvSpPr>
          <p:spPr>
            <a:xfrm>
              <a:off x="476" y="3194"/>
              <a:ext cx="258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(A)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光的量子性</a:t>
              </a:r>
            </a:p>
          </p:txBody>
        </p:sp>
        <p:sp>
          <p:nvSpPr>
            <p:cNvPr id="51209" name="Text Box 14"/>
            <p:cNvSpPr txBox="1"/>
            <p:nvPr/>
          </p:nvSpPr>
          <p:spPr>
            <a:xfrm>
              <a:off x="476" y="3557"/>
              <a:ext cx="28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(C)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原子的有核模型</a:t>
              </a:r>
            </a:p>
          </p:txBody>
        </p:sp>
        <p:sp>
          <p:nvSpPr>
            <p:cNvPr id="51210" name="Text Box 15"/>
            <p:cNvSpPr txBox="1"/>
            <p:nvPr/>
          </p:nvSpPr>
          <p:spPr>
            <a:xfrm>
              <a:off x="2608" y="3521"/>
              <a:ext cx="28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(D)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电子的自旋空间取向量子化</a:t>
              </a:r>
            </a:p>
          </p:txBody>
        </p:sp>
        <p:sp>
          <p:nvSpPr>
            <p:cNvPr id="51211" name="Text Box 16"/>
            <p:cNvSpPr txBox="1"/>
            <p:nvPr/>
          </p:nvSpPr>
          <p:spPr>
            <a:xfrm>
              <a:off x="2608" y="3158"/>
              <a:ext cx="28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(B)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电子的波动性</a:t>
              </a:r>
            </a:p>
          </p:txBody>
        </p:sp>
      </p:grpSp>
      <p:sp>
        <p:nvSpPr>
          <p:cNvPr id="40978" name="Rectangle 18"/>
          <p:cNvSpPr/>
          <p:nvPr/>
        </p:nvSpPr>
        <p:spPr>
          <a:xfrm>
            <a:off x="5168900" y="1438275"/>
            <a:ext cx="11557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0979" name="Rectangle 19"/>
          <p:cNvSpPr/>
          <p:nvPr/>
        </p:nvSpPr>
        <p:spPr>
          <a:xfrm>
            <a:off x="1282700" y="1971675"/>
            <a:ext cx="11557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0980" name="Rectangle 20"/>
          <p:cNvSpPr/>
          <p:nvPr/>
        </p:nvSpPr>
        <p:spPr>
          <a:xfrm>
            <a:off x="6027738" y="1971675"/>
            <a:ext cx="1135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9" name="Text Box 11"/>
          <p:cNvSpPr txBox="1"/>
          <p:nvPr/>
        </p:nvSpPr>
        <p:spPr>
          <a:xfrm>
            <a:off x="304800" y="4267200"/>
            <a:ext cx="8534400" cy="1169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6. </a:t>
            </a:r>
            <a:r>
              <a:rPr lang="zh-CN" altLang="en-US" sz="2800" b="1" dirty="0">
                <a:latin typeface="Times New Roman" panose="02020603050405020304" pitchFamily="18" charset="0"/>
              </a:rPr>
              <a:t>多电子原子中，电子的排列遵循（ ）原理和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（ ）原理。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8" grpId="0"/>
      <p:bldP spid="40979" grpId="0"/>
      <p:bldP spid="40980" grpId="0"/>
      <p:bldP spid="1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/>
          </p:cNvSpPr>
          <p:nvPr>
            <p:ph idx="1"/>
          </p:nvPr>
        </p:nvSpPr>
        <p:spPr>
          <a:xfrm>
            <a:off x="152400" y="1066800"/>
            <a:ext cx="8726488" cy="16002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8</a:t>
            </a:r>
            <a:r>
              <a:rPr lang="zh-CN" altLang="en-US" dirty="0"/>
              <a:t>：基态氢原子被外来单色光激发后发出的巴尔末系中，仅观察到三条谱线，试求：</a:t>
            </a:r>
            <a:r>
              <a:rPr lang="en-US" altLang="zh-CN" dirty="0"/>
              <a:t>(1)</a:t>
            </a:r>
            <a:r>
              <a:rPr lang="zh-CN" altLang="en-US" dirty="0">
                <a:solidFill>
                  <a:srgbClr val="FF0000"/>
                </a:solidFill>
              </a:rPr>
              <a:t>外来光的波长</a:t>
            </a:r>
            <a:r>
              <a:rPr lang="zh-CN" altLang="en-US" dirty="0"/>
              <a:t>；</a:t>
            </a:r>
            <a:r>
              <a:rPr lang="en-US" altLang="zh-CN" dirty="0"/>
              <a:t>(2)</a:t>
            </a:r>
            <a:r>
              <a:rPr lang="zh-CN" altLang="en-US" dirty="0"/>
              <a:t>这三条谱线的波长。（</a:t>
            </a:r>
            <a:r>
              <a:rPr lang="en-US" altLang="zh-CN" dirty="0"/>
              <a:t>3</a:t>
            </a:r>
            <a:r>
              <a:rPr lang="zh-CN" altLang="en-US" dirty="0"/>
              <a:t>）被激发的氢原子共可以观察到多少条谱线？</a:t>
            </a:r>
          </a:p>
        </p:txBody>
      </p:sp>
      <p:sp>
        <p:nvSpPr>
          <p:cNvPr id="5" name="Rectangle 3"/>
          <p:cNvSpPr txBox="1"/>
          <p:nvPr/>
        </p:nvSpPr>
        <p:spPr>
          <a:xfrm>
            <a:off x="188913" y="2667000"/>
            <a:ext cx="8726487" cy="1905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解：（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）氢原子光谱的巴尔末系是指从高能级向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n=2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能级跃迁时发出的光谱，所以该单色激光束将使处于基态（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n=1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）的氢原子跃迁到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n=5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能级，外来激光的波长应该满足：</a:t>
            </a:r>
          </a:p>
        </p:txBody>
      </p:sp>
      <p:graphicFrame>
        <p:nvGraphicFramePr>
          <p:cNvPr id="86021" name="Object 4"/>
          <p:cNvGraphicFramePr/>
          <p:nvPr/>
        </p:nvGraphicFramePr>
        <p:xfrm>
          <a:off x="2895600" y="4343400"/>
          <a:ext cx="3200400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3" r:id="rId3" imgW="1828165" imgH="444500" progId="Equation.DSMT4">
                  <p:embed/>
                </p:oleObj>
              </mc:Choice>
              <mc:Fallback>
                <p:oleObj r:id="rId3" imgW="1828165" imgH="4445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95600" y="4343400"/>
                        <a:ext cx="3200400" cy="784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6"/>
          <p:cNvGraphicFramePr/>
          <p:nvPr/>
        </p:nvGraphicFramePr>
        <p:xfrm>
          <a:off x="1066800" y="5334000"/>
          <a:ext cx="7010400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4" r:id="rId5" imgW="3441700" imgH="457200" progId="Equation.DSMT4">
                  <p:embed/>
                </p:oleObj>
              </mc:Choice>
              <mc:Fallback>
                <p:oleObj r:id="rId5" imgW="3441700" imgH="4572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66800" y="5334000"/>
                        <a:ext cx="7010400" cy="931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9" name="Rectangle 3"/>
          <p:cNvSpPr>
            <a:spLocks noGrp="1"/>
          </p:cNvSpPr>
          <p:nvPr>
            <p:ph idx="1"/>
          </p:nvPr>
        </p:nvSpPr>
        <p:spPr>
          <a:xfrm>
            <a:off x="152400" y="2667000"/>
            <a:ext cx="8726488" cy="26670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解：（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27655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23554" name="Object 4"/>
          <p:cNvGraphicFramePr/>
          <p:nvPr/>
        </p:nvGraphicFramePr>
        <p:xfrm>
          <a:off x="1646238" y="3116263"/>
          <a:ext cx="5699125" cy="19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7" r:id="rId3" imgW="3860800" imgH="1358900" progId="Equation.DSMT4">
                  <p:embed/>
                </p:oleObj>
              </mc:Choice>
              <mc:Fallback>
                <p:oleObj r:id="rId3" imgW="3860800" imgH="13589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6238" y="3116263"/>
                        <a:ext cx="5699125" cy="1998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Rectangle 6"/>
          <p:cNvSpPr/>
          <p:nvPr/>
        </p:nvSpPr>
        <p:spPr>
          <a:xfrm>
            <a:off x="990600" y="5173663"/>
            <a:ext cx="263525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相应的波长分别为</a:t>
            </a:r>
          </a:p>
        </p:txBody>
      </p:sp>
      <p:sp>
        <p:nvSpPr>
          <p:cNvPr id="27657" name="Rectangle 8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23555" name="Object 7"/>
          <p:cNvGraphicFramePr/>
          <p:nvPr/>
        </p:nvGraphicFramePr>
        <p:xfrm>
          <a:off x="1524000" y="5783263"/>
          <a:ext cx="166846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" r:id="rId5" imgW="977900" imgH="228600" progId="Equation.DSMT4">
                  <p:embed/>
                </p:oleObj>
              </mc:Choice>
              <mc:Fallback>
                <p:oleObj r:id="rId5" imgW="977900" imgH="2286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0" y="5783263"/>
                        <a:ext cx="1668463" cy="388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Rectangle 10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23556" name="Object 9"/>
          <p:cNvGraphicFramePr/>
          <p:nvPr/>
        </p:nvGraphicFramePr>
        <p:xfrm>
          <a:off x="3733800" y="5783263"/>
          <a:ext cx="150653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r:id="rId7" imgW="977900" imgH="228600" progId="Equation.DSMT4">
                  <p:embed/>
                </p:oleObj>
              </mc:Choice>
              <mc:Fallback>
                <p:oleObj r:id="rId7" imgW="977900" imgH="2286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33800" y="5783263"/>
                        <a:ext cx="1506538" cy="350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12"/>
          <p:cNvSpPr/>
          <p:nvPr/>
        </p:nvSpPr>
        <p:spPr>
          <a:xfrm>
            <a:off x="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23557" name="Object 11"/>
          <p:cNvGraphicFramePr/>
          <p:nvPr/>
        </p:nvGraphicFramePr>
        <p:xfrm>
          <a:off x="5562600" y="5764213"/>
          <a:ext cx="172243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0" r:id="rId9" imgW="977900" imgH="228600" progId="Equation.DSMT4">
                  <p:embed/>
                </p:oleObj>
              </mc:Choice>
              <mc:Fallback>
                <p:oleObj r:id="rId9" imgW="977900" imgH="2286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62600" y="5764213"/>
                        <a:ext cx="1722438" cy="400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0" name="Rectangle 3"/>
          <p:cNvSpPr txBox="1"/>
          <p:nvPr/>
        </p:nvSpPr>
        <p:spPr>
          <a:xfrm>
            <a:off x="152400" y="1066800"/>
            <a:ext cx="8726488" cy="160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例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：基态氢原子被外来单色光激发后发出的巴尔末系中，仅观察到三条谱线，试求：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(1)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外来光的波长；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(2)</a:t>
            </a:r>
            <a:r>
              <a:rPr lang="zh-CN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这三条谱线的波长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。（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）被激发的氢原子共可以观察到多少条谱线？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build="p"/>
      <p:bldP spid="2356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2" name="Rectangle 3"/>
          <p:cNvSpPr>
            <a:spLocks noGrp="1"/>
          </p:cNvSpPr>
          <p:nvPr>
            <p:ph idx="1"/>
          </p:nvPr>
        </p:nvSpPr>
        <p:spPr>
          <a:xfrm>
            <a:off x="152400" y="3240088"/>
            <a:ext cx="8726488" cy="2170112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解：（</a:t>
            </a:r>
            <a:r>
              <a:rPr lang="en-US" altLang="zh-CN" dirty="0"/>
              <a:t>3</a:t>
            </a:r>
            <a:r>
              <a:rPr lang="zh-CN" altLang="en-US" dirty="0"/>
              <a:t>）被激发的氢原子总共可以发出</a:t>
            </a:r>
            <a:r>
              <a:rPr lang="en-US" altLang="zh-CN" dirty="0"/>
              <a:t>10</a:t>
            </a:r>
            <a:r>
              <a:rPr lang="zh-CN" altLang="en-US" dirty="0"/>
              <a:t>条谱线，除上述巴尔末系中的三条之外，还有莱曼系中的四条：                               帕邢系中的两条：                 ，普丰德系中的一条：      。 </a:t>
            </a:r>
          </a:p>
        </p:txBody>
      </p:sp>
      <p:sp>
        <p:nvSpPr>
          <p:cNvPr id="28678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24578" name="Object 4"/>
          <p:cNvGraphicFramePr/>
          <p:nvPr/>
        </p:nvGraphicFramePr>
        <p:xfrm>
          <a:off x="6553200" y="3773488"/>
          <a:ext cx="23622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6" r:id="rId3" imgW="1320800" imgH="228600" progId="Equation.DSMT4">
                  <p:embed/>
                </p:oleObj>
              </mc:Choice>
              <mc:Fallback>
                <p:oleObj r:id="rId3" imgW="1320800" imgH="2286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3200" y="3773488"/>
                        <a:ext cx="2362200" cy="407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Rectangle 7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24579" name="Object 6"/>
          <p:cNvGraphicFramePr/>
          <p:nvPr/>
        </p:nvGraphicFramePr>
        <p:xfrm>
          <a:off x="3124200" y="4230688"/>
          <a:ext cx="1295400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r:id="rId5" imgW="635000" imgH="228600" progId="Equation.DSMT4">
                  <p:embed/>
                </p:oleObj>
              </mc:Choice>
              <mc:Fallback>
                <p:oleObj r:id="rId5" imgW="635000" imgH="228600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4200" y="4230688"/>
                        <a:ext cx="1295400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ahoma" panose="020B0604030504040204" pitchFamily="34" charset="0"/>
            </a:endParaRPr>
          </a:p>
        </p:txBody>
      </p:sp>
      <p:graphicFrame>
        <p:nvGraphicFramePr>
          <p:cNvPr id="24580" name="Object 8"/>
          <p:cNvGraphicFramePr/>
          <p:nvPr/>
        </p:nvGraphicFramePr>
        <p:xfrm>
          <a:off x="7543800" y="4267200"/>
          <a:ext cx="457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8" r:id="rId7" imgW="266700" imgH="228600" progId="Equation.DSMT4">
                  <p:embed/>
                </p:oleObj>
              </mc:Choice>
              <mc:Fallback>
                <p:oleObj r:id="rId7" imgW="266700" imgH="22860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43800" y="4267200"/>
                        <a:ext cx="457200" cy="392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1" name="Rectangle 3"/>
          <p:cNvSpPr txBox="1"/>
          <p:nvPr/>
        </p:nvSpPr>
        <p:spPr>
          <a:xfrm>
            <a:off x="152400" y="1066800"/>
            <a:ext cx="8726488" cy="1600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例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8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：基态氢原子被外来单色光激发后发出的巴尔末系中，仅观察到三条谱线，试求：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(1)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外来光的波长；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(2)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这三条谱线的波长。（</a:t>
            </a:r>
            <a:r>
              <a:rPr lang="en-US" altLang="zh-CN" sz="2400" b="1" dirty="0">
                <a:solidFill>
                  <a:schemeClr val="tx2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2400" b="1" dirty="0">
                <a:solidFill>
                  <a:schemeClr val="tx2"/>
                </a:solidFill>
                <a:latin typeface="Tahoma" panose="020B0604030504040204" pitchFamily="34" charset="0"/>
              </a:rPr>
              <a:t>）</a:t>
            </a:r>
            <a:r>
              <a:rPr lang="zh-CN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被激发的氢原子共可以观察到多少条谱线？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38200"/>
            <a:ext cx="4029075" cy="1922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60" name="Picture 12"/>
          <p:cNvPicPr>
            <a:picLocks noChangeAspect="1"/>
          </p:cNvPicPr>
          <p:nvPr/>
        </p:nvPicPr>
        <p:blipFill>
          <a:blip r:embed="rId3"/>
          <a:srcRect t="13660" b="49268"/>
          <a:stretch>
            <a:fillRect/>
          </a:stretch>
        </p:blipFill>
        <p:spPr>
          <a:xfrm>
            <a:off x="590550" y="3352800"/>
            <a:ext cx="6800850" cy="1447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12"/>
          <p:cNvPicPr>
            <a:picLocks noChangeAspect="1"/>
          </p:cNvPicPr>
          <p:nvPr/>
        </p:nvPicPr>
        <p:blipFill>
          <a:blip r:embed="rId3"/>
          <a:srcRect t="48779" b="29756"/>
          <a:stretch>
            <a:fillRect/>
          </a:stretch>
        </p:blipFill>
        <p:spPr>
          <a:xfrm>
            <a:off x="457200" y="4724400"/>
            <a:ext cx="6800850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Picture 12"/>
          <p:cNvPicPr>
            <a:picLocks noChangeAspect="1"/>
          </p:cNvPicPr>
          <p:nvPr/>
        </p:nvPicPr>
        <p:blipFill>
          <a:blip r:embed="rId3"/>
          <a:srcRect t="68294"/>
          <a:stretch>
            <a:fillRect/>
          </a:stretch>
        </p:blipFill>
        <p:spPr>
          <a:xfrm>
            <a:off x="457200" y="5486400"/>
            <a:ext cx="6800850" cy="1238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Picture 12"/>
          <p:cNvPicPr>
            <a:picLocks noChangeAspect="1"/>
          </p:cNvPicPr>
          <p:nvPr/>
        </p:nvPicPr>
        <p:blipFill>
          <a:blip r:embed="rId3"/>
          <a:srcRect r="51822" b="84390"/>
          <a:stretch>
            <a:fillRect/>
          </a:stretch>
        </p:blipFill>
        <p:spPr>
          <a:xfrm>
            <a:off x="533400" y="2819400"/>
            <a:ext cx="327660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12"/>
          <p:cNvPicPr>
            <a:picLocks noChangeAspect="1"/>
          </p:cNvPicPr>
          <p:nvPr/>
        </p:nvPicPr>
        <p:blipFill>
          <a:blip r:embed="rId3"/>
          <a:srcRect l="69466" b="84390"/>
          <a:stretch>
            <a:fillRect/>
          </a:stretch>
        </p:blipFill>
        <p:spPr>
          <a:xfrm>
            <a:off x="5257800" y="2743200"/>
            <a:ext cx="207645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Picture 12"/>
          <p:cNvPicPr>
            <a:picLocks noChangeAspect="1"/>
          </p:cNvPicPr>
          <p:nvPr/>
        </p:nvPicPr>
        <p:blipFill>
          <a:blip r:embed="rId3"/>
          <a:srcRect l="47058" r="40617" b="84390"/>
          <a:stretch>
            <a:fillRect/>
          </a:stretch>
        </p:blipFill>
        <p:spPr>
          <a:xfrm>
            <a:off x="4419600" y="2743200"/>
            <a:ext cx="838200" cy="609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Text Box 3"/>
          <p:cNvSpPr txBox="1"/>
          <p:nvPr/>
        </p:nvSpPr>
        <p:spPr>
          <a:xfrm>
            <a:off x="276225" y="984250"/>
            <a:ext cx="65278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11  </a:t>
            </a:r>
            <a:r>
              <a:rPr lang="zh-CN" altLang="en-US" sz="2400" dirty="0">
                <a:latin typeface="Times New Roman" panose="02020603050405020304" pitchFamily="18" charset="0"/>
              </a:rPr>
              <a:t>一维无限深方势阱</a:t>
            </a:r>
            <a:r>
              <a:rPr lang="en-US" altLang="zh-CN" sz="2400" dirty="0">
                <a:latin typeface="Times New Roman" panose="02020603050405020304" pitchFamily="18" charset="0"/>
              </a:rPr>
              <a:t>[0 , 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] </a:t>
            </a:r>
            <a:r>
              <a:rPr lang="zh-CN" altLang="en-US" sz="2400" dirty="0">
                <a:latin typeface="Times New Roman" panose="02020603050405020304" pitchFamily="18" charset="0"/>
              </a:rPr>
              <a:t>中</a:t>
            </a:r>
            <a:r>
              <a:rPr lang="en-US" altLang="zh-CN" sz="2400" dirty="0">
                <a:latin typeface="Times New Roman" panose="02020603050405020304" pitchFamily="18" charset="0"/>
              </a:rPr>
              <a:t>, </a:t>
            </a:r>
            <a:r>
              <a:rPr lang="zh-CN" altLang="en-US" sz="2400" dirty="0">
                <a:latin typeface="Times New Roman" panose="02020603050405020304" pitchFamily="18" charset="0"/>
              </a:rPr>
              <a:t>波函数为 </a:t>
            </a:r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0722" name="Object 2"/>
          <p:cNvGraphicFramePr/>
          <p:nvPr/>
        </p:nvGraphicFramePr>
        <p:xfrm>
          <a:off x="3132138" y="1593850"/>
          <a:ext cx="316865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4" r:id="rId3" imgW="2603500" imgH="698500" progId="Equation.3">
                  <p:embed/>
                </p:oleObj>
              </mc:Choice>
              <mc:Fallback>
                <p:oleObj r:id="rId3" imgW="2603500" imgH="6985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32138" y="1593850"/>
                        <a:ext cx="3168650" cy="84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Text Box 5"/>
          <p:cNvSpPr txBox="1"/>
          <p:nvPr/>
        </p:nvSpPr>
        <p:spPr>
          <a:xfrm>
            <a:off x="276225" y="2466975"/>
            <a:ext cx="70104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求：</a:t>
            </a:r>
            <a:r>
              <a:rPr lang="zh-CN" altLang="en-US" sz="2400" dirty="0">
                <a:latin typeface="Times New Roman" panose="02020603050405020304" pitchFamily="18" charset="0"/>
              </a:rPr>
              <a:t>粒子能量的</a:t>
            </a: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</a:rPr>
              <a:t>可能测量值</a:t>
            </a:r>
            <a:r>
              <a:rPr lang="zh-CN" altLang="en-US" sz="2400" dirty="0">
                <a:latin typeface="Times New Roman" panose="02020603050405020304" pitchFamily="18" charset="0"/>
              </a:rPr>
              <a:t>及相应的</a:t>
            </a:r>
            <a:r>
              <a:rPr lang="zh-CN" altLang="en-US" sz="2400" dirty="0">
                <a:solidFill>
                  <a:srgbClr val="FF0066"/>
                </a:solidFill>
                <a:latin typeface="Times New Roman" panose="02020603050405020304" pitchFamily="18" charset="0"/>
              </a:rPr>
              <a:t>概率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 Box 6"/>
          <p:cNvSpPr txBox="1"/>
          <p:nvPr/>
        </p:nvSpPr>
        <p:spPr>
          <a:xfrm>
            <a:off x="288925" y="3198813"/>
            <a:ext cx="5791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</a:rPr>
              <a:t>解：</a:t>
            </a:r>
            <a:r>
              <a:rPr lang="zh-CN" altLang="en-US" sz="2400" dirty="0">
                <a:latin typeface="Times New Roman" panose="02020603050405020304" pitchFamily="18" charset="0"/>
              </a:rPr>
              <a:t>一维无限深方势阱中能量本征值：</a:t>
            </a:r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Object 3"/>
          <p:cNvGraphicFramePr/>
          <p:nvPr/>
        </p:nvGraphicFramePr>
        <p:xfrm>
          <a:off x="2987675" y="3871913"/>
          <a:ext cx="3744913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5" r:id="rId5" imgW="2819400" imgH="698500" progId="Equation.DSMT4">
                  <p:embed/>
                </p:oleObj>
              </mc:Choice>
              <mc:Fallback>
                <p:oleObj r:id="rId5" imgW="2819400" imgH="6985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87675" y="3871913"/>
                        <a:ext cx="3744913" cy="930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8"/>
          <p:cNvSpPr txBox="1"/>
          <p:nvPr/>
        </p:nvSpPr>
        <p:spPr>
          <a:xfrm>
            <a:off x="788988" y="5024438"/>
            <a:ext cx="3998912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相应的能量本征函数为：</a:t>
            </a:r>
            <a:endParaRPr lang="zh-CN" alt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8" name="Object 4"/>
          <p:cNvGraphicFramePr/>
          <p:nvPr/>
        </p:nvGraphicFramePr>
        <p:xfrm>
          <a:off x="3132138" y="5637213"/>
          <a:ext cx="4679950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6" r:id="rId7" imgW="3594100" imgH="762000" progId="Equation.DSMT4">
                  <p:embed/>
                </p:oleObj>
              </mc:Choice>
              <mc:Fallback>
                <p:oleObj r:id="rId7" imgW="3594100" imgH="7620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32138" y="5637213"/>
                        <a:ext cx="4679950" cy="992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7" name="Text Box 4"/>
          <p:cNvSpPr txBox="1"/>
          <p:nvPr/>
        </p:nvSpPr>
        <p:spPr>
          <a:xfrm>
            <a:off x="1089025" y="412750"/>
            <a:ext cx="82073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题中所给波函数为本征函数的线性组合，做变换如下</a:t>
            </a:r>
            <a:r>
              <a:rPr lang="en-US" altLang="zh-CN" sz="2400" b="1" dirty="0">
                <a:latin typeface="Times New Roman" panose="02020603050405020304" pitchFamily="18" charset="0"/>
              </a:rPr>
              <a:t>:</a:t>
            </a:r>
            <a:endParaRPr lang="en-US" altLang="zh-CN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1746" name="Object 2"/>
          <p:cNvGraphicFramePr/>
          <p:nvPr/>
        </p:nvGraphicFramePr>
        <p:xfrm>
          <a:off x="1103313" y="989013"/>
          <a:ext cx="3108325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8" r:id="rId3" imgW="1663700" imgH="419100" progId="Equation.DSMT4">
                  <p:embed/>
                </p:oleObj>
              </mc:Choice>
              <mc:Fallback>
                <p:oleObj r:id="rId3" imgW="1663700" imgH="419100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3313" y="989013"/>
                        <a:ext cx="3108325" cy="795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6"/>
          <p:cNvSpPr txBox="1"/>
          <p:nvPr/>
        </p:nvSpPr>
        <p:spPr>
          <a:xfrm>
            <a:off x="468313" y="4805363"/>
            <a:ext cx="19050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测量能量为：</a:t>
            </a:r>
            <a:endParaRPr lang="zh-CN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6" name="Object 3"/>
          <p:cNvGraphicFramePr/>
          <p:nvPr/>
        </p:nvGraphicFramePr>
        <p:xfrm>
          <a:off x="2513013" y="4881563"/>
          <a:ext cx="1482725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9" r:id="rId5" imgW="1168400" imgH="698500" progId="Equation.DSMT4">
                  <p:embed/>
                </p:oleObj>
              </mc:Choice>
              <mc:Fallback>
                <p:oleObj r:id="rId5" imgW="1168400" imgH="6985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3013" y="4881563"/>
                        <a:ext cx="1482725" cy="890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/>
          <p:nvPr/>
        </p:nvGraphicFramePr>
        <p:xfrm>
          <a:off x="2511425" y="5791200"/>
          <a:ext cx="15557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0" r:id="rId7" imgW="1244600" imgH="698500" progId="Equation.DSMT4">
                  <p:embed/>
                </p:oleObj>
              </mc:Choice>
              <mc:Fallback>
                <p:oleObj r:id="rId7" imgW="1244600" imgH="6985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11425" y="5791200"/>
                        <a:ext cx="1555750" cy="868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9"/>
          <p:cNvSpPr txBox="1"/>
          <p:nvPr/>
        </p:nvSpPr>
        <p:spPr>
          <a:xfrm>
            <a:off x="4067175" y="5048250"/>
            <a:ext cx="1524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其概率为</a:t>
            </a:r>
            <a:endParaRPr lang="zh-CN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 Box 10"/>
          <p:cNvSpPr txBox="1"/>
          <p:nvPr/>
        </p:nvSpPr>
        <p:spPr>
          <a:xfrm>
            <a:off x="4067175" y="5989638"/>
            <a:ext cx="15240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其概率为</a:t>
            </a:r>
            <a:endParaRPr lang="zh-CN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" name="Object 5"/>
          <p:cNvGraphicFramePr/>
          <p:nvPr/>
        </p:nvGraphicFramePr>
        <p:xfrm>
          <a:off x="5580063" y="4876800"/>
          <a:ext cx="11715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1" r:id="rId9" imgW="863600" imgH="660400" progId="Equation.DSMT4">
                  <p:embed/>
                </p:oleObj>
              </mc:Choice>
              <mc:Fallback>
                <p:oleObj r:id="rId9" imgW="863600" imgH="6604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80063" y="4876800"/>
                        <a:ext cx="1171575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/>
          <p:nvPr/>
        </p:nvGraphicFramePr>
        <p:xfrm>
          <a:off x="5575300" y="5797550"/>
          <a:ext cx="115093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2" r:id="rId11" imgW="889000" imgH="660400" progId="Equation.DSMT4">
                  <p:embed/>
                </p:oleObj>
              </mc:Choice>
              <mc:Fallback>
                <p:oleObj r:id="rId11" imgW="889000" imgH="6604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75300" y="5797550"/>
                        <a:ext cx="1150938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/>
          <p:nvPr/>
        </p:nvGraphicFramePr>
        <p:xfrm>
          <a:off x="1177925" y="4092575"/>
          <a:ext cx="27955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3" r:id="rId13" imgW="1295400" imgH="254000" progId="Equation.DSMT4">
                  <p:embed/>
                </p:oleObj>
              </mc:Choice>
              <mc:Fallback>
                <p:oleObj r:id="rId13" imgW="1295400" imgH="2540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77925" y="4092575"/>
                        <a:ext cx="2795588" cy="547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/>
          <p:cNvGraphicFramePr/>
          <p:nvPr/>
        </p:nvGraphicFramePr>
        <p:xfrm>
          <a:off x="4486275" y="4021138"/>
          <a:ext cx="2173288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4" r:id="rId15" imgW="1091565" imgH="419100" progId="Equation.DSMT4">
                  <p:embed/>
                </p:oleObj>
              </mc:Choice>
              <mc:Fallback>
                <p:oleObj r:id="rId15" imgW="1091565" imgH="4191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486275" y="4021138"/>
                        <a:ext cx="2173288" cy="833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9"/>
          <p:cNvGraphicFramePr/>
          <p:nvPr/>
        </p:nvGraphicFramePr>
        <p:xfrm>
          <a:off x="1116013" y="1997075"/>
          <a:ext cx="3743325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5" r:id="rId17" imgW="2882900" imgH="723900" progId="Equation.DSMT4">
                  <p:embed/>
                </p:oleObj>
              </mc:Choice>
              <mc:Fallback>
                <p:oleObj r:id="rId17" imgW="2882900" imgH="723900" progId="Equation.DSMT4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16013" y="1997075"/>
                        <a:ext cx="3743325" cy="935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6"/>
          <p:cNvSpPr txBox="1">
            <a:spLocks noChangeArrowheads="1"/>
          </p:cNvSpPr>
          <p:nvPr/>
        </p:nvSpPr>
        <p:spPr bwMode="blackGray">
          <a:xfrm>
            <a:off x="7467600" y="1066800"/>
            <a:ext cx="1296988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rgbClr val="FF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进行 积 化 和差</a:t>
            </a:r>
          </a:p>
        </p:txBody>
      </p:sp>
      <p:graphicFrame>
        <p:nvGraphicFramePr>
          <p:cNvPr id="16" name="Object 10"/>
          <p:cNvGraphicFramePr/>
          <p:nvPr/>
        </p:nvGraphicFramePr>
        <p:xfrm>
          <a:off x="1149350" y="2979738"/>
          <a:ext cx="4267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6" r:id="rId19" imgW="3390900" imgH="850900" progId="Equation.DSMT4">
                  <p:embed/>
                </p:oleObj>
              </mc:Choice>
              <mc:Fallback>
                <p:oleObj r:id="rId19" imgW="3390900" imgH="850900" progId="Equation.DSMT4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49350" y="2979738"/>
                        <a:ext cx="42672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696" name="Object 11"/>
          <p:cNvGraphicFramePr/>
          <p:nvPr/>
        </p:nvGraphicFramePr>
        <p:xfrm>
          <a:off x="4284663" y="989013"/>
          <a:ext cx="26765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7" r:id="rId21" imgW="1320165" imgH="419100" progId="Equation.DSMT4">
                  <p:embed/>
                </p:oleObj>
              </mc:Choice>
              <mc:Fallback>
                <p:oleObj r:id="rId21" imgW="1320165" imgH="419100" progId="Equation.DSMT4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284663" y="989013"/>
                        <a:ext cx="267652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697" name="Object 12"/>
          <p:cNvGraphicFramePr/>
          <p:nvPr/>
        </p:nvGraphicFramePr>
        <p:xfrm>
          <a:off x="6121400" y="2644775"/>
          <a:ext cx="29146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58" r:id="rId23" imgW="1435100" imgH="457200" progId="Equation.DSMT4">
                  <p:embed/>
                </p:oleObj>
              </mc:Choice>
              <mc:Fallback>
                <p:oleObj r:id="rId23" imgW="1435100" imgH="457200" progId="Equation.DSMT4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121400" y="2644775"/>
                        <a:ext cx="2914650" cy="942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6324600" y="2286000"/>
            <a:ext cx="1338263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本征波函数</a:t>
            </a:r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0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8" grpId="0" build="p"/>
      <p:bldP spid="9" grpId="0" build="p"/>
      <p:bldP spid="15" grpId="0" build="p"/>
      <p:bldP spid="1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Text Box 2"/>
          <p:cNvSpPr txBox="1"/>
          <p:nvPr/>
        </p:nvSpPr>
        <p:spPr>
          <a:xfrm>
            <a:off x="365125" y="1095375"/>
            <a:ext cx="8528050" cy="1495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12.  </a:t>
            </a:r>
            <a:r>
              <a:rPr lang="zh-CN" altLang="en-US" sz="2400" b="1" dirty="0">
                <a:latin typeface="Times New Roman" panose="02020603050405020304" pitchFamily="18" charset="0"/>
              </a:rPr>
              <a:t>质量为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的粒子处在宽度为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a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的一维无限深方势阱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中，试利用不确定关系估算该粒子可能具有的最小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 能量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 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7" name="Text Box 3"/>
          <p:cNvSpPr txBox="1"/>
          <p:nvPr/>
        </p:nvSpPr>
        <p:spPr>
          <a:xfrm>
            <a:off x="461963" y="2782888"/>
            <a:ext cx="2838450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解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</a:rPr>
              <a:t>不确定性原理：</a:t>
            </a:r>
            <a:endParaRPr lang="zh-CN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8" name="Object 2"/>
          <p:cNvGraphicFramePr/>
          <p:nvPr/>
        </p:nvGraphicFramePr>
        <p:xfrm>
          <a:off x="3213100" y="2590800"/>
          <a:ext cx="17430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2" r:id="rId3" imgW="1295400" imgH="660400" progId="Equation.3">
                  <p:embed/>
                </p:oleObj>
              </mc:Choice>
              <mc:Fallback>
                <p:oleObj r:id="rId3" imgW="1295400" imgH="660400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13100" y="2590800"/>
                        <a:ext cx="1743075" cy="884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/>
          <p:nvPr/>
        </p:nvGraphicFramePr>
        <p:xfrm>
          <a:off x="4495800" y="3429000"/>
          <a:ext cx="91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3" r:id="rId5" imgW="444500" imgH="393700" progId="Equation.DSMT4">
                  <p:embed/>
                </p:oleObj>
              </mc:Choice>
              <mc:Fallback>
                <p:oleObj r:id="rId5" imgW="444500" imgH="393700" progId="Equation.DSMT4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95800" y="3429000"/>
                        <a:ext cx="914400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"/>
          <p:cNvGraphicFramePr/>
          <p:nvPr/>
        </p:nvGraphicFramePr>
        <p:xfrm>
          <a:off x="3048000" y="4572000"/>
          <a:ext cx="215423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4" r:id="rId7" imgW="1320165" imgH="393700" progId="Equation.DSMT4">
                  <p:embed/>
                </p:oleObj>
              </mc:Choice>
              <mc:Fallback>
                <p:oleObj r:id="rId7" imgW="1320165" imgH="393700" progId="Equation.DSMT4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48000" y="4572000"/>
                        <a:ext cx="2154238" cy="788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5"/>
          <p:cNvGraphicFramePr>
            <a:graphicFrameLocks noChangeAspect="1"/>
          </p:cNvGraphicFramePr>
          <p:nvPr/>
        </p:nvGraphicFramePr>
        <p:xfrm>
          <a:off x="2209800" y="5562600"/>
          <a:ext cx="40195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5" r:id="rId9" imgW="1866900" imgH="419100" progId="Equation.DSMT4">
                  <p:embed/>
                </p:oleObj>
              </mc:Choice>
              <mc:Fallback>
                <p:oleObj r:id="rId9" imgW="1866900" imgH="419100" progId="Equation.DSMT4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09800" y="5562600"/>
                        <a:ext cx="4019550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"/>
          <p:cNvGraphicFramePr/>
          <p:nvPr/>
        </p:nvGraphicFramePr>
        <p:xfrm>
          <a:off x="2517775" y="3430588"/>
          <a:ext cx="1838325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6" r:id="rId11" imgW="1371600" imgH="660400" progId="Equation.DSMT4">
                  <p:embed/>
                </p:oleObj>
              </mc:Choice>
              <mc:Fallback>
                <p:oleObj r:id="rId11" imgW="1371600" imgH="660400" progId="Equation.DSMT4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17775" y="3430588"/>
                        <a:ext cx="1838325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17cc56a-53cd-4f30-a70e-51f31e7dcd14"/>
  <p:tag name="COMMONDATA" val="eyJoZGlkIjoiZGU0NjBmNDc3YmY3ODNkZjQ5MmJlMjNhNWNhMDZlN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4.8|4.6|0.8|24|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8|0.4|3.4|0.6|3.7|0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0.7|0.7|7.6|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7.1|1|1.9|0.6|12.4|5.7|99.5|1.7|6.3|14.7|26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6|13.3|0.6|5|6.6|13.8|2|43.1|0.7|4.3|13.3|6.1|0.8|0.6|19|0.2|3.6|0.2|0.2|0|0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6|0.8|4|0.6|7.8|12.6|0.6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楷体_GB2312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133</TotalTime>
  <Words>2884</Words>
  <Application>Microsoft Office PowerPoint</Application>
  <PresentationFormat>全屏显示(4:3)</PresentationFormat>
  <Paragraphs>317</Paragraphs>
  <Slides>45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60" baseType="lpstr">
      <vt:lpstr>ˎ̥</vt:lpstr>
      <vt:lpstr>黑体</vt:lpstr>
      <vt:lpstr>华文宋体</vt:lpstr>
      <vt:lpstr>华文新魏</vt:lpstr>
      <vt:lpstr>楷体</vt:lpstr>
      <vt:lpstr>楷体_GB2312</vt:lpstr>
      <vt:lpstr>宋体</vt:lpstr>
      <vt:lpstr>Arial</vt:lpstr>
      <vt:lpstr>Symbol</vt:lpstr>
      <vt:lpstr>Tahoma</vt:lpstr>
      <vt:lpstr>Times New Roman</vt:lpstr>
      <vt:lpstr>Wingdings</vt:lpstr>
      <vt:lpstr>Blends</vt:lpstr>
      <vt:lpstr>Microsoft Equation 3.0</vt:lpstr>
      <vt:lpstr>MathType 6.0 Equation</vt:lpstr>
      <vt:lpstr>量子力学习题课</vt:lpstr>
      <vt:lpstr>早期量子论</vt:lpstr>
      <vt:lpstr>1、黑体辐射-（能量子假说）</vt:lpstr>
      <vt:lpstr>黑体辐射</vt:lpstr>
      <vt:lpstr>黑体辐射</vt:lpstr>
      <vt:lpstr>2、光电效应-（光子假说）</vt:lpstr>
      <vt:lpstr>光电效应</vt:lpstr>
      <vt:lpstr>3、康普顿效应</vt:lpstr>
      <vt:lpstr>康普顿效应-第一次证明了光子假说</vt:lpstr>
      <vt:lpstr>PowerPoint 演示文稿</vt:lpstr>
      <vt:lpstr>4、微观粒子的波粒二象性</vt:lpstr>
      <vt:lpstr>4、微观粒子的波粒二象性</vt:lpstr>
      <vt:lpstr>PowerPoint 演示文稿</vt:lpstr>
      <vt:lpstr>PowerPoint 演示文稿</vt:lpstr>
      <vt:lpstr>PowerPoint 演示文稿</vt:lpstr>
      <vt:lpstr>PowerPoint 演示文稿</vt:lpstr>
      <vt:lpstr>量子力学初步</vt:lpstr>
      <vt:lpstr>PowerPoint 演示文稿</vt:lpstr>
      <vt:lpstr>二. 不确定关系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四、玻尔的氢原子理论</vt:lpstr>
      <vt:lpstr>玻尔的氢原子理论-微观体系量子化</vt:lpstr>
      <vt:lpstr>玻尔的氢原子理论</vt:lpstr>
      <vt:lpstr>玻尔的氢原子理论</vt:lpstr>
      <vt:lpstr>玻尔的氢原子理论</vt:lpstr>
      <vt:lpstr>玻尔的氢原子理论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Administrator</cp:lastModifiedBy>
  <cp:revision>156</cp:revision>
  <dcterms:created xsi:type="dcterms:W3CDTF">2020-12-19T03:56:00Z</dcterms:created>
  <dcterms:modified xsi:type="dcterms:W3CDTF">2024-12-05T08:49:41Z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2052-11.1.0.13607</vt:lpwstr>
  </property>
  <property fmtid="{D5CDD505-2E9C-101B-9397-08002B2CF9AE}" pid="4" name="ICV">
    <vt:lpwstr>6A78D7C161B34854A4E11873DF6A34A7</vt:lpwstr>
  </property>
</Properties>
</file>