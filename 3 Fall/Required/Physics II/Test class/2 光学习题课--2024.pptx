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</p:sldMasterIdLst>
  <p:notesMasterIdLst>
    <p:notesMasterId r:id="rId12"/>
  </p:notesMasterIdLst>
  <p:handoutMasterIdLst>
    <p:handoutMasterId r:id="rId39"/>
  </p:handoutMasterIdLst>
  <p:sldIdLst>
    <p:sldId id="257" r:id="rId5"/>
    <p:sldId id="258" r:id="rId6"/>
    <p:sldId id="397" r:id="rId7"/>
    <p:sldId id="405" r:id="rId8"/>
    <p:sldId id="399" r:id="rId9"/>
    <p:sldId id="406" r:id="rId10"/>
    <p:sldId id="400" r:id="rId11"/>
    <p:sldId id="402" r:id="rId13"/>
    <p:sldId id="407" r:id="rId14"/>
    <p:sldId id="408" r:id="rId15"/>
    <p:sldId id="404" r:id="rId16"/>
    <p:sldId id="393" r:id="rId17"/>
    <p:sldId id="422" r:id="rId18"/>
    <p:sldId id="269" r:id="rId19"/>
    <p:sldId id="409" r:id="rId20"/>
    <p:sldId id="411" r:id="rId21"/>
    <p:sldId id="410" r:id="rId22"/>
    <p:sldId id="424" r:id="rId23"/>
    <p:sldId id="425" r:id="rId24"/>
    <p:sldId id="426" r:id="rId25"/>
    <p:sldId id="305" r:id="rId26"/>
    <p:sldId id="608" r:id="rId27"/>
    <p:sldId id="391" r:id="rId28"/>
    <p:sldId id="392" r:id="rId29"/>
    <p:sldId id="602" r:id="rId30"/>
    <p:sldId id="603" r:id="rId31"/>
    <p:sldId id="604" r:id="rId32"/>
    <p:sldId id="605" r:id="rId33"/>
    <p:sldId id="606" r:id="rId34"/>
    <p:sldId id="609" r:id="rId35"/>
    <p:sldId id="610" r:id="rId36"/>
    <p:sldId id="611" r:id="rId37"/>
    <p:sldId id="555" r:id="rId38"/>
  </p:sldIdLst>
  <p:sldSz cx="9144000" cy="6858000" type="screen4x3"/>
  <p:notesSz cx="6858000" cy="9144000"/>
  <p:custDataLst>
    <p:tags r:id="rId4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200" b="1" i="0" u="none" kern="1200" baseline="0">
        <a:solidFill>
          <a:srgbClr val="0000FF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9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CCFFFF"/>
    <a:srgbClr val="66FFFF"/>
    <a:srgbClr val="00FF00"/>
    <a:srgbClr val="00FFCC"/>
    <a:srgbClr val="FFFF00"/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97"/>
    <p:restoredTop sz="93929"/>
  </p:normalViewPr>
  <p:slideViewPr>
    <p:cSldViewPr showGuides="1">
      <p:cViewPr varScale="1">
        <p:scale>
          <a:sx n="107" d="100"/>
          <a:sy n="107" d="100"/>
        </p:scale>
        <p:origin x="2124" y="102"/>
      </p:cViewPr>
      <p:guideLst>
        <p:guide orient="horz" pos="2205"/>
        <p:guide pos="292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3" Type="http://schemas.openxmlformats.org/officeDocument/2006/relationships/tags" Target="tags/tag9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4" Type="http://schemas.openxmlformats.org/officeDocument/2006/relationships/image" Target="../media/image24.wmf"/><Relationship Id="rId13" Type="http://schemas.openxmlformats.org/officeDocument/2006/relationships/image" Target="../media/image23.wmf"/><Relationship Id="rId12" Type="http://schemas.openxmlformats.org/officeDocument/2006/relationships/image" Target="../media/image22.wmf"/><Relationship Id="rId11" Type="http://schemas.openxmlformats.org/officeDocument/2006/relationships/image" Target="../media/image21.wmf"/><Relationship Id="rId10" Type="http://schemas.openxmlformats.org/officeDocument/2006/relationships/image" Target="../media/image20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1" Type="http://schemas.openxmlformats.org/officeDocument/2006/relationships/image" Target="../media/image35.wmf"/><Relationship Id="rId10" Type="http://schemas.openxmlformats.org/officeDocument/2006/relationships/image" Target="../media/image34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5" Type="http://schemas.openxmlformats.org/officeDocument/2006/relationships/image" Target="../media/image45.png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image" Target="../media/image54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5" Type="http://schemas.openxmlformats.org/officeDocument/2006/relationships/image" Target="../media/image61.wmf"/><Relationship Id="rId14" Type="http://schemas.openxmlformats.org/officeDocument/2006/relationships/image" Target="../media/image60.wmf"/><Relationship Id="rId13" Type="http://schemas.openxmlformats.org/officeDocument/2006/relationships/image" Target="../media/image59.wmf"/><Relationship Id="rId12" Type="http://schemas.openxmlformats.org/officeDocument/2006/relationships/image" Target="../media/image8.wmf"/><Relationship Id="rId11" Type="http://schemas.openxmlformats.org/officeDocument/2006/relationships/image" Target="../media/image58.wmf"/><Relationship Id="rId10" Type="http://schemas.openxmlformats.org/officeDocument/2006/relationships/image" Target="../media/image56.wmf"/><Relationship Id="rId1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7" Type="http://schemas.openxmlformats.org/officeDocument/2006/relationships/image" Target="../media/image66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58.wmf"/><Relationship Id="rId3" Type="http://schemas.openxmlformats.org/officeDocument/2006/relationships/image" Target="../media/image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wmf"/><Relationship Id="rId8" Type="http://schemas.openxmlformats.org/officeDocument/2006/relationships/image" Target="../media/image21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8.wmf"/><Relationship Id="rId15" Type="http://schemas.openxmlformats.org/officeDocument/2006/relationships/image" Target="../media/image80.wmf"/><Relationship Id="rId14" Type="http://schemas.openxmlformats.org/officeDocument/2006/relationships/image" Target="../media/image79.wmf"/><Relationship Id="rId13" Type="http://schemas.openxmlformats.org/officeDocument/2006/relationships/image" Target="../media/image78.wmf"/><Relationship Id="rId12" Type="http://schemas.openxmlformats.org/officeDocument/2006/relationships/image" Target="../media/image76.wmf"/><Relationship Id="rId11" Type="http://schemas.openxmlformats.org/officeDocument/2006/relationships/image" Target="../media/image75.wmf"/><Relationship Id="rId10" Type="http://schemas.openxmlformats.org/officeDocument/2006/relationships/image" Target="../media/image74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/Relationships>
</file>

<file path=ppt/drawings/_rels/vmlDrawing12.vml.rels><?xml version="1.0" encoding="UTF-8" standalone="yes"?>
<Relationships xmlns="http://schemas.openxmlformats.org/package/2006/relationships"><Relationship Id="rId7" Type="http://schemas.openxmlformats.org/officeDocument/2006/relationships/image" Target="../media/image96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3.vml.rels><?xml version="1.0" encoding="UTF-8" standalone="yes"?>
<Relationships xmlns="http://schemas.openxmlformats.org/package/2006/relationships"><Relationship Id="rId6" Type="http://schemas.openxmlformats.org/officeDocument/2006/relationships/image" Target="../media/image99.wmf"/><Relationship Id="rId5" Type="http://schemas.openxmlformats.org/officeDocument/2006/relationships/image" Target="../media/image72.wmf"/><Relationship Id="rId4" Type="http://schemas.openxmlformats.org/officeDocument/2006/relationships/image" Target="../media/image98.wmf"/><Relationship Id="rId3" Type="http://schemas.openxmlformats.org/officeDocument/2006/relationships/image" Target="../media/image97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103.wmf"/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wmf"/><Relationship Id="rId1" Type="http://schemas.openxmlformats.org/officeDocument/2006/relationships/image" Target="../media/image10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wmf"/><Relationship Id="rId8" Type="http://schemas.openxmlformats.org/officeDocument/2006/relationships/image" Target="../media/image116.wmf"/><Relationship Id="rId7" Type="http://schemas.openxmlformats.org/officeDocument/2006/relationships/image" Target="../media/image115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8" Type="http://schemas.openxmlformats.org/officeDocument/2006/relationships/image" Target="../media/image126.wmf"/><Relationship Id="rId17" Type="http://schemas.openxmlformats.org/officeDocument/2006/relationships/image" Target="../media/image125.wmf"/><Relationship Id="rId16" Type="http://schemas.openxmlformats.org/officeDocument/2006/relationships/image" Target="../media/image124.wmf"/><Relationship Id="rId15" Type="http://schemas.openxmlformats.org/officeDocument/2006/relationships/image" Target="../media/image123.wmf"/><Relationship Id="rId14" Type="http://schemas.openxmlformats.org/officeDocument/2006/relationships/image" Target="../media/image122.wmf"/><Relationship Id="rId13" Type="http://schemas.openxmlformats.org/officeDocument/2006/relationships/image" Target="../media/image121.wmf"/><Relationship Id="rId12" Type="http://schemas.openxmlformats.org/officeDocument/2006/relationships/image" Target="../media/image120.wmf"/><Relationship Id="rId11" Type="http://schemas.openxmlformats.org/officeDocument/2006/relationships/image" Target="../media/image119.wmf"/><Relationship Id="rId10" Type="http://schemas.openxmlformats.org/officeDocument/2006/relationships/image" Target="../media/image118.wmf"/><Relationship Id="rId1" Type="http://schemas.openxmlformats.org/officeDocument/2006/relationships/image" Target="../media/image109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7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1.emf"/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5.wmf"/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wmf"/><Relationship Id="rId1" Type="http://schemas.openxmlformats.org/officeDocument/2006/relationships/image" Target="../media/image149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0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2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28.vml.rels><?xml version="1.0" encoding="UTF-8" standalone="yes"?>
<Relationships xmlns="http://schemas.openxmlformats.org/package/2006/relationships"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6.wmf"/><Relationship Id="rId8" Type="http://schemas.openxmlformats.org/officeDocument/2006/relationships/image" Target="../media/image175.wmf"/><Relationship Id="rId7" Type="http://schemas.openxmlformats.org/officeDocument/2006/relationships/image" Target="../media/image174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0" Type="http://schemas.openxmlformats.org/officeDocument/2006/relationships/image" Target="../media/image177.wmf"/><Relationship Id="rId1" Type="http://schemas.openxmlformats.org/officeDocument/2006/relationships/image" Target="../media/image16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>
              <a:buNone/>
            </a:pPr>
            <a:fld id="{9A0DB2DC-4C9A-4742-B13C-FB6460FD3503}" type="slidenum">
              <a:rPr lang="en-US" altLang="zh-CN" sz="1200" b="0" strike="noStrike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strike="noStrike" noProof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6200"/>
            <a:ext cx="2057400" cy="604996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6200"/>
            <a:ext cx="6019800" cy="60499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Line 13"/>
          <p:cNvSpPr>
            <a:spLocks noChangeShapeType="1"/>
          </p:cNvSpPr>
          <p:nvPr/>
        </p:nvSpPr>
        <p:spPr bwMode="auto">
          <a:xfrm>
            <a:off x="228600" y="6477000"/>
            <a:ext cx="6781800" cy="0"/>
          </a:xfrm>
          <a:prstGeom prst="line">
            <a:avLst/>
          </a:prstGeom>
          <a:noFill/>
          <a:ln w="19050">
            <a:solidFill>
              <a:srgbClr val="9E0000"/>
            </a:solidFill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1" name="Picture 7" descr="aabb"/>
          <p:cNvPicPr>
            <a:picLocks noChangeAspect="1"/>
          </p:cNvPicPr>
          <p:nvPr/>
        </p:nvPicPr>
        <p:blipFill>
          <a:blip r:embed="rId12">
            <a:grayscl/>
          </a:blip>
          <a:stretch>
            <a:fillRect/>
          </a:stretch>
        </p:blipFill>
        <p:spPr>
          <a:xfrm>
            <a:off x="152400" y="152400"/>
            <a:ext cx="1066800" cy="906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2" name="Picture 8" descr="zhulou"/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6772275" y="3181350"/>
            <a:ext cx="2371725" cy="3676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3" name="Rectangle 2"/>
          <p:cNvSpPr>
            <a:spLocks noGrp="1"/>
          </p:cNvSpPr>
          <p:nvPr>
            <p:ph type="title"/>
          </p:nvPr>
        </p:nvSpPr>
        <p:spPr>
          <a:xfrm>
            <a:off x="1143000" y="76200"/>
            <a:ext cx="7543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4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51911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2800">
                <a:solidFill>
                  <a:srgbClr val="CC0000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  <p:sp>
        <p:nvSpPr>
          <p:cNvPr id="251912" name="Line 11"/>
          <p:cNvSpPr>
            <a:spLocks noChangeShapeType="1"/>
          </p:cNvSpPr>
          <p:nvPr/>
        </p:nvSpPr>
        <p:spPr bwMode="auto">
          <a:xfrm>
            <a:off x="228600" y="1143000"/>
            <a:ext cx="8610600" cy="0"/>
          </a:xfrm>
          <a:prstGeom prst="line">
            <a:avLst/>
          </a:prstGeom>
          <a:noFill/>
          <a:ln w="57150" cmpd="thinThick">
            <a:solidFill>
              <a:srgbClr val="9E0000"/>
            </a:solidFill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j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7.wmf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6.xml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Relationship Id="rId32" Type="http://schemas.openxmlformats.org/officeDocument/2006/relationships/vmlDrawing" Target="../drawings/vmlDrawing3.vml"/><Relationship Id="rId31" Type="http://schemas.openxmlformats.org/officeDocument/2006/relationships/slideLayout" Target="../slideLayouts/slideLayout6.xml"/><Relationship Id="rId30" Type="http://schemas.openxmlformats.org/officeDocument/2006/relationships/tags" Target="../tags/tag2.xml"/><Relationship Id="rId3" Type="http://schemas.openxmlformats.org/officeDocument/2006/relationships/oleObject" Target="../embeddings/oleObject11.bin"/><Relationship Id="rId29" Type="http://schemas.openxmlformats.org/officeDocument/2006/relationships/image" Target="../media/image25.png"/><Relationship Id="rId28" Type="http://schemas.openxmlformats.org/officeDocument/2006/relationships/image" Target="../media/image24.wmf"/><Relationship Id="rId27" Type="http://schemas.openxmlformats.org/officeDocument/2006/relationships/oleObject" Target="../embeddings/oleObject23.bin"/><Relationship Id="rId26" Type="http://schemas.openxmlformats.org/officeDocument/2006/relationships/image" Target="../media/image23.wmf"/><Relationship Id="rId25" Type="http://schemas.openxmlformats.org/officeDocument/2006/relationships/oleObject" Target="../embeddings/oleObject22.bin"/><Relationship Id="rId24" Type="http://schemas.openxmlformats.org/officeDocument/2006/relationships/image" Target="../media/image22.wmf"/><Relationship Id="rId23" Type="http://schemas.openxmlformats.org/officeDocument/2006/relationships/oleObject" Target="../embeddings/oleObject21.bin"/><Relationship Id="rId22" Type="http://schemas.openxmlformats.org/officeDocument/2006/relationships/image" Target="../media/image21.wmf"/><Relationship Id="rId21" Type="http://schemas.openxmlformats.org/officeDocument/2006/relationships/oleObject" Target="../embeddings/oleObject20.bin"/><Relationship Id="rId20" Type="http://schemas.openxmlformats.org/officeDocument/2006/relationships/image" Target="../media/image20.wmf"/><Relationship Id="rId2" Type="http://schemas.openxmlformats.org/officeDocument/2006/relationships/image" Target="../media/image8.wmf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19.wmf"/><Relationship Id="rId17" Type="http://schemas.openxmlformats.org/officeDocument/2006/relationships/oleObject" Target="../embeddings/oleObject18.bin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5.wmf"/><Relationship Id="rId21" Type="http://schemas.openxmlformats.org/officeDocument/2006/relationships/oleObject" Target="../embeddings/oleObject34.bin"/><Relationship Id="rId20" Type="http://schemas.openxmlformats.org/officeDocument/2006/relationships/image" Target="../media/image34.wmf"/><Relationship Id="rId2" Type="http://schemas.openxmlformats.org/officeDocument/2006/relationships/image" Target="../media/image8.wmf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4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8.wmf"/><Relationship Id="rId16" Type="http://schemas.openxmlformats.org/officeDocument/2006/relationships/vmlDrawing" Target="../drawings/vmlDrawing5.v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.xml"/><Relationship Id="rId13" Type="http://schemas.openxmlformats.org/officeDocument/2006/relationships/image" Target="../media/image41.png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8.wmf"/><Relationship Id="rId14" Type="http://schemas.openxmlformats.org/officeDocument/2006/relationships/notesSlide" Target="../notesSlides/notesSlide1.xml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4.xml"/><Relationship Id="rId10" Type="http://schemas.openxmlformats.org/officeDocument/2006/relationships/image" Target="../media/image45.png"/><Relationship Id="rId1" Type="http://schemas.openxmlformats.org/officeDocument/2006/relationships/oleObject" Target="../embeddings/oleObject4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7.wmf"/><Relationship Id="rId36" Type="http://schemas.openxmlformats.org/officeDocument/2006/relationships/vmlDrawing" Target="../drawings/vmlDrawing7.v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6.xml"/><Relationship Id="rId33" Type="http://schemas.openxmlformats.org/officeDocument/2006/relationships/oleObject" Target="../embeddings/oleObject61.bin"/><Relationship Id="rId32" Type="http://schemas.openxmlformats.org/officeDocument/2006/relationships/image" Target="../media/image61.wmf"/><Relationship Id="rId31" Type="http://schemas.openxmlformats.org/officeDocument/2006/relationships/oleObject" Target="../embeddings/oleObject60.bin"/><Relationship Id="rId30" Type="http://schemas.openxmlformats.org/officeDocument/2006/relationships/image" Target="../media/image60.wmf"/><Relationship Id="rId3" Type="http://schemas.openxmlformats.org/officeDocument/2006/relationships/oleObject" Target="../embeddings/oleObject47.bin"/><Relationship Id="rId29" Type="http://schemas.openxmlformats.org/officeDocument/2006/relationships/oleObject" Target="../embeddings/oleObject59.bin"/><Relationship Id="rId28" Type="http://schemas.openxmlformats.org/officeDocument/2006/relationships/image" Target="../media/image59.wmf"/><Relationship Id="rId27" Type="http://schemas.openxmlformats.org/officeDocument/2006/relationships/oleObject" Target="../embeddings/oleObject58.bin"/><Relationship Id="rId26" Type="http://schemas.openxmlformats.org/officeDocument/2006/relationships/image" Target="../media/image8.wmf"/><Relationship Id="rId25" Type="http://schemas.openxmlformats.org/officeDocument/2006/relationships/oleObject" Target="../embeddings/oleObject57.bin"/><Relationship Id="rId24" Type="http://schemas.openxmlformats.org/officeDocument/2006/relationships/image" Target="../media/image58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57.jpeg"/><Relationship Id="rId21" Type="http://schemas.openxmlformats.org/officeDocument/2006/relationships/image" Target="../media/image56.wmf"/><Relationship Id="rId20" Type="http://schemas.openxmlformats.org/officeDocument/2006/relationships/oleObject" Target="../embeddings/oleObject55.bin"/><Relationship Id="rId2" Type="http://schemas.openxmlformats.org/officeDocument/2006/relationships/image" Target="../media/image46.wmf"/><Relationship Id="rId19" Type="http://schemas.openxmlformats.org/officeDocument/2006/relationships/image" Target="../media/image55.wmf"/><Relationship Id="rId18" Type="http://schemas.openxmlformats.org/officeDocument/2006/relationships/oleObject" Target="../embeddings/oleObject54.bin"/><Relationship Id="rId17" Type="http://schemas.openxmlformats.org/officeDocument/2006/relationships/image" Target="../media/image54.wmf"/><Relationship Id="rId16" Type="http://schemas.openxmlformats.org/officeDocument/2006/relationships/oleObject" Target="../embeddings/oleObject53.bin"/><Relationship Id="rId15" Type="http://schemas.openxmlformats.org/officeDocument/2006/relationships/image" Target="../media/image53.jpeg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3.bin"/><Relationship Id="rId20" Type="http://schemas.openxmlformats.org/officeDocument/2006/relationships/vmlDrawing" Target="../drawings/vmlDrawing8.vml"/><Relationship Id="rId2" Type="http://schemas.openxmlformats.org/officeDocument/2006/relationships/image" Target="../media/image62.wmf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7.xml"/><Relationship Id="rId17" Type="http://schemas.openxmlformats.org/officeDocument/2006/relationships/image" Target="../media/image47.wmf"/><Relationship Id="rId16" Type="http://schemas.openxmlformats.org/officeDocument/2006/relationships/oleObject" Target="../embeddings/oleObject70.bin"/><Relationship Id="rId15" Type="http://schemas.openxmlformats.org/officeDocument/2006/relationships/image" Target="../media/image66.wmf"/><Relationship Id="rId14" Type="http://schemas.openxmlformats.org/officeDocument/2006/relationships/oleObject" Target="../embeddings/oleObject69.bin"/><Relationship Id="rId13" Type="http://schemas.openxmlformats.org/officeDocument/2006/relationships/image" Target="../media/image65.wmf"/><Relationship Id="rId12" Type="http://schemas.openxmlformats.org/officeDocument/2006/relationships/oleObject" Target="../embeddings/oleObject68.bin"/><Relationship Id="rId11" Type="http://schemas.openxmlformats.org/officeDocument/2006/relationships/image" Target="../media/image64.wmf"/><Relationship Id="rId10" Type="http://schemas.openxmlformats.org/officeDocument/2006/relationships/oleObject" Target="../embeddings/oleObject67.bin"/><Relationship Id="rId1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8.wmf"/><Relationship Id="rId35" Type="http://schemas.openxmlformats.org/officeDocument/2006/relationships/vmlDrawing" Target="../drawings/vmlDrawing9.v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8.xml"/><Relationship Id="rId32" Type="http://schemas.openxmlformats.org/officeDocument/2006/relationships/image" Target="../media/image80.wmf"/><Relationship Id="rId31" Type="http://schemas.openxmlformats.org/officeDocument/2006/relationships/oleObject" Target="../embeddings/oleObject85.bin"/><Relationship Id="rId30" Type="http://schemas.openxmlformats.org/officeDocument/2006/relationships/image" Target="../media/image79.wmf"/><Relationship Id="rId3" Type="http://schemas.openxmlformats.org/officeDocument/2006/relationships/oleObject" Target="../embeddings/oleObject72.bin"/><Relationship Id="rId29" Type="http://schemas.openxmlformats.org/officeDocument/2006/relationships/oleObject" Target="../embeddings/oleObject84.bin"/><Relationship Id="rId28" Type="http://schemas.openxmlformats.org/officeDocument/2006/relationships/image" Target="../media/image78.wmf"/><Relationship Id="rId27" Type="http://schemas.openxmlformats.org/officeDocument/2006/relationships/oleObject" Target="../embeddings/oleObject83.bin"/><Relationship Id="rId26" Type="http://schemas.openxmlformats.org/officeDocument/2006/relationships/image" Target="../media/image77.jpeg"/><Relationship Id="rId25" Type="http://schemas.openxmlformats.org/officeDocument/2006/relationships/image" Target="../media/image76.wmf"/><Relationship Id="rId24" Type="http://schemas.openxmlformats.org/officeDocument/2006/relationships/oleObject" Target="../embeddings/oleObject82.bin"/><Relationship Id="rId23" Type="http://schemas.openxmlformats.org/officeDocument/2006/relationships/image" Target="../media/image75.wmf"/><Relationship Id="rId22" Type="http://schemas.openxmlformats.org/officeDocument/2006/relationships/oleObject" Target="../embeddings/oleObject81.bin"/><Relationship Id="rId21" Type="http://schemas.openxmlformats.org/officeDocument/2006/relationships/image" Target="../media/image74.wmf"/><Relationship Id="rId20" Type="http://schemas.openxmlformats.org/officeDocument/2006/relationships/oleObject" Target="../embeddings/oleObject80.bin"/><Relationship Id="rId2" Type="http://schemas.openxmlformats.org/officeDocument/2006/relationships/image" Target="../media/image67.wmf"/><Relationship Id="rId19" Type="http://schemas.openxmlformats.org/officeDocument/2006/relationships/image" Target="../media/image73.wmf"/><Relationship Id="rId18" Type="http://schemas.openxmlformats.org/officeDocument/2006/relationships/oleObject" Target="../embeddings/oleObject79.bin"/><Relationship Id="rId17" Type="http://schemas.openxmlformats.org/officeDocument/2006/relationships/image" Target="../media/image21.wmf"/><Relationship Id="rId16" Type="http://schemas.openxmlformats.org/officeDocument/2006/relationships/oleObject" Target="../embeddings/oleObject78.bin"/><Relationship Id="rId15" Type="http://schemas.openxmlformats.org/officeDocument/2006/relationships/image" Target="../media/image72.wmf"/><Relationship Id="rId14" Type="http://schemas.openxmlformats.org/officeDocument/2006/relationships/oleObject" Target="../embeddings/oleObject77.bin"/><Relationship Id="rId13" Type="http://schemas.openxmlformats.org/officeDocument/2006/relationships/image" Target="../media/image53.jpeg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7.bin"/><Relationship Id="rId2" Type="http://schemas.openxmlformats.org/officeDocument/2006/relationships/image" Target="../media/image81.wmf"/><Relationship Id="rId1" Type="http://schemas.openxmlformats.org/officeDocument/2006/relationships/oleObject" Target="../embeddings/oleObject8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87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85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4.wmf"/><Relationship Id="rId15" Type="http://schemas.openxmlformats.org/officeDocument/2006/relationships/vmlDrawing" Target="../drawings/vmlDrawing11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9.wmf"/><Relationship Id="rId12" Type="http://schemas.openxmlformats.org/officeDocument/2006/relationships/oleObject" Target="../embeddings/oleObject95.bin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88.wmf"/><Relationship Id="rId1" Type="http://schemas.openxmlformats.org/officeDocument/2006/relationships/oleObject" Target="../embeddings/oleObject8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93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90.wmf"/><Relationship Id="rId16" Type="http://schemas.openxmlformats.org/officeDocument/2006/relationships/vmlDrawing" Target="../drawings/vmlDrawing1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6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95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94.wmf"/><Relationship Id="rId1" Type="http://schemas.openxmlformats.org/officeDocument/2006/relationships/oleObject" Target="../embeddings/oleObject96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image" Target="../media/image98.wmf"/><Relationship Id="rId7" Type="http://schemas.openxmlformats.org/officeDocument/2006/relationships/oleObject" Target="../embeddings/oleObject106.bin"/><Relationship Id="rId6" Type="http://schemas.openxmlformats.org/officeDocument/2006/relationships/image" Target="../media/image97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90.wmf"/><Relationship Id="rId14" Type="http://schemas.openxmlformats.org/officeDocument/2006/relationships/vmlDrawing" Target="../drawings/vmlDrawing1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9.wmf"/><Relationship Id="rId11" Type="http://schemas.openxmlformats.org/officeDocument/2006/relationships/oleObject" Target="../embeddings/oleObject108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10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103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01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100.wmf"/><Relationship Id="rId14" Type="http://schemas.openxmlformats.org/officeDocument/2006/relationships/vmlDrawing" Target="../drawings/vmlDrawing14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114.bin"/><Relationship Id="rId10" Type="http://schemas.openxmlformats.org/officeDocument/2006/relationships/image" Target="../media/image90.wmf"/><Relationship Id="rId1" Type="http://schemas.openxmlformats.org/officeDocument/2006/relationships/oleObject" Target="../embeddings/oleObject109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117.bin"/><Relationship Id="rId3" Type="http://schemas.openxmlformats.org/officeDocument/2006/relationships/oleObject" Target="../embeddings/oleObject116.bin"/><Relationship Id="rId2" Type="http://schemas.openxmlformats.org/officeDocument/2006/relationships/image" Target="../media/image104.wmf"/><Relationship Id="rId1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19.bin"/><Relationship Id="rId2" Type="http://schemas.openxmlformats.org/officeDocument/2006/relationships/image" Target="../media/image106.wmf"/><Relationship Id="rId1" Type="http://schemas.openxmlformats.org/officeDocument/2006/relationships/oleObject" Target="../embeddings/oleObject118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12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5.bin"/><Relationship Id="rId8" Type="http://schemas.openxmlformats.org/officeDocument/2006/relationships/image" Target="../media/image112.wmf"/><Relationship Id="rId7" Type="http://schemas.openxmlformats.org/officeDocument/2006/relationships/oleObject" Target="../embeddings/oleObject124.bin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23.bin"/><Relationship Id="rId41" Type="http://schemas.openxmlformats.org/officeDocument/2006/relationships/vmlDrawing" Target="../drawings/vmlDrawing18.vml"/><Relationship Id="rId40" Type="http://schemas.openxmlformats.org/officeDocument/2006/relationships/slideLayout" Target="../slideLayouts/slideLayout12.xml"/><Relationship Id="rId4" Type="http://schemas.openxmlformats.org/officeDocument/2006/relationships/image" Target="../media/image110.wmf"/><Relationship Id="rId39" Type="http://schemas.openxmlformats.org/officeDocument/2006/relationships/image" Target="../media/image126.wmf"/><Relationship Id="rId38" Type="http://schemas.openxmlformats.org/officeDocument/2006/relationships/oleObject" Target="../embeddings/oleObject141.bin"/><Relationship Id="rId37" Type="http://schemas.openxmlformats.org/officeDocument/2006/relationships/oleObject" Target="../embeddings/oleObject140.bin"/><Relationship Id="rId36" Type="http://schemas.openxmlformats.org/officeDocument/2006/relationships/image" Target="../media/image125.wmf"/><Relationship Id="rId35" Type="http://schemas.openxmlformats.org/officeDocument/2006/relationships/oleObject" Target="../embeddings/oleObject139.bin"/><Relationship Id="rId34" Type="http://schemas.openxmlformats.org/officeDocument/2006/relationships/image" Target="../media/image124.wmf"/><Relationship Id="rId33" Type="http://schemas.openxmlformats.org/officeDocument/2006/relationships/oleObject" Target="../embeddings/oleObject138.bin"/><Relationship Id="rId32" Type="http://schemas.openxmlformats.org/officeDocument/2006/relationships/image" Target="../media/image123.wmf"/><Relationship Id="rId31" Type="http://schemas.openxmlformats.org/officeDocument/2006/relationships/oleObject" Target="../embeddings/oleObject137.bin"/><Relationship Id="rId30" Type="http://schemas.openxmlformats.org/officeDocument/2006/relationships/image" Target="../media/image122.wmf"/><Relationship Id="rId3" Type="http://schemas.openxmlformats.org/officeDocument/2006/relationships/oleObject" Target="../embeddings/oleObject122.bin"/><Relationship Id="rId29" Type="http://schemas.openxmlformats.org/officeDocument/2006/relationships/oleObject" Target="../embeddings/oleObject136.bin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135.bin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134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33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32.bin"/><Relationship Id="rId20" Type="http://schemas.openxmlformats.org/officeDocument/2006/relationships/oleObject" Target="../embeddings/oleObject131.bin"/><Relationship Id="rId2" Type="http://schemas.openxmlformats.org/officeDocument/2006/relationships/image" Target="../media/image109.wmf"/><Relationship Id="rId19" Type="http://schemas.openxmlformats.org/officeDocument/2006/relationships/oleObject" Target="../embeddings/oleObject130.bin"/><Relationship Id="rId18" Type="http://schemas.openxmlformats.org/officeDocument/2006/relationships/image" Target="../media/image117.wmf"/><Relationship Id="rId17" Type="http://schemas.openxmlformats.org/officeDocument/2006/relationships/oleObject" Target="../embeddings/oleObject129.bin"/><Relationship Id="rId16" Type="http://schemas.openxmlformats.org/officeDocument/2006/relationships/image" Target="../media/image116.wmf"/><Relationship Id="rId15" Type="http://schemas.openxmlformats.org/officeDocument/2006/relationships/oleObject" Target="../embeddings/oleObject128.bin"/><Relationship Id="rId14" Type="http://schemas.openxmlformats.org/officeDocument/2006/relationships/image" Target="../media/image115.wmf"/><Relationship Id="rId13" Type="http://schemas.openxmlformats.org/officeDocument/2006/relationships/oleObject" Target="../embeddings/oleObject127.bin"/><Relationship Id="rId12" Type="http://schemas.openxmlformats.org/officeDocument/2006/relationships/image" Target="../media/image114.wmf"/><Relationship Id="rId11" Type="http://schemas.openxmlformats.org/officeDocument/2006/relationships/oleObject" Target="../embeddings/oleObject126.bin"/><Relationship Id="rId10" Type="http://schemas.openxmlformats.org/officeDocument/2006/relationships/image" Target="../media/image113.wmf"/><Relationship Id="rId1" Type="http://schemas.openxmlformats.org/officeDocument/2006/relationships/oleObject" Target="../embeddings/oleObject121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6.bin"/><Relationship Id="rId8" Type="http://schemas.openxmlformats.org/officeDocument/2006/relationships/image" Target="../media/image130.wmf"/><Relationship Id="rId7" Type="http://schemas.openxmlformats.org/officeDocument/2006/relationships/oleObject" Target="../embeddings/oleObject145.bin"/><Relationship Id="rId6" Type="http://schemas.openxmlformats.org/officeDocument/2006/relationships/image" Target="../media/image129.w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28.wmf"/><Relationship Id="rId3" Type="http://schemas.openxmlformats.org/officeDocument/2006/relationships/oleObject" Target="../embeddings/oleObject143.bin"/><Relationship Id="rId2" Type="http://schemas.openxmlformats.org/officeDocument/2006/relationships/image" Target="../media/image127.wmf"/><Relationship Id="rId15" Type="http://schemas.openxmlformats.org/officeDocument/2006/relationships/vmlDrawing" Target="../drawings/vmlDrawing19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33.wmf"/><Relationship Id="rId12" Type="http://schemas.openxmlformats.org/officeDocument/2006/relationships/image" Target="../media/image132.wmf"/><Relationship Id="rId11" Type="http://schemas.openxmlformats.org/officeDocument/2006/relationships/oleObject" Target="../embeddings/oleObject147.bin"/><Relationship Id="rId10" Type="http://schemas.openxmlformats.org/officeDocument/2006/relationships/image" Target="../media/image131.wmf"/><Relationship Id="rId1" Type="http://schemas.openxmlformats.org/officeDocument/2006/relationships/oleObject" Target="../embeddings/oleObject142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7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34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14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1.e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39.w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38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152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5.w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57.bin"/><Relationship Id="rId2" Type="http://schemas.openxmlformats.org/officeDocument/2006/relationships/image" Target="../media/image142.wmf"/><Relationship Id="rId10" Type="http://schemas.openxmlformats.org/officeDocument/2006/relationships/vmlDrawing" Target="../drawings/vmlDrawing22.vml"/><Relationship Id="rId1" Type="http://schemas.openxmlformats.org/officeDocument/2006/relationships/oleObject" Target="../embeddings/oleObject15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47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46.wmf"/><Relationship Id="rId1" Type="http://schemas.openxmlformats.org/officeDocument/2006/relationships/oleObject" Target="../embeddings/oleObject160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0.wmf"/><Relationship Id="rId3" Type="http://schemas.openxmlformats.org/officeDocument/2006/relationships/oleObject" Target="../embeddings/oleObject164.bin"/><Relationship Id="rId2" Type="http://schemas.openxmlformats.org/officeDocument/2006/relationships/image" Target="../media/image149.wmf"/><Relationship Id="rId1" Type="http://schemas.openxmlformats.org/officeDocument/2006/relationships/oleObject" Target="../embeddings/oleObject163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51.wmf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65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31.xml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171.bin"/><Relationship Id="rId2" Type="http://schemas.openxmlformats.org/officeDocument/2006/relationships/image" Target="../media/image155.wmf"/><Relationship Id="rId1" Type="http://schemas.openxmlformats.org/officeDocument/2006/relationships/oleObject" Target="../embeddings/oleObject17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6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75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73.bin"/><Relationship Id="rId2" Type="http://schemas.openxmlformats.org/officeDocument/2006/relationships/image" Target="../media/image157.wmf"/><Relationship Id="rId13" Type="http://schemas.openxmlformats.org/officeDocument/2006/relationships/notesSlide" Target="../notesSlides/notesSlide2.xml"/><Relationship Id="rId12" Type="http://schemas.openxmlformats.org/officeDocument/2006/relationships/vmlDrawing" Target="../drawings/vmlDrawing27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7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1.bin"/><Relationship Id="rId8" Type="http://schemas.openxmlformats.org/officeDocument/2006/relationships/image" Target="../media/image165.wmf"/><Relationship Id="rId7" Type="http://schemas.openxmlformats.org/officeDocument/2006/relationships/oleObject" Target="../embeddings/oleObject180.bin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178.bin"/><Relationship Id="rId2" Type="http://schemas.openxmlformats.org/officeDocument/2006/relationships/image" Target="../media/image162.wmf"/><Relationship Id="rId14" Type="http://schemas.openxmlformats.org/officeDocument/2006/relationships/vmlDrawing" Target="../drawings/vmlDrawing28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67.wmf"/><Relationship Id="rId11" Type="http://schemas.openxmlformats.org/officeDocument/2006/relationships/oleObject" Target="../embeddings/oleObject182.bin"/><Relationship Id="rId10" Type="http://schemas.openxmlformats.org/officeDocument/2006/relationships/image" Target="../media/image166.wmf"/><Relationship Id="rId1" Type="http://schemas.openxmlformats.org/officeDocument/2006/relationships/oleObject" Target="../embeddings/oleObject177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7.bin"/><Relationship Id="rId8" Type="http://schemas.openxmlformats.org/officeDocument/2006/relationships/image" Target="../media/image171.wmf"/><Relationship Id="rId7" Type="http://schemas.openxmlformats.org/officeDocument/2006/relationships/oleObject" Target="../embeddings/oleObject186.bin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69.wmf"/><Relationship Id="rId3" Type="http://schemas.openxmlformats.org/officeDocument/2006/relationships/oleObject" Target="../embeddings/oleObject184.bin"/><Relationship Id="rId22" Type="http://schemas.openxmlformats.org/officeDocument/2006/relationships/vmlDrawing" Target="../drawings/vmlDrawing29.v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77.wmf"/><Relationship Id="rId2" Type="http://schemas.openxmlformats.org/officeDocument/2006/relationships/image" Target="../media/image168.wmf"/><Relationship Id="rId19" Type="http://schemas.openxmlformats.org/officeDocument/2006/relationships/oleObject" Target="../embeddings/oleObject192.bin"/><Relationship Id="rId18" Type="http://schemas.openxmlformats.org/officeDocument/2006/relationships/image" Target="../media/image176.wmf"/><Relationship Id="rId17" Type="http://schemas.openxmlformats.org/officeDocument/2006/relationships/oleObject" Target="../embeddings/oleObject191.bin"/><Relationship Id="rId16" Type="http://schemas.openxmlformats.org/officeDocument/2006/relationships/image" Target="../media/image175.wmf"/><Relationship Id="rId15" Type="http://schemas.openxmlformats.org/officeDocument/2006/relationships/oleObject" Target="../embeddings/oleObject190.bin"/><Relationship Id="rId14" Type="http://schemas.openxmlformats.org/officeDocument/2006/relationships/image" Target="../media/image174.wmf"/><Relationship Id="rId13" Type="http://schemas.openxmlformats.org/officeDocument/2006/relationships/oleObject" Target="../embeddings/oleObject189.bin"/><Relationship Id="rId12" Type="http://schemas.openxmlformats.org/officeDocument/2006/relationships/image" Target="../media/image173.wmf"/><Relationship Id="rId11" Type="http://schemas.openxmlformats.org/officeDocument/2006/relationships/oleObject" Target="../embeddings/oleObject188.bin"/><Relationship Id="rId10" Type="http://schemas.openxmlformats.org/officeDocument/2006/relationships/image" Target="../media/image172.wmf"/><Relationship Id="rId1" Type="http://schemas.openxmlformats.org/officeDocument/2006/relationships/oleObject" Target="../embeddings/oleObject18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89" name="Rectangle 41"/>
          <p:cNvSpPr>
            <a:spLocks noChangeArrowheads="1"/>
          </p:cNvSpPr>
          <p:nvPr/>
        </p:nvSpPr>
        <p:spPr bwMode="auto">
          <a:xfrm>
            <a:off x="1379538" y="2276475"/>
            <a:ext cx="6072188" cy="914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光学习题课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           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0" name="Rectangle 9"/>
          <p:cNvSpPr/>
          <p:nvPr/>
        </p:nvSpPr>
        <p:spPr>
          <a:xfrm>
            <a:off x="1187450" y="4365625"/>
            <a:ext cx="6697980" cy="22942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ctr" eaLnBrk="0" hangingPunct="0"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0" dirty="0">
                <a:solidFill>
                  <a:srgbClr val="D60093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哈尔滨工业大学 </a:t>
            </a:r>
            <a:endParaRPr lang="zh-CN" altLang="en-US" sz="3200" b="0" dirty="0">
              <a:solidFill>
                <a:srgbClr val="D60093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marL="342900" indent="-342900" algn="ctr"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49" charset="-122"/>
              </a:rPr>
              <a:t>2024.10.21</a:t>
            </a:r>
            <a:endParaRPr lang="en-US" altLang="zh-CN" sz="2800" dirty="0">
              <a:solidFill>
                <a:srgbClr val="9966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1" name="Text Box 12"/>
          <p:cNvSpPr txBox="1"/>
          <p:nvPr/>
        </p:nvSpPr>
        <p:spPr>
          <a:xfrm>
            <a:off x="6048375" y="6461125"/>
            <a:ext cx="3095625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taoying86@hit.edu.cn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Text Box 2"/>
          <p:cNvSpPr txBox="1"/>
          <p:nvPr/>
        </p:nvSpPr>
        <p:spPr>
          <a:xfrm>
            <a:off x="3132138" y="84138"/>
            <a:ext cx="3024187" cy="769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4400" dirty="0">
                <a:solidFill>
                  <a:srgbClr val="FF33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内容总结</a:t>
            </a:r>
            <a:endParaRPr lang="zh-CN" altLang="en-US" sz="4400" dirty="0">
              <a:solidFill>
                <a:srgbClr val="FF3300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228600" y="908050"/>
            <a:ext cx="31194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宋体" panose="02010600030101010101" pitchFamily="2" charset="-122"/>
                <a:cs typeface="+mn-cs"/>
              </a:rPr>
              <a:t>一、光的干涉</a:t>
            </a:r>
            <a:endParaRPr kumimoji="1" lang="zh-CN" altLang="en-US" sz="3200" kern="1200" cap="none" spc="0" normalizeH="0" baseline="0" noProof="0" dirty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3732" name="Text Box 16"/>
          <p:cNvSpPr txBox="1"/>
          <p:nvPr/>
        </p:nvSpPr>
        <p:spPr>
          <a:xfrm>
            <a:off x="487363" y="1631950"/>
            <a:ext cx="7843837" cy="941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光的干涉：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满足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相干条件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的两束光在空间相遇时，形成光强的非均匀的稳定分布。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33" name="Text Box 17"/>
          <p:cNvSpPr txBox="1"/>
          <p:nvPr/>
        </p:nvSpPr>
        <p:spPr>
          <a:xfrm>
            <a:off x="490538" y="4562475"/>
            <a:ext cx="1849437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获得相干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光的方法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34" name="Object 1024"/>
          <p:cNvGraphicFramePr/>
          <p:nvPr/>
        </p:nvGraphicFramePr>
        <p:xfrm>
          <a:off x="2268538" y="3322638"/>
          <a:ext cx="760412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" imgW="177800" imgH="253365" progId="Equation.DSMT4">
                  <p:embed/>
                </p:oleObj>
              </mc:Choice>
              <mc:Fallback>
                <p:oleObj name="" r:id="rId1" imgW="177800" imgH="253365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66CC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3322638"/>
                        <a:ext cx="760412" cy="341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Text Box 19"/>
          <p:cNvSpPr txBox="1"/>
          <p:nvPr/>
        </p:nvSpPr>
        <p:spPr>
          <a:xfrm>
            <a:off x="2706688" y="3627438"/>
            <a:ext cx="19367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分波阵面法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36" name="Text Box 20"/>
          <p:cNvSpPr txBox="1"/>
          <p:nvPr/>
        </p:nvSpPr>
        <p:spPr>
          <a:xfrm>
            <a:off x="2651125" y="4887913"/>
            <a:ext cx="361315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分振幅法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薄膜干涉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37" name="Object 1025"/>
          <p:cNvGraphicFramePr/>
          <p:nvPr/>
        </p:nvGraphicFramePr>
        <p:xfrm>
          <a:off x="4356100" y="2852738"/>
          <a:ext cx="455613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3" imgW="177800" imgH="253365" progId="Equation.DSMT4">
                  <p:embed/>
                </p:oleObj>
              </mc:Choice>
              <mc:Fallback>
                <p:oleObj name="" r:id="rId3" imgW="177800" imgH="25336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66CC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356100" y="2852738"/>
                        <a:ext cx="455613" cy="1741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Text Box 22"/>
          <p:cNvSpPr txBox="1"/>
          <p:nvPr/>
        </p:nvSpPr>
        <p:spPr>
          <a:xfrm>
            <a:off x="4643438" y="3001963"/>
            <a:ext cx="2209800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杨氏双缝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39" name="Text Box 23"/>
          <p:cNvSpPr txBox="1"/>
          <p:nvPr/>
        </p:nvSpPr>
        <p:spPr>
          <a:xfrm>
            <a:off x="4632325" y="3502025"/>
            <a:ext cx="2433638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菲涅耳双面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棱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镜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40" name="Text Box 24"/>
          <p:cNvSpPr txBox="1"/>
          <p:nvPr/>
        </p:nvSpPr>
        <p:spPr>
          <a:xfrm>
            <a:off x="4643438" y="4029075"/>
            <a:ext cx="155575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劳埃镜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41" name="Object 1026"/>
          <p:cNvGraphicFramePr/>
          <p:nvPr/>
        </p:nvGraphicFramePr>
        <p:xfrm>
          <a:off x="5508625" y="4462463"/>
          <a:ext cx="454025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5" imgW="177800" imgH="253365" progId="Equation.DSMT4">
                  <p:embed/>
                </p:oleObj>
              </mc:Choice>
              <mc:Fallback>
                <p:oleObj name="" r:id="rId5" imgW="177800" imgH="253365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66CC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8625" y="4462463"/>
                        <a:ext cx="454025" cy="1344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2" name="Text Box 27"/>
          <p:cNvSpPr txBox="1"/>
          <p:nvPr/>
        </p:nvSpPr>
        <p:spPr>
          <a:xfrm>
            <a:off x="5699125" y="4486275"/>
            <a:ext cx="186055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等厚干涉</a:t>
            </a:r>
            <a:endParaRPr lang="zh-CN" altLang="en-US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43" name="Text Box 28"/>
          <p:cNvSpPr txBox="1"/>
          <p:nvPr/>
        </p:nvSpPr>
        <p:spPr>
          <a:xfrm>
            <a:off x="5699125" y="5248275"/>
            <a:ext cx="2089150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等倾干涉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73744" name="Object 1027"/>
          <p:cNvGraphicFramePr/>
          <p:nvPr/>
        </p:nvGraphicFramePr>
        <p:xfrm>
          <a:off x="7107238" y="4079875"/>
          <a:ext cx="45561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7" imgW="177800" imgH="253365" progId="Equation.DSMT4">
                  <p:embed/>
                </p:oleObj>
              </mc:Choice>
              <mc:Fallback>
                <p:oleObj name="" r:id="rId7" imgW="177800" imgH="253365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66CC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07238" y="4079875"/>
                        <a:ext cx="455612" cy="134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5" name="Text Box 31"/>
          <p:cNvSpPr txBox="1"/>
          <p:nvPr/>
        </p:nvSpPr>
        <p:spPr>
          <a:xfrm>
            <a:off x="7331075" y="3952875"/>
            <a:ext cx="1633538" cy="427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劈尖干涉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46" name="Text Box 32"/>
          <p:cNvSpPr txBox="1"/>
          <p:nvPr/>
        </p:nvSpPr>
        <p:spPr>
          <a:xfrm>
            <a:off x="7283450" y="4887913"/>
            <a:ext cx="1343025" cy="427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牛顿环</a:t>
            </a:r>
            <a:endParaRPr lang="zh-CN" altLang="en-US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47" name="Text Box 35"/>
          <p:cNvSpPr txBox="1"/>
          <p:nvPr/>
        </p:nvSpPr>
        <p:spPr>
          <a:xfrm>
            <a:off x="2627313" y="5954713"/>
            <a:ext cx="4816475" cy="429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分振动面法（</a:t>
            </a:r>
            <a:r>
              <a:rPr lang="zh-CN" altLang="en-US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偏振光的干涉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3748" name="Text Box 20"/>
          <p:cNvSpPr txBox="1"/>
          <p:nvPr/>
        </p:nvSpPr>
        <p:spPr>
          <a:xfrm>
            <a:off x="4535488" y="2540000"/>
            <a:ext cx="1728787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频率相同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49" name="Text Box 21"/>
          <p:cNvSpPr txBox="1"/>
          <p:nvPr/>
        </p:nvSpPr>
        <p:spPr>
          <a:xfrm>
            <a:off x="2124075" y="2540000"/>
            <a:ext cx="2574925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①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振动方向相同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50" name="Text Box 22"/>
          <p:cNvSpPr txBox="1"/>
          <p:nvPr/>
        </p:nvSpPr>
        <p:spPr>
          <a:xfrm>
            <a:off x="6191250" y="2540000"/>
            <a:ext cx="2052638" cy="457200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③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相位差恒定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3751" name="Rectangle 23"/>
          <p:cNvSpPr/>
          <p:nvPr/>
        </p:nvSpPr>
        <p:spPr>
          <a:xfrm>
            <a:off x="461963" y="2565400"/>
            <a:ext cx="1589087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相干条件：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0825" y="5516563"/>
            <a:ext cx="2379663" cy="400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（先分光 再相遇）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821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3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  <p:bldP spid="73733" grpId="0"/>
      <p:bldP spid="73735" grpId="0"/>
      <p:bldP spid="73736" grpId="0"/>
      <p:bldP spid="73738" grpId="0"/>
      <p:bldP spid="73739" grpId="0"/>
      <p:bldP spid="73740" grpId="0"/>
      <p:bldP spid="73742" grpId="0"/>
      <p:bldP spid="73743" grpId="0"/>
      <p:bldP spid="73745" grpId="0"/>
      <p:bldP spid="73746" grpId="0"/>
      <p:bldP spid="73747" grpId="0"/>
      <p:bldP spid="73748" grpId="0"/>
      <p:bldP spid="73749" grpId="0"/>
      <p:bldP spid="73750" grpId="0"/>
      <p:bldP spid="73751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5" name="Object 2"/>
          <p:cNvGraphicFramePr/>
          <p:nvPr/>
        </p:nvGraphicFramePr>
        <p:xfrm>
          <a:off x="1547813" y="4938713"/>
          <a:ext cx="6191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" r:id="rId1" imgW="240665" imgH="177800" progId="Equation.3">
                  <p:embed/>
                </p:oleObj>
              </mc:Choice>
              <mc:Fallback>
                <p:oleObj name="" r:id="rId1" imgW="240665" imgH="177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4938713"/>
                        <a:ext cx="619125" cy="398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6" name="Object 3"/>
          <p:cNvGraphicFramePr/>
          <p:nvPr/>
        </p:nvGraphicFramePr>
        <p:xfrm>
          <a:off x="2005013" y="4557713"/>
          <a:ext cx="1128712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" r:id="rId3" imgW="165100" imgH="215900" progId="Equation.3">
                  <p:embed/>
                </p:oleObj>
              </mc:Choice>
              <mc:Fallback>
                <p:oleObj name="" r:id="rId3" imgW="165100" imgH="2159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5013" y="4557713"/>
                        <a:ext cx="1128712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4"/>
          <p:cNvGraphicFramePr/>
          <p:nvPr/>
        </p:nvGraphicFramePr>
        <p:xfrm>
          <a:off x="2630488" y="4405313"/>
          <a:ext cx="2165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" r:id="rId5" imgW="836930" imgH="215900" progId="Equation.3">
                  <p:embed/>
                </p:oleObj>
              </mc:Choice>
              <mc:Fallback>
                <p:oleObj name="" r:id="rId5" imgW="836930" imgH="215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0488" y="4405313"/>
                        <a:ext cx="216535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8" name="Object 5"/>
          <p:cNvGraphicFramePr/>
          <p:nvPr/>
        </p:nvGraphicFramePr>
        <p:xfrm>
          <a:off x="2522538" y="5319713"/>
          <a:ext cx="3606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7" name="" r:id="rId7" imgW="1395095" imgH="215900" progId="Equation.3">
                  <p:embed/>
                </p:oleObj>
              </mc:Choice>
              <mc:Fallback>
                <p:oleObj name="" r:id="rId7" imgW="1395095" imgH="2159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22538" y="5319713"/>
                        <a:ext cx="3606800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17"/>
          <p:cNvSpPr txBox="1"/>
          <p:nvPr/>
        </p:nvSpPr>
        <p:spPr>
          <a:xfrm>
            <a:off x="539750" y="476250"/>
            <a:ext cx="1849438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习题类型：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Text Box 17"/>
          <p:cNvSpPr txBox="1"/>
          <p:nvPr/>
        </p:nvSpPr>
        <p:spPr>
          <a:xfrm>
            <a:off x="539750" y="3757613"/>
            <a:ext cx="33115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处理问题的关键点：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AutoShape 5"/>
          <p:cNvSpPr/>
          <p:nvPr/>
        </p:nvSpPr>
        <p:spPr>
          <a:xfrm>
            <a:off x="1919288" y="1387475"/>
            <a:ext cx="336550" cy="1490663"/>
          </a:xfrm>
          <a:prstGeom prst="leftBrace">
            <a:avLst>
              <a:gd name="adj1" fmla="val 36828"/>
              <a:gd name="adj2" fmla="val 50000"/>
            </a:avLst>
          </a:prstGeom>
          <a:noFill/>
          <a:ln w="635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" name="Text Box 6"/>
          <p:cNvSpPr txBox="1"/>
          <p:nvPr/>
        </p:nvSpPr>
        <p:spPr>
          <a:xfrm>
            <a:off x="2484438" y="1125538"/>
            <a:ext cx="4679950" cy="461962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静态装置中干涉条纹分布问题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Text Box 9"/>
          <p:cNvSpPr txBox="1"/>
          <p:nvPr/>
        </p:nvSpPr>
        <p:spPr>
          <a:xfrm>
            <a:off x="2484438" y="2638425"/>
            <a:ext cx="4679950" cy="461963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动态装置中干涉条纹变化问题</a:t>
            </a:r>
            <a:endParaRPr lang="zh-CN" altLang="en-US" sz="24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59" name="Object 11"/>
          <p:cNvGraphicFramePr/>
          <p:nvPr/>
        </p:nvGraphicFramePr>
        <p:xfrm>
          <a:off x="6011863" y="4725988"/>
          <a:ext cx="16049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" name="" r:id="rId9" imgW="812165" imgH="203200" progId="Equation.3">
                  <p:embed/>
                </p:oleObj>
              </mc:Choice>
              <mc:Fallback>
                <p:oleObj name="" r:id="rId9" imgW="812165" imgH="203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1863" y="4725988"/>
                        <a:ext cx="1604962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2"/>
          <p:cNvSpPr txBox="1"/>
          <p:nvPr/>
        </p:nvSpPr>
        <p:spPr>
          <a:xfrm>
            <a:off x="722313" y="549275"/>
            <a:ext cx="1884362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双缝干涉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6"/>
          <p:cNvGraphicFramePr/>
          <p:nvPr/>
        </p:nvGraphicFramePr>
        <p:xfrm>
          <a:off x="763588" y="4759325"/>
          <a:ext cx="1128712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9" name="" r:id="rId1" imgW="165100" imgH="215900" progId="Equation.3">
                  <p:embed/>
                </p:oleObj>
              </mc:Choice>
              <mc:Fallback>
                <p:oleObj name="" r:id="rId1" imgW="165100" imgH="215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3588" y="4759325"/>
                        <a:ext cx="1128712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296988" y="4648200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明纹中心：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296988" y="5368925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暗纹中心：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81113" y="6151563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条纹间距：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7"/>
          <p:cNvGraphicFramePr/>
          <p:nvPr/>
        </p:nvGraphicFramePr>
        <p:xfrm>
          <a:off x="2820988" y="4487863"/>
          <a:ext cx="1905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0" name="" r:id="rId3" imgW="723900" imgH="393700" progId="Equation.3">
                  <p:embed/>
                </p:oleObj>
              </mc:Choice>
              <mc:Fallback>
                <p:oleObj name="" r:id="rId3" imgW="723900" imgH="3937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0988" y="4487863"/>
                        <a:ext cx="1905000" cy="906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/>
          <p:nvPr/>
        </p:nvGraphicFramePr>
        <p:xfrm>
          <a:off x="2738438" y="5216525"/>
          <a:ext cx="3414712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1" name="" r:id="rId5" imgW="1307465" imgH="393700" progId="Equation.3">
                  <p:embed/>
                </p:oleObj>
              </mc:Choice>
              <mc:Fallback>
                <p:oleObj name="" r:id="rId5" imgW="1307465" imgH="3937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38438" y="5216525"/>
                        <a:ext cx="3414712" cy="896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/>
          <p:nvPr/>
        </p:nvGraphicFramePr>
        <p:xfrm>
          <a:off x="2820988" y="5970588"/>
          <a:ext cx="152400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2" name="" r:id="rId7" imgW="622300" imgH="393700" progId="Equation.3">
                  <p:embed/>
                </p:oleObj>
              </mc:Choice>
              <mc:Fallback>
                <p:oleObj name="" r:id="rId7" imgW="622300" imgH="3937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0988" y="5970588"/>
                        <a:ext cx="1524000" cy="8429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/>
          <p:nvPr/>
        </p:nvGraphicFramePr>
        <p:xfrm>
          <a:off x="5965825" y="4697413"/>
          <a:ext cx="19399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3" name="" r:id="rId9" imgW="697865" imgH="203200" progId="Equation.3">
                  <p:embed/>
                </p:oleObj>
              </mc:Choice>
              <mc:Fallback>
                <p:oleObj name="" r:id="rId9" imgW="697865" imgH="2032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65825" y="4697413"/>
                        <a:ext cx="1939925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/>
          <p:nvPr/>
        </p:nvGraphicFramePr>
        <p:xfrm>
          <a:off x="6592888" y="5419725"/>
          <a:ext cx="13858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4" name="" r:id="rId11" imgW="583565" imgH="203200" progId="Equation.3">
                  <p:embed/>
                </p:oleObj>
              </mc:Choice>
              <mc:Fallback>
                <p:oleObj name="" r:id="rId11" imgW="583565" imgH="2032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92888" y="5419725"/>
                        <a:ext cx="1385887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698750" y="549275"/>
            <a:ext cx="48260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明暗相间的等间距的平行直条纹。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252" name="Group 12"/>
          <p:cNvGrpSpPr/>
          <p:nvPr/>
        </p:nvGrpSpPr>
        <p:grpSpPr>
          <a:xfrm>
            <a:off x="684213" y="1052513"/>
            <a:ext cx="6477000" cy="3233737"/>
            <a:chOff x="572" y="1959"/>
            <a:chExt cx="4531" cy="2354"/>
          </a:xfrm>
        </p:grpSpPr>
        <p:grpSp>
          <p:nvGrpSpPr>
            <p:cNvPr id="10253" name="Group 13"/>
            <p:cNvGrpSpPr/>
            <p:nvPr/>
          </p:nvGrpSpPr>
          <p:grpSpPr>
            <a:xfrm>
              <a:off x="572" y="2069"/>
              <a:ext cx="4531" cy="2244"/>
              <a:chOff x="572" y="2069"/>
              <a:chExt cx="4531" cy="2244"/>
            </a:xfrm>
          </p:grpSpPr>
          <p:sp>
            <p:nvSpPr>
              <p:cNvPr id="46" name="AutoShape 14"/>
              <p:cNvSpPr>
                <a:spLocks noChangeArrowheads="1"/>
              </p:cNvSpPr>
              <p:nvPr/>
            </p:nvSpPr>
            <p:spPr bwMode="auto">
              <a:xfrm>
                <a:off x="1938" y="2992"/>
                <a:ext cx="177" cy="220"/>
              </a:xfrm>
              <a:prstGeom prst="wedgeRoundRectCallout">
                <a:avLst>
                  <a:gd name="adj1" fmla="val -143750"/>
                  <a:gd name="adj2" fmla="val 200000"/>
                  <a:gd name="adj3" fmla="val 16667"/>
                </a:avLst>
              </a:prstGeom>
              <a:gradFill rotWithShape="0">
                <a:gsLst>
                  <a:gs pos="0">
                    <a:schemeClr val="accent1"/>
                  </a:gs>
                  <a:gs pos="5000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55" name="Rectangle 15"/>
              <p:cNvSpPr/>
              <p:nvPr/>
            </p:nvSpPr>
            <p:spPr>
              <a:xfrm>
                <a:off x="572" y="2069"/>
                <a:ext cx="4360" cy="224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6" name="Text Box 16"/>
              <p:cNvSpPr txBox="1"/>
              <p:nvPr/>
            </p:nvSpPr>
            <p:spPr>
              <a:xfrm>
                <a:off x="4415" y="2332"/>
                <a:ext cx="68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CC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7" name="Rectangle 17" descr="深色下对角线"/>
              <p:cNvSpPr/>
              <p:nvPr/>
            </p:nvSpPr>
            <p:spPr>
              <a:xfrm>
                <a:off x="1497" y="2771"/>
                <a:ext cx="44" cy="485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8" name="Rectangle 18" descr="深色下对角线"/>
              <p:cNvSpPr/>
              <p:nvPr/>
            </p:nvSpPr>
            <p:spPr>
              <a:xfrm>
                <a:off x="1497" y="3344"/>
                <a:ext cx="44" cy="484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9" name="Rectangle 19" descr="深色下对角线"/>
              <p:cNvSpPr/>
              <p:nvPr/>
            </p:nvSpPr>
            <p:spPr>
              <a:xfrm>
                <a:off x="2026" y="2551"/>
                <a:ext cx="44" cy="485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0" name="Rectangle 20" descr="深色下对角线"/>
              <p:cNvSpPr/>
              <p:nvPr/>
            </p:nvSpPr>
            <p:spPr>
              <a:xfrm>
                <a:off x="2026" y="3564"/>
                <a:ext cx="44" cy="529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1" name="Line 21"/>
              <p:cNvSpPr/>
              <p:nvPr/>
            </p:nvSpPr>
            <p:spPr>
              <a:xfrm>
                <a:off x="1365" y="3300"/>
                <a:ext cx="343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lgDashDot"/>
                <a:round/>
                <a:headEnd type="none" w="sm" len="lg"/>
                <a:tailEnd type="none" w="sm" len="lg"/>
              </a:ln>
            </p:spPr>
          </p:sp>
          <p:sp>
            <p:nvSpPr>
              <p:cNvPr id="10262" name="Rectangle 22" descr="深色下对角线"/>
              <p:cNvSpPr/>
              <p:nvPr/>
            </p:nvSpPr>
            <p:spPr>
              <a:xfrm>
                <a:off x="4360" y="2419"/>
                <a:ext cx="44" cy="1718"/>
              </a:xfrm>
              <a:prstGeom prst="rect">
                <a:avLst/>
              </a:prstGeom>
              <a:pattFill prst="dkDnDiag">
                <a:fgClr>
                  <a:srgbClr val="B2E6E4"/>
                </a:fgClr>
                <a:bgClr>
                  <a:srgbClr val="FFFFFF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3" name="Line 23"/>
              <p:cNvSpPr/>
              <p:nvPr/>
            </p:nvSpPr>
            <p:spPr>
              <a:xfrm flipV="1">
                <a:off x="2070" y="2683"/>
                <a:ext cx="2290" cy="617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graphicFrame>
            <p:nvGraphicFramePr>
              <p:cNvPr id="10264" name="Object 15"/>
              <p:cNvGraphicFramePr/>
              <p:nvPr/>
            </p:nvGraphicFramePr>
            <p:xfrm>
              <a:off x="1739" y="2639"/>
              <a:ext cx="279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95" name="" r:id="rId13" imgW="139700" imgH="215900" progId="Equation.3">
                      <p:embed/>
                    </p:oleObj>
                  </mc:Choice>
                  <mc:Fallback>
                    <p:oleObj name="" r:id="rId13" imgW="139700" imgH="215900" progId="Equation.3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739" y="2639"/>
                            <a:ext cx="279" cy="4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5" name="Object 16"/>
              <p:cNvGraphicFramePr/>
              <p:nvPr/>
            </p:nvGraphicFramePr>
            <p:xfrm>
              <a:off x="1744" y="3432"/>
              <a:ext cx="276" cy="4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96" name="" r:id="rId15" imgW="152400" imgH="215900" progId="Equation.3">
                      <p:embed/>
                    </p:oleObj>
                  </mc:Choice>
                  <mc:Fallback>
                    <p:oleObj name="" r:id="rId15" imgW="152400" imgH="215900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744" y="3432"/>
                            <a:ext cx="276" cy="4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6" name="Object 17"/>
              <p:cNvGraphicFramePr/>
              <p:nvPr/>
            </p:nvGraphicFramePr>
            <p:xfrm>
              <a:off x="1272" y="3036"/>
              <a:ext cx="214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97" name="" r:id="rId17" imgW="101600" imgH="139700" progId="Equation.3">
                      <p:embed/>
                    </p:oleObj>
                  </mc:Choice>
                  <mc:Fallback>
                    <p:oleObj name="" r:id="rId17" imgW="101600" imgH="139700" progId="Equation.3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272" y="3036"/>
                            <a:ext cx="214" cy="3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7" name="Line 27"/>
              <p:cNvSpPr/>
              <p:nvPr/>
            </p:nvSpPr>
            <p:spPr>
              <a:xfrm>
                <a:off x="4404" y="2683"/>
                <a:ext cx="220" cy="0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10268" name="Line 28"/>
              <p:cNvSpPr/>
              <p:nvPr/>
            </p:nvSpPr>
            <p:spPr>
              <a:xfrm>
                <a:off x="4536" y="2683"/>
                <a:ext cx="0" cy="617"/>
              </a:xfrm>
              <a:prstGeom prst="line">
                <a:avLst/>
              </a:prstGeom>
              <a:ln w="28575" cap="flat" cmpd="sng">
                <a:solidFill>
                  <a:srgbClr val="FF33CC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10269" name="Object 18"/>
              <p:cNvGraphicFramePr/>
              <p:nvPr/>
            </p:nvGraphicFramePr>
            <p:xfrm>
              <a:off x="4514" y="2859"/>
              <a:ext cx="198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98" name="" r:id="rId19" imgW="177800" imgH="189865" progId="Equation.3">
                      <p:embed/>
                    </p:oleObj>
                  </mc:Choice>
                  <mc:Fallback>
                    <p:oleObj name="" r:id="rId19" imgW="177800" imgH="189865" progId="Equation.3">
                      <p:embed/>
                      <p:pic>
                        <p:nvPicPr>
                          <p:cNvPr id="0" name="图片 311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514" y="2859"/>
                            <a:ext cx="198" cy="2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0" name="Line 30"/>
              <p:cNvSpPr/>
              <p:nvPr/>
            </p:nvSpPr>
            <p:spPr>
              <a:xfrm flipH="1">
                <a:off x="1629" y="3080"/>
                <a:ext cx="39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10271" name="Line 31"/>
              <p:cNvSpPr/>
              <p:nvPr/>
            </p:nvSpPr>
            <p:spPr>
              <a:xfrm flipH="1">
                <a:off x="1629" y="3520"/>
                <a:ext cx="39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sm" len="lg"/>
                <a:tailEnd type="none" w="sm" len="lg"/>
              </a:ln>
            </p:spPr>
          </p:sp>
          <p:sp>
            <p:nvSpPr>
              <p:cNvPr id="10272" name="Line 32"/>
              <p:cNvSpPr/>
              <p:nvPr/>
            </p:nvSpPr>
            <p:spPr>
              <a:xfrm>
                <a:off x="1805" y="3080"/>
                <a:ext cx="0" cy="440"/>
              </a:xfrm>
              <a:prstGeom prst="line">
                <a:avLst/>
              </a:prstGeom>
              <a:ln w="19050" cap="flat" cmpd="sng">
                <a:solidFill>
                  <a:srgbClr val="FF33CC"/>
                </a:solidFill>
                <a:prstDash val="dash"/>
                <a:round/>
                <a:headEnd type="triangle" w="sm" len="lg"/>
                <a:tailEnd type="triangle" w="sm" len="lg"/>
              </a:ln>
            </p:spPr>
          </p:sp>
          <p:graphicFrame>
            <p:nvGraphicFramePr>
              <p:cNvPr id="10273" name="Object 19"/>
              <p:cNvGraphicFramePr/>
              <p:nvPr/>
            </p:nvGraphicFramePr>
            <p:xfrm>
              <a:off x="4452" y="3300"/>
              <a:ext cx="167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99" name="" r:id="rId21" imgW="165100" imgH="190500" progId="Equation.3">
                      <p:embed/>
                    </p:oleObj>
                  </mc:Choice>
                  <mc:Fallback>
                    <p:oleObj name="" r:id="rId21" imgW="165100" imgH="190500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452" y="3300"/>
                            <a:ext cx="167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74" name="Object 20"/>
              <p:cNvGraphicFramePr/>
              <p:nvPr/>
            </p:nvGraphicFramePr>
            <p:xfrm>
              <a:off x="1832" y="3124"/>
              <a:ext cx="226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00" name="" r:id="rId23" imgW="152400" imgH="177800" progId="Equation.3">
                      <p:embed/>
                    </p:oleObj>
                  </mc:Choice>
                  <mc:Fallback>
                    <p:oleObj name="" r:id="rId23" imgW="152400" imgH="177800" progId="Equation.3">
                      <p:embed/>
                      <p:pic>
                        <p:nvPicPr>
                          <p:cNvPr id="0" name="图片 3109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832" y="3124"/>
                            <a:ext cx="226" cy="3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75" name="Rectangle 35" descr="深色下对角线"/>
              <p:cNvSpPr/>
              <p:nvPr/>
            </p:nvSpPr>
            <p:spPr>
              <a:xfrm>
                <a:off x="2026" y="3124"/>
                <a:ext cx="44" cy="352"/>
              </a:xfrm>
              <a:prstGeom prst="rect">
                <a:avLst/>
              </a:prstGeom>
              <a:pattFill prst="dkDnDiag">
                <a:fgClr>
                  <a:srgbClr val="3B7283"/>
                </a:fgClr>
                <a:bgClr>
                  <a:srgbClr val="7DACAD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0276" name="Object 21"/>
              <p:cNvGraphicFramePr/>
              <p:nvPr/>
            </p:nvGraphicFramePr>
            <p:xfrm>
              <a:off x="1618" y="3182"/>
              <a:ext cx="187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01" name="" r:id="rId25" imgW="190500" imgH="254000" progId="Equation.3">
                      <p:embed/>
                    </p:oleObj>
                  </mc:Choice>
                  <mc:Fallback>
                    <p:oleObj name="" r:id="rId25" imgW="190500" imgH="254000" progId="Equation.3">
                      <p:embed/>
                      <p:pic>
                        <p:nvPicPr>
                          <p:cNvPr id="0" name="图片 3111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618" y="3182"/>
                            <a:ext cx="187" cy="2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77" name="Line 38"/>
            <p:cNvSpPr/>
            <p:nvPr/>
          </p:nvSpPr>
          <p:spPr>
            <a:xfrm flipV="1">
              <a:off x="4413" y="2160"/>
              <a:ext cx="0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0278" name="Text Box 39"/>
            <p:cNvSpPr txBox="1"/>
            <p:nvPr/>
          </p:nvSpPr>
          <p:spPr>
            <a:xfrm>
              <a:off x="4410" y="1959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28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279" name="Group 47"/>
          <p:cNvGrpSpPr/>
          <p:nvPr/>
        </p:nvGrpSpPr>
        <p:grpSpPr>
          <a:xfrm>
            <a:off x="2808288" y="3743325"/>
            <a:ext cx="3273425" cy="393700"/>
            <a:chOff x="2160" y="2508"/>
            <a:chExt cx="2496" cy="312"/>
          </a:xfrm>
        </p:grpSpPr>
        <p:graphicFrame>
          <p:nvGraphicFramePr>
            <p:cNvPr id="10280" name="Object 22"/>
            <p:cNvGraphicFramePr/>
            <p:nvPr/>
          </p:nvGraphicFramePr>
          <p:xfrm>
            <a:off x="3120" y="2508"/>
            <a:ext cx="31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02" name="" r:id="rId27" imgW="165100" imgH="165100" progId="Equation.3">
                    <p:embed/>
                  </p:oleObj>
                </mc:Choice>
                <mc:Fallback>
                  <p:oleObj name="" r:id="rId27" imgW="165100" imgH="165100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120" y="2508"/>
                          <a:ext cx="310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1" name="Line 49"/>
            <p:cNvSpPr/>
            <p:nvPr/>
          </p:nvSpPr>
          <p:spPr>
            <a:xfrm>
              <a:off x="3360" y="2688"/>
              <a:ext cx="1296" cy="0"/>
            </a:xfrm>
            <a:prstGeom prst="line">
              <a:avLst/>
            </a:prstGeom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10282" name="Line 50"/>
            <p:cNvSpPr/>
            <p:nvPr/>
          </p:nvSpPr>
          <p:spPr>
            <a:xfrm flipH="1">
              <a:off x="2160" y="2688"/>
              <a:ext cx="960" cy="0"/>
            </a:xfrm>
            <a:prstGeom prst="line">
              <a:avLst/>
            </a:prstGeom>
            <a:ln w="19050" cap="flat" cmpd="sng">
              <a:solidFill>
                <a:srgbClr val="FF3399"/>
              </a:solidFill>
              <a:prstDash val="solid"/>
              <a:round/>
              <a:headEnd type="none" w="med" len="med"/>
              <a:tailEnd type="triangle" w="sm" len="lg"/>
            </a:ln>
          </p:spPr>
        </p:sp>
      </p:grpSp>
      <p:grpSp>
        <p:nvGrpSpPr>
          <p:cNvPr id="15" name="Group 68"/>
          <p:cNvGrpSpPr/>
          <p:nvPr/>
        </p:nvGrpSpPr>
        <p:grpSpPr>
          <a:xfrm>
            <a:off x="7016750" y="1343025"/>
            <a:ext cx="1366838" cy="2878138"/>
            <a:chOff x="4967" y="2516"/>
            <a:chExt cx="997" cy="1813"/>
          </a:xfrm>
        </p:grpSpPr>
        <p:sp>
          <p:nvSpPr>
            <p:cNvPr id="10284" name="Rectangle 69"/>
            <p:cNvSpPr/>
            <p:nvPr/>
          </p:nvSpPr>
          <p:spPr>
            <a:xfrm>
              <a:off x="4967" y="2516"/>
              <a:ext cx="816" cy="181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10285" name="Picture 70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4967" y="2586"/>
              <a:ext cx="527" cy="1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0286" name="Group 71"/>
            <p:cNvGrpSpPr/>
            <p:nvPr/>
          </p:nvGrpSpPr>
          <p:grpSpPr>
            <a:xfrm>
              <a:off x="5465" y="2774"/>
              <a:ext cx="499" cy="479"/>
              <a:chOff x="5602" y="2856"/>
              <a:chExt cx="499" cy="479"/>
            </a:xfrm>
          </p:grpSpPr>
          <p:sp>
            <p:nvSpPr>
              <p:cNvPr id="10287" name="Line 72"/>
              <p:cNvSpPr/>
              <p:nvPr/>
            </p:nvSpPr>
            <p:spPr>
              <a:xfrm>
                <a:off x="5628" y="3010"/>
                <a:ext cx="167" cy="0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0288" name="Line 73"/>
              <p:cNvSpPr/>
              <p:nvPr/>
            </p:nvSpPr>
            <p:spPr>
              <a:xfrm>
                <a:off x="5628" y="3157"/>
                <a:ext cx="155" cy="1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0289" name="Line 74"/>
              <p:cNvSpPr/>
              <p:nvPr/>
            </p:nvSpPr>
            <p:spPr>
              <a:xfrm flipV="1">
                <a:off x="5728" y="3157"/>
                <a:ext cx="0" cy="178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0290" name="Line 75"/>
              <p:cNvSpPr/>
              <p:nvPr/>
            </p:nvSpPr>
            <p:spPr>
              <a:xfrm>
                <a:off x="5728" y="2856"/>
                <a:ext cx="0" cy="154"/>
              </a:xfrm>
              <a:prstGeom prst="line">
                <a:avLst/>
              </a:prstGeom>
              <a:ln w="19050" cap="flat" cmpd="sng">
                <a:solidFill>
                  <a:srgbClr val="000066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10291" name="Text Box 76"/>
              <p:cNvSpPr txBox="1"/>
              <p:nvPr/>
            </p:nvSpPr>
            <p:spPr>
              <a:xfrm>
                <a:off x="5602" y="2926"/>
                <a:ext cx="499" cy="288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lIns="90000" tIns="46800" rIns="90000" bIns="46800"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b="0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</a:t>
                </a:r>
                <a:r>
                  <a:rPr lang="en-US" altLang="zh-CN" sz="2400" b="0" i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x</a:t>
                </a:r>
                <a:endParaRPr lang="en-US" altLang="zh-CN" sz="2400" b="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endParaRPr>
              </a:p>
            </p:txBody>
          </p:sp>
        </p:grpSp>
      </p:grpSp>
      <p:sp>
        <p:nvSpPr>
          <p:cNvPr id="10292" name="Line 104"/>
          <p:cNvSpPr/>
          <p:nvPr/>
        </p:nvSpPr>
        <p:spPr>
          <a:xfrm flipV="1">
            <a:off x="2817813" y="2038350"/>
            <a:ext cx="3267075" cy="481013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sm" len="lg"/>
            <a:tailEnd type="none" w="sm" len="lg"/>
          </a:ln>
        </p:spPr>
      </p:sp>
      <p:sp>
        <p:nvSpPr>
          <p:cNvPr id="10293" name="Line 105"/>
          <p:cNvSpPr/>
          <p:nvPr/>
        </p:nvSpPr>
        <p:spPr>
          <a:xfrm flipV="1">
            <a:off x="2843213" y="2038350"/>
            <a:ext cx="3206750" cy="1174750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round/>
            <a:headEnd type="none" w="sm" len="lg"/>
            <a:tailEnd type="none" w="sm" len="lg"/>
          </a:ln>
        </p:spPr>
      </p:sp>
      <p:sp>
        <p:nvSpPr>
          <p:cNvPr id="1029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95" name="Text Box 42"/>
          <p:cNvSpPr txBox="1"/>
          <p:nvPr/>
        </p:nvSpPr>
        <p:spPr>
          <a:xfrm>
            <a:off x="4932363" y="2205038"/>
            <a:ext cx="685800" cy="457200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6" name="Text Box 43"/>
          <p:cNvSpPr txBox="1"/>
          <p:nvPr/>
        </p:nvSpPr>
        <p:spPr>
          <a:xfrm>
            <a:off x="4356100" y="1747838"/>
            <a:ext cx="685800" cy="457200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custDataLst>
      <p:tags r:id="rId3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2"/>
          <p:cNvSpPr txBox="1"/>
          <p:nvPr/>
        </p:nvSpPr>
        <p:spPr>
          <a:xfrm>
            <a:off x="212725" y="117475"/>
            <a:ext cx="68802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等厚干涉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薄膜厚度不均匀）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3" name="Text Box 3"/>
          <p:cNvSpPr txBox="1"/>
          <p:nvPr/>
        </p:nvSpPr>
        <p:spPr>
          <a:xfrm>
            <a:off x="34925" y="760413"/>
            <a:ext cx="2089150" cy="466725"/>
          </a:xfrm>
          <a:prstGeom prst="rect">
            <a:avLst/>
          </a:prstGeom>
          <a:solidFill>
            <a:srgbClr val="1227EC"/>
          </a:solidFill>
          <a:ln w="952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劈尖干涉：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24" name="Object 2"/>
          <p:cNvGraphicFramePr/>
          <p:nvPr/>
        </p:nvGraphicFramePr>
        <p:xfrm>
          <a:off x="2263775" y="3789363"/>
          <a:ext cx="1128713" cy="261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" name="" r:id="rId1" imgW="165100" imgH="215900" progId="Equation.3">
                  <p:embed/>
                </p:oleObj>
              </mc:Choice>
              <mc:Fallback>
                <p:oleObj name="" r:id="rId1" imgW="165100" imgH="2159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3775" y="3789363"/>
                        <a:ext cx="1128713" cy="2613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5"/>
          <p:cNvSpPr txBox="1"/>
          <p:nvPr/>
        </p:nvSpPr>
        <p:spPr>
          <a:xfrm>
            <a:off x="2797175" y="382587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明纹条件：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Text Box 6"/>
          <p:cNvSpPr txBox="1"/>
          <p:nvPr/>
        </p:nvSpPr>
        <p:spPr>
          <a:xfrm>
            <a:off x="2797175" y="4464050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暗纹条件：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7" name="Text Box 7"/>
          <p:cNvSpPr txBox="1"/>
          <p:nvPr/>
        </p:nvSpPr>
        <p:spPr>
          <a:xfrm>
            <a:off x="2781300" y="5075238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条纹间距：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28" name="Object 3"/>
          <p:cNvGraphicFramePr/>
          <p:nvPr/>
        </p:nvGraphicFramePr>
        <p:xfrm>
          <a:off x="395288" y="4359275"/>
          <a:ext cx="19621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7" name="" r:id="rId3" imgW="761365" imgH="393700" progId="Equation.3">
                  <p:embed/>
                </p:oleObj>
              </mc:Choice>
              <mc:Fallback>
                <p:oleObj name="" r:id="rId3" imgW="761365" imgH="393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4359275"/>
                        <a:ext cx="1962150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4"/>
          <p:cNvGraphicFramePr/>
          <p:nvPr/>
        </p:nvGraphicFramePr>
        <p:xfrm>
          <a:off x="4321175" y="3825875"/>
          <a:ext cx="29257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8" name="" r:id="rId5" imgW="1205230" imgH="203200" progId="Equation.3">
                  <p:embed/>
                </p:oleObj>
              </mc:Choice>
              <mc:Fallback>
                <p:oleObj name="" r:id="rId5" imgW="1205230" imgH="2032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1175" y="3825875"/>
                        <a:ext cx="2925763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5"/>
          <p:cNvGraphicFramePr/>
          <p:nvPr/>
        </p:nvGraphicFramePr>
        <p:xfrm>
          <a:off x="4241800" y="4508500"/>
          <a:ext cx="40052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9" name="" r:id="rId7" imgW="1839595" imgH="203200" progId="Equation.3">
                  <p:embed/>
                </p:oleObj>
              </mc:Choice>
              <mc:Fallback>
                <p:oleObj name="" r:id="rId7" imgW="1839595" imgH="2032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41800" y="4508500"/>
                        <a:ext cx="4005263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6"/>
          <p:cNvGraphicFramePr/>
          <p:nvPr/>
        </p:nvGraphicFramePr>
        <p:xfrm>
          <a:off x="4187825" y="4902200"/>
          <a:ext cx="16732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0" name="" r:id="rId9" imgW="647700" imgH="393700" progId="Equation.DSMT4">
                  <p:embed/>
                </p:oleObj>
              </mc:Choice>
              <mc:Fallback>
                <p:oleObj name="" r:id="rId9" imgW="647700" imgH="3937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87825" y="4902200"/>
                        <a:ext cx="1673225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Rectangle 19"/>
          <p:cNvSpPr/>
          <p:nvPr/>
        </p:nvSpPr>
        <p:spPr>
          <a:xfrm>
            <a:off x="1981200" y="4364038"/>
            <a:ext cx="503238" cy="936625"/>
          </a:xfrm>
          <a:prstGeom prst="rect">
            <a:avLst/>
          </a:prstGeom>
          <a:noFill/>
          <a:ln w="19050" cap="flat" cmpd="sng">
            <a:solidFill>
              <a:srgbClr val="CC000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141" name="Object 11"/>
          <p:cNvGraphicFramePr/>
          <p:nvPr/>
        </p:nvGraphicFramePr>
        <p:xfrm>
          <a:off x="5799138" y="5562600"/>
          <a:ext cx="318928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" name="" r:id="rId11" imgW="1193165" imgH="393700" progId="Equation.DSMT4">
                  <p:embed/>
                </p:oleObj>
              </mc:Choice>
              <mc:Fallback>
                <p:oleObj name="" r:id="rId11" imgW="1193165" imgH="3937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99138" y="5562600"/>
                        <a:ext cx="3189287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2" name="Text Box 22"/>
          <p:cNvSpPr txBox="1"/>
          <p:nvPr/>
        </p:nvSpPr>
        <p:spPr>
          <a:xfrm>
            <a:off x="2838450" y="5754688"/>
            <a:ext cx="29416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相邻条纹的膜厚差：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21"/>
          <p:cNvGrpSpPr/>
          <p:nvPr/>
        </p:nvGrpSpPr>
        <p:grpSpPr>
          <a:xfrm>
            <a:off x="468313" y="2201863"/>
            <a:ext cx="3001962" cy="1076325"/>
            <a:chOff x="2860" y="1154"/>
            <a:chExt cx="1891" cy="678"/>
          </a:xfrm>
        </p:grpSpPr>
        <p:sp>
          <p:nvSpPr>
            <p:cNvPr id="46" name="Rectangle 22"/>
            <p:cNvSpPr>
              <a:spLocks noChangeArrowheads="1"/>
            </p:cNvSpPr>
            <p:nvPr/>
          </p:nvSpPr>
          <p:spPr bwMode="auto">
            <a:xfrm>
              <a:off x="4048" y="1154"/>
              <a:ext cx="114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0000" tIns="46800" rIns="90000" bIns="46800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280" name="Group 23"/>
            <p:cNvGrpSpPr/>
            <p:nvPr/>
          </p:nvGrpSpPr>
          <p:grpSpPr>
            <a:xfrm>
              <a:off x="2860" y="1442"/>
              <a:ext cx="1891" cy="390"/>
              <a:chOff x="336" y="2216"/>
              <a:chExt cx="1891" cy="390"/>
            </a:xfrm>
          </p:grpSpPr>
          <p:sp>
            <p:nvSpPr>
              <p:cNvPr id="11281" name="Line 24"/>
              <p:cNvSpPr/>
              <p:nvPr/>
            </p:nvSpPr>
            <p:spPr>
              <a:xfrm>
                <a:off x="336" y="2552"/>
                <a:ext cx="1891" cy="1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sm"/>
                <a:tailEnd type="none" w="med" len="sm"/>
              </a:ln>
            </p:spPr>
          </p:sp>
          <p:sp>
            <p:nvSpPr>
              <p:cNvPr id="11282" name="Line 25"/>
              <p:cNvSpPr/>
              <p:nvPr/>
            </p:nvSpPr>
            <p:spPr>
              <a:xfrm flipV="1">
                <a:off x="336" y="2216"/>
                <a:ext cx="1877" cy="337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round/>
                <a:headEnd type="none" w="med" len="sm"/>
                <a:tailEnd type="none" w="med" len="sm"/>
              </a:ln>
            </p:spPr>
          </p:sp>
          <p:sp>
            <p:nvSpPr>
              <p:cNvPr id="50" name="Arc 26"/>
              <p:cNvSpPr/>
              <p:nvPr/>
            </p:nvSpPr>
            <p:spPr bwMode="auto">
              <a:xfrm>
                <a:off x="796" y="2464"/>
                <a:ext cx="64" cy="8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66CCFF"/>
                  </a:gs>
                  <a:gs pos="50000">
                    <a:schemeClr val="bg1"/>
                  </a:gs>
                  <a:gs pos="100000">
                    <a:srgbClr val="66CCFF"/>
                  </a:gs>
                </a:gsLst>
                <a:lin ang="5400000" scaled="1"/>
              </a:gradFill>
              <a:ln w="9525">
                <a:solidFill>
                  <a:schemeClr val="tx2"/>
                </a:solidFill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2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1" name="Rectangle 27"/>
              <p:cNvSpPr>
                <a:spLocks noChangeArrowheads="1"/>
              </p:cNvSpPr>
              <p:nvPr/>
            </p:nvSpPr>
            <p:spPr bwMode="auto">
              <a:xfrm>
                <a:off x="892" y="2413"/>
                <a:ext cx="230" cy="19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2700" tIns="12700" rIns="12700" bIns="12700"/>
              <a:lstStyle/>
              <a:p>
                <a:pPr marL="0" marR="0" lvl="0" indent="0" algn="just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  <a:sym typeface="Symbol" panose="05050102010706020507" pitchFamily="18" charset="2"/>
                  </a:rPr>
                  <a:t></a:t>
                </a:r>
                <a:endPara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52" name="Rectangle 28"/>
          <p:cNvSpPr>
            <a:spLocks noChangeArrowheads="1"/>
          </p:cNvSpPr>
          <p:nvPr/>
        </p:nvSpPr>
        <p:spPr bwMode="auto">
          <a:xfrm>
            <a:off x="2632075" y="2049463"/>
            <a:ext cx="1141413" cy="330200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反射光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Line 31"/>
          <p:cNvSpPr/>
          <p:nvPr/>
        </p:nvSpPr>
        <p:spPr>
          <a:xfrm>
            <a:off x="2498725" y="1668463"/>
            <a:ext cx="0" cy="12192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sm"/>
            <a:tailEnd type="triangle" w="sm" len="lg"/>
          </a:ln>
        </p:spPr>
      </p:sp>
      <p:sp>
        <p:nvSpPr>
          <p:cNvPr id="54" name="Line 36"/>
          <p:cNvSpPr/>
          <p:nvPr/>
        </p:nvSpPr>
        <p:spPr>
          <a:xfrm flipH="1">
            <a:off x="3165475" y="2832100"/>
            <a:ext cx="0" cy="360363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round/>
            <a:headEnd type="triangle" w="sm" len="med"/>
            <a:tailEnd type="triangle" w="sm" len="med"/>
          </a:ln>
        </p:spPr>
      </p: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3260725" y="2732088"/>
            <a:ext cx="447675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e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Rectangle 38"/>
          <p:cNvSpPr>
            <a:spLocks noChangeArrowheads="1"/>
          </p:cNvSpPr>
          <p:nvPr/>
        </p:nvSpPr>
        <p:spPr bwMode="auto">
          <a:xfrm>
            <a:off x="1812925" y="2430463"/>
            <a:ext cx="552450" cy="346075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-2500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Rectangle 39"/>
          <p:cNvSpPr>
            <a:spLocks noChangeArrowheads="1"/>
          </p:cNvSpPr>
          <p:nvPr/>
        </p:nvSpPr>
        <p:spPr bwMode="auto">
          <a:xfrm>
            <a:off x="1755775" y="3130550"/>
            <a:ext cx="669925" cy="442913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-2500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Rectangle 40"/>
          <p:cNvSpPr>
            <a:spLocks noChangeArrowheads="1"/>
          </p:cNvSpPr>
          <p:nvPr/>
        </p:nvSpPr>
        <p:spPr bwMode="auto">
          <a:xfrm>
            <a:off x="1724025" y="2816225"/>
            <a:ext cx="1081088" cy="204788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=n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9" name="Rectangle 43"/>
          <p:cNvSpPr>
            <a:spLocks noChangeArrowheads="1"/>
          </p:cNvSpPr>
          <p:nvPr/>
        </p:nvSpPr>
        <p:spPr bwMode="auto">
          <a:xfrm>
            <a:off x="1212850" y="2055813"/>
            <a:ext cx="1198563" cy="293688"/>
          </a:xfrm>
          <a:prstGeom prst="rect">
            <a:avLst/>
          </a:prstGeom>
          <a:noFill/>
          <a:ln w="25400">
            <a:noFill/>
            <a:miter lim="800000"/>
          </a:ln>
          <a:effectLst/>
        </p:spPr>
        <p:txBody>
          <a:bodyPr lIns="12700" tIns="12700" rIns="12700" bIns="12700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反射光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0" name="Line 33"/>
          <p:cNvSpPr/>
          <p:nvPr/>
        </p:nvSpPr>
        <p:spPr>
          <a:xfrm flipH="1">
            <a:off x="2484438" y="1844675"/>
            <a:ext cx="0" cy="9144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round/>
            <a:headEnd type="triangle" w="sm" len="lg"/>
            <a:tailEnd type="none" w="med" len="sm"/>
          </a:ln>
        </p:spPr>
      </p:sp>
      <p:sp>
        <p:nvSpPr>
          <p:cNvPr id="61" name="Line 35"/>
          <p:cNvSpPr/>
          <p:nvPr/>
        </p:nvSpPr>
        <p:spPr>
          <a:xfrm>
            <a:off x="2513013" y="2851150"/>
            <a:ext cx="1016000" cy="1588"/>
          </a:xfrm>
          <a:prstGeom prst="line">
            <a:avLst/>
          </a:prstGeom>
          <a:ln w="12700" cap="flat" cmpd="sng">
            <a:solidFill>
              <a:srgbClr val="000000"/>
            </a:solidFill>
            <a:prstDash val="solid"/>
            <a:round/>
            <a:headEnd type="none" w="med" len="sm"/>
            <a:tailEnd type="none" w="med" len="sm"/>
          </a:ln>
        </p:spPr>
      </p:sp>
      <p:sp>
        <p:nvSpPr>
          <p:cNvPr id="62" name="Line 32"/>
          <p:cNvSpPr/>
          <p:nvPr/>
        </p:nvSpPr>
        <p:spPr>
          <a:xfrm flipH="1">
            <a:off x="2501900" y="2095500"/>
            <a:ext cx="0" cy="685800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round/>
            <a:headEnd type="triangle" w="sm" len="lg"/>
            <a:tailEnd type="none" w="med" len="sm"/>
          </a:ln>
        </p:spPr>
      </p:sp>
      <p:sp>
        <p:nvSpPr>
          <p:cNvPr id="63" name="Line 34"/>
          <p:cNvSpPr/>
          <p:nvPr/>
        </p:nvSpPr>
        <p:spPr>
          <a:xfrm>
            <a:off x="2484438" y="2852738"/>
            <a:ext cx="4762" cy="325437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round/>
            <a:headEnd type="none" w="med" len="sm"/>
            <a:tailEnd type="none" w="med" len="sm"/>
          </a:ln>
        </p:spPr>
      </p:sp>
      <p:grpSp>
        <p:nvGrpSpPr>
          <p:cNvPr id="4" name="Group 2"/>
          <p:cNvGrpSpPr/>
          <p:nvPr/>
        </p:nvGrpSpPr>
        <p:grpSpPr>
          <a:xfrm>
            <a:off x="4822825" y="547688"/>
            <a:ext cx="3997325" cy="3025775"/>
            <a:chOff x="249" y="390"/>
            <a:chExt cx="2518" cy="1906"/>
          </a:xfrm>
        </p:grpSpPr>
        <p:grpSp>
          <p:nvGrpSpPr>
            <p:cNvPr id="11298" name="Group 3"/>
            <p:cNvGrpSpPr/>
            <p:nvPr/>
          </p:nvGrpSpPr>
          <p:grpSpPr>
            <a:xfrm>
              <a:off x="249" y="390"/>
              <a:ext cx="2518" cy="1906"/>
              <a:chOff x="249" y="390"/>
              <a:chExt cx="2518" cy="1906"/>
            </a:xfrm>
          </p:grpSpPr>
          <p:sp>
            <p:nvSpPr>
              <p:cNvPr id="100" name="Rectangle 4"/>
              <p:cNvSpPr>
                <a:spLocks noChangeArrowheads="1"/>
              </p:cNvSpPr>
              <p:nvPr/>
            </p:nvSpPr>
            <p:spPr bwMode="blackWhite">
              <a:xfrm>
                <a:off x="249" y="390"/>
                <a:ext cx="2518" cy="1906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solidFill>
                  <a:srgbClr val="259AB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1300" name="Group 5"/>
              <p:cNvGrpSpPr/>
              <p:nvPr/>
            </p:nvGrpSpPr>
            <p:grpSpPr>
              <a:xfrm>
                <a:off x="397" y="1400"/>
                <a:ext cx="1952" cy="788"/>
                <a:chOff x="3216" y="2294"/>
                <a:chExt cx="2016" cy="788"/>
              </a:xfrm>
            </p:grpSpPr>
            <p:sp>
              <p:nvSpPr>
                <p:cNvPr id="11301" name="AutoShape 6"/>
                <p:cNvSpPr/>
                <p:nvPr/>
              </p:nvSpPr>
              <p:spPr>
                <a:xfrm rot="-13069">
                  <a:off x="3266" y="2746"/>
                  <a:ext cx="1966" cy="336"/>
                </a:xfrm>
                <a:prstGeom prst="parallelogram">
                  <a:avLst>
                    <a:gd name="adj" fmla="val 74819"/>
                  </a:avLst>
                </a:prstGeom>
                <a:noFill/>
                <a:ln w="12700" cap="flat" cmpd="sng">
                  <a:solidFill>
                    <a:srgbClr val="80008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02" name="AutoShape 7"/>
                <p:cNvSpPr/>
                <p:nvPr/>
              </p:nvSpPr>
              <p:spPr>
                <a:xfrm rot="-13069">
                  <a:off x="3264" y="2650"/>
                  <a:ext cx="1966" cy="336"/>
                </a:xfrm>
                <a:prstGeom prst="parallelogram">
                  <a:avLst>
                    <a:gd name="adj" fmla="val 74819"/>
                  </a:avLst>
                </a:prstGeom>
                <a:solidFill>
                  <a:srgbClr val="FFFFCC"/>
                </a:solidFill>
                <a:ln w="12700" cap="flat" cmpd="sng">
                  <a:solidFill>
                    <a:srgbClr val="80008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303" name="Line 8"/>
                <p:cNvSpPr/>
                <p:nvPr/>
              </p:nvSpPr>
              <p:spPr>
                <a:xfrm>
                  <a:off x="5222" y="2688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rgbClr val="800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grpSp>
              <p:nvGrpSpPr>
                <p:cNvPr id="11304" name="Group 9"/>
                <p:cNvGrpSpPr/>
                <p:nvPr/>
              </p:nvGrpSpPr>
              <p:grpSpPr>
                <a:xfrm>
                  <a:off x="3216" y="2294"/>
                  <a:ext cx="1982" cy="778"/>
                  <a:chOff x="3216" y="2294"/>
                  <a:chExt cx="1982" cy="778"/>
                </a:xfrm>
              </p:grpSpPr>
              <p:sp>
                <p:nvSpPr>
                  <p:cNvPr id="11305" name="AutoShape 10"/>
                  <p:cNvSpPr/>
                  <p:nvPr/>
                </p:nvSpPr>
                <p:spPr>
                  <a:xfrm rot="-584118">
                    <a:off x="3232" y="2544"/>
                    <a:ext cx="1966" cy="266"/>
                  </a:xfrm>
                  <a:prstGeom prst="parallelogram">
                    <a:avLst>
                      <a:gd name="adj" fmla="val 111515"/>
                    </a:avLst>
                  </a:prstGeom>
                  <a:noFill/>
                  <a:ln w="12700" cap="flat" cmpd="sng">
                    <a:solidFill>
                      <a:srgbClr val="80008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06" name="AutoShape 11"/>
                  <p:cNvSpPr/>
                  <p:nvPr/>
                </p:nvSpPr>
                <p:spPr>
                  <a:xfrm rot="-584118">
                    <a:off x="3216" y="2448"/>
                    <a:ext cx="1966" cy="266"/>
                  </a:xfrm>
                  <a:prstGeom prst="parallelogram">
                    <a:avLst>
                      <a:gd name="adj" fmla="val 111515"/>
                    </a:avLst>
                  </a:prstGeom>
                  <a:solidFill>
                    <a:srgbClr val="CCFFFF">
                      <a:alpha val="50195"/>
                    </a:srgbClr>
                  </a:solidFill>
                  <a:ln w="12700" cap="flat" cmpd="sng">
                    <a:solidFill>
                      <a:srgbClr val="800080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07" name="Line 12"/>
                  <p:cNvSpPr/>
                  <p:nvPr/>
                </p:nvSpPr>
                <p:spPr>
                  <a:xfrm>
                    <a:off x="3264" y="2976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08" name="Line 13"/>
                  <p:cNvSpPr/>
                  <p:nvPr/>
                </p:nvSpPr>
                <p:spPr>
                  <a:xfrm>
                    <a:off x="4972" y="2976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09" name="Line 14"/>
                  <p:cNvSpPr/>
                  <p:nvPr/>
                </p:nvSpPr>
                <p:spPr>
                  <a:xfrm>
                    <a:off x="5154" y="2294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10" name="Line 15"/>
                  <p:cNvSpPr/>
                  <p:nvPr/>
                </p:nvSpPr>
                <p:spPr>
                  <a:xfrm>
                    <a:off x="4896" y="2592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11" name="Line 16"/>
                  <p:cNvSpPr/>
                  <p:nvPr/>
                </p:nvSpPr>
                <p:spPr>
                  <a:xfrm>
                    <a:off x="3264" y="2880"/>
                    <a:ext cx="0" cy="96"/>
                  </a:xfrm>
                  <a:prstGeom prst="line">
                    <a:avLst/>
                  </a:prstGeom>
                  <a:ln w="12700" cap="flat" cmpd="sng">
                    <a:solidFill>
                      <a:srgbClr val="800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312" name="AutoShape 17"/>
                  <p:cNvSpPr/>
                  <p:nvPr/>
                </p:nvSpPr>
                <p:spPr>
                  <a:xfrm rot="-610251">
                    <a:off x="3216" y="2576"/>
                    <a:ext cx="434" cy="282"/>
                  </a:xfrm>
                  <a:prstGeom prst="parallelogram">
                    <a:avLst>
                      <a:gd name="adj" fmla="val 118739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3" name="AutoShape 18"/>
                  <p:cNvSpPr/>
                  <p:nvPr/>
                </p:nvSpPr>
                <p:spPr>
                  <a:xfrm rot="-610251">
                    <a:off x="3476" y="2506"/>
                    <a:ext cx="483" cy="282"/>
                  </a:xfrm>
                  <a:prstGeom prst="parallelogram">
                    <a:avLst>
                      <a:gd name="adj" fmla="val 113003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4" name="AutoShape 19"/>
                  <p:cNvSpPr/>
                  <p:nvPr/>
                </p:nvSpPr>
                <p:spPr>
                  <a:xfrm rot="-610251">
                    <a:off x="3771" y="2458"/>
                    <a:ext cx="483" cy="282"/>
                  </a:xfrm>
                  <a:prstGeom prst="parallelogram">
                    <a:avLst>
                      <a:gd name="adj" fmla="val 113003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5" name="AutoShape 20"/>
                  <p:cNvSpPr/>
                  <p:nvPr/>
                </p:nvSpPr>
                <p:spPr>
                  <a:xfrm rot="-610251">
                    <a:off x="4029" y="2420"/>
                    <a:ext cx="483" cy="282"/>
                  </a:xfrm>
                  <a:prstGeom prst="parallelogram">
                    <a:avLst>
                      <a:gd name="adj" fmla="val 113003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6" name="AutoShape 21"/>
                  <p:cNvSpPr/>
                  <p:nvPr/>
                </p:nvSpPr>
                <p:spPr>
                  <a:xfrm rot="-610251">
                    <a:off x="4307" y="2372"/>
                    <a:ext cx="483" cy="282"/>
                  </a:xfrm>
                  <a:prstGeom prst="parallelogram">
                    <a:avLst>
                      <a:gd name="adj" fmla="val 113003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7" name="AutoShape 22"/>
                  <p:cNvSpPr/>
                  <p:nvPr/>
                </p:nvSpPr>
                <p:spPr>
                  <a:xfrm rot="-610251">
                    <a:off x="4557" y="2342"/>
                    <a:ext cx="483" cy="282"/>
                  </a:xfrm>
                  <a:prstGeom prst="parallelogram">
                    <a:avLst>
                      <a:gd name="adj" fmla="val 113003"/>
                    </a:avLst>
                  </a:prstGeom>
                  <a:solidFill>
                    <a:schemeClr val="tx1"/>
                  </a:soli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8" name="AutoShape 23"/>
                  <p:cNvSpPr/>
                  <p:nvPr/>
                </p:nvSpPr>
                <p:spPr>
                  <a:xfrm>
                    <a:off x="3332" y="2554"/>
                    <a:ext cx="288" cy="326"/>
                  </a:xfrm>
                  <a:prstGeom prst="parallelogram">
                    <a:avLst>
                      <a:gd name="adj" fmla="val 87847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19" name="AutoShape 24"/>
                  <p:cNvSpPr/>
                  <p:nvPr/>
                </p:nvSpPr>
                <p:spPr>
                  <a:xfrm>
                    <a:off x="3484" y="2506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0" name="AutoShape 25"/>
                  <p:cNvSpPr/>
                  <p:nvPr/>
                </p:nvSpPr>
                <p:spPr>
                  <a:xfrm>
                    <a:off x="3648" y="2458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1" name="AutoShape 26"/>
                  <p:cNvSpPr/>
                  <p:nvPr/>
                </p:nvSpPr>
                <p:spPr>
                  <a:xfrm>
                    <a:off x="3782" y="2458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CCBF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2" name="AutoShape 27"/>
                  <p:cNvSpPr/>
                  <p:nvPr/>
                </p:nvSpPr>
                <p:spPr>
                  <a:xfrm>
                    <a:off x="3936" y="2448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C1B1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3" name="AutoShape 28"/>
                  <p:cNvSpPr/>
                  <p:nvPr/>
                </p:nvSpPr>
                <p:spPr>
                  <a:xfrm>
                    <a:off x="4060" y="2410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4" name="AutoShape 29"/>
                  <p:cNvSpPr/>
                  <p:nvPr/>
                </p:nvSpPr>
                <p:spPr>
                  <a:xfrm>
                    <a:off x="4224" y="2390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CCBF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5" name="AutoShape 30"/>
                  <p:cNvSpPr/>
                  <p:nvPr/>
                </p:nvSpPr>
                <p:spPr>
                  <a:xfrm>
                    <a:off x="4512" y="2314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6" name="AutoShape 31"/>
                  <p:cNvSpPr/>
                  <p:nvPr/>
                </p:nvSpPr>
                <p:spPr>
                  <a:xfrm>
                    <a:off x="4368" y="2334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7" name="AutoShape 32"/>
                  <p:cNvSpPr/>
                  <p:nvPr/>
                </p:nvSpPr>
                <p:spPr>
                  <a:xfrm>
                    <a:off x="4608" y="2314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328" name="AutoShape 33"/>
                  <p:cNvSpPr/>
                  <p:nvPr/>
                </p:nvSpPr>
                <p:spPr>
                  <a:xfrm>
                    <a:off x="4734" y="2314"/>
                    <a:ext cx="288" cy="326"/>
                  </a:xfrm>
                  <a:prstGeom prst="parallelogram">
                    <a:avLst>
                      <a:gd name="adj" fmla="val 90972"/>
                    </a:avLst>
                  </a:prstGeom>
                  <a:gradFill rotWithShape="0">
                    <a:gsLst>
                      <a:gs pos="0">
                        <a:srgbClr val="FF3300"/>
                      </a:gs>
                      <a:gs pos="100000">
                        <a:srgbClr val="FFD6CC"/>
                      </a:gs>
                    </a:gsLst>
                    <a:lin ang="0" scaled="1"/>
                    <a:tileRect/>
                  </a:gradFill>
                  <a:ln w="28575">
                    <a:noFill/>
                  </a:ln>
                </p:spPr>
                <p:txBody>
                  <a:bodyPr wrap="none" anchor="ctr" anchorCtr="0"/>
                  <a:lstStyle/>
                  <a:p>
                    <a:pPr algn="ctr"/>
                    <a:endParaRPr lang="zh-CN" altLang="en-US" dirty="0"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79" name="AutoShape 34"/>
            <p:cNvSpPr>
              <a:spLocks noChangeArrowheads="1"/>
            </p:cNvSpPr>
            <p:nvPr/>
          </p:nvSpPr>
          <p:spPr bwMode="auto">
            <a:xfrm>
              <a:off x="435" y="935"/>
              <a:ext cx="744" cy="192"/>
            </a:xfrm>
            <a:prstGeom prst="wedgeRectCallout">
              <a:avLst>
                <a:gd name="adj1" fmla="val 75389"/>
                <a:gd name="adj2" fmla="val 248958"/>
              </a:avLst>
            </a:prstGeom>
            <a:noFill/>
            <a:ln w="28575">
              <a:solidFill>
                <a:srgbClr val="A5002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第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k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级明纹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80" name="AutoShape 35"/>
            <p:cNvSpPr>
              <a:spLocks noChangeArrowheads="1"/>
            </p:cNvSpPr>
            <p:nvPr/>
          </p:nvSpPr>
          <p:spPr bwMode="auto">
            <a:xfrm>
              <a:off x="1617" y="748"/>
              <a:ext cx="883" cy="240"/>
            </a:xfrm>
            <a:prstGeom prst="wedgeRectCallout">
              <a:avLst>
                <a:gd name="adj1" fmla="val -39694"/>
                <a:gd name="adj2" fmla="val 241667"/>
              </a:avLst>
            </a:prstGeom>
            <a:noFill/>
            <a:ln w="28575">
              <a:solidFill>
                <a:srgbClr val="A5002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第</a:t>
              </a:r>
              <a:r>
                <a:rPr kumimoji="1" lang="en-US" altLang="zh-CN" sz="2000" b="1" i="1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k+1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级明纹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11331" name="Group 36"/>
            <p:cNvGrpSpPr/>
            <p:nvPr/>
          </p:nvGrpSpPr>
          <p:grpSpPr>
            <a:xfrm>
              <a:off x="1176" y="1866"/>
              <a:ext cx="182" cy="264"/>
              <a:chOff x="4071" y="2764"/>
              <a:chExt cx="189" cy="264"/>
            </a:xfrm>
          </p:grpSpPr>
          <p:sp>
            <p:nvSpPr>
              <p:cNvPr id="11332" name="Line 37"/>
              <p:cNvSpPr/>
              <p:nvPr/>
            </p:nvSpPr>
            <p:spPr>
              <a:xfrm>
                <a:off x="4080" y="2842"/>
                <a:ext cx="0" cy="144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1333" name="Object 28"/>
              <p:cNvGraphicFramePr/>
              <p:nvPr/>
            </p:nvGraphicFramePr>
            <p:xfrm>
              <a:off x="4071" y="2764"/>
              <a:ext cx="189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2" name="" r:id="rId13" imgW="165100" imgH="228600" progId="Equation.DSMT4">
                      <p:embed/>
                    </p:oleObj>
                  </mc:Choice>
                  <mc:Fallback>
                    <p:oleObj name="" r:id="rId13" imgW="165100" imgH="228600" progId="Equation.DSMT4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071" y="2764"/>
                            <a:ext cx="189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334" name="Group 39"/>
            <p:cNvGrpSpPr/>
            <p:nvPr/>
          </p:nvGrpSpPr>
          <p:grpSpPr>
            <a:xfrm>
              <a:off x="1408" y="1881"/>
              <a:ext cx="283" cy="264"/>
              <a:chOff x="4329" y="2760"/>
              <a:chExt cx="293" cy="264"/>
            </a:xfrm>
          </p:grpSpPr>
          <p:sp>
            <p:nvSpPr>
              <p:cNvPr id="11335" name="Line 40"/>
              <p:cNvSpPr/>
              <p:nvPr/>
            </p:nvSpPr>
            <p:spPr>
              <a:xfrm>
                <a:off x="4348" y="2784"/>
                <a:ext cx="0" cy="192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1336" name="Object 29"/>
              <p:cNvGraphicFramePr/>
              <p:nvPr/>
            </p:nvGraphicFramePr>
            <p:xfrm>
              <a:off x="4329" y="2760"/>
              <a:ext cx="293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3" name="" r:id="rId15" imgW="254000" imgH="228600" progId="Equation.DSMT4">
                      <p:embed/>
                    </p:oleObj>
                  </mc:Choice>
                  <mc:Fallback>
                    <p:oleObj name="" r:id="rId15" imgW="254000" imgH="228600" progId="Equation.DSMT4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329" y="2760"/>
                            <a:ext cx="293" cy="2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337" name="Object 30"/>
            <p:cNvGraphicFramePr/>
            <p:nvPr/>
          </p:nvGraphicFramePr>
          <p:xfrm>
            <a:off x="884" y="1968"/>
            <a:ext cx="11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" name="" r:id="rId17" imgW="139700" imgH="177800" progId="Equation.3">
                    <p:embed/>
                  </p:oleObj>
                </mc:Choice>
                <mc:Fallback>
                  <p:oleObj name="" r:id="rId17" imgW="139700" imgH="1778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84" y="1968"/>
                          <a:ext cx="117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38" name="Group 43"/>
            <p:cNvGrpSpPr/>
            <p:nvPr/>
          </p:nvGrpSpPr>
          <p:grpSpPr>
            <a:xfrm>
              <a:off x="1211" y="1890"/>
              <a:ext cx="744" cy="48"/>
              <a:chOff x="4080" y="2784"/>
              <a:chExt cx="768" cy="48"/>
            </a:xfrm>
          </p:grpSpPr>
          <p:sp>
            <p:nvSpPr>
              <p:cNvPr id="11339" name="Line 44"/>
              <p:cNvSpPr/>
              <p:nvPr/>
            </p:nvSpPr>
            <p:spPr>
              <a:xfrm>
                <a:off x="4080" y="2832"/>
                <a:ext cx="768" cy="0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lg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340" name="Line 45"/>
              <p:cNvSpPr/>
              <p:nvPr/>
            </p:nvSpPr>
            <p:spPr>
              <a:xfrm flipV="1">
                <a:off x="4320" y="2784"/>
                <a:ext cx="528" cy="10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lgDash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341" name="Group 46"/>
            <p:cNvGrpSpPr/>
            <p:nvPr/>
          </p:nvGrpSpPr>
          <p:grpSpPr>
            <a:xfrm>
              <a:off x="1866" y="1746"/>
              <a:ext cx="215" cy="368"/>
              <a:chOff x="4800" y="2640"/>
              <a:chExt cx="186" cy="336"/>
            </a:xfrm>
          </p:grpSpPr>
          <p:sp>
            <p:nvSpPr>
              <p:cNvPr id="11342" name="Line 47"/>
              <p:cNvSpPr/>
              <p:nvPr/>
            </p:nvSpPr>
            <p:spPr>
              <a:xfrm>
                <a:off x="4800" y="2640"/>
                <a:ext cx="0" cy="144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sp>
            <p:nvSpPr>
              <p:cNvPr id="11343" name="Line 48"/>
              <p:cNvSpPr/>
              <p:nvPr/>
            </p:nvSpPr>
            <p:spPr>
              <a:xfrm flipV="1">
                <a:off x="4800" y="2832"/>
                <a:ext cx="0" cy="144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sp>
          <p:graphicFrame>
            <p:nvGraphicFramePr>
              <p:cNvPr id="11344" name="Object 31"/>
              <p:cNvGraphicFramePr/>
              <p:nvPr/>
            </p:nvGraphicFramePr>
            <p:xfrm>
              <a:off x="4848" y="2728"/>
              <a:ext cx="138" cy="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5" name="" r:id="rId19" imgW="202565" imgH="177800" progId="Equation.3">
                      <p:embed/>
                    </p:oleObj>
                  </mc:Choice>
                  <mc:Fallback>
                    <p:oleObj name="" r:id="rId19" imgW="202565" imgH="177800" progId="Equation.3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848" y="2728"/>
                            <a:ext cx="138" cy="12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345" name="Group 50"/>
            <p:cNvGrpSpPr/>
            <p:nvPr/>
          </p:nvGrpSpPr>
          <p:grpSpPr>
            <a:xfrm>
              <a:off x="1398" y="1228"/>
              <a:ext cx="269" cy="280"/>
              <a:chOff x="4426" y="1824"/>
              <a:chExt cx="278" cy="280"/>
            </a:xfrm>
          </p:grpSpPr>
          <p:sp>
            <p:nvSpPr>
              <p:cNvPr id="11346" name="Line 51"/>
              <p:cNvSpPr/>
              <p:nvPr/>
            </p:nvSpPr>
            <p:spPr>
              <a:xfrm>
                <a:off x="4704" y="1872"/>
                <a:ext cx="0" cy="192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347" name="Line 52"/>
              <p:cNvSpPr/>
              <p:nvPr/>
            </p:nvSpPr>
            <p:spPr>
              <a:xfrm>
                <a:off x="4426" y="1912"/>
                <a:ext cx="0" cy="192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1348" name="Line 53"/>
              <p:cNvSpPr/>
              <p:nvPr/>
            </p:nvSpPr>
            <p:spPr>
              <a:xfrm flipV="1">
                <a:off x="4426" y="2016"/>
                <a:ext cx="278" cy="46"/>
              </a:xfrm>
              <a:prstGeom prst="line">
                <a:avLst/>
              </a:prstGeom>
              <a:ln w="12700" cap="flat" cmpd="sng">
                <a:solidFill>
                  <a:srgbClr val="800080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sp>
          <p:graphicFrame>
            <p:nvGraphicFramePr>
              <p:cNvPr id="11349" name="Object 32"/>
              <p:cNvGraphicFramePr/>
              <p:nvPr/>
            </p:nvGraphicFramePr>
            <p:xfrm>
              <a:off x="4506" y="1824"/>
              <a:ext cx="19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6" name="" r:id="rId21" imgW="227965" imgH="177800" progId="Equation.DSMT4">
                      <p:embed/>
                    </p:oleObj>
                  </mc:Choice>
                  <mc:Fallback>
                    <p:oleObj name="" r:id="rId21" imgW="227965" imgH="177800" progId="Equation.DSMT4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506" y="1824"/>
                            <a:ext cx="194" cy="1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53" name="矩形 152"/>
          <p:cNvSpPr/>
          <p:nvPr/>
        </p:nvSpPr>
        <p:spPr>
          <a:xfrm>
            <a:off x="2124075" y="620713"/>
            <a:ext cx="2663825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平行于劈尖棱边的等间距平行条纹。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35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nimBg="1"/>
      <p:bldP spid="5125" grpId="0"/>
      <p:bldP spid="5126" grpId="0"/>
      <p:bldP spid="5127" grpId="0"/>
      <p:bldP spid="5139" grpId="0" animBg="1"/>
      <p:bldP spid="5142" grpId="0"/>
      <p:bldP spid="52" grpId="0"/>
      <p:bldP spid="55" grpId="0"/>
      <p:bldP spid="56" grpId="0"/>
      <p:bldP spid="57" grpId="0"/>
      <p:bldP spid="58" grpId="0"/>
      <p:bldP spid="59" grpId="0"/>
      <p:bldP spid="1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2"/>
          <p:cNvSpPr txBox="1"/>
          <p:nvPr/>
        </p:nvSpPr>
        <p:spPr>
          <a:xfrm>
            <a:off x="174625" y="730250"/>
            <a:ext cx="2043113" cy="466725"/>
          </a:xfrm>
          <a:prstGeom prst="rect">
            <a:avLst/>
          </a:prstGeom>
          <a:solidFill>
            <a:srgbClr val="1227EC"/>
          </a:solidFill>
          <a:ln w="9525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牛顿环：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7"/>
          <p:cNvGraphicFramePr/>
          <p:nvPr/>
        </p:nvGraphicFramePr>
        <p:xfrm>
          <a:off x="2362200" y="4505325"/>
          <a:ext cx="112871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name="" r:id="rId1" imgW="165100" imgH="215900" progId="Equation.3">
                  <p:embed/>
                </p:oleObj>
              </mc:Choice>
              <mc:Fallback>
                <p:oleObj name="" r:id="rId1" imgW="165100" imgH="215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2200" y="4505325"/>
                        <a:ext cx="1128713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/>
          <p:nvPr/>
        </p:nvSpPr>
        <p:spPr>
          <a:xfrm>
            <a:off x="2895600" y="435292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明纹半径：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15"/>
          <p:cNvSpPr txBox="1"/>
          <p:nvPr/>
        </p:nvSpPr>
        <p:spPr>
          <a:xfrm>
            <a:off x="2895600" y="587692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暗纹半径：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8"/>
          <p:cNvGraphicFramePr/>
          <p:nvPr/>
        </p:nvGraphicFramePr>
        <p:xfrm>
          <a:off x="508000" y="4886325"/>
          <a:ext cx="196056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6" name="" r:id="rId3" imgW="761365" imgH="393700" progId="Equation.3">
                  <p:embed/>
                </p:oleObj>
              </mc:Choice>
              <mc:Fallback>
                <p:oleObj name="" r:id="rId3" imgW="761365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8000" y="4886325"/>
                        <a:ext cx="1960563" cy="885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/>
          <p:nvPr/>
        </p:nvGraphicFramePr>
        <p:xfrm>
          <a:off x="4419600" y="4048125"/>
          <a:ext cx="44196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" name="" r:id="rId5" imgW="2120265" imgH="444500" progId="Equation.3">
                  <p:embed/>
                </p:oleObj>
              </mc:Choice>
              <mc:Fallback>
                <p:oleObj name="" r:id="rId5" imgW="2120265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19600" y="4048125"/>
                        <a:ext cx="4419600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/>
          <p:cNvGraphicFramePr/>
          <p:nvPr/>
        </p:nvGraphicFramePr>
        <p:xfrm>
          <a:off x="4648200" y="5572125"/>
          <a:ext cx="362585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8" name="" r:id="rId7" imgW="1739265" imgH="444500" progId="Equation.3">
                  <p:embed/>
                </p:oleObj>
              </mc:Choice>
              <mc:Fallback>
                <p:oleObj name="" r:id="rId7" imgW="1739265" imgH="4445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48200" y="5572125"/>
                        <a:ext cx="3625850" cy="1096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2"/>
          <p:cNvSpPr txBox="1"/>
          <p:nvPr/>
        </p:nvSpPr>
        <p:spPr>
          <a:xfrm>
            <a:off x="212725" y="117475"/>
            <a:ext cx="6880225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等厚干涉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薄膜厚度不均匀）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95513" y="735013"/>
            <a:ext cx="26638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为同心圆形条纹。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2298" name="Group 68"/>
          <p:cNvGrpSpPr/>
          <p:nvPr/>
        </p:nvGrpSpPr>
        <p:grpSpPr>
          <a:xfrm>
            <a:off x="1016000" y="1308100"/>
            <a:ext cx="4032250" cy="3776663"/>
            <a:chOff x="3379" y="709"/>
            <a:chExt cx="2540" cy="2379"/>
          </a:xfrm>
        </p:grpSpPr>
        <p:sp>
          <p:nvSpPr>
            <p:cNvPr id="12299" name="Rectangle 21"/>
            <p:cNvSpPr/>
            <p:nvPr/>
          </p:nvSpPr>
          <p:spPr>
            <a:xfrm>
              <a:off x="3379" y="709"/>
              <a:ext cx="1905" cy="167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0099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sz="2800" dirty="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0" name="AutoShape 22"/>
            <p:cNvSpPr/>
            <p:nvPr/>
          </p:nvSpPr>
          <p:spPr>
            <a:xfrm>
              <a:off x="3759" y="1755"/>
              <a:ext cx="1176" cy="3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10964" y="10800"/>
                  </a:moveTo>
                  <a:cubicBezTo>
                    <a:pt x="10964" y="10890"/>
                    <a:pt x="10890" y="10964"/>
                    <a:pt x="10800" y="10964"/>
                  </a:cubicBezTo>
                  <a:cubicBezTo>
                    <a:pt x="10709" y="10964"/>
                    <a:pt x="10636" y="10890"/>
                    <a:pt x="10636" y="10800"/>
                  </a:cubicBezTo>
                  <a:lnTo>
                    <a:pt x="0" y="10800"/>
                  </a:lnTo>
                  <a:cubicBezTo>
                    <a:pt x="0" y="16764"/>
                    <a:pt x="4835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lose/>
                </a:path>
              </a:pathLst>
            </a:custGeom>
            <a:solidFill>
              <a:srgbClr val="00FFCC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Line 23"/>
            <p:cNvSpPr/>
            <p:nvPr/>
          </p:nvSpPr>
          <p:spPr>
            <a:xfrm>
              <a:off x="4347" y="889"/>
              <a:ext cx="321" cy="1190"/>
            </a:xfrm>
            <a:prstGeom prst="line">
              <a:avLst/>
            </a:prstGeom>
            <a:ln w="19050" cap="flat" cmpd="sng">
              <a:solidFill>
                <a:srgbClr val="D400D4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2302" name="Rectangle 24"/>
            <p:cNvSpPr/>
            <p:nvPr/>
          </p:nvSpPr>
          <p:spPr>
            <a:xfrm>
              <a:off x="3759" y="2133"/>
              <a:ext cx="1176" cy="108"/>
            </a:xfrm>
            <a:prstGeom prst="rect">
              <a:avLst/>
            </a:prstGeom>
            <a:solidFill>
              <a:srgbClr val="66CCFF">
                <a:alpha val="50195"/>
              </a:srgbClr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Line 25"/>
            <p:cNvSpPr/>
            <p:nvPr/>
          </p:nvSpPr>
          <p:spPr>
            <a:xfrm flipH="1">
              <a:off x="4347" y="2097"/>
              <a:ext cx="908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2304" name="Line 26"/>
            <p:cNvSpPr/>
            <p:nvPr/>
          </p:nvSpPr>
          <p:spPr>
            <a:xfrm>
              <a:off x="5095" y="1808"/>
              <a:ext cx="0" cy="251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05" name="Line 27"/>
            <p:cNvSpPr/>
            <p:nvPr/>
          </p:nvSpPr>
          <p:spPr>
            <a:xfrm flipV="1">
              <a:off x="5095" y="2133"/>
              <a:ext cx="0" cy="25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round/>
              <a:headEnd type="none" w="sm" len="lg"/>
              <a:tailEnd type="triangle" w="sm" len="lg"/>
            </a:ln>
          </p:spPr>
        </p:sp>
        <p:graphicFrame>
          <p:nvGraphicFramePr>
            <p:cNvPr id="12306" name="Object 6"/>
            <p:cNvGraphicFramePr/>
            <p:nvPr/>
          </p:nvGraphicFramePr>
          <p:xfrm>
            <a:off x="4392" y="1821"/>
            <a:ext cx="19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9" name="" r:id="rId9" imgW="152400" imgH="228600" progId="Equation.3">
                    <p:embed/>
                  </p:oleObj>
                </mc:Choice>
                <mc:Fallback>
                  <p:oleObj name="" r:id="rId9" imgW="152400" imgH="2286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392" y="1821"/>
                          <a:ext cx="193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Line 29"/>
            <p:cNvSpPr/>
            <p:nvPr/>
          </p:nvSpPr>
          <p:spPr>
            <a:xfrm>
              <a:off x="4347" y="889"/>
              <a:ext cx="0" cy="1199"/>
            </a:xfrm>
            <a:prstGeom prst="line">
              <a:avLst/>
            </a:prstGeom>
            <a:ln w="19050" cap="flat" cmpd="sng">
              <a:solidFill>
                <a:srgbClr val="D400D4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2308" name="Line 30"/>
            <p:cNvSpPr/>
            <p:nvPr/>
          </p:nvSpPr>
          <p:spPr>
            <a:xfrm flipH="1">
              <a:off x="4347" y="2133"/>
              <a:ext cx="937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2309" name="Line 31"/>
            <p:cNvSpPr/>
            <p:nvPr/>
          </p:nvSpPr>
          <p:spPr>
            <a:xfrm flipH="1">
              <a:off x="4347" y="2097"/>
              <a:ext cx="321" cy="0"/>
            </a:xfrm>
            <a:prstGeom prst="line">
              <a:avLst/>
            </a:prstGeom>
            <a:ln w="28575" cap="flat" cmpd="sng">
              <a:solidFill>
                <a:srgbClr val="FF0066"/>
              </a:solidFill>
              <a:prstDash val="solid"/>
              <a:round/>
              <a:headEnd type="none" w="sm" len="lg"/>
              <a:tailEnd type="none" w="sm" len="lg"/>
            </a:ln>
          </p:spPr>
        </p:sp>
        <p:graphicFrame>
          <p:nvGraphicFramePr>
            <p:cNvPr id="12310" name="Object 7"/>
            <p:cNvGraphicFramePr/>
            <p:nvPr/>
          </p:nvGraphicFramePr>
          <p:xfrm>
            <a:off x="5103" y="1771"/>
            <a:ext cx="209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0" name="" r:id="rId11" imgW="165100" imgH="228600" progId="Equation.DSMT4">
                    <p:embed/>
                  </p:oleObj>
                </mc:Choice>
                <mc:Fallback>
                  <p:oleObj name="" r:id="rId11" imgW="165100" imgH="2286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03" y="1771"/>
                          <a:ext cx="209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1" name="AutoShape 33"/>
            <p:cNvSpPr/>
            <p:nvPr/>
          </p:nvSpPr>
          <p:spPr>
            <a:xfrm>
              <a:off x="4911" y="858"/>
              <a:ext cx="1008" cy="628"/>
            </a:xfrm>
            <a:prstGeom prst="wedgeRectCallout">
              <a:avLst>
                <a:gd name="adj1" fmla="val -58532"/>
                <a:gd name="adj2" fmla="val 85255"/>
              </a:avLst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12" name="Line 37"/>
            <p:cNvSpPr/>
            <p:nvPr/>
          </p:nvSpPr>
          <p:spPr>
            <a:xfrm>
              <a:off x="4377" y="3088"/>
              <a:ext cx="317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2313" name="Line 38"/>
            <p:cNvSpPr/>
            <p:nvPr/>
          </p:nvSpPr>
          <p:spPr>
            <a:xfrm>
              <a:off x="4047" y="1618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4" name="Line 39"/>
            <p:cNvSpPr/>
            <p:nvPr/>
          </p:nvSpPr>
          <p:spPr>
            <a:xfrm>
              <a:off x="3828" y="1618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5" name="Line 40"/>
            <p:cNvSpPr/>
            <p:nvPr/>
          </p:nvSpPr>
          <p:spPr>
            <a:xfrm>
              <a:off x="4265" y="1618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6" name="Line 41"/>
            <p:cNvSpPr/>
            <p:nvPr/>
          </p:nvSpPr>
          <p:spPr>
            <a:xfrm>
              <a:off x="4474" y="1614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7" name="Line 42"/>
            <p:cNvSpPr/>
            <p:nvPr/>
          </p:nvSpPr>
          <p:spPr>
            <a:xfrm>
              <a:off x="4666" y="1614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8" name="Line 43"/>
            <p:cNvSpPr/>
            <p:nvPr/>
          </p:nvSpPr>
          <p:spPr>
            <a:xfrm>
              <a:off x="4858" y="1614"/>
              <a:ext cx="0" cy="28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2319" name="Rectangle 44"/>
            <p:cNvSpPr/>
            <p:nvPr/>
          </p:nvSpPr>
          <p:spPr>
            <a:xfrm>
              <a:off x="4467" y="1179"/>
              <a:ext cx="2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 anchor="t" anchorCtr="0">
              <a:spAutoFit/>
            </a:bodyPr>
            <a:lstStyle/>
            <a:p>
              <a:pPr algn="ctr" eaLnBrk="0" hangingPunct="0"/>
              <a:r>
                <a:rPr lang="en-US" altLang="zh-CN" sz="2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7" name="Picture 55"/>
          <p:cNvPicPr>
            <a:picLocks noChangeAspect="1"/>
          </p:cNvPicPr>
          <p:nvPr/>
        </p:nvPicPr>
        <p:blipFill>
          <a:blip r:embed="rId13">
            <a:lum bright="-12000"/>
          </a:blip>
          <a:stretch>
            <a:fillRect/>
          </a:stretch>
        </p:blipFill>
        <p:spPr>
          <a:xfrm>
            <a:off x="4400550" y="1544638"/>
            <a:ext cx="3051175" cy="2184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3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5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1"/>
          <p:cNvSpPr txBox="1"/>
          <p:nvPr/>
        </p:nvSpPr>
        <p:spPr>
          <a:xfrm>
            <a:off x="323850" y="374650"/>
            <a:ext cx="4435475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等倾干涉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薄膜厚度均匀）：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08" name="Object 2"/>
          <p:cNvGraphicFramePr/>
          <p:nvPr/>
        </p:nvGraphicFramePr>
        <p:xfrm>
          <a:off x="3654425" y="4448175"/>
          <a:ext cx="1128713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0" name="" r:id="rId1" imgW="165100" imgH="215900" progId="Equation.3">
                  <p:embed/>
                </p:oleObj>
              </mc:Choice>
              <mc:Fallback>
                <p:oleObj name="" r:id="rId1" imgW="165100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4425" y="4448175"/>
                        <a:ext cx="1128713" cy="182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Text Box 13"/>
          <p:cNvSpPr txBox="1"/>
          <p:nvPr/>
        </p:nvSpPr>
        <p:spPr>
          <a:xfrm>
            <a:off x="4087813" y="4632325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明纹条件：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10" name="Text Box 14"/>
          <p:cNvSpPr txBox="1"/>
          <p:nvPr/>
        </p:nvSpPr>
        <p:spPr>
          <a:xfrm>
            <a:off x="4087813" y="5529263"/>
            <a:ext cx="17160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暗纹条件：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111" name="Object 3"/>
          <p:cNvGraphicFramePr/>
          <p:nvPr/>
        </p:nvGraphicFramePr>
        <p:xfrm>
          <a:off x="5567363" y="4632325"/>
          <a:ext cx="2908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1" name="" r:id="rId3" imgW="1243330" imgH="203200" progId="Equation.3">
                  <p:embed/>
                </p:oleObj>
              </mc:Choice>
              <mc:Fallback>
                <p:oleObj name="" r:id="rId3" imgW="1243330" imgH="2032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67363" y="4632325"/>
                        <a:ext cx="290830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2" name="Object 4"/>
          <p:cNvGraphicFramePr/>
          <p:nvPr/>
        </p:nvGraphicFramePr>
        <p:xfrm>
          <a:off x="5535613" y="5332413"/>
          <a:ext cx="35004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" r:id="rId5" imgW="1713865" imgH="393700" progId="Equation.3">
                  <p:embed/>
                </p:oleObj>
              </mc:Choice>
              <mc:Fallback>
                <p:oleObj name="" r:id="rId5" imgW="1713865" imgH="3937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35613" y="5332413"/>
                        <a:ext cx="3500437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/>
          <p:cNvGrpSpPr/>
          <p:nvPr/>
        </p:nvGrpSpPr>
        <p:grpSpPr>
          <a:xfrm>
            <a:off x="136525" y="4403725"/>
            <a:ext cx="3549650" cy="1905000"/>
            <a:chOff x="-29" y="2976"/>
            <a:chExt cx="2236" cy="1200"/>
          </a:xfrm>
        </p:grpSpPr>
        <p:graphicFrame>
          <p:nvGraphicFramePr>
            <p:cNvPr id="13320" name="Object 5"/>
            <p:cNvGraphicFramePr/>
            <p:nvPr/>
          </p:nvGraphicFramePr>
          <p:xfrm>
            <a:off x="-29" y="2976"/>
            <a:ext cx="2236" cy="1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93" name="" r:id="rId7" imgW="1497965" imgH="812165" progId="Equation.3">
                    <p:embed/>
                  </p:oleObj>
                </mc:Choice>
                <mc:Fallback>
                  <p:oleObj name="" r:id="rId7" imgW="1497965" imgH="81216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-29" y="2976"/>
                          <a:ext cx="2236" cy="11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1" name="Rectangle 19"/>
            <p:cNvSpPr/>
            <p:nvPr/>
          </p:nvSpPr>
          <p:spPr>
            <a:xfrm>
              <a:off x="1754" y="3552"/>
              <a:ext cx="432" cy="624"/>
            </a:xfrm>
            <a:prstGeom prst="rect">
              <a:avLst/>
            </a:prstGeom>
            <a:noFill/>
            <a:ln w="25400" cap="flat" cmpd="sng">
              <a:solidFill>
                <a:srgbClr val="CC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2" name="Rectangle 20"/>
            <p:cNvSpPr/>
            <p:nvPr/>
          </p:nvSpPr>
          <p:spPr>
            <a:xfrm>
              <a:off x="1315" y="2976"/>
              <a:ext cx="441" cy="624"/>
            </a:xfrm>
            <a:prstGeom prst="rect">
              <a:avLst/>
            </a:prstGeom>
            <a:noFill/>
            <a:ln w="25400" cap="flat" cmpd="sng">
              <a:solidFill>
                <a:srgbClr val="CC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3" name="Object 12"/>
          <p:cNvGraphicFramePr/>
          <p:nvPr/>
        </p:nvGraphicFramePr>
        <p:xfrm>
          <a:off x="4787900" y="1484313"/>
          <a:ext cx="2952750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" r:id="rId9" imgW="4572000" imgH="3505200" progId="Paint.Picture">
                  <p:embed/>
                </p:oleObj>
              </mc:Choice>
              <mc:Fallback>
                <p:oleObj name="" r:id="rId9" imgW="4572000" imgH="3505200" progId="Paint.Picture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87900" y="1484313"/>
                        <a:ext cx="2952750" cy="228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4" name="Group 16"/>
          <p:cNvGrpSpPr/>
          <p:nvPr/>
        </p:nvGrpSpPr>
        <p:grpSpPr>
          <a:xfrm>
            <a:off x="395288" y="1103313"/>
            <a:ext cx="4002087" cy="3046412"/>
            <a:chOff x="158" y="1706"/>
            <a:chExt cx="2748" cy="2092"/>
          </a:xfrm>
        </p:grpSpPr>
        <p:grpSp>
          <p:nvGrpSpPr>
            <p:cNvPr id="13325" name="Group 17"/>
            <p:cNvGrpSpPr/>
            <p:nvPr/>
          </p:nvGrpSpPr>
          <p:grpSpPr>
            <a:xfrm>
              <a:off x="158" y="1706"/>
              <a:ext cx="2748" cy="2092"/>
              <a:chOff x="158" y="1706"/>
              <a:chExt cx="2748" cy="2092"/>
            </a:xfrm>
          </p:grpSpPr>
          <p:sp>
            <p:nvSpPr>
              <p:cNvPr id="13326" name="Line 18"/>
              <p:cNvSpPr/>
              <p:nvPr/>
            </p:nvSpPr>
            <p:spPr>
              <a:xfrm>
                <a:off x="562" y="1906"/>
                <a:ext cx="1712" cy="0"/>
              </a:xfrm>
              <a:prstGeom prst="line">
                <a:avLst/>
              </a:prstGeom>
              <a:ln w="38100" cap="flat" cmpd="sng">
                <a:solidFill>
                  <a:srgbClr val="0099CC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27" name="Line 19"/>
              <p:cNvSpPr/>
              <p:nvPr/>
            </p:nvSpPr>
            <p:spPr>
              <a:xfrm>
                <a:off x="354" y="2380"/>
                <a:ext cx="2171" cy="0"/>
              </a:xfrm>
              <a:prstGeom prst="line">
                <a:avLst/>
              </a:prstGeom>
              <a:ln w="38100" cap="flat" cmpd="sng">
                <a:solidFill>
                  <a:srgbClr val="0099CC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sp>
          <p:sp>
            <p:nvSpPr>
              <p:cNvPr id="13328" name="Text Box 20"/>
              <p:cNvSpPr txBox="1"/>
              <p:nvPr/>
            </p:nvSpPr>
            <p:spPr>
              <a:xfrm>
                <a:off x="616" y="3537"/>
                <a:ext cx="1582" cy="173"/>
              </a:xfrm>
              <a:prstGeom prst="rect">
                <a:avLst/>
              </a:prstGeom>
              <a:gradFill rotWithShape="1">
                <a:gsLst>
                  <a:gs pos="0">
                    <a:srgbClr val="CCFFCC"/>
                  </a:gs>
                  <a:gs pos="50000">
                    <a:srgbClr val="FFFFFF"/>
                  </a:gs>
                  <a:gs pos="100000">
                    <a:srgbClr val="CCFFCC"/>
                  </a:gs>
                </a:gsLst>
                <a:lin ang="5400000" scaled="1"/>
                <a:tileRect/>
              </a:gra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/>
                <a:endParaRPr lang="zh-CN" altLang="zh-CN" sz="1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29" name="Line 21"/>
              <p:cNvSpPr/>
              <p:nvPr/>
            </p:nvSpPr>
            <p:spPr>
              <a:xfrm>
                <a:off x="1413" y="1906"/>
                <a:ext cx="0" cy="181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lgDashDot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0" name="Oval 22"/>
              <p:cNvSpPr/>
              <p:nvPr/>
            </p:nvSpPr>
            <p:spPr>
              <a:xfrm>
                <a:off x="301" y="2799"/>
                <a:ext cx="130" cy="228"/>
              </a:xfrm>
              <a:prstGeom prst="ellipse">
                <a:avLst/>
              </a:pr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31" name="Line 23"/>
              <p:cNvSpPr/>
              <p:nvPr/>
            </p:nvSpPr>
            <p:spPr>
              <a:xfrm flipV="1">
                <a:off x="431" y="2799"/>
                <a:ext cx="840" cy="11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2" name="Line 24"/>
              <p:cNvSpPr/>
              <p:nvPr/>
            </p:nvSpPr>
            <p:spPr>
              <a:xfrm flipH="1">
                <a:off x="1074" y="2799"/>
                <a:ext cx="197" cy="73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3" name="Line 25"/>
              <p:cNvSpPr/>
              <p:nvPr/>
            </p:nvSpPr>
            <p:spPr>
              <a:xfrm flipH="1">
                <a:off x="1031" y="3537"/>
                <a:ext cx="43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4" name="Line 26"/>
              <p:cNvSpPr/>
              <p:nvPr/>
            </p:nvSpPr>
            <p:spPr>
              <a:xfrm flipH="1" flipV="1">
                <a:off x="802" y="2371"/>
                <a:ext cx="272" cy="116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5" name="Line 27"/>
              <p:cNvSpPr/>
              <p:nvPr/>
            </p:nvSpPr>
            <p:spPr>
              <a:xfrm flipH="1" flipV="1">
                <a:off x="998" y="3537"/>
                <a:ext cx="22" cy="1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36" name="Line 28"/>
              <p:cNvSpPr/>
              <p:nvPr/>
            </p:nvSpPr>
            <p:spPr>
              <a:xfrm flipH="1" flipV="1">
                <a:off x="725" y="2371"/>
                <a:ext cx="273" cy="116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3337" name="Group 29"/>
              <p:cNvGrpSpPr/>
              <p:nvPr/>
            </p:nvGrpSpPr>
            <p:grpSpPr>
              <a:xfrm>
                <a:off x="725" y="1906"/>
                <a:ext cx="568" cy="465"/>
                <a:chOff x="2865" y="1575"/>
                <a:chExt cx="675" cy="765"/>
              </a:xfrm>
            </p:grpSpPr>
            <p:sp>
              <p:nvSpPr>
                <p:cNvPr id="13338" name="Line 30"/>
                <p:cNvSpPr/>
                <p:nvPr/>
              </p:nvSpPr>
              <p:spPr>
                <a:xfrm flipV="1">
                  <a:off x="2970" y="1575"/>
                  <a:ext cx="570" cy="76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39" name="Line 31"/>
                <p:cNvSpPr/>
                <p:nvPr/>
              </p:nvSpPr>
              <p:spPr>
                <a:xfrm flipV="1">
                  <a:off x="2865" y="1575"/>
                  <a:ext cx="675" cy="76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40" name="Line 32"/>
              <p:cNvSpPr/>
              <p:nvPr/>
            </p:nvSpPr>
            <p:spPr>
              <a:xfrm flipH="1">
                <a:off x="1129" y="3173"/>
                <a:ext cx="44" cy="1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41" name="Line 33"/>
              <p:cNvSpPr/>
              <p:nvPr/>
            </p:nvSpPr>
            <p:spPr>
              <a:xfrm flipH="1" flipV="1">
                <a:off x="769" y="2580"/>
                <a:ext cx="44" cy="1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42" name="Line 34"/>
              <p:cNvSpPr/>
              <p:nvPr/>
            </p:nvSpPr>
            <p:spPr>
              <a:xfrm flipH="1" flipV="1">
                <a:off x="845" y="2580"/>
                <a:ext cx="44" cy="1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43" name="Line 35"/>
              <p:cNvSpPr/>
              <p:nvPr/>
            </p:nvSpPr>
            <p:spPr>
              <a:xfrm flipV="1">
                <a:off x="987" y="2826"/>
                <a:ext cx="98" cy="1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44" name="Line 36"/>
              <p:cNvSpPr/>
              <p:nvPr/>
            </p:nvSpPr>
            <p:spPr>
              <a:xfrm>
                <a:off x="1655" y="3067"/>
                <a:ext cx="107" cy="47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5" name="Line 37"/>
              <p:cNvSpPr/>
              <p:nvPr/>
            </p:nvSpPr>
            <p:spPr>
              <a:xfrm>
                <a:off x="1762" y="3537"/>
                <a:ext cx="43" cy="18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6" name="Line 38"/>
              <p:cNvSpPr/>
              <p:nvPr/>
            </p:nvSpPr>
            <p:spPr>
              <a:xfrm flipV="1">
                <a:off x="1762" y="2371"/>
                <a:ext cx="272" cy="116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7" name="Line 39"/>
              <p:cNvSpPr/>
              <p:nvPr/>
            </p:nvSpPr>
            <p:spPr>
              <a:xfrm flipV="1">
                <a:off x="1816" y="3537"/>
                <a:ext cx="22" cy="173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48" name="Line 40"/>
              <p:cNvSpPr/>
              <p:nvPr/>
            </p:nvSpPr>
            <p:spPr>
              <a:xfrm flipV="1">
                <a:off x="1838" y="2371"/>
                <a:ext cx="273" cy="1166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13349" name="Group 41"/>
              <p:cNvGrpSpPr/>
              <p:nvPr/>
            </p:nvGrpSpPr>
            <p:grpSpPr>
              <a:xfrm>
                <a:off x="1567" y="1906"/>
                <a:ext cx="546" cy="465"/>
                <a:chOff x="1567" y="1906"/>
                <a:chExt cx="546" cy="465"/>
              </a:xfrm>
            </p:grpSpPr>
            <p:sp>
              <p:nvSpPr>
                <p:cNvPr id="13350" name="Line 42"/>
                <p:cNvSpPr/>
                <p:nvPr/>
              </p:nvSpPr>
              <p:spPr>
                <a:xfrm flipH="1" flipV="1">
                  <a:off x="1567" y="1906"/>
                  <a:ext cx="461" cy="46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13351" name="Line 43"/>
                <p:cNvSpPr/>
                <p:nvPr/>
              </p:nvSpPr>
              <p:spPr>
                <a:xfrm flipH="1" flipV="1">
                  <a:off x="1567" y="1906"/>
                  <a:ext cx="546" cy="465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3352" name="Line 44"/>
              <p:cNvSpPr/>
              <p:nvPr/>
            </p:nvSpPr>
            <p:spPr>
              <a:xfrm>
                <a:off x="1674" y="3182"/>
                <a:ext cx="44" cy="1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53" name="Line 45"/>
              <p:cNvSpPr/>
              <p:nvPr/>
            </p:nvSpPr>
            <p:spPr>
              <a:xfrm flipV="1">
                <a:off x="2023" y="2580"/>
                <a:ext cx="44" cy="1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54" name="Line 46"/>
              <p:cNvSpPr/>
              <p:nvPr/>
            </p:nvSpPr>
            <p:spPr>
              <a:xfrm flipV="1">
                <a:off x="1947" y="2580"/>
                <a:ext cx="44" cy="1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</p:sp>
          <p:sp>
            <p:nvSpPr>
              <p:cNvPr id="13355" name="Line 47"/>
              <p:cNvSpPr/>
              <p:nvPr/>
            </p:nvSpPr>
            <p:spPr>
              <a:xfrm flipV="1">
                <a:off x="1413" y="1906"/>
                <a:ext cx="152" cy="465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6" name="Line 48"/>
              <p:cNvSpPr/>
              <p:nvPr/>
            </p:nvSpPr>
            <p:spPr>
              <a:xfrm>
                <a:off x="431" y="2918"/>
                <a:ext cx="1224" cy="149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57" name="Freeform 49"/>
              <p:cNvSpPr/>
              <p:nvPr/>
            </p:nvSpPr>
            <p:spPr>
              <a:xfrm>
                <a:off x="1413" y="2098"/>
                <a:ext cx="76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</a:cxnLst>
                <a:rect l="0" t="0" r="0" b="0"/>
                <a:pathLst>
                  <a:path w="105" h="1">
                    <a:moveTo>
                      <a:pt x="0" y="0"/>
                    </a:moveTo>
                    <a:cubicBezTo>
                      <a:pt x="0" y="0"/>
                      <a:pt x="52" y="0"/>
                      <a:pt x="105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" name="Text Box 50"/>
              <p:cNvSpPr txBox="1"/>
              <p:nvPr/>
            </p:nvSpPr>
            <p:spPr>
              <a:xfrm>
                <a:off x="1380" y="1865"/>
                <a:ext cx="338" cy="33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0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i</a:t>
                </a:r>
                <a:endPara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59" name="Text Box 51"/>
              <p:cNvSpPr txBox="1"/>
              <p:nvPr/>
            </p:nvSpPr>
            <p:spPr>
              <a:xfrm>
                <a:off x="1893" y="3425"/>
                <a:ext cx="338" cy="3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n</a:t>
                </a:r>
                <a:endPara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60" name="Line 52"/>
              <p:cNvSpPr/>
              <p:nvPr/>
            </p:nvSpPr>
            <p:spPr>
              <a:xfrm>
                <a:off x="856" y="2387"/>
                <a:ext cx="1113" cy="92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3361" name="Text Box 53"/>
              <p:cNvSpPr txBox="1"/>
              <p:nvPr/>
            </p:nvSpPr>
            <p:spPr>
              <a:xfrm>
                <a:off x="1925" y="3091"/>
                <a:ext cx="437" cy="3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M</a:t>
                </a:r>
                <a:endParaRPr lang="en-US" altLang="zh-CN" sz="28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62" name="Text Box 54"/>
              <p:cNvSpPr txBox="1"/>
              <p:nvPr/>
            </p:nvSpPr>
            <p:spPr>
              <a:xfrm>
                <a:off x="2165" y="2369"/>
                <a:ext cx="360" cy="3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32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L</a:t>
                </a:r>
                <a:endParaRPr lang="en-US" altLang="zh-CN" sz="32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63" name="Text Box 55"/>
              <p:cNvSpPr txBox="1"/>
              <p:nvPr/>
            </p:nvSpPr>
            <p:spPr>
              <a:xfrm>
                <a:off x="158" y="2541"/>
                <a:ext cx="382" cy="3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800" i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S</a:t>
                </a:r>
                <a:endParaRPr lang="en-US" altLang="zh-CN" sz="2800" i="1" dirty="0">
                  <a:solidFill>
                    <a:srgbClr val="FF33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64" name="Line 56"/>
              <p:cNvSpPr/>
              <p:nvPr/>
            </p:nvSpPr>
            <p:spPr>
              <a:xfrm flipH="1">
                <a:off x="2176" y="1897"/>
                <a:ext cx="0" cy="48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triangle" w="sm" len="med"/>
                <a:tailEnd type="triangle" w="sm" len="med"/>
              </a:ln>
            </p:spPr>
          </p:sp>
          <p:sp>
            <p:nvSpPr>
              <p:cNvPr id="13365" name="Text Box 57"/>
              <p:cNvSpPr txBox="1"/>
              <p:nvPr/>
            </p:nvSpPr>
            <p:spPr>
              <a:xfrm>
                <a:off x="1934" y="1970"/>
                <a:ext cx="535" cy="4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en-US" altLang="zh-CN" sz="2400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f</a:t>
                </a:r>
                <a:endPara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3366" name="Text Box 58"/>
              <p:cNvSpPr txBox="1"/>
              <p:nvPr/>
            </p:nvSpPr>
            <p:spPr>
              <a:xfrm>
                <a:off x="2255" y="1706"/>
                <a:ext cx="651" cy="40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/>
              <a:lstStyle/>
              <a:p>
                <a:pPr algn="just"/>
                <a:r>
                  <a:rPr lang="zh-CN" altLang="en-US" sz="2400" dirty="0">
                    <a:solidFill>
                      <a:srgbClr val="3333CC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屏幕</a:t>
                </a:r>
                <a:endParaRPr lang="zh-CN" altLang="en-US" sz="24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3367" name="Line 59"/>
            <p:cNvSpPr/>
            <p:nvPr/>
          </p:nvSpPr>
          <p:spPr>
            <a:xfrm>
              <a:off x="1758" y="3203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13368" name="Text Box 60"/>
            <p:cNvSpPr txBox="1"/>
            <p:nvPr/>
          </p:nvSpPr>
          <p:spPr>
            <a:xfrm>
              <a:off x="1645" y="3089"/>
              <a:ext cx="174" cy="27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" name="矩形 102"/>
          <p:cNvSpPr/>
          <p:nvPr/>
        </p:nvSpPr>
        <p:spPr>
          <a:xfrm>
            <a:off x="4572000" y="404813"/>
            <a:ext cx="26638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内疏外密的圆环。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7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6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9" grpId="0"/>
      <p:bldP spid="4110" grpId="0"/>
      <p:bldP spid="10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1577975" y="3284538"/>
            <a:ext cx="617538" cy="2554287"/>
            <a:chOff x="954" y="409"/>
            <a:chExt cx="289" cy="1700"/>
          </a:xfrm>
        </p:grpSpPr>
        <p:sp>
          <p:nvSpPr>
            <p:cNvPr id="15362" name="Line 5"/>
            <p:cNvSpPr/>
            <p:nvPr/>
          </p:nvSpPr>
          <p:spPr>
            <a:xfrm>
              <a:off x="956" y="423"/>
              <a:ext cx="0" cy="168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363" name="Line 6"/>
            <p:cNvSpPr/>
            <p:nvPr/>
          </p:nvSpPr>
          <p:spPr>
            <a:xfrm>
              <a:off x="956" y="409"/>
              <a:ext cx="28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64" name="Line 7"/>
            <p:cNvSpPr/>
            <p:nvPr/>
          </p:nvSpPr>
          <p:spPr>
            <a:xfrm>
              <a:off x="954" y="2109"/>
              <a:ext cx="28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5365" name="Line 8"/>
            <p:cNvSpPr/>
            <p:nvPr/>
          </p:nvSpPr>
          <p:spPr>
            <a:xfrm>
              <a:off x="956" y="1202"/>
              <a:ext cx="287" cy="0"/>
            </a:xfrm>
            <a:prstGeom prst="line">
              <a:avLst/>
            </a:prstGeom>
            <a:ln w="158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34826" name="Rectangle 10"/>
          <p:cNvSpPr/>
          <p:nvPr/>
        </p:nvSpPr>
        <p:spPr>
          <a:xfrm>
            <a:off x="2185988" y="4292600"/>
            <a:ext cx="303371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夫琅禾费圆孔衍射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827" name="Rectangle 11"/>
          <p:cNvSpPr/>
          <p:nvPr/>
        </p:nvSpPr>
        <p:spPr>
          <a:xfrm>
            <a:off x="2187575" y="5559425"/>
            <a:ext cx="6416675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光栅衍射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5" name="Text Box 15"/>
          <p:cNvSpPr txBox="1">
            <a:spLocks noChangeArrowheads="1"/>
          </p:cNvSpPr>
          <p:nvPr/>
        </p:nvSpPr>
        <p:spPr bwMode="auto">
          <a:xfrm>
            <a:off x="0" y="401638"/>
            <a:ext cx="31194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宋体" panose="02010600030101010101" pitchFamily="2" charset="-122"/>
                <a:cs typeface="+mn-cs"/>
              </a:rPr>
              <a:t>二、光的衍射</a:t>
            </a:r>
            <a:endParaRPr kumimoji="1" lang="zh-CN" altLang="en-US" sz="3200" kern="1200" cap="none" spc="0" normalizeH="0" baseline="0" noProof="0" dirty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Rectangle 10"/>
          <p:cNvSpPr/>
          <p:nvPr/>
        </p:nvSpPr>
        <p:spPr>
          <a:xfrm>
            <a:off x="2232025" y="3068638"/>
            <a:ext cx="349250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夫琅禾费单缝衍射</a:t>
            </a:r>
            <a:endParaRPr lang="zh-CN" altLang="en-US" sz="24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07950" y="1355725"/>
            <a:ext cx="8712200" cy="17907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惠更斯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--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菲涅耳原理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波阵面上各点都可以看成是发射球面子波的波源，发出的子波都是相干波，任意一点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的光振动就是所有这些子波在该点的相干叠加。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Text Box 17"/>
          <p:cNvSpPr txBox="1"/>
          <p:nvPr/>
        </p:nvSpPr>
        <p:spPr>
          <a:xfrm>
            <a:off x="58738" y="4292600"/>
            <a:ext cx="1849437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分类：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37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7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/>
      <p:bldP spid="34827" grpId="0"/>
      <p:bldP spid="37" grpId="0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ext Box 11"/>
          <p:cNvSpPr txBox="1"/>
          <p:nvPr/>
        </p:nvSpPr>
        <p:spPr>
          <a:xfrm>
            <a:off x="468313" y="225425"/>
            <a:ext cx="2166937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单缝衍射：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386" name="Object 4"/>
          <p:cNvGraphicFramePr/>
          <p:nvPr/>
        </p:nvGraphicFramePr>
        <p:xfrm>
          <a:off x="3797300" y="2530475"/>
          <a:ext cx="914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" name="" r:id="rId1" imgW="393700" imgH="393700" progId="Equation.3">
                  <p:embed/>
                </p:oleObj>
              </mc:Choice>
              <mc:Fallback>
                <p:oleObj name="" r:id="rId1" imgW="393700" imgH="3937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97300" y="2530475"/>
                        <a:ext cx="914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Text Box 8"/>
          <p:cNvSpPr txBox="1"/>
          <p:nvPr/>
        </p:nvSpPr>
        <p:spPr>
          <a:xfrm>
            <a:off x="5711825" y="2768600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388" name="Object 10"/>
          <p:cNvGraphicFramePr/>
          <p:nvPr/>
        </p:nvGraphicFramePr>
        <p:xfrm>
          <a:off x="4205288" y="3484563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" name="" r:id="rId3" imgW="127000" imgH="177165" progId="Equation.3">
                  <p:embed/>
                </p:oleObj>
              </mc:Choice>
              <mc:Fallback>
                <p:oleObj name="" r:id="rId3" imgW="127000" imgH="177165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5288" y="3484563"/>
                        <a:ext cx="295275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2351088" y="231775"/>
            <a:ext cx="58324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次明纹的宽度为中央明条纹宽度的一半。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390" name="Group 6"/>
          <p:cNvGrpSpPr/>
          <p:nvPr/>
        </p:nvGrpSpPr>
        <p:grpSpPr>
          <a:xfrm>
            <a:off x="989429" y="909358"/>
            <a:ext cx="6081296" cy="2910202"/>
            <a:chOff x="211" y="404"/>
            <a:chExt cx="5357" cy="3084"/>
          </a:xfrm>
        </p:grpSpPr>
        <p:sp>
          <p:nvSpPr>
            <p:cNvPr id="16391" name="Rectangle 7"/>
            <p:cNvSpPr/>
            <p:nvPr/>
          </p:nvSpPr>
          <p:spPr>
            <a:xfrm>
              <a:off x="240" y="480"/>
              <a:ext cx="5328" cy="297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2" name="Text Box 8"/>
            <p:cNvSpPr txBox="1"/>
            <p:nvPr/>
          </p:nvSpPr>
          <p:spPr>
            <a:xfrm>
              <a:off x="211" y="404"/>
              <a:ext cx="459" cy="3084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vert="eaVert" wrap="square" anchor="t" anchorCtr="0">
              <a:spAutoFit/>
            </a:bodyPr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夫 琅 禾 费 单 缝 衍 射</a:t>
              </a: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393" name="Group 9"/>
          <p:cNvGrpSpPr/>
          <p:nvPr/>
        </p:nvGrpSpPr>
        <p:grpSpPr>
          <a:xfrm>
            <a:off x="1792288" y="1824038"/>
            <a:ext cx="2779712" cy="760412"/>
            <a:chOff x="768" y="2112"/>
            <a:chExt cx="2448" cy="768"/>
          </a:xfrm>
        </p:grpSpPr>
        <p:sp>
          <p:nvSpPr>
            <p:cNvPr id="16394" name="Line 10"/>
            <p:cNvSpPr/>
            <p:nvPr/>
          </p:nvSpPr>
          <p:spPr>
            <a:xfrm flipV="1">
              <a:off x="1056" y="2112"/>
              <a:ext cx="211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395" name="Line 11"/>
            <p:cNvSpPr/>
            <p:nvPr/>
          </p:nvSpPr>
          <p:spPr>
            <a:xfrm flipV="1">
              <a:off x="1008" y="2304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396" name="Line 12"/>
            <p:cNvSpPr/>
            <p:nvPr/>
          </p:nvSpPr>
          <p:spPr>
            <a:xfrm>
              <a:off x="1008" y="2496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397" name="Line 13"/>
            <p:cNvSpPr/>
            <p:nvPr/>
          </p:nvSpPr>
          <p:spPr>
            <a:xfrm flipV="1">
              <a:off x="1008" y="2688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398" name="Line 14"/>
            <p:cNvSpPr/>
            <p:nvPr/>
          </p:nvSpPr>
          <p:spPr>
            <a:xfrm>
              <a:off x="1056" y="2880"/>
              <a:ext cx="216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399" name="Line 15"/>
            <p:cNvSpPr/>
            <p:nvPr/>
          </p:nvSpPr>
          <p:spPr>
            <a:xfrm flipH="1">
              <a:off x="768" y="2112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6400" name="Line 16"/>
            <p:cNvSpPr/>
            <p:nvPr/>
          </p:nvSpPr>
          <p:spPr>
            <a:xfrm flipH="1">
              <a:off x="768" y="2304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6401" name="Line 17"/>
            <p:cNvSpPr/>
            <p:nvPr/>
          </p:nvSpPr>
          <p:spPr>
            <a:xfrm flipH="1">
              <a:off x="768" y="2496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6402" name="Line 18"/>
            <p:cNvSpPr/>
            <p:nvPr/>
          </p:nvSpPr>
          <p:spPr>
            <a:xfrm flipH="1">
              <a:off x="768" y="2688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  <p:sp>
          <p:nvSpPr>
            <p:cNvPr id="16403" name="Line 19"/>
            <p:cNvSpPr/>
            <p:nvPr/>
          </p:nvSpPr>
          <p:spPr>
            <a:xfrm flipH="1">
              <a:off x="768" y="2880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triangle" w="sm" len="lg"/>
              <a:tailEnd type="none" w="sm" len="lg"/>
            </a:ln>
          </p:spPr>
        </p:sp>
      </p:grpSp>
      <p:grpSp>
        <p:nvGrpSpPr>
          <p:cNvPr id="16404" name="Group 20"/>
          <p:cNvGrpSpPr/>
          <p:nvPr/>
        </p:nvGrpSpPr>
        <p:grpSpPr>
          <a:xfrm>
            <a:off x="4787900" y="1804988"/>
            <a:ext cx="1689100" cy="760412"/>
            <a:chOff x="3168" y="2112"/>
            <a:chExt cx="1488" cy="768"/>
          </a:xfrm>
        </p:grpSpPr>
        <p:sp>
          <p:nvSpPr>
            <p:cNvPr id="16405" name="Line 21"/>
            <p:cNvSpPr/>
            <p:nvPr/>
          </p:nvSpPr>
          <p:spPr>
            <a:xfrm flipV="1">
              <a:off x="3168" y="2496"/>
              <a:ext cx="1488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06" name="Line 22"/>
            <p:cNvSpPr/>
            <p:nvPr/>
          </p:nvSpPr>
          <p:spPr>
            <a:xfrm flipV="1">
              <a:off x="3168" y="2496"/>
              <a:ext cx="1488" cy="19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07" name="Line 23"/>
            <p:cNvSpPr/>
            <p:nvPr/>
          </p:nvSpPr>
          <p:spPr>
            <a:xfrm>
              <a:off x="3216" y="2304"/>
              <a:ext cx="1440" cy="19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08" name="Line 24"/>
            <p:cNvSpPr/>
            <p:nvPr/>
          </p:nvSpPr>
          <p:spPr>
            <a:xfrm>
              <a:off x="3168" y="2112"/>
              <a:ext cx="1488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09" name="Line 25"/>
            <p:cNvSpPr/>
            <p:nvPr/>
          </p:nvSpPr>
          <p:spPr>
            <a:xfrm>
              <a:off x="3216" y="2496"/>
              <a:ext cx="144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round/>
              <a:headEnd type="none" w="sm" len="lg"/>
              <a:tailEnd type="none" w="sm" len="lg"/>
            </a:ln>
          </p:spPr>
        </p:sp>
      </p:grpSp>
      <p:grpSp>
        <p:nvGrpSpPr>
          <p:cNvPr id="16410" name="Group 26"/>
          <p:cNvGrpSpPr/>
          <p:nvPr/>
        </p:nvGrpSpPr>
        <p:grpSpPr>
          <a:xfrm>
            <a:off x="3059113" y="1412875"/>
            <a:ext cx="3392487" cy="1155700"/>
            <a:chOff x="1668" y="1744"/>
            <a:chExt cx="2988" cy="1169"/>
          </a:xfrm>
        </p:grpSpPr>
        <p:sp>
          <p:nvSpPr>
            <p:cNvPr id="16411" name="Line 27"/>
            <p:cNvSpPr/>
            <p:nvPr/>
          </p:nvSpPr>
          <p:spPr>
            <a:xfrm flipV="1">
              <a:off x="1668" y="1744"/>
              <a:ext cx="1420" cy="39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12" name="Line 28"/>
            <p:cNvSpPr/>
            <p:nvPr/>
          </p:nvSpPr>
          <p:spPr>
            <a:xfrm flipV="1">
              <a:off x="1668" y="1939"/>
              <a:ext cx="1420" cy="39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13" name="Line 29"/>
            <p:cNvSpPr/>
            <p:nvPr/>
          </p:nvSpPr>
          <p:spPr>
            <a:xfrm flipV="1">
              <a:off x="1668" y="2134"/>
              <a:ext cx="1420" cy="38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14" name="Line 30"/>
            <p:cNvSpPr/>
            <p:nvPr/>
          </p:nvSpPr>
          <p:spPr>
            <a:xfrm flipV="1">
              <a:off x="1668" y="2329"/>
              <a:ext cx="1420" cy="38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sm" len="lg"/>
              <a:tailEnd type="none" w="sm" len="lg"/>
            </a:ln>
          </p:spPr>
        </p:sp>
        <p:sp>
          <p:nvSpPr>
            <p:cNvPr id="16415" name="Line 31"/>
            <p:cNvSpPr/>
            <p:nvPr/>
          </p:nvSpPr>
          <p:spPr>
            <a:xfrm flipV="1">
              <a:off x="1668" y="2134"/>
              <a:ext cx="2953" cy="77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round/>
              <a:headEnd type="none" w="sm" len="lg"/>
              <a:tailEnd type="none" w="sm" len="lg"/>
            </a:ln>
          </p:spPr>
        </p:sp>
        <p:grpSp>
          <p:nvGrpSpPr>
            <p:cNvPr id="16416" name="Group 32"/>
            <p:cNvGrpSpPr/>
            <p:nvPr/>
          </p:nvGrpSpPr>
          <p:grpSpPr>
            <a:xfrm>
              <a:off x="3088" y="1744"/>
              <a:ext cx="1568" cy="585"/>
              <a:chOff x="3088" y="1744"/>
              <a:chExt cx="1533" cy="585"/>
            </a:xfrm>
          </p:grpSpPr>
          <p:sp>
            <p:nvSpPr>
              <p:cNvPr id="16417" name="Line 33"/>
              <p:cNvSpPr/>
              <p:nvPr/>
            </p:nvSpPr>
            <p:spPr>
              <a:xfrm flipV="1">
                <a:off x="3088" y="2134"/>
                <a:ext cx="1533" cy="195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6418" name="Line 34"/>
              <p:cNvSpPr/>
              <p:nvPr/>
            </p:nvSpPr>
            <p:spPr>
              <a:xfrm>
                <a:off x="3088" y="2134"/>
                <a:ext cx="1533" cy="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6419" name="Line 35"/>
              <p:cNvSpPr/>
              <p:nvPr/>
            </p:nvSpPr>
            <p:spPr>
              <a:xfrm>
                <a:off x="3088" y="1939"/>
                <a:ext cx="1533" cy="195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  <p:sp>
            <p:nvSpPr>
              <p:cNvPr id="16420" name="Line 36"/>
              <p:cNvSpPr/>
              <p:nvPr/>
            </p:nvSpPr>
            <p:spPr>
              <a:xfrm>
                <a:off x="3088" y="1744"/>
                <a:ext cx="1533" cy="39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round/>
                <a:headEnd type="none" w="sm" len="lg"/>
                <a:tailEnd type="none" w="sm" len="lg"/>
              </a:ln>
            </p:spPr>
          </p:sp>
        </p:grpSp>
      </p:grpSp>
      <p:grpSp>
        <p:nvGrpSpPr>
          <p:cNvPr id="16421" name="Group 37"/>
          <p:cNvGrpSpPr/>
          <p:nvPr/>
        </p:nvGrpSpPr>
        <p:grpSpPr>
          <a:xfrm>
            <a:off x="3419475" y="1587500"/>
            <a:ext cx="427038" cy="257175"/>
            <a:chOff x="2496" y="1248"/>
            <a:chExt cx="384" cy="343"/>
          </a:xfrm>
        </p:grpSpPr>
        <p:graphicFrame>
          <p:nvGraphicFramePr>
            <p:cNvPr id="16422" name="Object 20"/>
            <p:cNvGraphicFramePr/>
            <p:nvPr/>
          </p:nvGraphicFramePr>
          <p:xfrm>
            <a:off x="2627" y="1248"/>
            <a:ext cx="253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5" name="" r:id="rId5" imgW="177800" imgH="240665" progId="Equation.3">
                    <p:embed/>
                  </p:oleObj>
                </mc:Choice>
                <mc:Fallback>
                  <p:oleObj name="" r:id="rId5" imgW="177800" imgH="240665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27" y="1248"/>
                          <a:ext cx="253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3" name="Arc 39"/>
            <p:cNvSpPr/>
            <p:nvPr/>
          </p:nvSpPr>
          <p:spPr>
            <a:xfrm>
              <a:off x="2496" y="1440"/>
              <a:ext cx="4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424" name="Group 44"/>
          <p:cNvGrpSpPr/>
          <p:nvPr/>
        </p:nvGrpSpPr>
        <p:grpSpPr>
          <a:xfrm>
            <a:off x="2700338" y="1871663"/>
            <a:ext cx="238125" cy="765175"/>
            <a:chOff x="1537" y="1578"/>
            <a:chExt cx="210" cy="774"/>
          </a:xfrm>
        </p:grpSpPr>
        <p:sp>
          <p:nvSpPr>
            <p:cNvPr id="16425" name="Freeform 45"/>
            <p:cNvSpPr/>
            <p:nvPr/>
          </p:nvSpPr>
          <p:spPr>
            <a:xfrm>
              <a:off x="1537" y="1578"/>
              <a:ext cx="2" cy="77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774"/>
                </a:cxn>
              </a:cxnLst>
              <a:rect l="0" t="0" r="0" b="0"/>
              <a:pathLst>
                <a:path w="2" h="774">
                  <a:moveTo>
                    <a:pt x="2" y="0"/>
                  </a:moveTo>
                  <a:lnTo>
                    <a:pt x="0" y="7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26" name="Object 21"/>
            <p:cNvGraphicFramePr/>
            <p:nvPr/>
          </p:nvGraphicFramePr>
          <p:xfrm>
            <a:off x="1563" y="1859"/>
            <a:ext cx="184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6" name="" r:id="rId7" imgW="127000" imgH="139700" progId="Equation.DSMT4">
                    <p:embed/>
                  </p:oleObj>
                </mc:Choice>
                <mc:Fallback>
                  <p:oleObj name="" r:id="rId7" imgW="127000" imgH="139700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3" y="1859"/>
                          <a:ext cx="184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27" name="Group 47"/>
          <p:cNvGrpSpPr/>
          <p:nvPr/>
        </p:nvGrpSpPr>
        <p:grpSpPr>
          <a:xfrm>
            <a:off x="1616075" y="2060575"/>
            <a:ext cx="5259388" cy="285750"/>
            <a:chOff x="816" y="1812"/>
            <a:chExt cx="4633" cy="288"/>
          </a:xfrm>
        </p:grpSpPr>
        <p:sp>
          <p:nvSpPr>
            <p:cNvPr id="16428" name="Line 48"/>
            <p:cNvSpPr/>
            <p:nvPr/>
          </p:nvSpPr>
          <p:spPr>
            <a:xfrm>
              <a:off x="816" y="1968"/>
              <a:ext cx="4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Dot"/>
              <a:round/>
              <a:headEnd type="none" w="sm" len="lg"/>
              <a:tailEnd type="none" w="sm" len="lg"/>
            </a:ln>
          </p:spPr>
        </p:sp>
        <p:graphicFrame>
          <p:nvGraphicFramePr>
            <p:cNvPr id="16429" name="Object 22"/>
            <p:cNvGraphicFramePr/>
            <p:nvPr/>
          </p:nvGraphicFramePr>
          <p:xfrm>
            <a:off x="5200" y="1812"/>
            <a:ext cx="24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7" name="" r:id="rId9" imgW="165100" imgH="190500" progId="Equation.3">
                    <p:embed/>
                  </p:oleObj>
                </mc:Choice>
                <mc:Fallback>
                  <p:oleObj name="" r:id="rId9" imgW="165100" imgH="1905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00" y="1812"/>
                          <a:ext cx="24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30" name="Group 50"/>
          <p:cNvGrpSpPr/>
          <p:nvPr/>
        </p:nvGrpSpPr>
        <p:grpSpPr>
          <a:xfrm>
            <a:off x="2957513" y="981075"/>
            <a:ext cx="3530600" cy="2398713"/>
            <a:chOff x="1882" y="598"/>
            <a:chExt cx="3110" cy="2426"/>
          </a:xfrm>
        </p:grpSpPr>
        <p:sp>
          <p:nvSpPr>
            <p:cNvPr id="16431" name="Line 51"/>
            <p:cNvSpPr/>
            <p:nvPr/>
          </p:nvSpPr>
          <p:spPr>
            <a:xfrm>
              <a:off x="3431" y="1107"/>
              <a:ext cx="15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round/>
              <a:headEnd type="triangle" w="sm" len="lg"/>
              <a:tailEnd type="triangle" w="sm" len="lg"/>
            </a:ln>
          </p:spPr>
        </p:sp>
        <p:graphicFrame>
          <p:nvGraphicFramePr>
            <p:cNvPr id="16432" name="Object 23"/>
            <p:cNvGraphicFramePr/>
            <p:nvPr/>
          </p:nvGraphicFramePr>
          <p:xfrm>
            <a:off x="4063" y="768"/>
            <a:ext cx="30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8" name="" r:id="rId11" imgW="215900" imgH="304165" progId="Equation.3">
                    <p:embed/>
                  </p:oleObj>
                </mc:Choice>
                <mc:Fallback>
                  <p:oleObj name="" r:id="rId11" imgW="215900" imgH="30416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63" y="768"/>
                          <a:ext cx="305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33" name="Object 24"/>
            <p:cNvGraphicFramePr/>
            <p:nvPr/>
          </p:nvGraphicFramePr>
          <p:xfrm>
            <a:off x="3304" y="672"/>
            <a:ext cx="32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9" name="" r:id="rId13" imgW="139700" imgH="165100" progId="Equation.3">
                    <p:embed/>
                  </p:oleObj>
                </mc:Choice>
                <mc:Fallback>
                  <p:oleObj name="" r:id="rId13" imgW="139700" imgH="1651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04" y="672"/>
                          <a:ext cx="32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34" name="Oval 54"/>
            <p:cNvSpPr/>
            <p:nvPr/>
          </p:nvSpPr>
          <p:spPr>
            <a:xfrm>
              <a:off x="3319" y="1022"/>
              <a:ext cx="170" cy="1947"/>
            </a:xfrm>
            <a:prstGeom prst="ellipse">
              <a:avLst/>
            </a:prstGeom>
            <a:solidFill>
              <a:srgbClr val="00FFCC">
                <a:alpha val="50195"/>
              </a:srgbClr>
            </a:solidFill>
            <a:ln w="19050" cap="flat" cmpd="sng">
              <a:solidFill>
                <a:srgbClr val="0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" name="Rectangle 55"/>
            <p:cNvSpPr>
              <a:spLocks noChangeArrowheads="1"/>
            </p:cNvSpPr>
            <p:nvPr/>
          </p:nvSpPr>
          <p:spPr bwMode="auto">
            <a:xfrm>
              <a:off x="4944" y="816"/>
              <a:ext cx="48" cy="220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36" name="Rectangle 57" descr="栎木"/>
            <p:cNvSpPr/>
            <p:nvPr/>
          </p:nvSpPr>
          <p:spPr>
            <a:xfrm>
              <a:off x="1956" y="889"/>
              <a:ext cx="60" cy="528"/>
            </a:xfrm>
            <a:prstGeom prst="rect">
              <a:avLst/>
            </a:prstGeom>
            <a:blipFill rotWithShape="0">
              <a:blip r:embed="rId15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37" name="Rectangle 58" descr="栎木"/>
            <p:cNvSpPr/>
            <p:nvPr/>
          </p:nvSpPr>
          <p:spPr>
            <a:xfrm>
              <a:off x="1968" y="2273"/>
              <a:ext cx="48" cy="576"/>
            </a:xfrm>
            <a:prstGeom prst="rect">
              <a:avLst/>
            </a:prstGeom>
            <a:blipFill rotWithShape="0">
              <a:blip r:embed="rId15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438" name="Object 26"/>
            <p:cNvGraphicFramePr/>
            <p:nvPr/>
          </p:nvGraphicFramePr>
          <p:xfrm>
            <a:off x="1882" y="598"/>
            <a:ext cx="344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30" name="" r:id="rId16" imgW="165100" imgH="165100" progId="Equation.3">
                    <p:embed/>
                  </p:oleObj>
                </mc:Choice>
                <mc:Fallback>
                  <p:oleObj name="" r:id="rId16" imgW="165100" imgH="1651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882" y="598"/>
                          <a:ext cx="344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439" name="Object 27"/>
          <p:cNvGraphicFramePr/>
          <p:nvPr/>
        </p:nvGraphicFramePr>
        <p:xfrm>
          <a:off x="6588125" y="1628775"/>
          <a:ext cx="3270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1" name="" r:id="rId18" imgW="152400" imgH="165100" progId="Equation.3">
                  <p:embed/>
                </p:oleObj>
              </mc:Choice>
              <mc:Fallback>
                <p:oleObj name="" r:id="rId18" imgW="152400" imgH="1651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88125" y="1628775"/>
                        <a:ext cx="327025" cy="354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0" name="Text Box 72"/>
          <p:cNvSpPr txBox="1"/>
          <p:nvPr/>
        </p:nvSpPr>
        <p:spPr>
          <a:xfrm>
            <a:off x="-684212" y="-819150"/>
            <a:ext cx="131762" cy="430213"/>
          </a:xfrm>
          <a:prstGeom prst="rect">
            <a:avLst/>
          </a:prstGeom>
          <a:noFill/>
          <a:ln w="28575">
            <a:noFill/>
          </a:ln>
        </p:spPr>
        <p:txBody>
          <a:bodyPr anchor="t" anchorCtr="0">
            <a:spAutoFit/>
          </a:bodyPr>
          <a:lstStyle/>
          <a:p>
            <a:pPr algn="ctr"/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441" name="Object 28"/>
          <p:cNvGraphicFramePr/>
          <p:nvPr/>
        </p:nvGraphicFramePr>
        <p:xfrm>
          <a:off x="5149850" y="3284538"/>
          <a:ext cx="9064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2" name="" r:id="rId20" imgW="469265" imgH="203200" progId="Equation.DSMT4">
                  <p:embed/>
                </p:oleObj>
              </mc:Choice>
              <mc:Fallback>
                <p:oleObj name="" r:id="rId20" imgW="469265" imgH="2032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49850" y="3284538"/>
                        <a:ext cx="906463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4" name="Picture 83" descr="单缝衍射图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27900" y="1341438"/>
            <a:ext cx="412750" cy="1770062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44" name="Object 35"/>
          <p:cNvGraphicFramePr/>
          <p:nvPr/>
        </p:nvGraphicFramePr>
        <p:xfrm>
          <a:off x="755650" y="5141913"/>
          <a:ext cx="19653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3" name="" r:id="rId23" imgW="760730" imgH="177800" progId="Equation.DSMT4">
                  <p:embed/>
                </p:oleObj>
              </mc:Choice>
              <mc:Fallback>
                <p:oleObj name="" r:id="rId23" imgW="760730" imgH="1778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5650" y="5141913"/>
                        <a:ext cx="19653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36"/>
          <p:cNvGraphicFramePr/>
          <p:nvPr/>
        </p:nvGraphicFramePr>
        <p:xfrm>
          <a:off x="2743200" y="4314825"/>
          <a:ext cx="754063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4" name="" r:id="rId25" imgW="165100" imgH="215900" progId="Equation.3">
                  <p:embed/>
                </p:oleObj>
              </mc:Choice>
              <mc:Fallback>
                <p:oleObj name="" r:id="rId25" imgW="165100" imgH="215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43200" y="4314825"/>
                        <a:ext cx="754063" cy="213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37"/>
          <p:cNvGraphicFramePr/>
          <p:nvPr/>
        </p:nvGraphicFramePr>
        <p:xfrm>
          <a:off x="3067050" y="4098925"/>
          <a:ext cx="118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5" name="" r:id="rId27" imgW="508000" imgH="393700" progId="Equation.3">
                  <p:embed/>
                </p:oleObj>
              </mc:Choice>
              <mc:Fallback>
                <p:oleObj name="" r:id="rId27" imgW="508000" imgH="393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067050" y="4098925"/>
                        <a:ext cx="11811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38"/>
          <p:cNvGraphicFramePr/>
          <p:nvPr/>
        </p:nvGraphicFramePr>
        <p:xfrm>
          <a:off x="3140075" y="5610225"/>
          <a:ext cx="18637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6" name="" r:id="rId29" imgW="799465" imgH="393700" progId="Equation.3">
                  <p:embed/>
                </p:oleObj>
              </mc:Choice>
              <mc:Fallback>
                <p:oleObj name="" r:id="rId29" imgW="799465" imgH="3937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140075" y="5610225"/>
                        <a:ext cx="1863725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Text Box 8"/>
          <p:cNvSpPr txBox="1"/>
          <p:nvPr/>
        </p:nvSpPr>
        <p:spPr>
          <a:xfrm>
            <a:off x="5214938" y="4337050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" name="Text Box 9"/>
          <p:cNvSpPr txBox="1"/>
          <p:nvPr/>
        </p:nvSpPr>
        <p:spPr>
          <a:xfrm>
            <a:off x="5214938" y="584676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0" name="Object 39"/>
          <p:cNvGraphicFramePr/>
          <p:nvPr/>
        </p:nvGraphicFramePr>
        <p:xfrm>
          <a:off x="6692900" y="5081588"/>
          <a:ext cx="18589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7" name="" r:id="rId31" imgW="735965" imgH="203200" progId="Equation.3">
                  <p:embed/>
                </p:oleObj>
              </mc:Choice>
              <mc:Fallback>
                <p:oleObj name="" r:id="rId31" imgW="735965" imgH="2032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692900" y="5081588"/>
                        <a:ext cx="1858963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" name="Object 40"/>
          <p:cNvGraphicFramePr/>
          <p:nvPr/>
        </p:nvGraphicFramePr>
        <p:xfrm>
          <a:off x="3608388" y="5073650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38" name="" r:id="rId33" imgW="127000" imgH="177165" progId="Equation.3">
                  <p:embed/>
                </p:oleObj>
              </mc:Choice>
              <mc:Fallback>
                <p:oleObj name="" r:id="rId33" imgW="127000" imgH="17716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08388" y="5073650"/>
                        <a:ext cx="295275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" name="Text Box 8"/>
          <p:cNvSpPr txBox="1"/>
          <p:nvPr/>
        </p:nvSpPr>
        <p:spPr>
          <a:xfrm>
            <a:off x="4949825" y="5054600"/>
            <a:ext cx="1422400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中央明纹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372225" y="4365625"/>
            <a:ext cx="2160588" cy="431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与干涉条件不同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45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8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48" grpId="0"/>
      <p:bldP spid="149" grpId="0"/>
      <p:bldP spid="152" grpId="0"/>
      <p:bldP spid="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722563" y="4149725"/>
          <a:ext cx="1420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" r:id="rId1" imgW="609600" imgH="393700" progId="Equation.3">
                  <p:embed/>
                </p:oleObj>
              </mc:Choice>
              <mc:Fallback>
                <p:oleObj name="" r:id="rId1" imgW="609600" imgH="3937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22563" y="4149725"/>
                        <a:ext cx="14208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"/>
          <p:cNvSpPr txBox="1"/>
          <p:nvPr/>
        </p:nvSpPr>
        <p:spPr>
          <a:xfrm>
            <a:off x="4595813" y="4319588"/>
            <a:ext cx="203993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次级明纹宽度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2516188" y="4941888"/>
          <a:ext cx="18049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" r:id="rId3" imgW="774065" imgH="393700" progId="Equation.3">
                  <p:embed/>
                </p:oleObj>
              </mc:Choice>
              <mc:Fallback>
                <p:oleObj name="" r:id="rId3" imgW="774065" imgH="3937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6188" y="4941888"/>
                        <a:ext cx="1804987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0"/>
          <p:cNvSpPr txBox="1"/>
          <p:nvPr/>
        </p:nvSpPr>
        <p:spPr>
          <a:xfrm>
            <a:off x="4622800" y="5186363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中央明纹宽度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4"/>
          <p:cNvGraphicFramePr/>
          <p:nvPr/>
        </p:nvGraphicFramePr>
        <p:xfrm>
          <a:off x="2124075" y="4257675"/>
          <a:ext cx="754063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" r:id="rId5" imgW="165100" imgH="215900" progId="Equation.3">
                  <p:embed/>
                </p:oleObj>
              </mc:Choice>
              <mc:Fallback>
                <p:oleObj name="" r:id="rId5" imgW="165100" imgH="2159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24075" y="4257675"/>
                        <a:ext cx="754063" cy="148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5"/>
          <p:cNvGraphicFramePr/>
          <p:nvPr/>
        </p:nvGraphicFramePr>
        <p:xfrm>
          <a:off x="827088" y="2333625"/>
          <a:ext cx="19653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" r:id="rId7" imgW="760730" imgH="177800" progId="Equation.DSMT4">
                  <p:embed/>
                </p:oleObj>
              </mc:Choice>
              <mc:Fallback>
                <p:oleObj name="" r:id="rId7" imgW="760730" imgH="1778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7088" y="2333625"/>
                        <a:ext cx="196532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6"/>
          <p:cNvGraphicFramePr/>
          <p:nvPr/>
        </p:nvGraphicFramePr>
        <p:xfrm>
          <a:off x="2814638" y="1506538"/>
          <a:ext cx="754062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" r:id="rId9" imgW="165100" imgH="215900" progId="Equation.3">
                  <p:embed/>
                </p:oleObj>
              </mc:Choice>
              <mc:Fallback>
                <p:oleObj name="" r:id="rId9" imgW="165100" imgH="2159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14638" y="1506538"/>
                        <a:ext cx="754062" cy="2138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7"/>
          <p:cNvGraphicFramePr/>
          <p:nvPr/>
        </p:nvGraphicFramePr>
        <p:xfrm>
          <a:off x="3138488" y="1290638"/>
          <a:ext cx="1181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" r:id="rId10" imgW="508000" imgH="393700" progId="Equation.3">
                  <p:embed/>
                </p:oleObj>
              </mc:Choice>
              <mc:Fallback>
                <p:oleObj name="" r:id="rId10" imgW="508000" imgH="3937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38488" y="1290638"/>
                        <a:ext cx="11811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Object 8"/>
          <p:cNvGraphicFramePr/>
          <p:nvPr/>
        </p:nvGraphicFramePr>
        <p:xfrm>
          <a:off x="3138488" y="2801938"/>
          <a:ext cx="18653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0" name="" r:id="rId12" imgW="799465" imgH="393700" progId="Equation.3">
                  <p:embed/>
                </p:oleObj>
              </mc:Choice>
              <mc:Fallback>
                <p:oleObj name="" r:id="rId12" imgW="799465" imgH="3937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38488" y="2801938"/>
                        <a:ext cx="1865312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8"/>
          <p:cNvSpPr txBox="1"/>
          <p:nvPr/>
        </p:nvSpPr>
        <p:spPr>
          <a:xfrm>
            <a:off x="5359400" y="152876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9" name="Text Box 9"/>
          <p:cNvSpPr txBox="1"/>
          <p:nvPr/>
        </p:nvSpPr>
        <p:spPr>
          <a:xfrm>
            <a:off x="5359400" y="304323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明纹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420" name="Object 9"/>
          <p:cNvGraphicFramePr/>
          <p:nvPr/>
        </p:nvGraphicFramePr>
        <p:xfrm>
          <a:off x="6781800" y="2273300"/>
          <a:ext cx="18256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1" name="" r:id="rId14" imgW="723265" imgH="203200" progId="Equation.3">
                  <p:embed/>
                </p:oleObj>
              </mc:Choice>
              <mc:Fallback>
                <p:oleObj name="" r:id="rId14" imgW="723265" imgH="2032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781800" y="2273300"/>
                        <a:ext cx="18256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0"/>
          <p:cNvGraphicFramePr/>
          <p:nvPr/>
        </p:nvGraphicFramePr>
        <p:xfrm>
          <a:off x="3700463" y="2439988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" r:id="rId16" imgW="127000" imgH="177165" progId="Equation.3">
                  <p:embed/>
                </p:oleObj>
              </mc:Choice>
              <mc:Fallback>
                <p:oleObj name="" r:id="rId16" imgW="127000" imgH="17716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700463" y="2439988"/>
                        <a:ext cx="295275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Text Box 8"/>
          <p:cNvSpPr txBox="1"/>
          <p:nvPr/>
        </p:nvSpPr>
        <p:spPr>
          <a:xfrm>
            <a:off x="5076825" y="2319338"/>
            <a:ext cx="14224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中央明纹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3" name="Text Box 11"/>
          <p:cNvSpPr txBox="1"/>
          <p:nvPr/>
        </p:nvSpPr>
        <p:spPr>
          <a:xfrm>
            <a:off x="250825" y="585788"/>
            <a:ext cx="216852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单缝衍射：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4" name="矩形 16"/>
          <p:cNvSpPr/>
          <p:nvPr/>
        </p:nvSpPr>
        <p:spPr>
          <a:xfrm>
            <a:off x="2135188" y="590550"/>
            <a:ext cx="5832475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次明纹的宽度为中央明条纹宽度的一半。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2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en-US" altLang="zh-CN" sz="1400" b="0" dirty="0">
                <a:solidFill>
                  <a:schemeClr val="tx1"/>
                </a:solidFill>
                <a:latin typeface="Arial" panose="020B0604020202020204" pitchFamily="34" charset="0"/>
              </a:rPr>
              <a:t>9</a:t>
            </a:r>
            <a:endParaRPr lang="en-US" altLang="zh-CN" sz="14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4"/>
          <p:cNvSpPr txBox="1"/>
          <p:nvPr/>
        </p:nvSpPr>
        <p:spPr>
          <a:xfrm>
            <a:off x="3057525" y="823913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16" name="Object 7"/>
          <p:cNvGraphicFramePr/>
          <p:nvPr/>
        </p:nvGraphicFramePr>
        <p:xfrm>
          <a:off x="315913" y="5249863"/>
          <a:ext cx="20939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2" name="" r:id="rId1" imgW="811530" imgH="177800" progId="Equation.3">
                  <p:embed/>
                </p:oleObj>
              </mc:Choice>
              <mc:Fallback>
                <p:oleObj name="" r:id="rId1" imgW="811530" imgH="1778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5913" y="5249863"/>
                        <a:ext cx="2093912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8"/>
          <p:cNvGraphicFramePr/>
          <p:nvPr/>
        </p:nvGraphicFramePr>
        <p:xfrm>
          <a:off x="2311400" y="4716463"/>
          <a:ext cx="754063" cy="171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3" name="" r:id="rId3" imgW="165100" imgH="215900" progId="Equation.3">
                  <p:embed/>
                </p:oleObj>
              </mc:Choice>
              <mc:Fallback>
                <p:oleObj name="" r:id="rId3" imgW="165100" imgH="2159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11400" y="4716463"/>
                        <a:ext cx="754063" cy="171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9"/>
          <p:cNvGraphicFramePr/>
          <p:nvPr/>
        </p:nvGraphicFramePr>
        <p:xfrm>
          <a:off x="2844800" y="4564063"/>
          <a:ext cx="4699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4" name="" r:id="rId5" imgW="202565" imgH="177800" progId="Equation.3">
                  <p:embed/>
                </p:oleObj>
              </mc:Choice>
              <mc:Fallback>
                <p:oleObj name="" r:id="rId5" imgW="202565" imgH="177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44800" y="4564063"/>
                        <a:ext cx="46990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Text Box 15"/>
          <p:cNvSpPr txBox="1"/>
          <p:nvPr/>
        </p:nvSpPr>
        <p:spPr>
          <a:xfrm>
            <a:off x="3759200" y="4487863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主明纹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20" name="Object 10"/>
          <p:cNvGraphicFramePr/>
          <p:nvPr/>
        </p:nvGraphicFramePr>
        <p:xfrm>
          <a:off x="2844800" y="4945063"/>
          <a:ext cx="39068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5" name="" r:id="rId7" imgW="1675765" imgH="393700" progId="Equation.3">
                  <p:embed/>
                </p:oleObj>
              </mc:Choice>
              <mc:Fallback>
                <p:oleObj name="" r:id="rId7" imgW="1675765" imgH="3937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4800" y="4945063"/>
                        <a:ext cx="3906838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1" name="Text Box 17"/>
          <p:cNvSpPr txBox="1"/>
          <p:nvPr/>
        </p:nvSpPr>
        <p:spPr>
          <a:xfrm>
            <a:off x="7112000" y="513238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暗纹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27" name="Object 14"/>
          <p:cNvGraphicFramePr/>
          <p:nvPr/>
        </p:nvGraphicFramePr>
        <p:xfrm>
          <a:off x="2863850" y="5827713"/>
          <a:ext cx="37290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6" name="" r:id="rId9" imgW="1599565" imgH="393700" progId="Equation.3">
                  <p:embed/>
                </p:oleObj>
              </mc:Choice>
              <mc:Fallback>
                <p:oleObj name="" r:id="rId9" imgW="1599565" imgH="3937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63850" y="5827713"/>
                        <a:ext cx="3729038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Text Box 24"/>
          <p:cNvSpPr txBox="1"/>
          <p:nvPr/>
        </p:nvSpPr>
        <p:spPr>
          <a:xfrm>
            <a:off x="7092950" y="606901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缺级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29" name="Object 15"/>
          <p:cNvGraphicFramePr/>
          <p:nvPr/>
        </p:nvGraphicFramePr>
        <p:xfrm>
          <a:off x="5603875" y="4500563"/>
          <a:ext cx="22812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7" name="" r:id="rId11" imgW="1028065" imgH="203200" progId="Equation.DSMT4">
                  <p:embed/>
                </p:oleObj>
              </mc:Choice>
              <mc:Fallback>
                <p:oleObj name="" r:id="rId11" imgW="1028065" imgH="2032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03875" y="4500563"/>
                        <a:ext cx="2281238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Text Box 11"/>
          <p:cNvSpPr txBox="1"/>
          <p:nvPr/>
        </p:nvSpPr>
        <p:spPr>
          <a:xfrm>
            <a:off x="100013" y="333375"/>
            <a:ext cx="21685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光栅衍射：</a:t>
            </a:r>
            <a:endParaRPr lang="zh-CN" altLang="en-US" sz="2400" dirty="0">
              <a:solidFill>
                <a:srgbClr val="CC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051050" y="333375"/>
            <a:ext cx="70929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光栅衍射条纹是单缝衍射和多光束干涉的综合效果。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8445" name="Group 181"/>
          <p:cNvGrpSpPr/>
          <p:nvPr/>
        </p:nvGrpSpPr>
        <p:grpSpPr>
          <a:xfrm>
            <a:off x="107950" y="1044575"/>
            <a:ext cx="5986463" cy="3349625"/>
            <a:chOff x="288" y="1152"/>
            <a:chExt cx="5232" cy="2928"/>
          </a:xfrm>
        </p:grpSpPr>
        <p:sp>
          <p:nvSpPr>
            <p:cNvPr id="18446" name="Rectangle 182"/>
            <p:cNvSpPr/>
            <p:nvPr/>
          </p:nvSpPr>
          <p:spPr>
            <a:xfrm>
              <a:off x="288" y="1152"/>
              <a:ext cx="5232" cy="29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8447" name="Group 183"/>
            <p:cNvGrpSpPr/>
            <p:nvPr/>
          </p:nvGrpSpPr>
          <p:grpSpPr>
            <a:xfrm>
              <a:off x="1487" y="1728"/>
              <a:ext cx="73" cy="2064"/>
              <a:chOff x="1487" y="1488"/>
              <a:chExt cx="98" cy="2064"/>
            </a:xfrm>
          </p:grpSpPr>
          <p:sp>
            <p:nvSpPr>
              <p:cNvPr id="18448" name="AutoShape 184" descr="栎木"/>
              <p:cNvSpPr/>
              <p:nvPr/>
            </p:nvSpPr>
            <p:spPr>
              <a:xfrm rot="-5419152">
                <a:off x="1332" y="1644"/>
                <a:ext cx="408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9" name="AutoShape 185" descr="栎木"/>
              <p:cNvSpPr/>
              <p:nvPr/>
            </p:nvSpPr>
            <p:spPr>
              <a:xfrm rot="-5419152">
                <a:off x="1435" y="2011"/>
                <a:ext cx="192" cy="9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0" name="AutoShape 186" descr="栎木"/>
              <p:cNvSpPr/>
              <p:nvPr/>
            </p:nvSpPr>
            <p:spPr>
              <a:xfrm rot="-5419152">
                <a:off x="1436" y="2299"/>
                <a:ext cx="192" cy="9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1" name="AutoShape 187" descr="栎木"/>
              <p:cNvSpPr/>
              <p:nvPr/>
            </p:nvSpPr>
            <p:spPr>
              <a:xfrm rot="-5419152">
                <a:off x="1436" y="2587"/>
                <a:ext cx="192" cy="9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2" name="AutoShape 188" descr="栎木"/>
              <p:cNvSpPr/>
              <p:nvPr/>
            </p:nvSpPr>
            <p:spPr>
              <a:xfrm rot="-5419152">
                <a:off x="1436" y="2875"/>
                <a:ext cx="192" cy="9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3" name="AutoShape 189" descr="栎木"/>
              <p:cNvSpPr/>
              <p:nvPr/>
            </p:nvSpPr>
            <p:spPr>
              <a:xfrm rot="-5419152">
                <a:off x="1320" y="3288"/>
                <a:ext cx="432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blipFill rotWithShape="0">
                <a:blip r:embed="rId13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8454" name="Group 190"/>
          <p:cNvGrpSpPr/>
          <p:nvPr/>
        </p:nvGrpSpPr>
        <p:grpSpPr>
          <a:xfrm>
            <a:off x="587375" y="2189163"/>
            <a:ext cx="2471738" cy="1319212"/>
            <a:chOff x="672" y="2160"/>
            <a:chExt cx="2160" cy="1153"/>
          </a:xfrm>
        </p:grpSpPr>
        <p:grpSp>
          <p:nvGrpSpPr>
            <p:cNvPr id="18455" name="Group 191"/>
            <p:cNvGrpSpPr/>
            <p:nvPr/>
          </p:nvGrpSpPr>
          <p:grpSpPr>
            <a:xfrm>
              <a:off x="672" y="3024"/>
              <a:ext cx="2160" cy="1"/>
              <a:chOff x="672" y="3504"/>
              <a:chExt cx="2160" cy="0"/>
            </a:xfrm>
          </p:grpSpPr>
          <p:sp>
            <p:nvSpPr>
              <p:cNvPr id="18456" name="Line 192"/>
              <p:cNvSpPr/>
              <p:nvPr/>
            </p:nvSpPr>
            <p:spPr>
              <a:xfrm>
                <a:off x="1056" y="3504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57" name="Line 193"/>
              <p:cNvSpPr/>
              <p:nvPr/>
            </p:nvSpPr>
            <p:spPr>
              <a:xfrm>
                <a:off x="672" y="3504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8458" name="Group 194"/>
            <p:cNvGrpSpPr/>
            <p:nvPr/>
          </p:nvGrpSpPr>
          <p:grpSpPr>
            <a:xfrm>
              <a:off x="672" y="3312"/>
              <a:ext cx="2160" cy="1"/>
              <a:chOff x="672" y="3504"/>
              <a:chExt cx="2160" cy="0"/>
            </a:xfrm>
          </p:grpSpPr>
          <p:sp>
            <p:nvSpPr>
              <p:cNvPr id="18459" name="Line 195"/>
              <p:cNvSpPr/>
              <p:nvPr/>
            </p:nvSpPr>
            <p:spPr>
              <a:xfrm>
                <a:off x="1056" y="3504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60" name="Line 196"/>
              <p:cNvSpPr/>
              <p:nvPr/>
            </p:nvSpPr>
            <p:spPr>
              <a:xfrm>
                <a:off x="672" y="3504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8461" name="Group 197"/>
            <p:cNvGrpSpPr/>
            <p:nvPr/>
          </p:nvGrpSpPr>
          <p:grpSpPr>
            <a:xfrm>
              <a:off x="672" y="2736"/>
              <a:ext cx="2160" cy="1"/>
              <a:chOff x="672" y="3504"/>
              <a:chExt cx="2160" cy="0"/>
            </a:xfrm>
          </p:grpSpPr>
          <p:sp>
            <p:nvSpPr>
              <p:cNvPr id="18462" name="Line 198"/>
              <p:cNvSpPr/>
              <p:nvPr/>
            </p:nvSpPr>
            <p:spPr>
              <a:xfrm>
                <a:off x="1056" y="3504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63" name="Line 199"/>
              <p:cNvSpPr/>
              <p:nvPr/>
            </p:nvSpPr>
            <p:spPr>
              <a:xfrm>
                <a:off x="672" y="3504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8464" name="Group 200"/>
            <p:cNvGrpSpPr/>
            <p:nvPr/>
          </p:nvGrpSpPr>
          <p:grpSpPr>
            <a:xfrm>
              <a:off x="672" y="2448"/>
              <a:ext cx="2160" cy="1"/>
              <a:chOff x="672" y="3504"/>
              <a:chExt cx="2160" cy="0"/>
            </a:xfrm>
          </p:grpSpPr>
          <p:sp>
            <p:nvSpPr>
              <p:cNvPr id="18465" name="Line 201"/>
              <p:cNvSpPr/>
              <p:nvPr/>
            </p:nvSpPr>
            <p:spPr>
              <a:xfrm>
                <a:off x="1056" y="3504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66" name="Line 202"/>
              <p:cNvSpPr/>
              <p:nvPr/>
            </p:nvSpPr>
            <p:spPr>
              <a:xfrm>
                <a:off x="672" y="3504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  <p:grpSp>
          <p:nvGrpSpPr>
            <p:cNvPr id="18467" name="Group 203"/>
            <p:cNvGrpSpPr/>
            <p:nvPr/>
          </p:nvGrpSpPr>
          <p:grpSpPr>
            <a:xfrm>
              <a:off x="672" y="2160"/>
              <a:ext cx="2160" cy="1"/>
              <a:chOff x="672" y="3504"/>
              <a:chExt cx="2160" cy="0"/>
            </a:xfrm>
          </p:grpSpPr>
          <p:sp>
            <p:nvSpPr>
              <p:cNvPr id="18468" name="Line 204"/>
              <p:cNvSpPr/>
              <p:nvPr/>
            </p:nvSpPr>
            <p:spPr>
              <a:xfrm>
                <a:off x="1056" y="3504"/>
                <a:ext cx="1776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69" name="Line 205"/>
              <p:cNvSpPr/>
              <p:nvPr/>
            </p:nvSpPr>
            <p:spPr>
              <a:xfrm>
                <a:off x="672" y="3504"/>
                <a:ext cx="62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</p:grpSp>
      </p:grpSp>
      <p:grpSp>
        <p:nvGrpSpPr>
          <p:cNvPr id="18470" name="Group 206"/>
          <p:cNvGrpSpPr/>
          <p:nvPr/>
        </p:nvGrpSpPr>
        <p:grpSpPr>
          <a:xfrm>
            <a:off x="3143250" y="2190750"/>
            <a:ext cx="2416175" cy="1317625"/>
            <a:chOff x="2784" y="2160"/>
            <a:chExt cx="2112" cy="1152"/>
          </a:xfrm>
        </p:grpSpPr>
        <p:sp>
          <p:nvSpPr>
            <p:cNvPr id="18471" name="Line 207"/>
            <p:cNvSpPr/>
            <p:nvPr/>
          </p:nvSpPr>
          <p:spPr>
            <a:xfrm>
              <a:off x="2784" y="2160"/>
              <a:ext cx="2112" cy="57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2" name="Line 208"/>
            <p:cNvSpPr/>
            <p:nvPr/>
          </p:nvSpPr>
          <p:spPr>
            <a:xfrm>
              <a:off x="2832" y="2448"/>
              <a:ext cx="2064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3" name="Line 209"/>
            <p:cNvSpPr/>
            <p:nvPr/>
          </p:nvSpPr>
          <p:spPr>
            <a:xfrm>
              <a:off x="2832" y="2736"/>
              <a:ext cx="2064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4" name="Line 210"/>
            <p:cNvSpPr/>
            <p:nvPr/>
          </p:nvSpPr>
          <p:spPr>
            <a:xfrm flipV="1">
              <a:off x="2784" y="2736"/>
              <a:ext cx="2112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5" name="Line 211"/>
            <p:cNvSpPr/>
            <p:nvPr/>
          </p:nvSpPr>
          <p:spPr>
            <a:xfrm flipV="1">
              <a:off x="2784" y="2736"/>
              <a:ext cx="2112" cy="57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sm" len="lg"/>
            </a:ln>
          </p:spPr>
        </p:sp>
      </p:grpSp>
      <p:grpSp>
        <p:nvGrpSpPr>
          <p:cNvPr id="18476" name="Group 212"/>
          <p:cNvGrpSpPr/>
          <p:nvPr/>
        </p:nvGrpSpPr>
        <p:grpSpPr>
          <a:xfrm>
            <a:off x="1541463" y="1565275"/>
            <a:ext cx="1538287" cy="1922463"/>
            <a:chOff x="1488" y="1632"/>
            <a:chExt cx="1344" cy="1680"/>
          </a:xfrm>
        </p:grpSpPr>
        <p:sp>
          <p:nvSpPr>
            <p:cNvPr id="18477" name="Line 213"/>
            <p:cNvSpPr/>
            <p:nvPr/>
          </p:nvSpPr>
          <p:spPr>
            <a:xfrm flipV="1">
              <a:off x="1488" y="1632"/>
              <a:ext cx="1344" cy="52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8" name="Line 214"/>
            <p:cNvSpPr/>
            <p:nvPr/>
          </p:nvSpPr>
          <p:spPr>
            <a:xfrm flipV="1">
              <a:off x="1488" y="1920"/>
              <a:ext cx="1344" cy="52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79" name="Line 215"/>
            <p:cNvSpPr/>
            <p:nvPr/>
          </p:nvSpPr>
          <p:spPr>
            <a:xfrm flipV="1">
              <a:off x="1488" y="2208"/>
              <a:ext cx="1344" cy="52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80" name="Line 216"/>
            <p:cNvSpPr/>
            <p:nvPr/>
          </p:nvSpPr>
          <p:spPr>
            <a:xfrm flipV="1">
              <a:off x="1488" y="2496"/>
              <a:ext cx="1344" cy="52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sm" len="lg"/>
            </a:ln>
          </p:spPr>
        </p:sp>
        <p:sp>
          <p:nvSpPr>
            <p:cNvPr id="18481" name="Line 217"/>
            <p:cNvSpPr/>
            <p:nvPr/>
          </p:nvSpPr>
          <p:spPr>
            <a:xfrm flipV="1">
              <a:off x="1488" y="2784"/>
              <a:ext cx="1344" cy="52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sm" len="lg"/>
            </a:ln>
          </p:spPr>
        </p:sp>
      </p:grpSp>
      <p:grpSp>
        <p:nvGrpSpPr>
          <p:cNvPr id="18482" name="Group 218"/>
          <p:cNvGrpSpPr/>
          <p:nvPr/>
        </p:nvGrpSpPr>
        <p:grpSpPr>
          <a:xfrm>
            <a:off x="3179763" y="1568450"/>
            <a:ext cx="2774950" cy="1317625"/>
            <a:chOff x="2830" y="1632"/>
            <a:chExt cx="2426" cy="1152"/>
          </a:xfrm>
        </p:grpSpPr>
        <p:graphicFrame>
          <p:nvGraphicFramePr>
            <p:cNvPr id="18483" name="Object 16"/>
            <p:cNvGraphicFramePr/>
            <p:nvPr/>
          </p:nvGraphicFramePr>
          <p:xfrm>
            <a:off x="4992" y="1954"/>
            <a:ext cx="26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8" name="" r:id="rId14" imgW="152400" imgH="165100" progId="Equation.3">
                    <p:embed/>
                  </p:oleObj>
                </mc:Choice>
                <mc:Fallback>
                  <p:oleObj name="" r:id="rId14" imgW="152400" imgH="1651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992" y="1954"/>
                          <a:ext cx="264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484" name="Group 220"/>
            <p:cNvGrpSpPr/>
            <p:nvPr/>
          </p:nvGrpSpPr>
          <p:grpSpPr>
            <a:xfrm>
              <a:off x="2830" y="1632"/>
              <a:ext cx="2065" cy="1152"/>
              <a:chOff x="2830" y="1632"/>
              <a:chExt cx="2065" cy="1152"/>
            </a:xfrm>
          </p:grpSpPr>
          <p:sp>
            <p:nvSpPr>
              <p:cNvPr id="18485" name="Line 221"/>
              <p:cNvSpPr/>
              <p:nvPr/>
            </p:nvSpPr>
            <p:spPr>
              <a:xfrm rot="-3806">
                <a:off x="2830" y="1632"/>
                <a:ext cx="2065" cy="384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86" name="Line 222"/>
              <p:cNvSpPr/>
              <p:nvPr/>
            </p:nvSpPr>
            <p:spPr>
              <a:xfrm rot="-3806">
                <a:off x="2830" y="1919"/>
                <a:ext cx="2065" cy="96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87" name="Line 223"/>
              <p:cNvSpPr/>
              <p:nvPr/>
            </p:nvSpPr>
            <p:spPr>
              <a:xfrm rot="-3806" flipV="1">
                <a:off x="2831" y="2016"/>
                <a:ext cx="2064" cy="479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88" name="Line 224"/>
              <p:cNvSpPr/>
              <p:nvPr/>
            </p:nvSpPr>
            <p:spPr>
              <a:xfrm rot="-3806" flipV="1">
                <a:off x="2831" y="2016"/>
                <a:ext cx="2064" cy="192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18489" name="Line 225"/>
              <p:cNvSpPr/>
              <p:nvPr/>
            </p:nvSpPr>
            <p:spPr>
              <a:xfrm rot="-3806" flipV="1">
                <a:off x="2831" y="2016"/>
                <a:ext cx="2064" cy="76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</p:grpSp>
      <p:grpSp>
        <p:nvGrpSpPr>
          <p:cNvPr id="18490" name="Group 226"/>
          <p:cNvGrpSpPr/>
          <p:nvPr/>
        </p:nvGrpSpPr>
        <p:grpSpPr>
          <a:xfrm>
            <a:off x="323850" y="1039813"/>
            <a:ext cx="5765800" cy="3308350"/>
            <a:chOff x="384" y="1140"/>
            <a:chExt cx="5040" cy="2892"/>
          </a:xfrm>
        </p:grpSpPr>
        <p:sp>
          <p:nvSpPr>
            <p:cNvPr id="84" name="Rectangle 227"/>
            <p:cNvSpPr>
              <a:spLocks noChangeArrowheads="1"/>
            </p:cNvSpPr>
            <p:nvPr/>
          </p:nvSpPr>
          <p:spPr bwMode="auto">
            <a:xfrm>
              <a:off x="4890" y="1440"/>
              <a:ext cx="54" cy="259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18492" name="Object 17"/>
            <p:cNvGraphicFramePr/>
            <p:nvPr/>
          </p:nvGraphicFramePr>
          <p:xfrm>
            <a:off x="4982" y="2784"/>
            <a:ext cx="25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59" name="" r:id="rId16" imgW="165100" imgH="190500" progId="Equation.3">
                    <p:embed/>
                  </p:oleObj>
                </mc:Choice>
                <mc:Fallback>
                  <p:oleObj name="" r:id="rId16" imgW="165100" imgH="1905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4982" y="2784"/>
                          <a:ext cx="25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3" name="Object 18"/>
            <p:cNvGraphicFramePr/>
            <p:nvPr/>
          </p:nvGraphicFramePr>
          <p:xfrm>
            <a:off x="2496" y="1144"/>
            <a:ext cx="33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0" name="" r:id="rId18" imgW="139700" imgH="165100" progId="Equation.3">
                    <p:embed/>
                  </p:oleObj>
                </mc:Choice>
                <mc:Fallback>
                  <p:oleObj name="" r:id="rId18" imgW="139700" imgH="1651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2496" y="1144"/>
                          <a:ext cx="332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4" name="Line 230"/>
            <p:cNvSpPr/>
            <p:nvPr/>
          </p:nvSpPr>
          <p:spPr>
            <a:xfrm flipV="1">
              <a:off x="384" y="2736"/>
              <a:ext cx="50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sm" len="lg"/>
            </a:ln>
          </p:spPr>
        </p:sp>
        <p:graphicFrame>
          <p:nvGraphicFramePr>
            <p:cNvPr id="18495" name="Object 19"/>
            <p:cNvGraphicFramePr/>
            <p:nvPr/>
          </p:nvGraphicFramePr>
          <p:xfrm>
            <a:off x="4981" y="1140"/>
            <a:ext cx="270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1" name="" r:id="rId20" imgW="114300" imgH="215265" progId="Equation.3">
                    <p:embed/>
                  </p:oleObj>
                </mc:Choice>
                <mc:Fallback>
                  <p:oleObj name="" r:id="rId20" imgW="114300" imgH="215265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981" y="1140"/>
                          <a:ext cx="270" cy="5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96" name="Object 20"/>
            <p:cNvGraphicFramePr/>
            <p:nvPr/>
          </p:nvGraphicFramePr>
          <p:xfrm>
            <a:off x="3744" y="3408"/>
            <a:ext cx="288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2" name="" r:id="rId22" imgW="152400" imgH="203200" progId="Equation.3">
                    <p:embed/>
                  </p:oleObj>
                </mc:Choice>
                <mc:Fallback>
                  <p:oleObj name="" r:id="rId22" imgW="152400" imgH="2032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3744" y="3408"/>
                          <a:ext cx="288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7" name="Line 233"/>
            <p:cNvSpPr/>
            <p:nvPr/>
          </p:nvSpPr>
          <p:spPr>
            <a:xfrm>
              <a:off x="2832" y="3744"/>
              <a:ext cx="20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triangle" w="sm" len="lg"/>
              <a:tailEnd type="triangle" w="sm" len="lg"/>
            </a:ln>
          </p:spPr>
        </p:sp>
        <p:sp>
          <p:nvSpPr>
            <p:cNvPr id="18498" name="Oval 234"/>
            <p:cNvSpPr/>
            <p:nvPr/>
          </p:nvSpPr>
          <p:spPr>
            <a:xfrm>
              <a:off x="2736" y="1440"/>
              <a:ext cx="192" cy="2592"/>
            </a:xfrm>
            <a:prstGeom prst="ellipse">
              <a:avLst/>
            </a:prstGeom>
            <a:solidFill>
              <a:srgbClr val="CCFFFF">
                <a:alpha val="50195"/>
              </a:srgbClr>
            </a:solidFill>
            <a:ln w="19050" cap="flat" cmpd="sng">
              <a:solidFill>
                <a:srgbClr val="0066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499" name="Group 235"/>
          <p:cNvGrpSpPr/>
          <p:nvPr/>
        </p:nvGrpSpPr>
        <p:grpSpPr>
          <a:xfrm>
            <a:off x="2082800" y="1758950"/>
            <a:ext cx="627063" cy="525463"/>
            <a:chOff x="1959" y="1816"/>
            <a:chExt cx="385" cy="392"/>
          </a:xfrm>
        </p:grpSpPr>
        <p:sp>
          <p:nvSpPr>
            <p:cNvPr id="18500" name="Freeform 236"/>
            <p:cNvSpPr/>
            <p:nvPr/>
          </p:nvSpPr>
          <p:spPr>
            <a:xfrm>
              <a:off x="1959" y="1978"/>
              <a:ext cx="57" cy="1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"/>
                </a:cxn>
                <a:cxn ang="0">
                  <a:pos x="5" y="19"/>
                </a:cxn>
                <a:cxn ang="0">
                  <a:pos x="5" y="10"/>
                </a:cxn>
                <a:cxn ang="0">
                  <a:pos x="2" y="18"/>
                </a:cxn>
                <a:cxn ang="0">
                  <a:pos x="6" y="20"/>
                </a:cxn>
                <a:cxn ang="0">
                  <a:pos x="10" y="12"/>
                </a:cxn>
                <a:cxn ang="0">
                  <a:pos x="3" y="18"/>
                </a:cxn>
                <a:cxn ang="0">
                  <a:pos x="8" y="22"/>
                </a:cxn>
                <a:cxn ang="0">
                  <a:pos x="12" y="27"/>
                </a:cxn>
                <a:cxn ang="0">
                  <a:pos x="17" y="33"/>
                </a:cxn>
                <a:cxn ang="0">
                  <a:pos x="23" y="26"/>
                </a:cxn>
                <a:cxn ang="0">
                  <a:pos x="15" y="30"/>
                </a:cxn>
                <a:cxn ang="0">
                  <a:pos x="19" y="37"/>
                </a:cxn>
                <a:cxn ang="0">
                  <a:pos x="22" y="45"/>
                </a:cxn>
                <a:cxn ang="0">
                  <a:pos x="26" y="55"/>
                </a:cxn>
                <a:cxn ang="0">
                  <a:pos x="31" y="76"/>
                </a:cxn>
                <a:cxn ang="0">
                  <a:pos x="40" y="72"/>
                </a:cxn>
                <a:cxn ang="0">
                  <a:pos x="31" y="72"/>
                </a:cxn>
                <a:cxn ang="0">
                  <a:pos x="35" y="97"/>
                </a:cxn>
                <a:cxn ang="0">
                  <a:pos x="38" y="124"/>
                </a:cxn>
                <a:cxn ang="0">
                  <a:pos x="39" y="153"/>
                </a:cxn>
                <a:cxn ang="0">
                  <a:pos x="57" y="153"/>
                </a:cxn>
                <a:cxn ang="0">
                  <a:pos x="56" y="124"/>
                </a:cxn>
                <a:cxn ang="0">
                  <a:pos x="53" y="97"/>
                </a:cxn>
                <a:cxn ang="0">
                  <a:pos x="49" y="72"/>
                </a:cxn>
                <a:cxn ang="0">
                  <a:pos x="48" y="69"/>
                </a:cxn>
                <a:cxn ang="0">
                  <a:pos x="43" y="48"/>
                </a:cxn>
                <a:cxn ang="0">
                  <a:pos x="39" y="38"/>
                </a:cxn>
                <a:cxn ang="0">
                  <a:pos x="36" y="30"/>
                </a:cxn>
                <a:cxn ang="0">
                  <a:pos x="32" y="23"/>
                </a:cxn>
                <a:cxn ang="0">
                  <a:pos x="30" y="20"/>
                </a:cxn>
                <a:cxn ang="0">
                  <a:pos x="25" y="14"/>
                </a:cxn>
                <a:cxn ang="0">
                  <a:pos x="21" y="9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9" y="1"/>
                </a:cxn>
                <a:cxn ang="0">
                  <a:pos x="5" y="1"/>
                </a:cxn>
                <a:cxn ang="0">
                  <a:pos x="0" y="0"/>
                </a:cxn>
              </a:cxnLst>
              <a:rect l="0" t="0" r="0" b="0"/>
              <a:pathLst>
                <a:path w="57" h="153">
                  <a:moveTo>
                    <a:pt x="0" y="0"/>
                  </a:moveTo>
                  <a:lnTo>
                    <a:pt x="0" y="18"/>
                  </a:lnTo>
                  <a:lnTo>
                    <a:pt x="5" y="19"/>
                  </a:lnTo>
                  <a:lnTo>
                    <a:pt x="5" y="10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10" y="12"/>
                  </a:lnTo>
                  <a:lnTo>
                    <a:pt x="3" y="18"/>
                  </a:lnTo>
                  <a:lnTo>
                    <a:pt x="8" y="22"/>
                  </a:lnTo>
                  <a:lnTo>
                    <a:pt x="12" y="27"/>
                  </a:lnTo>
                  <a:lnTo>
                    <a:pt x="17" y="33"/>
                  </a:lnTo>
                  <a:lnTo>
                    <a:pt x="23" y="26"/>
                  </a:lnTo>
                  <a:lnTo>
                    <a:pt x="15" y="30"/>
                  </a:lnTo>
                  <a:lnTo>
                    <a:pt x="19" y="37"/>
                  </a:lnTo>
                  <a:lnTo>
                    <a:pt x="22" y="45"/>
                  </a:lnTo>
                  <a:lnTo>
                    <a:pt x="26" y="55"/>
                  </a:lnTo>
                  <a:lnTo>
                    <a:pt x="31" y="76"/>
                  </a:lnTo>
                  <a:lnTo>
                    <a:pt x="40" y="72"/>
                  </a:lnTo>
                  <a:lnTo>
                    <a:pt x="31" y="72"/>
                  </a:lnTo>
                  <a:lnTo>
                    <a:pt x="35" y="97"/>
                  </a:lnTo>
                  <a:lnTo>
                    <a:pt x="38" y="124"/>
                  </a:lnTo>
                  <a:lnTo>
                    <a:pt x="39" y="153"/>
                  </a:lnTo>
                  <a:lnTo>
                    <a:pt x="57" y="153"/>
                  </a:lnTo>
                  <a:lnTo>
                    <a:pt x="56" y="124"/>
                  </a:lnTo>
                  <a:lnTo>
                    <a:pt x="53" y="97"/>
                  </a:lnTo>
                  <a:lnTo>
                    <a:pt x="49" y="72"/>
                  </a:lnTo>
                  <a:lnTo>
                    <a:pt x="48" y="69"/>
                  </a:lnTo>
                  <a:lnTo>
                    <a:pt x="43" y="48"/>
                  </a:lnTo>
                  <a:lnTo>
                    <a:pt x="39" y="38"/>
                  </a:lnTo>
                  <a:lnTo>
                    <a:pt x="36" y="30"/>
                  </a:lnTo>
                  <a:lnTo>
                    <a:pt x="32" y="23"/>
                  </a:lnTo>
                  <a:lnTo>
                    <a:pt x="30" y="20"/>
                  </a:lnTo>
                  <a:lnTo>
                    <a:pt x="25" y="14"/>
                  </a:lnTo>
                  <a:lnTo>
                    <a:pt x="21" y="9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9" y="1"/>
                  </a:lnTo>
                  <a:lnTo>
                    <a:pt x="5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501" name="Object 21"/>
            <p:cNvGraphicFramePr/>
            <p:nvPr/>
          </p:nvGraphicFramePr>
          <p:xfrm>
            <a:off x="2064" y="1816"/>
            <a:ext cx="28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3" name="" r:id="rId24" imgW="127000" imgH="177165" progId="Equation.3">
                    <p:embed/>
                  </p:oleObj>
                </mc:Choice>
                <mc:Fallback>
                  <p:oleObj name="" r:id="rId24" imgW="127000" imgH="17716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2064" y="1816"/>
                          <a:ext cx="28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5" name="Picture 3" descr="DuoFengYanShe_2"/>
          <p:cNvPicPr>
            <a:picLocks noChangeAspect="1"/>
          </p:cNvPicPr>
          <p:nvPr/>
        </p:nvPicPr>
        <p:blipFill>
          <a:blip r:embed="rId26"/>
          <a:srcRect l="6081" r="48544" b="33322"/>
          <a:stretch>
            <a:fillRect/>
          </a:stretch>
        </p:blipFill>
        <p:spPr>
          <a:xfrm>
            <a:off x="6372225" y="1341438"/>
            <a:ext cx="2663825" cy="2735262"/>
          </a:xfrm>
          <a:prstGeom prst="rect">
            <a:avLst/>
          </a:prstGeom>
        </p:spPr>
      </p:pic>
      <p:grpSp>
        <p:nvGrpSpPr>
          <p:cNvPr id="18503" name="Group 11"/>
          <p:cNvGrpSpPr/>
          <p:nvPr/>
        </p:nvGrpSpPr>
        <p:grpSpPr>
          <a:xfrm>
            <a:off x="-111125" y="1660525"/>
            <a:ext cx="2882900" cy="1243013"/>
            <a:chOff x="295" y="470"/>
            <a:chExt cx="1816" cy="783"/>
          </a:xfrm>
        </p:grpSpPr>
        <p:sp>
          <p:nvSpPr>
            <p:cNvPr id="18504" name="Line 12"/>
            <p:cNvSpPr/>
            <p:nvPr/>
          </p:nvSpPr>
          <p:spPr>
            <a:xfrm flipH="1">
              <a:off x="295" y="859"/>
              <a:ext cx="18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8505" name="Line 13"/>
            <p:cNvSpPr/>
            <p:nvPr/>
          </p:nvSpPr>
          <p:spPr>
            <a:xfrm flipH="1">
              <a:off x="295" y="788"/>
              <a:ext cx="104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8506" name="Line 14"/>
            <p:cNvSpPr/>
            <p:nvPr/>
          </p:nvSpPr>
          <p:spPr>
            <a:xfrm>
              <a:off x="588" y="470"/>
              <a:ext cx="0" cy="29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8507" name="Line 15"/>
            <p:cNvSpPr/>
            <p:nvPr/>
          </p:nvSpPr>
          <p:spPr>
            <a:xfrm>
              <a:off x="588" y="874"/>
              <a:ext cx="0" cy="25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sm" len="lg"/>
            </a:ln>
          </p:spPr>
        </p:sp>
        <p:graphicFrame>
          <p:nvGraphicFramePr>
            <p:cNvPr id="18508" name="Object 22"/>
            <p:cNvGraphicFramePr/>
            <p:nvPr/>
          </p:nvGraphicFramePr>
          <p:xfrm>
            <a:off x="348" y="1026"/>
            <a:ext cx="219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4" name="" r:id="rId27" imgW="127000" imgH="139700" progId="Equation.DSMT4">
                    <p:embed/>
                  </p:oleObj>
                </mc:Choice>
                <mc:Fallback>
                  <p:oleObj name="" r:id="rId27" imgW="127000" imgH="139700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48" y="1026"/>
                          <a:ext cx="219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09" name="Group 17"/>
          <p:cNvGrpSpPr/>
          <p:nvPr/>
        </p:nvGrpSpPr>
        <p:grpSpPr>
          <a:xfrm>
            <a:off x="466725" y="1822450"/>
            <a:ext cx="1081088" cy="1058863"/>
            <a:chOff x="659" y="572"/>
            <a:chExt cx="681" cy="667"/>
          </a:xfrm>
        </p:grpSpPr>
        <p:sp>
          <p:nvSpPr>
            <p:cNvPr id="18510" name="Line 18"/>
            <p:cNvSpPr/>
            <p:nvPr/>
          </p:nvSpPr>
          <p:spPr>
            <a:xfrm flipH="1">
              <a:off x="659" y="995"/>
              <a:ext cx="68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sm" len="lg"/>
              <a:tailEnd type="none" w="sm" len="lg"/>
            </a:ln>
          </p:spPr>
        </p:sp>
        <p:sp>
          <p:nvSpPr>
            <p:cNvPr id="18511" name="Line 19"/>
            <p:cNvSpPr/>
            <p:nvPr/>
          </p:nvSpPr>
          <p:spPr>
            <a:xfrm>
              <a:off x="951" y="572"/>
              <a:ext cx="0" cy="3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</p:spPr>
        </p:sp>
        <p:sp>
          <p:nvSpPr>
            <p:cNvPr id="18512" name="Line 20"/>
            <p:cNvSpPr/>
            <p:nvPr/>
          </p:nvSpPr>
          <p:spPr>
            <a:xfrm>
              <a:off x="951" y="995"/>
              <a:ext cx="0" cy="2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sm" len="lg"/>
              <a:tailEnd type="none" w="sm" len="lg"/>
            </a:ln>
          </p:spPr>
        </p:sp>
        <p:graphicFrame>
          <p:nvGraphicFramePr>
            <p:cNvPr id="18513" name="Object 23"/>
            <p:cNvGraphicFramePr/>
            <p:nvPr/>
          </p:nvGraphicFramePr>
          <p:xfrm>
            <a:off x="932" y="995"/>
            <a:ext cx="18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5" name="" r:id="rId29" imgW="127000" imgH="177165" progId="Equation.DSMT4">
                    <p:embed/>
                  </p:oleObj>
                </mc:Choice>
                <mc:Fallback>
                  <p:oleObj name="" r:id="rId29" imgW="127000" imgH="177165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32" y="995"/>
                          <a:ext cx="184" cy="2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514" name="Group 91"/>
          <p:cNvGrpSpPr/>
          <p:nvPr/>
        </p:nvGrpSpPr>
        <p:grpSpPr>
          <a:xfrm>
            <a:off x="179388" y="3141663"/>
            <a:ext cx="1311275" cy="1262062"/>
            <a:chOff x="116" y="1403"/>
            <a:chExt cx="826" cy="795"/>
          </a:xfrm>
        </p:grpSpPr>
        <p:graphicFrame>
          <p:nvGraphicFramePr>
            <p:cNvPr id="18515" name="Object 24"/>
            <p:cNvGraphicFramePr/>
            <p:nvPr/>
          </p:nvGraphicFramePr>
          <p:xfrm>
            <a:off x="116" y="1947"/>
            <a:ext cx="826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66" name="" r:id="rId31" imgW="582930" imgH="177800" progId="Equation.DSMT4">
                    <p:embed/>
                  </p:oleObj>
                </mc:Choice>
                <mc:Fallback>
                  <p:oleObj name="" r:id="rId31" imgW="582930" imgH="17780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16" y="1947"/>
                          <a:ext cx="826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6" name="Line 98"/>
            <p:cNvSpPr/>
            <p:nvPr/>
          </p:nvSpPr>
          <p:spPr>
            <a:xfrm>
              <a:off x="930" y="1403"/>
              <a:ext cx="0" cy="27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triangle" w="sm" len="lg"/>
              <a:tailEnd type="triangle" w="sm" len="lg"/>
            </a:ln>
          </p:spPr>
        </p:sp>
      </p:grpSp>
      <p:sp>
        <p:nvSpPr>
          <p:cNvPr id="86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3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9" grpId="0"/>
      <p:bldP spid="21521" grpId="0"/>
      <p:bldP spid="21528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ext Box 3"/>
          <p:cNvSpPr txBox="1"/>
          <p:nvPr/>
        </p:nvSpPr>
        <p:spPr>
          <a:xfrm>
            <a:off x="561975" y="1042988"/>
            <a:ext cx="35782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自然光与偏振光：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7" name="Text Box 4"/>
          <p:cNvSpPr txBox="1"/>
          <p:nvPr/>
        </p:nvSpPr>
        <p:spPr>
          <a:xfrm>
            <a:off x="539750" y="3763963"/>
            <a:ext cx="2271713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马吕斯定律：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242" name="Object 2"/>
          <p:cNvGraphicFramePr/>
          <p:nvPr/>
        </p:nvGraphicFramePr>
        <p:xfrm>
          <a:off x="3635375" y="3790950"/>
          <a:ext cx="1676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8" name="" r:id="rId1" imgW="799465" imgH="241300" progId="Equation.DSMT4">
                  <p:embed/>
                </p:oleObj>
              </mc:Choice>
              <mc:Fallback>
                <p:oleObj name="" r:id="rId1" imgW="799465" imgH="2413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5375" y="3790950"/>
                        <a:ext cx="16764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1" name="Text Box 11"/>
          <p:cNvSpPr txBox="1"/>
          <p:nvPr/>
        </p:nvSpPr>
        <p:spPr>
          <a:xfrm>
            <a:off x="554038" y="2205038"/>
            <a:ext cx="7993062" cy="1000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获得线偏振光的方法：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二向色性起偏；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反射折射起偏；</a:t>
            </a:r>
            <a:r>
              <a:rPr lang="zh-CN" altLang="en-US" sz="2400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晶体双折射起偏</a:t>
            </a:r>
            <a:endParaRPr lang="zh-CN" altLang="en-US" sz="2400" dirty="0">
              <a:solidFill>
                <a:srgbClr val="CC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Text Box 13"/>
          <p:cNvSpPr txBox="1"/>
          <p:nvPr/>
        </p:nvSpPr>
        <p:spPr>
          <a:xfrm>
            <a:off x="973138" y="1484313"/>
            <a:ext cx="734377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自然光、线偏振光、椭圆（圆）偏振光、部分偏振光</a:t>
            </a:r>
            <a:endParaRPr lang="zh-CN" altLang="en-US" sz="2400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4925" y="333375"/>
            <a:ext cx="3119438" cy="57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3200" kern="1200" cap="none" spc="0" normalizeH="0" baseline="0" noProof="0" dirty="0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宋体" panose="02010600030101010101" pitchFamily="2" charset="-122"/>
                <a:cs typeface="+mn-cs"/>
              </a:rPr>
              <a:t>三、光的偏振</a:t>
            </a:r>
            <a:endParaRPr kumimoji="1" lang="zh-CN" altLang="en-US" sz="3200" kern="1200" cap="none" spc="0" normalizeH="0" baseline="0" noProof="0" dirty="0">
              <a:solidFill>
                <a:srgbClr val="3399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31"/>
          <p:cNvGrpSpPr/>
          <p:nvPr/>
        </p:nvGrpSpPr>
        <p:grpSpPr>
          <a:xfrm>
            <a:off x="1181100" y="4508500"/>
            <a:ext cx="6846888" cy="2157413"/>
            <a:chOff x="249" y="91"/>
            <a:chExt cx="4313" cy="1359"/>
          </a:xfrm>
        </p:grpSpPr>
        <p:sp>
          <p:nvSpPr>
            <p:cNvPr id="19465" name="Oval 332"/>
            <p:cNvSpPr/>
            <p:nvPr/>
          </p:nvSpPr>
          <p:spPr>
            <a:xfrm>
              <a:off x="1202" y="319"/>
              <a:ext cx="481" cy="817"/>
            </a:xfrm>
            <a:prstGeom prst="ellipse">
              <a:avLst/>
            </a:prstGeom>
            <a:solidFill>
              <a:schemeClr val="bg2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6" name="Oval 333"/>
            <p:cNvSpPr/>
            <p:nvPr/>
          </p:nvSpPr>
          <p:spPr>
            <a:xfrm>
              <a:off x="2727" y="355"/>
              <a:ext cx="481" cy="817"/>
            </a:xfrm>
            <a:prstGeom prst="ellipse">
              <a:avLst/>
            </a:prstGeom>
            <a:solidFill>
              <a:schemeClr val="bg2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7" name="Oval 334"/>
            <p:cNvSpPr/>
            <p:nvPr/>
          </p:nvSpPr>
          <p:spPr>
            <a:xfrm>
              <a:off x="1168" y="319"/>
              <a:ext cx="437" cy="81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8" name="Oval 335"/>
            <p:cNvSpPr/>
            <p:nvPr/>
          </p:nvSpPr>
          <p:spPr>
            <a:xfrm>
              <a:off x="2692" y="355"/>
              <a:ext cx="438" cy="817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9" name="Line 336"/>
            <p:cNvSpPr/>
            <p:nvPr/>
          </p:nvSpPr>
          <p:spPr>
            <a:xfrm>
              <a:off x="1643" y="746"/>
              <a:ext cx="1133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19470" name="Group 337"/>
            <p:cNvGrpSpPr/>
            <p:nvPr/>
          </p:nvGrpSpPr>
          <p:grpSpPr>
            <a:xfrm>
              <a:off x="249" y="459"/>
              <a:ext cx="305" cy="502"/>
              <a:chOff x="193" y="768"/>
              <a:chExt cx="336" cy="672"/>
            </a:xfrm>
          </p:grpSpPr>
          <p:sp>
            <p:nvSpPr>
              <p:cNvPr id="19471" name="Oval 338"/>
              <p:cNvSpPr/>
              <p:nvPr/>
            </p:nvSpPr>
            <p:spPr>
              <a:xfrm>
                <a:off x="197" y="772"/>
                <a:ext cx="328" cy="664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72" name="Line 339"/>
              <p:cNvSpPr/>
              <p:nvPr/>
            </p:nvSpPr>
            <p:spPr>
              <a:xfrm>
                <a:off x="361" y="768"/>
                <a:ext cx="0" cy="67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  <p:sp>
            <p:nvSpPr>
              <p:cNvPr id="19473" name="Line 340"/>
              <p:cNvSpPr/>
              <p:nvPr/>
            </p:nvSpPr>
            <p:spPr>
              <a:xfrm flipH="1">
                <a:off x="264" y="877"/>
                <a:ext cx="211" cy="49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  <p:sp>
            <p:nvSpPr>
              <p:cNvPr id="19474" name="Line 341"/>
              <p:cNvSpPr/>
              <p:nvPr/>
            </p:nvSpPr>
            <p:spPr>
              <a:xfrm>
                <a:off x="193" y="985"/>
                <a:ext cx="318" cy="304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  <p:sp>
            <p:nvSpPr>
              <p:cNvPr id="19475" name="Line 342"/>
              <p:cNvSpPr/>
              <p:nvPr/>
            </p:nvSpPr>
            <p:spPr>
              <a:xfrm>
                <a:off x="193" y="114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  <p:sp>
            <p:nvSpPr>
              <p:cNvPr id="19476" name="Line 343"/>
              <p:cNvSpPr/>
              <p:nvPr/>
            </p:nvSpPr>
            <p:spPr>
              <a:xfrm>
                <a:off x="247" y="855"/>
                <a:ext cx="211" cy="54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  <p:sp>
            <p:nvSpPr>
              <p:cNvPr id="19477" name="Line 344"/>
              <p:cNvSpPr/>
              <p:nvPr/>
            </p:nvSpPr>
            <p:spPr>
              <a:xfrm flipV="1">
                <a:off x="210" y="1007"/>
                <a:ext cx="319" cy="25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</p:sp>
        </p:grpSp>
        <p:sp>
          <p:nvSpPr>
            <p:cNvPr id="19478" name="Line 345"/>
            <p:cNvSpPr/>
            <p:nvPr/>
          </p:nvSpPr>
          <p:spPr>
            <a:xfrm>
              <a:off x="852" y="567"/>
              <a:ext cx="0" cy="353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79" name="Line 346"/>
            <p:cNvSpPr/>
            <p:nvPr/>
          </p:nvSpPr>
          <p:spPr>
            <a:xfrm>
              <a:off x="1078" y="567"/>
              <a:ext cx="0" cy="353"/>
            </a:xfrm>
            <a:prstGeom prst="line">
              <a:avLst/>
            </a:prstGeom>
            <a:ln w="12700" cap="flat" cmpd="sng">
              <a:solidFill>
                <a:srgbClr val="0000FF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25" name="Rectangle 347"/>
            <p:cNvSpPr>
              <a:spLocks noChangeArrowheads="1"/>
            </p:cNvSpPr>
            <p:nvPr/>
          </p:nvSpPr>
          <p:spPr bwMode="auto">
            <a:xfrm>
              <a:off x="655" y="454"/>
              <a:ext cx="188" cy="4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3600" b="1" i="0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.</a:t>
              </a:r>
              <a:endParaRPr kumimoji="0" lang="en-US" altLang="zh-CN" sz="36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26" name="Rectangle 348"/>
            <p:cNvSpPr>
              <a:spLocks noChangeArrowheads="1"/>
            </p:cNvSpPr>
            <p:nvPr/>
          </p:nvSpPr>
          <p:spPr bwMode="auto">
            <a:xfrm>
              <a:off x="880" y="454"/>
              <a:ext cx="188" cy="4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3600" b="1" i="0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.</a:t>
              </a:r>
              <a:endParaRPr kumimoji="0" lang="en-US" altLang="zh-CN" sz="36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9482" name="Line 349"/>
            <p:cNvSpPr/>
            <p:nvPr/>
          </p:nvSpPr>
          <p:spPr>
            <a:xfrm>
              <a:off x="1723" y="567"/>
              <a:ext cx="0" cy="353"/>
            </a:xfrm>
            <a:prstGeom prst="line">
              <a:avLst/>
            </a:prstGeom>
            <a:ln w="12700" cap="flat" cmpd="sng">
              <a:solidFill>
                <a:srgbClr val="0000CC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3" name="Line 350"/>
            <p:cNvSpPr/>
            <p:nvPr/>
          </p:nvSpPr>
          <p:spPr>
            <a:xfrm>
              <a:off x="1949" y="567"/>
              <a:ext cx="0" cy="353"/>
            </a:xfrm>
            <a:prstGeom prst="line">
              <a:avLst/>
            </a:prstGeom>
            <a:ln w="12700" cap="flat" cmpd="sng">
              <a:solidFill>
                <a:srgbClr val="0000CC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4" name="Line 351"/>
            <p:cNvSpPr/>
            <p:nvPr/>
          </p:nvSpPr>
          <p:spPr>
            <a:xfrm>
              <a:off x="2176" y="567"/>
              <a:ext cx="0" cy="353"/>
            </a:xfrm>
            <a:prstGeom prst="line">
              <a:avLst/>
            </a:prstGeom>
            <a:ln w="12700" cap="flat" cmpd="sng">
              <a:solidFill>
                <a:srgbClr val="0000CC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5" name="Line 352"/>
            <p:cNvSpPr/>
            <p:nvPr/>
          </p:nvSpPr>
          <p:spPr>
            <a:xfrm>
              <a:off x="2404" y="567"/>
              <a:ext cx="0" cy="353"/>
            </a:xfrm>
            <a:prstGeom prst="line">
              <a:avLst/>
            </a:prstGeom>
            <a:ln w="12700" cap="flat" cmpd="sng">
              <a:solidFill>
                <a:srgbClr val="0000CC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6" name="Line 353"/>
            <p:cNvSpPr/>
            <p:nvPr/>
          </p:nvSpPr>
          <p:spPr>
            <a:xfrm flipH="1">
              <a:off x="3416" y="629"/>
              <a:ext cx="187" cy="1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7" name="Line 354"/>
            <p:cNvSpPr/>
            <p:nvPr/>
          </p:nvSpPr>
          <p:spPr>
            <a:xfrm flipH="1">
              <a:off x="3642" y="629"/>
              <a:ext cx="187" cy="1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488" name="Line 355"/>
            <p:cNvSpPr/>
            <p:nvPr/>
          </p:nvSpPr>
          <p:spPr>
            <a:xfrm>
              <a:off x="1382" y="316"/>
              <a:ext cx="0" cy="78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89" name="Line 356"/>
            <p:cNvSpPr/>
            <p:nvPr/>
          </p:nvSpPr>
          <p:spPr>
            <a:xfrm>
              <a:off x="1469" y="352"/>
              <a:ext cx="0" cy="75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0" name="Line 357"/>
            <p:cNvSpPr/>
            <p:nvPr/>
          </p:nvSpPr>
          <p:spPr>
            <a:xfrm>
              <a:off x="1556" y="459"/>
              <a:ext cx="0" cy="537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1" name="Line 358"/>
            <p:cNvSpPr/>
            <p:nvPr/>
          </p:nvSpPr>
          <p:spPr>
            <a:xfrm>
              <a:off x="1295" y="352"/>
              <a:ext cx="0" cy="71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2" name="Line 359"/>
            <p:cNvSpPr/>
            <p:nvPr/>
          </p:nvSpPr>
          <p:spPr>
            <a:xfrm>
              <a:off x="1208" y="531"/>
              <a:ext cx="0" cy="39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3" name="Line 360"/>
            <p:cNvSpPr/>
            <p:nvPr/>
          </p:nvSpPr>
          <p:spPr>
            <a:xfrm flipH="1">
              <a:off x="2732" y="495"/>
              <a:ext cx="349" cy="50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4" name="Line 361"/>
            <p:cNvSpPr/>
            <p:nvPr/>
          </p:nvSpPr>
          <p:spPr>
            <a:xfrm flipH="1">
              <a:off x="2776" y="638"/>
              <a:ext cx="349" cy="4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5" name="Line 362"/>
            <p:cNvSpPr/>
            <p:nvPr/>
          </p:nvSpPr>
          <p:spPr>
            <a:xfrm flipH="1">
              <a:off x="2863" y="743"/>
              <a:ext cx="307" cy="3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6" name="Line 363"/>
            <p:cNvSpPr/>
            <p:nvPr/>
          </p:nvSpPr>
          <p:spPr>
            <a:xfrm flipH="1">
              <a:off x="2689" y="399"/>
              <a:ext cx="363" cy="49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7" name="Line 364"/>
            <p:cNvSpPr/>
            <p:nvPr/>
          </p:nvSpPr>
          <p:spPr>
            <a:xfrm flipH="1">
              <a:off x="2689" y="352"/>
              <a:ext cx="261" cy="35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19498" name="Line 365"/>
            <p:cNvSpPr/>
            <p:nvPr/>
          </p:nvSpPr>
          <p:spPr>
            <a:xfrm>
              <a:off x="1643" y="746"/>
              <a:ext cx="126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19499" name="Line 366"/>
            <p:cNvSpPr/>
            <p:nvPr/>
          </p:nvSpPr>
          <p:spPr>
            <a:xfrm>
              <a:off x="510" y="746"/>
              <a:ext cx="87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45" name="Rectangle 367"/>
            <p:cNvSpPr>
              <a:spLocks noChangeArrowheads="1"/>
            </p:cNvSpPr>
            <p:nvPr/>
          </p:nvSpPr>
          <p:spPr bwMode="auto">
            <a:xfrm>
              <a:off x="1247" y="1128"/>
              <a:ext cx="29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P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1</a:t>
              </a:r>
              <a:endPara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6" name="Rectangle 368"/>
            <p:cNvSpPr>
              <a:spLocks noChangeArrowheads="1"/>
            </p:cNvSpPr>
            <p:nvPr/>
          </p:nvSpPr>
          <p:spPr bwMode="auto">
            <a:xfrm>
              <a:off x="2789" y="1162"/>
              <a:ext cx="297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P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7" name="Rectangle 369"/>
            <p:cNvSpPr>
              <a:spLocks noChangeArrowheads="1"/>
            </p:cNvSpPr>
            <p:nvPr/>
          </p:nvSpPr>
          <p:spPr bwMode="auto">
            <a:xfrm>
              <a:off x="545" y="178"/>
              <a:ext cx="69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自然光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48" name="Rectangle 370"/>
            <p:cNvSpPr>
              <a:spLocks noChangeArrowheads="1"/>
            </p:cNvSpPr>
            <p:nvPr/>
          </p:nvSpPr>
          <p:spPr bwMode="auto">
            <a:xfrm>
              <a:off x="1852" y="164"/>
              <a:ext cx="88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线偏振光</a:t>
              </a: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9504" name="Line 371"/>
            <p:cNvSpPr/>
            <p:nvPr/>
          </p:nvSpPr>
          <p:spPr>
            <a:xfrm>
              <a:off x="3212" y="746"/>
              <a:ext cx="135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</p:spPr>
        </p:sp>
        <p:sp>
          <p:nvSpPr>
            <p:cNvPr id="19505" name="Line 384"/>
            <p:cNvSpPr/>
            <p:nvPr/>
          </p:nvSpPr>
          <p:spPr>
            <a:xfrm>
              <a:off x="3517" y="925"/>
              <a:ext cx="21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med"/>
            </a:ln>
          </p:spPr>
        </p:sp>
        <p:sp>
          <p:nvSpPr>
            <p:cNvPr id="51" name="Rectangle 385"/>
            <p:cNvSpPr>
              <a:spLocks noChangeArrowheads="1"/>
            </p:cNvSpPr>
            <p:nvPr/>
          </p:nvSpPr>
          <p:spPr bwMode="auto">
            <a:xfrm>
              <a:off x="1896" y="888"/>
              <a:ext cx="287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3200" b="1" i="1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A</a:t>
              </a:r>
              <a:endParaRPr kumimoji="0" lang="en-US" altLang="zh-CN" sz="3200" b="1" i="1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2" name="Rectangle 386"/>
            <p:cNvSpPr>
              <a:spLocks noChangeArrowheads="1"/>
            </p:cNvSpPr>
            <p:nvPr/>
          </p:nvSpPr>
          <p:spPr bwMode="auto">
            <a:xfrm>
              <a:off x="2113" y="1031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0</a:t>
              </a:r>
              <a:endParaRPr kumimoji="0" lang="en-US" altLang="zh-CN" sz="16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9508" name="Line 387"/>
            <p:cNvSpPr/>
            <p:nvPr/>
          </p:nvSpPr>
          <p:spPr>
            <a:xfrm>
              <a:off x="1948" y="925"/>
              <a:ext cx="21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med"/>
            </a:ln>
          </p:spPr>
        </p:sp>
        <p:sp>
          <p:nvSpPr>
            <p:cNvPr id="54" name="Rectangle 388"/>
            <p:cNvSpPr>
              <a:spLocks noChangeArrowheads="1"/>
            </p:cNvSpPr>
            <p:nvPr/>
          </p:nvSpPr>
          <p:spPr bwMode="auto">
            <a:xfrm>
              <a:off x="3551" y="336"/>
              <a:ext cx="20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1" i="1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I</a:t>
              </a:r>
              <a:endParaRPr kumimoji="0" lang="en-US" altLang="zh-CN" sz="2800" b="1" i="1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5" name="Rectangle 389"/>
            <p:cNvSpPr>
              <a:spLocks noChangeArrowheads="1"/>
            </p:cNvSpPr>
            <p:nvPr/>
          </p:nvSpPr>
          <p:spPr bwMode="auto">
            <a:xfrm>
              <a:off x="2070" y="495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1" i="0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0</a:t>
              </a:r>
              <a:endParaRPr kumimoji="0" lang="en-US" altLang="zh-CN" sz="1600" b="1" i="0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56" name="Rectangle 390"/>
            <p:cNvSpPr>
              <a:spLocks noChangeArrowheads="1"/>
            </p:cNvSpPr>
            <p:nvPr/>
          </p:nvSpPr>
          <p:spPr bwMode="auto">
            <a:xfrm>
              <a:off x="1939" y="351"/>
              <a:ext cx="203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800" b="1" i="1" u="none" strike="noStrike" kern="1200" cap="none" spc="0" normalizeH="0" baseline="0" noProof="1">
                  <a:solidFill>
                    <a:srgbClr val="0000FF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I</a:t>
              </a:r>
              <a:endParaRPr kumimoji="0" lang="en-US" altLang="zh-CN" sz="2800" b="1" i="1" u="none" strike="noStrike" kern="1200" cap="none" spc="0" normalizeH="0" baseline="0" noProof="1">
                <a:solidFill>
                  <a:srgbClr val="0000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19512" name="Line 391"/>
            <p:cNvSpPr/>
            <p:nvPr/>
          </p:nvSpPr>
          <p:spPr>
            <a:xfrm>
              <a:off x="2622" y="567"/>
              <a:ext cx="0" cy="353"/>
            </a:xfrm>
            <a:prstGeom prst="line">
              <a:avLst/>
            </a:prstGeom>
            <a:ln w="12700" cap="flat" cmpd="sng">
              <a:solidFill>
                <a:srgbClr val="0000CC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sp>
          <p:nvSpPr>
            <p:cNvPr id="19513" name="Line 392"/>
            <p:cNvSpPr/>
            <p:nvPr/>
          </p:nvSpPr>
          <p:spPr>
            <a:xfrm flipH="1">
              <a:off x="3198" y="629"/>
              <a:ext cx="187" cy="1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stealth" w="med" len="lg"/>
            </a:ln>
          </p:spPr>
        </p:sp>
        <p:grpSp>
          <p:nvGrpSpPr>
            <p:cNvPr id="19514" name="Group 395"/>
            <p:cNvGrpSpPr/>
            <p:nvPr/>
          </p:nvGrpSpPr>
          <p:grpSpPr>
            <a:xfrm>
              <a:off x="3470" y="922"/>
              <a:ext cx="317" cy="331"/>
              <a:chOff x="3552" y="2304"/>
              <a:chExt cx="288" cy="336"/>
            </a:xfrm>
          </p:grpSpPr>
          <p:graphicFrame>
            <p:nvGraphicFramePr>
              <p:cNvPr id="19515" name="Object 15"/>
              <p:cNvGraphicFramePr/>
              <p:nvPr/>
            </p:nvGraphicFramePr>
            <p:xfrm>
              <a:off x="3552" y="2304"/>
              <a:ext cx="270" cy="2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49" name="" r:id="rId3" imgW="152400" imgH="165100" progId="Equation.3">
                      <p:embed/>
                    </p:oleObj>
                  </mc:Choice>
                  <mc:Fallback>
                    <p:oleObj name="" r:id="rId3" imgW="152400" imgH="165100" progId="Equation.3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552" y="2304"/>
                            <a:ext cx="270" cy="2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16" name="Line 397"/>
              <p:cNvSpPr/>
              <p:nvPr/>
            </p:nvSpPr>
            <p:spPr>
              <a:xfrm flipH="1">
                <a:off x="3744" y="2496"/>
                <a:ext cx="48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9517" name="Line 398"/>
              <p:cNvSpPr/>
              <p:nvPr/>
            </p:nvSpPr>
            <p:spPr>
              <a:xfrm flipH="1">
                <a:off x="3792" y="2496"/>
                <a:ext cx="48" cy="144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9518" name="Group 403"/>
            <p:cNvGrpSpPr/>
            <p:nvPr/>
          </p:nvGrpSpPr>
          <p:grpSpPr>
            <a:xfrm>
              <a:off x="2852" y="380"/>
              <a:ext cx="206" cy="744"/>
              <a:chOff x="3061" y="2432"/>
              <a:chExt cx="227" cy="998"/>
            </a:xfrm>
          </p:grpSpPr>
          <p:sp>
            <p:nvSpPr>
              <p:cNvPr id="19519" name="Line 404"/>
              <p:cNvSpPr/>
              <p:nvPr/>
            </p:nvSpPr>
            <p:spPr>
              <a:xfrm>
                <a:off x="3107" y="2432"/>
                <a:ext cx="0" cy="99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graphicFrame>
            <p:nvGraphicFramePr>
              <p:cNvPr id="19520" name="Object 16"/>
              <p:cNvGraphicFramePr/>
              <p:nvPr/>
            </p:nvGraphicFramePr>
            <p:xfrm>
              <a:off x="3061" y="2678"/>
              <a:ext cx="227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50" name="" r:id="rId5" imgW="152400" imgH="139700" progId="Equation.3">
                      <p:embed/>
                    </p:oleObj>
                  </mc:Choice>
                  <mc:Fallback>
                    <p:oleObj name="" r:id="rId5" imgW="152400" imgH="13970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061" y="2678"/>
                            <a:ext cx="227" cy="20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521" name="Rectangle 406"/>
            <p:cNvSpPr/>
            <p:nvPr/>
          </p:nvSpPr>
          <p:spPr>
            <a:xfrm>
              <a:off x="2617" y="91"/>
              <a:ext cx="15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·</a:t>
              </a:r>
              <a:endPara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522" name="Line 407"/>
            <p:cNvSpPr/>
            <p:nvPr/>
          </p:nvSpPr>
          <p:spPr>
            <a:xfrm flipH="1">
              <a:off x="3827" y="618"/>
              <a:ext cx="187" cy="19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stealth" w="med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/>
      <p:bldP spid="10251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6"/>
          <p:cNvSpPr txBox="1"/>
          <p:nvPr/>
        </p:nvSpPr>
        <p:spPr>
          <a:xfrm>
            <a:off x="539750" y="620713"/>
            <a:ext cx="26638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buFont typeface="Wingdings" panose="05000000000000000000" pitchFamily="2" charset="2"/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布儒斯特定律：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2" name="Object 3"/>
          <p:cNvGraphicFramePr/>
          <p:nvPr/>
        </p:nvGraphicFramePr>
        <p:xfrm>
          <a:off x="3779838" y="417513"/>
          <a:ext cx="14001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" name="" r:id="rId1" imgW="673100" imgH="431800" progId="Equation.DSMT4">
                  <p:embed/>
                </p:oleObj>
              </mc:Choice>
              <mc:Fallback>
                <p:oleObj name="" r:id="rId1" imgW="673100" imgH="431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9838" y="417513"/>
                        <a:ext cx="1400175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/>
          <p:cNvSpPr txBox="1"/>
          <p:nvPr/>
        </p:nvSpPr>
        <p:spPr>
          <a:xfrm>
            <a:off x="534390" y="5029926"/>
            <a:ext cx="7207250" cy="76944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双折射现象、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光和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光，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1/4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波片、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1/2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波片</a:t>
            </a:r>
            <a:r>
              <a:rPr lang="zh-CN" altLang="en-US" dirty="0">
                <a:solidFill>
                  <a:schemeClr val="accent2"/>
                </a:solidFill>
              </a:rPr>
              <a:t>，圆偏振光、偏振光的干涉</a:t>
            </a:r>
            <a:endParaRPr lang="zh-CN" altLang="en-US" dirty="0">
              <a:solidFill>
                <a:schemeClr val="accent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Object 5"/>
          <p:cNvGraphicFramePr/>
          <p:nvPr/>
        </p:nvGraphicFramePr>
        <p:xfrm>
          <a:off x="5997575" y="404813"/>
          <a:ext cx="131921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1" name="" r:id="rId3" imgW="635000" imgH="393700" progId="Equation.DSMT4">
                  <p:embed/>
                </p:oleObj>
              </mc:Choice>
              <mc:Fallback>
                <p:oleObj name="" r:id="rId3" imgW="635000" imgH="3937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97575" y="404813"/>
                        <a:ext cx="1319213" cy="81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7" name="Group 2"/>
          <p:cNvGrpSpPr/>
          <p:nvPr/>
        </p:nvGrpSpPr>
        <p:grpSpPr>
          <a:xfrm>
            <a:off x="2627313" y="1341438"/>
            <a:ext cx="3810000" cy="3200400"/>
            <a:chOff x="3360" y="144"/>
            <a:chExt cx="2400" cy="2016"/>
          </a:xfrm>
        </p:grpSpPr>
        <p:sp>
          <p:nvSpPr>
            <p:cNvPr id="20488" name="Rectangle 3"/>
            <p:cNvSpPr/>
            <p:nvPr/>
          </p:nvSpPr>
          <p:spPr>
            <a:xfrm>
              <a:off x="3360" y="144"/>
              <a:ext cx="2400" cy="2016"/>
            </a:xfrm>
            <a:prstGeom prst="rect">
              <a:avLst/>
            </a:prstGeom>
            <a:noFill/>
            <a:ln w="9525" cap="flat" cmpd="sng">
              <a:solidFill>
                <a:srgbClr val="39858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0489" name="Group 4"/>
            <p:cNvGrpSpPr/>
            <p:nvPr/>
          </p:nvGrpSpPr>
          <p:grpSpPr>
            <a:xfrm>
              <a:off x="3456" y="720"/>
              <a:ext cx="2078" cy="1344"/>
              <a:chOff x="384" y="1056"/>
              <a:chExt cx="2078" cy="1344"/>
            </a:xfrm>
          </p:grpSpPr>
          <p:sp>
            <p:nvSpPr>
              <p:cNvPr id="20490" name="Rectangle 5"/>
              <p:cNvSpPr/>
              <p:nvPr/>
            </p:nvSpPr>
            <p:spPr>
              <a:xfrm>
                <a:off x="528" y="1344"/>
                <a:ext cx="1920" cy="1056"/>
              </a:xfrm>
              <a:prstGeom prst="rect">
                <a:avLst/>
              </a:prstGeom>
              <a:solidFill>
                <a:srgbClr val="C5FFFF">
                  <a:alpha val="50195"/>
                </a:srgbClr>
              </a:solidFill>
              <a:ln w="19050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0491" name="Object 9"/>
              <p:cNvGraphicFramePr/>
              <p:nvPr/>
            </p:nvGraphicFramePr>
            <p:xfrm>
              <a:off x="2153" y="1392"/>
              <a:ext cx="309" cy="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52" name="" r:id="rId5" imgW="254000" imgH="317500" progId="Equation.3">
                      <p:embed/>
                    </p:oleObj>
                  </mc:Choice>
                  <mc:Fallback>
                    <p:oleObj name="" r:id="rId5" imgW="254000" imgH="317500" progId="Equation.3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153" y="1392"/>
                            <a:ext cx="309" cy="3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" name="Rectangle 7"/>
              <p:cNvSpPr>
                <a:spLocks noChangeArrowheads="1"/>
              </p:cNvSpPr>
              <p:nvPr/>
            </p:nvSpPr>
            <p:spPr bwMode="auto">
              <a:xfrm>
                <a:off x="384" y="1056"/>
                <a:ext cx="720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1C1C1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空气</a:t>
                </a: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endParaRPr>
              </a:p>
            </p:txBody>
          </p:sp>
        </p:grpSp>
        <p:graphicFrame>
          <p:nvGraphicFramePr>
            <p:cNvPr id="20493" name="Object 6"/>
            <p:cNvGraphicFramePr/>
            <p:nvPr/>
          </p:nvGraphicFramePr>
          <p:xfrm>
            <a:off x="5177" y="621"/>
            <a:ext cx="277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3" name="" r:id="rId7" imgW="228600" imgH="317500" progId="Equation.3">
                    <p:embed/>
                  </p:oleObj>
                </mc:Choice>
                <mc:Fallback>
                  <p:oleObj name="" r:id="rId7" imgW="228600" imgH="3175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77" y="621"/>
                          <a:ext cx="277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600" y="1397"/>
              <a:ext cx="100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玻璃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</p:grpSp>
      <p:grpSp>
        <p:nvGrpSpPr>
          <p:cNvPr id="20495" name="Group 17"/>
          <p:cNvGrpSpPr/>
          <p:nvPr/>
        </p:nvGrpSpPr>
        <p:grpSpPr>
          <a:xfrm>
            <a:off x="4292600" y="1646238"/>
            <a:ext cx="2133600" cy="1023937"/>
            <a:chOff x="4409" y="336"/>
            <a:chExt cx="1344" cy="645"/>
          </a:xfrm>
        </p:grpSpPr>
        <p:sp>
          <p:nvSpPr>
            <p:cNvPr id="20496" name="Line 18"/>
            <p:cNvSpPr/>
            <p:nvPr/>
          </p:nvSpPr>
          <p:spPr>
            <a:xfrm rot="-1745951">
              <a:off x="4409" y="705"/>
              <a:ext cx="1344" cy="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sm" len="lg"/>
            </a:ln>
          </p:spPr>
        </p:sp>
        <p:sp>
          <p:nvSpPr>
            <p:cNvPr id="20497" name="Oval 19"/>
            <p:cNvSpPr/>
            <p:nvPr/>
          </p:nvSpPr>
          <p:spPr>
            <a:xfrm rot="-1745951">
              <a:off x="4602" y="918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8" name="Oval 20"/>
            <p:cNvSpPr/>
            <p:nvPr/>
          </p:nvSpPr>
          <p:spPr>
            <a:xfrm rot="-1745951">
              <a:off x="4832" y="780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99" name="Oval 21"/>
            <p:cNvSpPr/>
            <p:nvPr/>
          </p:nvSpPr>
          <p:spPr>
            <a:xfrm rot="-1745951">
              <a:off x="5024" y="684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0" name="Oval 22"/>
            <p:cNvSpPr/>
            <p:nvPr/>
          </p:nvSpPr>
          <p:spPr>
            <a:xfrm rot="-1745951">
              <a:off x="5216" y="573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01" name="Oval 23"/>
            <p:cNvSpPr/>
            <p:nvPr/>
          </p:nvSpPr>
          <p:spPr>
            <a:xfrm rot="-1745951">
              <a:off x="5376" y="477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502" name="Object 7"/>
            <p:cNvGraphicFramePr/>
            <p:nvPr/>
          </p:nvGraphicFramePr>
          <p:xfrm>
            <a:off x="4656" y="336"/>
            <a:ext cx="196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4" name="" r:id="rId9" imgW="165100" imgH="329565" progId="Equation.3">
                    <p:embed/>
                  </p:oleObj>
                </mc:Choice>
                <mc:Fallback>
                  <p:oleObj name="" r:id="rId9" imgW="165100" imgH="329565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656" y="336"/>
                          <a:ext cx="196" cy="4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3" name="Arc 25"/>
            <p:cNvSpPr/>
            <p:nvPr/>
          </p:nvSpPr>
          <p:spPr>
            <a:xfrm rot="9220608" flipH="1" flipV="1">
              <a:off x="4547" y="671"/>
              <a:ext cx="207" cy="24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4985" h="21600" fill="none">
                  <a:moveTo>
                    <a:pt x="-1" y="266"/>
                  </a:moveTo>
                  <a:cubicBezTo>
                    <a:pt x="1119" y="89"/>
                    <a:pt x="2251" y="-1"/>
                    <a:pt x="3385" y="0"/>
                  </a:cubicBezTo>
                  <a:cubicBezTo>
                    <a:pt x="15314" y="0"/>
                    <a:pt x="24985" y="9670"/>
                    <a:pt x="24985" y="21600"/>
                  </a:cubicBezTo>
                </a:path>
                <a:path w="24985" h="21600" stroke="0">
                  <a:moveTo>
                    <a:pt x="-1" y="266"/>
                  </a:moveTo>
                  <a:cubicBezTo>
                    <a:pt x="1119" y="89"/>
                    <a:pt x="2251" y="-1"/>
                    <a:pt x="3385" y="0"/>
                  </a:cubicBezTo>
                  <a:cubicBezTo>
                    <a:pt x="15314" y="0"/>
                    <a:pt x="24985" y="9670"/>
                    <a:pt x="24985" y="21600"/>
                  </a:cubicBezTo>
                  <a:lnTo>
                    <a:pt x="3385" y="21600"/>
                  </a:lnTo>
                  <a:close/>
                </a:path>
              </a:pathLst>
            </a:custGeom>
            <a:noFill/>
            <a:ln w="28575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04" name="Group 26"/>
          <p:cNvGrpSpPr/>
          <p:nvPr/>
        </p:nvGrpSpPr>
        <p:grpSpPr>
          <a:xfrm>
            <a:off x="2711450" y="1570038"/>
            <a:ext cx="1897063" cy="2590800"/>
            <a:chOff x="3413" y="288"/>
            <a:chExt cx="1195" cy="1632"/>
          </a:xfrm>
        </p:grpSpPr>
        <p:graphicFrame>
          <p:nvGraphicFramePr>
            <p:cNvPr id="20505" name="Object 8"/>
            <p:cNvGraphicFramePr/>
            <p:nvPr/>
          </p:nvGraphicFramePr>
          <p:xfrm>
            <a:off x="4224" y="336"/>
            <a:ext cx="197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55" name="" r:id="rId11" imgW="165100" imgH="329565" progId="Equation.3">
                    <p:embed/>
                  </p:oleObj>
                </mc:Choice>
                <mc:Fallback>
                  <p:oleObj name="" r:id="rId11" imgW="165100" imgH="32956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24" y="336"/>
                          <a:ext cx="197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6" name="Line 28"/>
            <p:cNvSpPr/>
            <p:nvPr/>
          </p:nvSpPr>
          <p:spPr>
            <a:xfrm>
              <a:off x="4512" y="288"/>
              <a:ext cx="0" cy="1632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sm" len="lg"/>
            </a:ln>
          </p:spPr>
        </p:sp>
        <p:grpSp>
          <p:nvGrpSpPr>
            <p:cNvPr id="20507" name="Group 29"/>
            <p:cNvGrpSpPr/>
            <p:nvPr/>
          </p:nvGrpSpPr>
          <p:grpSpPr>
            <a:xfrm>
              <a:off x="3413" y="395"/>
              <a:ext cx="1195" cy="597"/>
              <a:chOff x="3413" y="395"/>
              <a:chExt cx="1195" cy="597"/>
            </a:xfrm>
          </p:grpSpPr>
          <p:grpSp>
            <p:nvGrpSpPr>
              <p:cNvPr id="20508" name="Group 30"/>
              <p:cNvGrpSpPr/>
              <p:nvPr/>
            </p:nvGrpSpPr>
            <p:grpSpPr>
              <a:xfrm>
                <a:off x="3413" y="395"/>
                <a:ext cx="1195" cy="597"/>
                <a:chOff x="341" y="731"/>
                <a:chExt cx="1195" cy="597"/>
              </a:xfrm>
            </p:grpSpPr>
            <p:sp>
              <p:nvSpPr>
                <p:cNvPr id="20509" name="Line 31"/>
                <p:cNvSpPr/>
                <p:nvPr/>
              </p:nvSpPr>
              <p:spPr>
                <a:xfrm rot="1813361">
                  <a:off x="341" y="1040"/>
                  <a:ext cx="1195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</p:sp>
            <p:sp>
              <p:nvSpPr>
                <p:cNvPr id="20510" name="Line 32"/>
                <p:cNvSpPr/>
                <p:nvPr/>
              </p:nvSpPr>
              <p:spPr>
                <a:xfrm rot="1813361">
                  <a:off x="596" y="731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</p:sp>
            <p:sp>
              <p:nvSpPr>
                <p:cNvPr id="20511" name="Line 33"/>
                <p:cNvSpPr/>
                <p:nvPr/>
              </p:nvSpPr>
              <p:spPr>
                <a:xfrm rot="1813361">
                  <a:off x="763" y="829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</p:sp>
            <p:sp>
              <p:nvSpPr>
                <p:cNvPr id="20512" name="Line 34"/>
                <p:cNvSpPr/>
                <p:nvPr/>
              </p:nvSpPr>
              <p:spPr>
                <a:xfrm rot="1813361">
                  <a:off x="931" y="927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</p:sp>
            <p:sp>
              <p:nvSpPr>
                <p:cNvPr id="20513" name="Line 35"/>
                <p:cNvSpPr/>
                <p:nvPr/>
              </p:nvSpPr>
              <p:spPr>
                <a:xfrm rot="1813361">
                  <a:off x="1099" y="1024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</p:sp>
            <p:sp>
              <p:nvSpPr>
                <p:cNvPr id="20514" name="Line 36"/>
                <p:cNvSpPr/>
                <p:nvPr/>
              </p:nvSpPr>
              <p:spPr>
                <a:xfrm rot="1813361">
                  <a:off x="1296" y="1104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</p:sp>
            <p:sp>
              <p:nvSpPr>
                <p:cNvPr id="20515" name="Oval 37"/>
                <p:cNvSpPr/>
                <p:nvPr/>
              </p:nvSpPr>
              <p:spPr>
                <a:xfrm rot="1813361">
                  <a:off x="480" y="767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16" name="Oval 38"/>
                <p:cNvSpPr/>
                <p:nvPr/>
              </p:nvSpPr>
              <p:spPr>
                <a:xfrm rot="1813361">
                  <a:off x="647" y="865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17" name="Oval 39"/>
                <p:cNvSpPr/>
                <p:nvPr/>
              </p:nvSpPr>
              <p:spPr>
                <a:xfrm rot="1813361">
                  <a:off x="815" y="962"/>
                  <a:ext cx="64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18" name="Oval 40"/>
                <p:cNvSpPr/>
                <p:nvPr/>
              </p:nvSpPr>
              <p:spPr>
                <a:xfrm rot="1813361">
                  <a:off x="983" y="1059"/>
                  <a:ext cx="64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19" name="Oval 41"/>
                <p:cNvSpPr/>
                <p:nvPr/>
              </p:nvSpPr>
              <p:spPr>
                <a:xfrm rot="1813361">
                  <a:off x="1149" y="1157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0520" name="Arc 42"/>
              <p:cNvSpPr/>
              <p:nvPr/>
            </p:nvSpPr>
            <p:spPr>
              <a:xfrm rot="6572052" flipH="1" flipV="1">
                <a:off x="4254" y="636"/>
                <a:ext cx="182" cy="24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960" h="21600" fill="none">
                    <a:moveTo>
                      <a:pt x="0" y="3"/>
                    </a:moveTo>
                    <a:cubicBezTo>
                      <a:pt x="119" y="1"/>
                      <a:pt x="239" y="-1"/>
                      <a:pt x="360" y="0"/>
                    </a:cubicBezTo>
                    <a:cubicBezTo>
                      <a:pt x="12289" y="0"/>
                      <a:pt x="21960" y="9670"/>
                      <a:pt x="21960" y="21600"/>
                    </a:cubicBezTo>
                  </a:path>
                  <a:path w="21960" h="21600" stroke="0">
                    <a:moveTo>
                      <a:pt x="0" y="3"/>
                    </a:moveTo>
                    <a:cubicBezTo>
                      <a:pt x="119" y="1"/>
                      <a:pt x="239" y="-1"/>
                      <a:pt x="360" y="0"/>
                    </a:cubicBezTo>
                    <a:cubicBezTo>
                      <a:pt x="12289" y="0"/>
                      <a:pt x="21960" y="9670"/>
                      <a:pt x="21960" y="21600"/>
                    </a:cubicBezTo>
                    <a:lnTo>
                      <a:pt x="36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0521" name="Group 43"/>
          <p:cNvGrpSpPr/>
          <p:nvPr/>
        </p:nvGrpSpPr>
        <p:grpSpPr>
          <a:xfrm>
            <a:off x="4483100" y="2635250"/>
            <a:ext cx="795338" cy="1828800"/>
            <a:chOff x="4529" y="959"/>
            <a:chExt cx="501" cy="1152"/>
          </a:xfrm>
        </p:grpSpPr>
        <p:grpSp>
          <p:nvGrpSpPr>
            <p:cNvPr id="20522" name="Group 44"/>
            <p:cNvGrpSpPr/>
            <p:nvPr/>
          </p:nvGrpSpPr>
          <p:grpSpPr>
            <a:xfrm>
              <a:off x="4560" y="959"/>
              <a:ext cx="470" cy="1152"/>
              <a:chOff x="1488" y="1295"/>
              <a:chExt cx="470" cy="1152"/>
            </a:xfrm>
          </p:grpSpPr>
          <p:sp>
            <p:nvSpPr>
              <p:cNvPr id="20523" name="Line 45"/>
              <p:cNvSpPr/>
              <p:nvPr/>
            </p:nvSpPr>
            <p:spPr>
              <a:xfrm rot="3581093" flipH="1">
                <a:off x="1170" y="1859"/>
                <a:ext cx="1152" cy="15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triangle" w="sm" len="lg"/>
                <a:tailEnd type="none" w="sm" len="lg"/>
              </a:ln>
            </p:spPr>
          </p:sp>
          <p:sp>
            <p:nvSpPr>
              <p:cNvPr id="20524" name="Line 46"/>
              <p:cNvSpPr/>
              <p:nvPr/>
            </p:nvSpPr>
            <p:spPr>
              <a:xfrm rot="3581093" flipV="1">
                <a:off x="1584" y="1488"/>
                <a:ext cx="0" cy="1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20525" name="Line 47"/>
              <p:cNvSpPr/>
              <p:nvPr/>
            </p:nvSpPr>
            <p:spPr>
              <a:xfrm rot="3581093">
                <a:off x="1851" y="1931"/>
                <a:ext cx="18" cy="187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20526" name="Oval 48"/>
              <p:cNvSpPr/>
              <p:nvPr/>
            </p:nvSpPr>
            <p:spPr>
              <a:xfrm rot="3581093">
                <a:off x="1483" y="1445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27" name="Oval 49"/>
              <p:cNvSpPr/>
              <p:nvPr/>
            </p:nvSpPr>
            <p:spPr>
              <a:xfrm rot="3581093">
                <a:off x="1694" y="1777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28" name="Oval 50"/>
              <p:cNvSpPr/>
              <p:nvPr/>
            </p:nvSpPr>
            <p:spPr>
              <a:xfrm rot="3581093">
                <a:off x="1885" y="2093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29" name="Line 51"/>
              <p:cNvSpPr/>
              <p:nvPr/>
            </p:nvSpPr>
            <p:spPr>
              <a:xfrm rot="3581093">
                <a:off x="1765" y="1813"/>
                <a:ext cx="18" cy="187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  <p:sp>
            <p:nvSpPr>
              <p:cNvPr id="20530" name="Line 52"/>
              <p:cNvSpPr/>
              <p:nvPr/>
            </p:nvSpPr>
            <p:spPr>
              <a:xfrm rot="3581093">
                <a:off x="1669" y="1621"/>
                <a:ext cx="18" cy="187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sm" len="lg"/>
              </a:ln>
            </p:spPr>
          </p:sp>
        </p:grpSp>
        <p:grpSp>
          <p:nvGrpSpPr>
            <p:cNvPr id="20531" name="Group 53"/>
            <p:cNvGrpSpPr/>
            <p:nvPr/>
          </p:nvGrpSpPr>
          <p:grpSpPr>
            <a:xfrm>
              <a:off x="4529" y="1248"/>
              <a:ext cx="223" cy="480"/>
              <a:chOff x="1457" y="1584"/>
              <a:chExt cx="223" cy="480"/>
            </a:xfrm>
          </p:grpSpPr>
          <p:sp>
            <p:nvSpPr>
              <p:cNvPr id="20532" name="Arc 54"/>
              <p:cNvSpPr/>
              <p:nvPr/>
            </p:nvSpPr>
            <p:spPr>
              <a:xfrm rot="-8332883" flipH="1">
                <a:off x="1488" y="1584"/>
                <a:ext cx="95" cy="1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403" h="21600" fill="none">
                    <a:moveTo>
                      <a:pt x="-1" y="0"/>
                    </a:moveTo>
                    <a:cubicBezTo>
                      <a:pt x="10805" y="0"/>
                      <a:pt x="19948" y="7984"/>
                      <a:pt x="21403" y="18690"/>
                    </a:cubicBezTo>
                  </a:path>
                  <a:path w="21403" h="21600" stroke="0">
                    <a:moveTo>
                      <a:pt x="-1" y="0"/>
                    </a:moveTo>
                    <a:cubicBezTo>
                      <a:pt x="10805" y="0"/>
                      <a:pt x="19948" y="7984"/>
                      <a:pt x="21403" y="186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CC66"/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533" name="Object 9"/>
              <p:cNvGraphicFramePr/>
              <p:nvPr/>
            </p:nvGraphicFramePr>
            <p:xfrm>
              <a:off x="1457" y="1753"/>
              <a:ext cx="223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56" name="" r:id="rId12" imgW="177800" imgH="240665" progId="Equation.3">
                      <p:embed/>
                    </p:oleObj>
                  </mc:Choice>
                  <mc:Fallback>
                    <p:oleObj name="" r:id="rId12" imgW="177800" imgH="240665" progId="Equation.3">
                      <p:embed/>
                      <p:pic>
                        <p:nvPicPr>
                          <p:cNvPr id="0" name="图片 3100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1457" y="1753"/>
                            <a:ext cx="223" cy="31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0534" name="Freeform 64"/>
          <p:cNvSpPr/>
          <p:nvPr/>
        </p:nvSpPr>
        <p:spPr>
          <a:xfrm rot="295843">
            <a:off x="4702175" y="2597150"/>
            <a:ext cx="261938" cy="46196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165" h="291">
                <a:moveTo>
                  <a:pt x="27" y="0"/>
                </a:moveTo>
                <a:lnTo>
                  <a:pt x="165" y="153"/>
                </a:lnTo>
                <a:lnTo>
                  <a:pt x="0" y="291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12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187450" y="2566988"/>
            <a:ext cx="6264275" cy="1006475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0" hangingPunct="0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6000" kern="1200" cap="none" spc="0" normalizeH="0" baseline="0" noProof="0">
                <a:solidFill>
                  <a:srgbClr val="00CC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习     题</a:t>
            </a:r>
            <a:endParaRPr kumimoji="1" lang="zh-CN" altLang="en-US" sz="4800" kern="1200" cap="none" spc="0" normalizeH="0" baseline="0" noProof="0">
              <a:solidFill>
                <a:srgbClr val="FF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13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4"/>
          <p:cNvGrpSpPr/>
          <p:nvPr/>
        </p:nvGrpSpPr>
        <p:grpSpPr>
          <a:xfrm>
            <a:off x="-36512" y="95250"/>
            <a:ext cx="9229725" cy="2678113"/>
            <a:chOff x="44" y="2566"/>
            <a:chExt cx="5914" cy="1687"/>
          </a:xfrm>
        </p:grpSpPr>
        <p:sp>
          <p:nvSpPr>
            <p:cNvPr id="22530" name="Text Box 5"/>
            <p:cNvSpPr txBox="1"/>
            <p:nvPr/>
          </p:nvSpPr>
          <p:spPr>
            <a:xfrm>
              <a:off x="44" y="2566"/>
              <a:ext cx="5914" cy="168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、在双缝干涉实验中，波长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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550nm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的单色平行光垂直入射到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缝间距                            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双缝上，屏到双缝的距离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D=2m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）中央明纹两侧的两条第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级明纹中心的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间距；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）用一厚度为                             ，折射率为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n=1.58</a:t>
              </a:r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的云母片</a:t>
              </a:r>
              <a:endPara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覆盖一缝后，零级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明纹将移到原来的第几级明纹处？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）若将原装置放入液体中，观察到空气中的第三级明纹正好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是液体中的第四级明纹，求液体的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折射率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531" name="Object 6"/>
            <p:cNvGraphicFramePr/>
            <p:nvPr/>
          </p:nvGraphicFramePr>
          <p:xfrm>
            <a:off x="1296" y="2783"/>
            <a:ext cx="11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72" name="" r:id="rId1" imgW="850265" imgH="203200" progId="Equation.3">
                    <p:embed/>
                  </p:oleObj>
                </mc:Choice>
                <mc:Fallback>
                  <p:oleObj name="" r:id="rId1" imgW="850265" imgH="2032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6" y="2783"/>
                          <a:ext cx="115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32" name="Object 7"/>
            <p:cNvGraphicFramePr/>
            <p:nvPr/>
          </p:nvGraphicFramePr>
          <p:xfrm>
            <a:off x="2016" y="3242"/>
            <a:ext cx="129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73" name="" r:id="rId3" imgW="939165" imgH="203200" progId="Equation.3">
                    <p:embed/>
                  </p:oleObj>
                </mc:Choice>
                <mc:Fallback>
                  <p:oleObj name="" r:id="rId3" imgW="939165" imgH="2032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16" y="3242"/>
                          <a:ext cx="1296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9"/>
          <p:cNvSpPr txBox="1"/>
          <p:nvPr/>
        </p:nvSpPr>
        <p:spPr>
          <a:xfrm>
            <a:off x="684213" y="3068638"/>
            <a:ext cx="1255712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Object 10"/>
          <p:cNvGraphicFramePr/>
          <p:nvPr/>
        </p:nvGraphicFramePr>
        <p:xfrm>
          <a:off x="1941513" y="2887663"/>
          <a:ext cx="2668587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4" name="" r:id="rId5" imgW="1358265" imgH="393700" progId="Equation.DSMT4">
                  <p:embed/>
                </p:oleObj>
              </mc:Choice>
              <mc:Fallback>
                <p:oleObj name="" r:id="rId5" imgW="1358265" imgH="3937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41513" y="2887663"/>
                        <a:ext cx="2668587" cy="769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/>
          <p:nvPr/>
        </p:nvGraphicFramePr>
        <p:xfrm>
          <a:off x="1163638" y="3933825"/>
          <a:ext cx="40989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5" name="" r:id="rId7" imgW="2145665" imgH="393700" progId="Equation.DSMT4">
                  <p:embed/>
                </p:oleObj>
              </mc:Choice>
              <mc:Fallback>
                <p:oleObj name="" r:id="rId7" imgW="2145665" imgH="3937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3638" y="3933825"/>
                        <a:ext cx="4098925" cy="747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5"/>
          <p:cNvGrpSpPr/>
          <p:nvPr/>
        </p:nvGrpSpPr>
        <p:grpSpPr>
          <a:xfrm>
            <a:off x="990600" y="4876800"/>
            <a:ext cx="3603625" cy="769938"/>
            <a:chOff x="624" y="3072"/>
            <a:chExt cx="2270" cy="485"/>
          </a:xfrm>
        </p:grpSpPr>
        <p:sp>
          <p:nvSpPr>
            <p:cNvPr id="22537" name="Text Box 12"/>
            <p:cNvSpPr txBox="1"/>
            <p:nvPr/>
          </p:nvSpPr>
          <p:spPr>
            <a:xfrm>
              <a:off x="624" y="3120"/>
              <a:ext cx="50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或由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538" name="Object 13"/>
            <p:cNvGraphicFramePr/>
            <p:nvPr/>
          </p:nvGraphicFramePr>
          <p:xfrm>
            <a:off x="1152" y="3072"/>
            <a:ext cx="754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76" name="" r:id="rId9" imgW="609600" imgH="393700" progId="Equation.3">
                    <p:embed/>
                  </p:oleObj>
                </mc:Choice>
                <mc:Fallback>
                  <p:oleObj name="" r:id="rId9" imgW="609600" imgH="3937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52" y="3072"/>
                          <a:ext cx="754" cy="4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9" name="Text Box 14"/>
            <p:cNvSpPr txBox="1"/>
            <p:nvPr/>
          </p:nvSpPr>
          <p:spPr>
            <a:xfrm>
              <a:off x="2006" y="3133"/>
              <a:ext cx="888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也可得到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3" name="Object 15"/>
          <p:cNvGraphicFramePr/>
          <p:nvPr/>
        </p:nvGraphicFramePr>
        <p:xfrm>
          <a:off x="228600" y="5791200"/>
          <a:ext cx="185102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7" name="" r:id="rId11" imgW="888365" imgH="393700" progId="Equation.3">
                  <p:embed/>
                </p:oleObj>
              </mc:Choice>
              <mc:Fallback>
                <p:oleObj name="" r:id="rId11" imgW="888365" imgH="393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600" y="5791200"/>
                        <a:ext cx="1851025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/>
          <p:nvPr/>
        </p:nvGraphicFramePr>
        <p:xfrm>
          <a:off x="2311400" y="5715000"/>
          <a:ext cx="353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8" name="" r:id="rId13" imgW="1765300" imgH="419100" progId="Equation.DSMT4">
                  <p:embed/>
                </p:oleObj>
              </mc:Choice>
              <mc:Fallback>
                <p:oleObj name="" r:id="rId13" imgW="1765300" imgH="4191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11400" y="5715000"/>
                        <a:ext cx="35306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2" name="Group 44"/>
          <p:cNvGrpSpPr/>
          <p:nvPr/>
        </p:nvGrpSpPr>
        <p:grpSpPr>
          <a:xfrm>
            <a:off x="4957763" y="3733800"/>
            <a:ext cx="4249737" cy="2454275"/>
            <a:chOff x="3123" y="2352"/>
            <a:chExt cx="2677" cy="1546"/>
          </a:xfrm>
        </p:grpSpPr>
        <p:sp>
          <p:nvSpPr>
            <p:cNvPr id="22543" name="Text Box 19"/>
            <p:cNvSpPr txBox="1"/>
            <p:nvPr/>
          </p:nvSpPr>
          <p:spPr>
            <a:xfrm>
              <a:off x="5460" y="2726"/>
              <a:ext cx="3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44" name="Line 21"/>
            <p:cNvSpPr/>
            <p:nvPr/>
          </p:nvSpPr>
          <p:spPr>
            <a:xfrm>
              <a:off x="3912" y="3216"/>
              <a:ext cx="15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5" name="Line 22"/>
            <p:cNvSpPr/>
            <p:nvPr/>
          </p:nvSpPr>
          <p:spPr>
            <a:xfrm>
              <a:off x="5481" y="2544"/>
              <a:ext cx="0" cy="1296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6" name="Line 23"/>
            <p:cNvSpPr/>
            <p:nvPr/>
          </p:nvSpPr>
          <p:spPr>
            <a:xfrm>
              <a:off x="3912" y="2640"/>
              <a:ext cx="0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7" name="Line 24"/>
            <p:cNvSpPr/>
            <p:nvPr/>
          </p:nvSpPr>
          <p:spPr>
            <a:xfrm>
              <a:off x="3912" y="2976"/>
              <a:ext cx="0" cy="48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8" name="Line 25"/>
            <p:cNvSpPr/>
            <p:nvPr/>
          </p:nvSpPr>
          <p:spPr>
            <a:xfrm>
              <a:off x="3912" y="3504"/>
              <a:ext cx="0" cy="288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49" name="Line 26"/>
            <p:cNvSpPr/>
            <p:nvPr/>
          </p:nvSpPr>
          <p:spPr>
            <a:xfrm>
              <a:off x="3598" y="2928"/>
              <a:ext cx="31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2550" name="Line 27"/>
            <p:cNvSpPr/>
            <p:nvPr/>
          </p:nvSpPr>
          <p:spPr>
            <a:xfrm>
              <a:off x="3554" y="3504"/>
              <a:ext cx="3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2551" name="Line 28"/>
            <p:cNvSpPr/>
            <p:nvPr/>
          </p:nvSpPr>
          <p:spPr>
            <a:xfrm>
              <a:off x="3733" y="2928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2552" name="Text Box 29"/>
            <p:cNvSpPr txBox="1"/>
            <p:nvPr/>
          </p:nvSpPr>
          <p:spPr>
            <a:xfrm>
              <a:off x="3554" y="3024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3" name="Line 30"/>
            <p:cNvSpPr/>
            <p:nvPr/>
          </p:nvSpPr>
          <p:spPr>
            <a:xfrm>
              <a:off x="3912" y="3648"/>
              <a:ext cx="15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2554" name="Text Box 31"/>
            <p:cNvSpPr txBox="1"/>
            <p:nvPr/>
          </p:nvSpPr>
          <p:spPr>
            <a:xfrm>
              <a:off x="4585" y="364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5" name="Line 32"/>
            <p:cNvSpPr/>
            <p:nvPr/>
          </p:nvSpPr>
          <p:spPr>
            <a:xfrm flipH="1">
              <a:off x="3195" y="3216"/>
              <a:ext cx="71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2556" name="Line 33"/>
            <p:cNvSpPr/>
            <p:nvPr/>
          </p:nvSpPr>
          <p:spPr>
            <a:xfrm flipV="1">
              <a:off x="3867" y="2640"/>
              <a:ext cx="1614" cy="28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7" name="Line 34"/>
            <p:cNvSpPr/>
            <p:nvPr/>
          </p:nvSpPr>
          <p:spPr>
            <a:xfrm flipV="1">
              <a:off x="3912" y="2640"/>
              <a:ext cx="1569" cy="86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2558" name="Text Box 35"/>
            <p:cNvSpPr txBox="1"/>
            <p:nvPr/>
          </p:nvSpPr>
          <p:spPr>
            <a:xfrm>
              <a:off x="5273" y="235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9" name="Line 36"/>
            <p:cNvSpPr/>
            <p:nvPr/>
          </p:nvSpPr>
          <p:spPr>
            <a:xfrm flipV="1">
              <a:off x="3912" y="2640"/>
              <a:ext cx="1569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560" name="Line 37"/>
            <p:cNvSpPr/>
            <p:nvPr/>
          </p:nvSpPr>
          <p:spPr>
            <a:xfrm>
              <a:off x="3912" y="2928"/>
              <a:ext cx="224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2561" name="Line 39"/>
            <p:cNvSpPr/>
            <p:nvPr/>
          </p:nvSpPr>
          <p:spPr>
            <a:xfrm>
              <a:off x="3123" y="3022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62" name="Line 40"/>
            <p:cNvSpPr/>
            <p:nvPr/>
          </p:nvSpPr>
          <p:spPr>
            <a:xfrm>
              <a:off x="3123" y="3203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63" name="Line 41"/>
            <p:cNvSpPr/>
            <p:nvPr/>
          </p:nvSpPr>
          <p:spPr>
            <a:xfrm>
              <a:off x="3128" y="3398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64" name="Text Box 42"/>
            <p:cNvSpPr txBox="1"/>
            <p:nvPr/>
          </p:nvSpPr>
          <p:spPr>
            <a:xfrm>
              <a:off x="4933" y="2886"/>
              <a:ext cx="43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5" name="Text Box 43"/>
            <p:cNvSpPr txBox="1"/>
            <p:nvPr/>
          </p:nvSpPr>
          <p:spPr>
            <a:xfrm>
              <a:off x="4558" y="2432"/>
              <a:ext cx="43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14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Group 4"/>
          <p:cNvGrpSpPr/>
          <p:nvPr/>
        </p:nvGrpSpPr>
        <p:grpSpPr>
          <a:xfrm>
            <a:off x="-36512" y="95250"/>
            <a:ext cx="9229725" cy="2678113"/>
            <a:chOff x="44" y="2566"/>
            <a:chExt cx="5914" cy="1687"/>
          </a:xfrm>
        </p:grpSpPr>
        <p:sp>
          <p:nvSpPr>
            <p:cNvPr id="23554" name="Text Box 5"/>
            <p:cNvSpPr txBox="1"/>
            <p:nvPr/>
          </p:nvSpPr>
          <p:spPr>
            <a:xfrm>
              <a:off x="44" y="2566"/>
              <a:ext cx="5914" cy="168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、在双缝干涉实验中，波长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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550nm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的单色平行光垂直入射到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缝间距                            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双缝上，屏到双缝的距离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D=2m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）中央明纹两侧的两条第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级明纹中心的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间距；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）用一厚度                              ，折射率为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n=1.58</a:t>
              </a:r>
              <a:r>
                <a: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的云母片</a:t>
              </a:r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覆盖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上</a:t>
              </a:r>
              <a:r>
                <a: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缝后，零级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明纹将移到原来的第几级明纹处？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）若将原装置放入液体中，观察到空气中的第三级明纹正好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是液体中的第四级明纹，求液体的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折射率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555" name="Object 6"/>
            <p:cNvGraphicFramePr/>
            <p:nvPr/>
          </p:nvGraphicFramePr>
          <p:xfrm>
            <a:off x="1296" y="2783"/>
            <a:ext cx="11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3" name="" r:id="rId1" imgW="850265" imgH="203200" progId="Equation.3">
                    <p:embed/>
                  </p:oleObj>
                </mc:Choice>
                <mc:Fallback>
                  <p:oleObj name="" r:id="rId1" imgW="850265" imgH="2032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96" y="2783"/>
                          <a:ext cx="115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56" name="Object 7"/>
            <p:cNvGraphicFramePr/>
            <p:nvPr/>
          </p:nvGraphicFramePr>
          <p:xfrm>
            <a:off x="2016" y="3242"/>
            <a:ext cx="129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4" name="" r:id="rId3" imgW="939165" imgH="203200" progId="Equation.3">
                    <p:embed/>
                  </p:oleObj>
                </mc:Choice>
                <mc:Fallback>
                  <p:oleObj name="" r:id="rId3" imgW="939165" imgH="20320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16" y="3242"/>
                          <a:ext cx="1296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5"/>
          <p:cNvSpPr txBox="1"/>
          <p:nvPr/>
        </p:nvSpPr>
        <p:spPr>
          <a:xfrm>
            <a:off x="307975" y="2986088"/>
            <a:ext cx="8318500" cy="822325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）加云母片后，零级条纹要移动，设移到原来的第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k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级明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纹处，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633538" y="3767138"/>
            <a:ext cx="2184400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则   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- 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k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75"/>
          <p:cNvGrpSpPr/>
          <p:nvPr/>
        </p:nvGrpSpPr>
        <p:grpSpPr>
          <a:xfrm>
            <a:off x="388938" y="4525965"/>
            <a:ext cx="5530850" cy="588963"/>
            <a:chOff x="164" y="1180"/>
            <a:chExt cx="3484" cy="371"/>
          </a:xfrm>
        </p:grpSpPr>
        <p:sp>
          <p:nvSpPr>
            <p:cNvPr id="23560" name="Text Box 7"/>
            <p:cNvSpPr txBox="1"/>
            <p:nvPr/>
          </p:nvSpPr>
          <p:spPr>
            <a:xfrm>
              <a:off x="164" y="1208"/>
              <a:ext cx="1756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此时零级条纹满足  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561" name="Object 8"/>
            <p:cNvGraphicFramePr/>
            <p:nvPr/>
          </p:nvGraphicFramePr>
          <p:xfrm>
            <a:off x="1762" y="1180"/>
            <a:ext cx="1886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5" name="Equation" r:id="rId5" imgW="30784800" imgH="6096000" progId="Equation.DSMT4">
                    <p:embed/>
                  </p:oleObj>
                </mc:Choice>
                <mc:Fallback>
                  <p:oleObj name="Equation" r:id="rId5" imgW="30784800" imgH="6096000" progId="Equation.DSMT4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62" y="1180"/>
                          <a:ext cx="1886" cy="3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72"/>
          <p:cNvGrpSpPr/>
          <p:nvPr/>
        </p:nvGrpSpPr>
        <p:grpSpPr>
          <a:xfrm>
            <a:off x="388938" y="5138738"/>
            <a:ext cx="3313112" cy="901700"/>
            <a:chOff x="164" y="1566"/>
            <a:chExt cx="2087" cy="568"/>
          </a:xfrm>
        </p:grpSpPr>
        <p:sp>
          <p:nvSpPr>
            <p:cNvPr id="23563" name="Text Box 9"/>
            <p:cNvSpPr txBox="1"/>
            <p:nvPr/>
          </p:nvSpPr>
          <p:spPr>
            <a:xfrm>
              <a:off x="164" y="1662"/>
              <a:ext cx="308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得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3564" name="Object 10"/>
            <p:cNvGraphicFramePr/>
            <p:nvPr/>
          </p:nvGraphicFramePr>
          <p:xfrm>
            <a:off x="806" y="1566"/>
            <a:ext cx="1067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6" name="" r:id="rId7" imgW="735965" imgH="393700" progId="Equation.DSMT4">
                    <p:embed/>
                  </p:oleObj>
                </mc:Choice>
                <mc:Fallback>
                  <p:oleObj name="" r:id="rId7" imgW="735965" imgH="393700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06" y="1566"/>
                          <a:ext cx="1067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Text Box 11"/>
            <p:cNvSpPr txBox="1"/>
            <p:nvPr/>
          </p:nvSpPr>
          <p:spPr>
            <a:xfrm>
              <a:off x="1930" y="1736"/>
              <a:ext cx="321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=7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566" name="Group 73"/>
          <p:cNvGrpSpPr/>
          <p:nvPr/>
        </p:nvGrpSpPr>
        <p:grpSpPr>
          <a:xfrm>
            <a:off x="4911725" y="4448175"/>
            <a:ext cx="3836988" cy="2149475"/>
            <a:chOff x="3013" y="1131"/>
            <a:chExt cx="2417" cy="1354"/>
          </a:xfrm>
        </p:grpSpPr>
        <p:sp>
          <p:nvSpPr>
            <p:cNvPr id="23567" name="Line 18"/>
            <p:cNvSpPr/>
            <p:nvPr/>
          </p:nvSpPr>
          <p:spPr>
            <a:xfrm>
              <a:off x="3746" y="1803"/>
              <a:ext cx="16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8" name="Line 19"/>
            <p:cNvSpPr/>
            <p:nvPr/>
          </p:nvSpPr>
          <p:spPr>
            <a:xfrm>
              <a:off x="5349" y="1131"/>
              <a:ext cx="0" cy="1296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69" name="Line 20"/>
            <p:cNvSpPr/>
            <p:nvPr/>
          </p:nvSpPr>
          <p:spPr>
            <a:xfrm>
              <a:off x="3746" y="1227"/>
              <a:ext cx="0" cy="288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0" name="Line 21"/>
            <p:cNvSpPr/>
            <p:nvPr/>
          </p:nvSpPr>
          <p:spPr>
            <a:xfrm>
              <a:off x="3746" y="1563"/>
              <a:ext cx="0" cy="48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1" name="Line 22"/>
            <p:cNvSpPr/>
            <p:nvPr/>
          </p:nvSpPr>
          <p:spPr>
            <a:xfrm>
              <a:off x="3746" y="2091"/>
              <a:ext cx="0" cy="288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72" name="Line 23"/>
            <p:cNvSpPr/>
            <p:nvPr/>
          </p:nvSpPr>
          <p:spPr>
            <a:xfrm>
              <a:off x="3425" y="1515"/>
              <a:ext cx="32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3573" name="Line 24"/>
            <p:cNvSpPr/>
            <p:nvPr/>
          </p:nvSpPr>
          <p:spPr>
            <a:xfrm>
              <a:off x="3379" y="2091"/>
              <a:ext cx="3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3574" name="Line 25"/>
            <p:cNvSpPr/>
            <p:nvPr/>
          </p:nvSpPr>
          <p:spPr>
            <a:xfrm>
              <a:off x="3563" y="1515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3575" name="Text Box 26"/>
            <p:cNvSpPr txBox="1"/>
            <p:nvPr/>
          </p:nvSpPr>
          <p:spPr>
            <a:xfrm>
              <a:off x="3379" y="1547"/>
              <a:ext cx="21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6" name="Line 27"/>
            <p:cNvSpPr/>
            <p:nvPr/>
          </p:nvSpPr>
          <p:spPr>
            <a:xfrm>
              <a:off x="3746" y="2235"/>
              <a:ext cx="16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3577" name="Text Box 28"/>
            <p:cNvSpPr txBox="1"/>
            <p:nvPr/>
          </p:nvSpPr>
          <p:spPr>
            <a:xfrm>
              <a:off x="4433" y="2235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78" name="Line 29"/>
            <p:cNvSpPr/>
            <p:nvPr/>
          </p:nvSpPr>
          <p:spPr>
            <a:xfrm flipH="1">
              <a:off x="3013" y="1803"/>
              <a:ext cx="733" cy="0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3579" name="Line 30"/>
            <p:cNvSpPr/>
            <p:nvPr/>
          </p:nvSpPr>
          <p:spPr>
            <a:xfrm flipV="1">
              <a:off x="3700" y="1227"/>
              <a:ext cx="1649" cy="28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0" name="Line 31"/>
            <p:cNvSpPr/>
            <p:nvPr/>
          </p:nvSpPr>
          <p:spPr>
            <a:xfrm flipV="1">
              <a:off x="3746" y="1227"/>
              <a:ext cx="1603" cy="864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581" name="Text Box 32"/>
            <p:cNvSpPr txBox="1"/>
            <p:nvPr/>
          </p:nvSpPr>
          <p:spPr>
            <a:xfrm>
              <a:off x="5147" y="1419"/>
              <a:ext cx="2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2" name="Line 33"/>
            <p:cNvSpPr/>
            <p:nvPr/>
          </p:nvSpPr>
          <p:spPr>
            <a:xfrm flipV="1">
              <a:off x="3746" y="1227"/>
              <a:ext cx="1603" cy="576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583" name="Line 34"/>
            <p:cNvSpPr/>
            <p:nvPr/>
          </p:nvSpPr>
          <p:spPr>
            <a:xfrm>
              <a:off x="3746" y="1515"/>
              <a:ext cx="229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584" name="Rectangle 35"/>
            <p:cNvSpPr/>
            <p:nvPr/>
          </p:nvSpPr>
          <p:spPr>
            <a:xfrm>
              <a:off x="3751" y="1419"/>
              <a:ext cx="91" cy="192"/>
            </a:xfrm>
            <a:prstGeom prst="rect">
              <a:avLst/>
            </a:prstGeom>
            <a:solidFill>
              <a:srgbClr val="FF00FF"/>
            </a:solidFill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5" name="Text Box 36"/>
            <p:cNvSpPr txBox="1"/>
            <p:nvPr/>
          </p:nvSpPr>
          <p:spPr>
            <a:xfrm>
              <a:off x="3813" y="1179"/>
              <a:ext cx="201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6" name="Line 37"/>
            <p:cNvSpPr/>
            <p:nvPr/>
          </p:nvSpPr>
          <p:spPr>
            <a:xfrm>
              <a:off x="3748" y="1563"/>
              <a:ext cx="1605" cy="24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587" name="Line 38"/>
            <p:cNvSpPr/>
            <p:nvPr/>
          </p:nvSpPr>
          <p:spPr>
            <a:xfrm flipV="1">
              <a:off x="3731" y="1803"/>
              <a:ext cx="1626" cy="28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3588" name="Text Box 39"/>
            <p:cNvSpPr txBox="1"/>
            <p:nvPr/>
          </p:nvSpPr>
          <p:spPr>
            <a:xfrm>
              <a:off x="4714" y="1465"/>
              <a:ext cx="413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9" name="Line 40"/>
            <p:cNvSpPr/>
            <p:nvPr/>
          </p:nvSpPr>
          <p:spPr>
            <a:xfrm>
              <a:off x="3026" y="1628"/>
              <a:ext cx="40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3590" name="Line 41"/>
            <p:cNvSpPr/>
            <p:nvPr/>
          </p:nvSpPr>
          <p:spPr>
            <a:xfrm>
              <a:off x="3026" y="1809"/>
              <a:ext cx="40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3591" name="Line 42"/>
            <p:cNvSpPr/>
            <p:nvPr/>
          </p:nvSpPr>
          <p:spPr>
            <a:xfrm>
              <a:off x="3031" y="2004"/>
              <a:ext cx="40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1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15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3593" name="Object 16"/>
          <p:cNvGraphicFramePr/>
          <p:nvPr/>
        </p:nvGraphicFramePr>
        <p:xfrm>
          <a:off x="8748713" y="4508500"/>
          <a:ext cx="3016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7" name="" r:id="rId9" imgW="152400" imgH="165100" progId="Equation.3">
                  <p:embed/>
                </p:oleObj>
              </mc:Choice>
              <mc:Fallback>
                <p:oleObj name="" r:id="rId9" imgW="152400" imgH="1651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748713" y="4508500"/>
                        <a:ext cx="301625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4" name="Object 42"/>
          <p:cNvGraphicFramePr/>
          <p:nvPr/>
        </p:nvGraphicFramePr>
        <p:xfrm>
          <a:off x="8748713" y="5324475"/>
          <a:ext cx="30162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8" name="" r:id="rId11" imgW="152400" imgH="177800" progId="Equation.3">
                  <p:embed/>
                </p:oleObj>
              </mc:Choice>
              <mc:Fallback>
                <p:oleObj name="" r:id="rId11" imgW="152400" imgH="1778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48713" y="5324475"/>
                        <a:ext cx="301625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5" name="Text Box 43"/>
          <p:cNvSpPr txBox="1"/>
          <p:nvPr/>
        </p:nvSpPr>
        <p:spPr>
          <a:xfrm>
            <a:off x="7092950" y="4365625"/>
            <a:ext cx="685800" cy="457200"/>
          </a:xfrm>
          <a:prstGeom prst="rect">
            <a:avLst/>
          </a:prstGeom>
          <a:noFill/>
          <a:ln w="1905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6"/>
          <p:cNvGrpSpPr/>
          <p:nvPr/>
        </p:nvGrpSpPr>
        <p:grpSpPr>
          <a:xfrm>
            <a:off x="107950" y="3248025"/>
            <a:ext cx="4329113" cy="901700"/>
            <a:chOff x="68" y="2046"/>
            <a:chExt cx="2727" cy="568"/>
          </a:xfrm>
        </p:grpSpPr>
        <p:sp>
          <p:nvSpPr>
            <p:cNvPr id="24578" name="Text Box 12"/>
            <p:cNvSpPr txBox="1"/>
            <p:nvPr/>
          </p:nvSpPr>
          <p:spPr>
            <a:xfrm>
              <a:off x="68" y="2168"/>
              <a:ext cx="1949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（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）液体中的波长：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579" name="Object 13"/>
            <p:cNvGraphicFramePr/>
            <p:nvPr/>
          </p:nvGraphicFramePr>
          <p:xfrm>
            <a:off x="2132" y="2046"/>
            <a:ext cx="663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1" name="" r:id="rId1" imgW="457200" imgH="393700" progId="Equation.3">
                    <p:embed/>
                  </p:oleObj>
                </mc:Choice>
                <mc:Fallback>
                  <p:oleObj name="" r:id="rId1" imgW="457200" imgH="3937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32" y="2046"/>
                          <a:ext cx="663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5"/>
          <p:cNvGraphicFramePr/>
          <p:nvPr/>
        </p:nvGraphicFramePr>
        <p:xfrm>
          <a:off x="1116013" y="4797425"/>
          <a:ext cx="28956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2" name="" r:id="rId3" imgW="1434465" imgH="393700" progId="Equation.3">
                  <p:embed/>
                </p:oleObj>
              </mc:Choice>
              <mc:Fallback>
                <p:oleObj name="" r:id="rId3" imgW="1434465" imgH="393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4797425"/>
                        <a:ext cx="2895600" cy="790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/>
          <p:nvPr/>
        </p:nvGraphicFramePr>
        <p:xfrm>
          <a:off x="946150" y="5626100"/>
          <a:ext cx="25908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" name="" r:id="rId5" imgW="1129665" imgH="393700" progId="Equation.3">
                  <p:embed/>
                </p:oleObj>
              </mc:Choice>
              <mc:Fallback>
                <p:oleObj name="" r:id="rId5" imgW="1129665" imgH="3937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6150" y="5626100"/>
                        <a:ext cx="25908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7"/>
          <p:cNvGrpSpPr/>
          <p:nvPr/>
        </p:nvGrpSpPr>
        <p:grpSpPr>
          <a:xfrm>
            <a:off x="946150" y="3808413"/>
            <a:ext cx="3240088" cy="901700"/>
            <a:chOff x="596" y="2399"/>
            <a:chExt cx="2041" cy="568"/>
          </a:xfrm>
        </p:grpSpPr>
        <p:sp>
          <p:nvSpPr>
            <p:cNvPr id="24583" name="Text Box 14"/>
            <p:cNvSpPr txBox="1"/>
            <p:nvPr/>
          </p:nvSpPr>
          <p:spPr>
            <a:xfrm>
              <a:off x="596" y="2539"/>
              <a:ext cx="2041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由条件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知：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4584" name="Object 44"/>
            <p:cNvGraphicFramePr/>
            <p:nvPr/>
          </p:nvGraphicFramePr>
          <p:xfrm>
            <a:off x="1238" y="2399"/>
            <a:ext cx="902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4" name="" r:id="rId7" imgW="622300" imgH="393700" progId="Equation.DSMT4">
                    <p:embed/>
                  </p:oleObj>
                </mc:Choice>
                <mc:Fallback>
                  <p:oleObj name="" r:id="rId7" imgW="622300" imgH="3937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38" y="2399"/>
                          <a:ext cx="902" cy="5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85" name="Group 74"/>
          <p:cNvGrpSpPr/>
          <p:nvPr/>
        </p:nvGrpSpPr>
        <p:grpSpPr>
          <a:xfrm>
            <a:off x="4729163" y="3908425"/>
            <a:ext cx="4159250" cy="2454275"/>
            <a:chOff x="2979" y="2462"/>
            <a:chExt cx="2620" cy="1546"/>
          </a:xfrm>
        </p:grpSpPr>
        <p:sp>
          <p:nvSpPr>
            <p:cNvPr id="24586" name="Text Box 47"/>
            <p:cNvSpPr txBox="1"/>
            <p:nvPr/>
          </p:nvSpPr>
          <p:spPr>
            <a:xfrm>
              <a:off x="5316" y="2836"/>
              <a:ext cx="28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7" name="Line 49"/>
            <p:cNvSpPr/>
            <p:nvPr/>
          </p:nvSpPr>
          <p:spPr>
            <a:xfrm>
              <a:off x="3768" y="3326"/>
              <a:ext cx="15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8" name="Line 50"/>
            <p:cNvSpPr/>
            <p:nvPr/>
          </p:nvSpPr>
          <p:spPr>
            <a:xfrm>
              <a:off x="5337" y="2654"/>
              <a:ext cx="0" cy="1296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89" name="Line 51"/>
            <p:cNvSpPr/>
            <p:nvPr/>
          </p:nvSpPr>
          <p:spPr>
            <a:xfrm>
              <a:off x="3768" y="2750"/>
              <a:ext cx="0" cy="288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0" name="Line 52"/>
            <p:cNvSpPr/>
            <p:nvPr/>
          </p:nvSpPr>
          <p:spPr>
            <a:xfrm>
              <a:off x="3768" y="3086"/>
              <a:ext cx="0" cy="48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1" name="Line 53"/>
            <p:cNvSpPr/>
            <p:nvPr/>
          </p:nvSpPr>
          <p:spPr>
            <a:xfrm>
              <a:off x="3768" y="3614"/>
              <a:ext cx="0" cy="288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592" name="Line 54"/>
            <p:cNvSpPr/>
            <p:nvPr/>
          </p:nvSpPr>
          <p:spPr>
            <a:xfrm>
              <a:off x="3454" y="3038"/>
              <a:ext cx="31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4593" name="Line 55"/>
            <p:cNvSpPr/>
            <p:nvPr/>
          </p:nvSpPr>
          <p:spPr>
            <a:xfrm>
              <a:off x="3410" y="3614"/>
              <a:ext cx="35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4594" name="Line 56"/>
            <p:cNvSpPr/>
            <p:nvPr/>
          </p:nvSpPr>
          <p:spPr>
            <a:xfrm flipH="1">
              <a:off x="3624" y="3042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4595" name="Text Box 57"/>
            <p:cNvSpPr txBox="1"/>
            <p:nvPr/>
          </p:nvSpPr>
          <p:spPr>
            <a:xfrm>
              <a:off x="3410" y="3134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6" name="Line 58"/>
            <p:cNvSpPr/>
            <p:nvPr/>
          </p:nvSpPr>
          <p:spPr>
            <a:xfrm>
              <a:off x="3768" y="3758"/>
              <a:ext cx="15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med"/>
              <a:tailEnd type="arrow" w="med" len="med"/>
            </a:ln>
          </p:spPr>
        </p:sp>
        <p:sp>
          <p:nvSpPr>
            <p:cNvPr id="24597" name="Text Box 59"/>
            <p:cNvSpPr txBox="1"/>
            <p:nvPr/>
          </p:nvSpPr>
          <p:spPr>
            <a:xfrm>
              <a:off x="4441" y="3758"/>
              <a:ext cx="2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8" name="Line 60"/>
            <p:cNvSpPr/>
            <p:nvPr/>
          </p:nvSpPr>
          <p:spPr>
            <a:xfrm flipH="1">
              <a:off x="3051" y="3326"/>
              <a:ext cx="717" cy="0"/>
            </a:xfrm>
            <a:prstGeom prst="line">
              <a:avLst/>
            </a:prstGeom>
            <a:ln w="127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4599" name="Line 61"/>
            <p:cNvSpPr/>
            <p:nvPr/>
          </p:nvSpPr>
          <p:spPr>
            <a:xfrm flipV="1">
              <a:off x="3723" y="2750"/>
              <a:ext cx="1614" cy="28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0" name="Line 62"/>
            <p:cNvSpPr/>
            <p:nvPr/>
          </p:nvSpPr>
          <p:spPr>
            <a:xfrm flipV="1">
              <a:off x="3768" y="2750"/>
              <a:ext cx="1569" cy="86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1" name="Text Box 63"/>
            <p:cNvSpPr txBox="1"/>
            <p:nvPr/>
          </p:nvSpPr>
          <p:spPr>
            <a:xfrm>
              <a:off x="5129" y="24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2" name="Line 64"/>
            <p:cNvSpPr/>
            <p:nvPr/>
          </p:nvSpPr>
          <p:spPr>
            <a:xfrm flipV="1">
              <a:off x="3768" y="2750"/>
              <a:ext cx="1569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4603" name="Line 65"/>
            <p:cNvSpPr/>
            <p:nvPr/>
          </p:nvSpPr>
          <p:spPr>
            <a:xfrm>
              <a:off x="3768" y="3038"/>
              <a:ext cx="224" cy="48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4604" name="Line 67"/>
            <p:cNvSpPr/>
            <p:nvPr/>
          </p:nvSpPr>
          <p:spPr>
            <a:xfrm>
              <a:off x="2979" y="3132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605" name="Line 68"/>
            <p:cNvSpPr/>
            <p:nvPr/>
          </p:nvSpPr>
          <p:spPr>
            <a:xfrm>
              <a:off x="2979" y="3313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606" name="Line 69"/>
            <p:cNvSpPr/>
            <p:nvPr/>
          </p:nvSpPr>
          <p:spPr>
            <a:xfrm>
              <a:off x="2984" y="3508"/>
              <a:ext cx="42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607" name="Text Box 70"/>
            <p:cNvSpPr txBox="1"/>
            <p:nvPr/>
          </p:nvSpPr>
          <p:spPr>
            <a:xfrm>
              <a:off x="4789" y="2996"/>
              <a:ext cx="43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8" name="Text Box 71"/>
            <p:cNvSpPr txBox="1"/>
            <p:nvPr/>
          </p:nvSpPr>
          <p:spPr>
            <a:xfrm>
              <a:off x="4414" y="2542"/>
              <a:ext cx="432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609" name="Group 4"/>
          <p:cNvGrpSpPr/>
          <p:nvPr/>
        </p:nvGrpSpPr>
        <p:grpSpPr>
          <a:xfrm>
            <a:off x="-36512" y="95250"/>
            <a:ext cx="9229725" cy="2678113"/>
            <a:chOff x="44" y="2566"/>
            <a:chExt cx="5914" cy="1687"/>
          </a:xfrm>
        </p:grpSpPr>
        <p:sp>
          <p:nvSpPr>
            <p:cNvPr id="24610" name="Text Box 5"/>
            <p:cNvSpPr txBox="1"/>
            <p:nvPr/>
          </p:nvSpPr>
          <p:spPr>
            <a:xfrm>
              <a:off x="44" y="2566"/>
              <a:ext cx="5914" cy="168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、在双缝干涉实验中，波长 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 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550nm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的单色平行光垂直入射到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缝间距                            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双缝上，屏到双缝的距离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D=2m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，求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）中央明纹两侧的两条第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级明纹中心的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间距；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（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）用一厚度为                             ，折射率为</a:t>
              </a: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n=1.58</a:t>
              </a:r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的云母片</a:t>
              </a:r>
              <a:endParaRPr lang="zh-CN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 覆盖一缝后，零级</a:t>
              </a:r>
              <a:r>
                <a: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明纹将移到原来的第几级明纹处？</a:t>
              </a: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（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）若将原装置放入液体中，观察到空气中的第三级明纹正好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             是液体中的第四级明纹，求液体的折射率</a:t>
              </a: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4611" name="Object 6"/>
            <p:cNvGraphicFramePr/>
            <p:nvPr/>
          </p:nvGraphicFramePr>
          <p:xfrm>
            <a:off x="1296" y="2783"/>
            <a:ext cx="115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5" name="" r:id="rId9" imgW="850265" imgH="203200" progId="Equation.3">
                    <p:embed/>
                  </p:oleObj>
                </mc:Choice>
                <mc:Fallback>
                  <p:oleObj name="" r:id="rId9" imgW="850265" imgH="2032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296" y="2783"/>
                          <a:ext cx="1152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2" name="Object 7"/>
            <p:cNvGraphicFramePr/>
            <p:nvPr/>
          </p:nvGraphicFramePr>
          <p:xfrm>
            <a:off x="2016" y="3242"/>
            <a:ext cx="129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06" name="" r:id="rId11" imgW="939165" imgH="203200" progId="Equation.3">
                    <p:embed/>
                  </p:oleObj>
                </mc:Choice>
                <mc:Fallback>
                  <p:oleObj name="" r:id="rId11" imgW="939165" imgH="2032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16" y="3242"/>
                          <a:ext cx="1296" cy="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16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Text Box 2"/>
          <p:cNvSpPr txBox="1">
            <a:spLocks noChangeArrowheads="1"/>
          </p:cNvSpPr>
          <p:nvPr/>
        </p:nvSpPr>
        <p:spPr bwMode="blackGray">
          <a:xfrm>
            <a:off x="395288" y="188913"/>
            <a:ext cx="8510588" cy="2308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、一油滴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=1.20)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浮在水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=1.33)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面上，用白光垂直照射，如图所示。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）油滴外围最薄的区域对应于亮区还是暗区？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）从油滴边缘数起第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个蓝色（波长为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480nm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）区域的油层约有多厚？（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）油膜厚度为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460nm</a:t>
            </a:r>
            <a:r>
              <a:rPr kumimoji="1" lang="zh-CN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的区域，哪些波长的可见光反射最强？</a:t>
            </a:r>
            <a:endParaRPr kumimoji="1" lang="zh-CN" altLang="en-US" sz="2400" kern="1200" cap="none" spc="0" normalizeH="0" baseline="0" noProof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4744" name="Text Box 8"/>
          <p:cNvSpPr txBox="1"/>
          <p:nvPr/>
        </p:nvSpPr>
        <p:spPr>
          <a:xfrm>
            <a:off x="323850" y="3429000"/>
            <a:ext cx="5008563" cy="8667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解：（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）因为在两个分界面上反射光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都有半波损失，因此干涉极大的条件为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44746" name="Text Box 10"/>
          <p:cNvSpPr txBox="1"/>
          <p:nvPr/>
        </p:nvSpPr>
        <p:spPr>
          <a:xfrm>
            <a:off x="442913" y="5092700"/>
            <a:ext cx="5253037" cy="4270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最薄处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 = 0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因此对应的区域为亮区。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604" name="Object 12"/>
          <p:cNvGraphicFramePr/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8" name="" r:id="rId1" imgW="114300" imgH="215265" progId="Equation.3">
                  <p:embed/>
                </p:oleObj>
              </mc:Choice>
              <mc:Fallback>
                <p:oleObj name="" r:id="rId1" imgW="114300" imgH="215265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3"/>
          <p:cNvGraphicFramePr/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69" name="" r:id="rId3" imgW="114300" imgH="215265" progId="Equation.3">
                  <p:embed/>
                </p:oleObj>
              </mc:Choice>
              <mc:Fallback>
                <p:oleObj name="" r:id="rId3" imgW="114300" imgH="215265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3" name="Object 17"/>
          <p:cNvGraphicFramePr/>
          <p:nvPr/>
        </p:nvGraphicFramePr>
        <p:xfrm>
          <a:off x="1363663" y="4413250"/>
          <a:ext cx="3178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0" name="" r:id="rId4" imgW="1498600" imgH="228600" progId="Equation.DSMT4">
                  <p:embed/>
                </p:oleObj>
              </mc:Choice>
              <mc:Fallback>
                <p:oleObj name="" r:id="rId4" imgW="1498600" imgH="2286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63663" y="4413250"/>
                        <a:ext cx="31781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Line 4"/>
          <p:cNvSpPr/>
          <p:nvPr/>
        </p:nvSpPr>
        <p:spPr>
          <a:xfrm>
            <a:off x="5167313" y="3114675"/>
            <a:ext cx="3581400" cy="0"/>
          </a:xfrm>
          <a:prstGeom prst="line">
            <a:avLst/>
          </a:prstGeom>
          <a:ln w="25400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609" name="Freeform 5"/>
          <p:cNvSpPr/>
          <p:nvPr/>
        </p:nvSpPr>
        <p:spPr>
          <a:xfrm>
            <a:off x="5548313" y="2492375"/>
            <a:ext cx="3128962" cy="6096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971" h="384">
                <a:moveTo>
                  <a:pt x="0" y="384"/>
                </a:moveTo>
                <a:cubicBezTo>
                  <a:pt x="75" y="378"/>
                  <a:pt x="225" y="369"/>
                  <a:pt x="287" y="328"/>
                </a:cubicBezTo>
                <a:cubicBezTo>
                  <a:pt x="308" y="315"/>
                  <a:pt x="330" y="281"/>
                  <a:pt x="349" y="266"/>
                </a:cubicBezTo>
                <a:cubicBezTo>
                  <a:pt x="437" y="196"/>
                  <a:pt x="485" y="149"/>
                  <a:pt x="580" y="88"/>
                </a:cubicBezTo>
                <a:cubicBezTo>
                  <a:pt x="622" y="27"/>
                  <a:pt x="809" y="23"/>
                  <a:pt x="881" y="0"/>
                </a:cubicBezTo>
                <a:cubicBezTo>
                  <a:pt x="996" y="26"/>
                  <a:pt x="1121" y="46"/>
                  <a:pt x="1218" y="71"/>
                </a:cubicBezTo>
                <a:cubicBezTo>
                  <a:pt x="1349" y="124"/>
                  <a:pt x="1527" y="265"/>
                  <a:pt x="1669" y="318"/>
                </a:cubicBezTo>
                <a:cubicBezTo>
                  <a:pt x="1735" y="340"/>
                  <a:pt x="1902" y="372"/>
                  <a:pt x="1971" y="372"/>
                </a:cubicBezTo>
              </a:path>
            </a:pathLst>
          </a:custGeom>
          <a:solidFill>
            <a:srgbClr val="CCFFCC"/>
          </a:solidFill>
          <a:ln w="3492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10" name="Text Box 6"/>
          <p:cNvSpPr txBox="1"/>
          <p:nvPr/>
        </p:nvSpPr>
        <p:spPr>
          <a:xfrm>
            <a:off x="6691313" y="2608263"/>
            <a:ext cx="463550" cy="42703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油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11" name="Text Box 7"/>
          <p:cNvSpPr txBox="1"/>
          <p:nvPr/>
        </p:nvSpPr>
        <p:spPr>
          <a:xfrm>
            <a:off x="6767513" y="3294063"/>
            <a:ext cx="46355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水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17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4" grpId="0"/>
      <p:bldP spid="2447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1"/>
          <p:cNvSpPr txBox="1"/>
          <p:nvPr/>
        </p:nvSpPr>
        <p:spPr>
          <a:xfrm>
            <a:off x="323850" y="3704273"/>
            <a:ext cx="3971290" cy="4298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相邻亮纹间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油层厚度差为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3" name="Object 14"/>
          <p:cNvGraphicFramePr/>
          <p:nvPr/>
        </p:nvGraphicFramePr>
        <p:xfrm>
          <a:off x="1547495" y="4229894"/>
          <a:ext cx="1124585" cy="832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name="" r:id="rId1" imgW="584200" imgH="431800" progId="Equation.DSMT4">
                  <p:embed/>
                </p:oleObj>
              </mc:Choice>
              <mc:Fallback>
                <p:oleObj name="" r:id="rId1" imgW="584200" imgH="4318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BBE0E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495" y="4229894"/>
                        <a:ext cx="1124585" cy="8324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18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blackGray">
          <a:xfrm>
            <a:off x="395288" y="188913"/>
            <a:ext cx="8510588" cy="2308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、一油滴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=1.20)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浮在水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=1.33)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面上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用白光垂直照射，如图所示。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）油滴外围最薄的区域对应于亮区还是暗区？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）从油滴边缘数起第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个蓝色（波长为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480nm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）区域的油层约有多厚？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）油膜厚度为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460nm</a:t>
            </a:r>
            <a:r>
              <a:rPr kumimoji="1" lang="zh-CN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的区域，哪些波长的可见光反射最强？</a:t>
            </a:r>
            <a:endParaRPr kumimoji="1" lang="zh-CN" altLang="en-US" sz="2400" kern="1200" cap="none" spc="0" normalizeH="0" baseline="0" noProof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9" name="Line 4"/>
          <p:cNvSpPr/>
          <p:nvPr/>
        </p:nvSpPr>
        <p:spPr>
          <a:xfrm>
            <a:off x="5167313" y="3114675"/>
            <a:ext cx="3581400" cy="0"/>
          </a:xfrm>
          <a:prstGeom prst="line">
            <a:avLst/>
          </a:prstGeom>
          <a:ln w="25400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630" name="Freeform 5"/>
          <p:cNvSpPr/>
          <p:nvPr/>
        </p:nvSpPr>
        <p:spPr>
          <a:xfrm>
            <a:off x="5548313" y="2492375"/>
            <a:ext cx="3128962" cy="6096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971" h="384">
                <a:moveTo>
                  <a:pt x="0" y="384"/>
                </a:moveTo>
                <a:cubicBezTo>
                  <a:pt x="75" y="378"/>
                  <a:pt x="225" y="369"/>
                  <a:pt x="287" y="328"/>
                </a:cubicBezTo>
                <a:cubicBezTo>
                  <a:pt x="308" y="315"/>
                  <a:pt x="330" y="281"/>
                  <a:pt x="349" y="266"/>
                </a:cubicBezTo>
                <a:cubicBezTo>
                  <a:pt x="437" y="196"/>
                  <a:pt x="485" y="149"/>
                  <a:pt x="580" y="88"/>
                </a:cubicBezTo>
                <a:cubicBezTo>
                  <a:pt x="622" y="27"/>
                  <a:pt x="809" y="23"/>
                  <a:pt x="881" y="0"/>
                </a:cubicBezTo>
                <a:cubicBezTo>
                  <a:pt x="996" y="26"/>
                  <a:pt x="1121" y="46"/>
                  <a:pt x="1218" y="71"/>
                </a:cubicBezTo>
                <a:cubicBezTo>
                  <a:pt x="1349" y="124"/>
                  <a:pt x="1527" y="265"/>
                  <a:pt x="1669" y="318"/>
                </a:cubicBezTo>
                <a:cubicBezTo>
                  <a:pt x="1735" y="340"/>
                  <a:pt x="1902" y="372"/>
                  <a:pt x="1971" y="372"/>
                </a:cubicBezTo>
              </a:path>
            </a:pathLst>
          </a:custGeom>
          <a:solidFill>
            <a:srgbClr val="CCFFCC"/>
          </a:solidFill>
          <a:ln w="3492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31" name="Text Box 6"/>
          <p:cNvSpPr txBox="1"/>
          <p:nvPr/>
        </p:nvSpPr>
        <p:spPr>
          <a:xfrm>
            <a:off x="6691313" y="2608263"/>
            <a:ext cx="463550" cy="42703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油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2" name="Text Box 7"/>
          <p:cNvSpPr txBox="1"/>
          <p:nvPr/>
        </p:nvSpPr>
        <p:spPr>
          <a:xfrm>
            <a:off x="6767513" y="3294063"/>
            <a:ext cx="46355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水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14"/>
          <p:cNvGraphicFramePr/>
          <p:nvPr/>
        </p:nvGraphicFramePr>
        <p:xfrm>
          <a:off x="1547178" y="5682615"/>
          <a:ext cx="466725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" r:id="rId3" imgW="2425700" imgH="457200" progId="Equation.DSMT4">
                  <p:embed/>
                </p:oleObj>
              </mc:Choice>
              <mc:Fallback>
                <p:oleObj name="" r:id="rId3" imgW="2425700" imgH="4572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BBE0E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47178" y="5682615"/>
                        <a:ext cx="4667250" cy="881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1"/>
          <p:cNvSpPr txBox="1"/>
          <p:nvPr/>
        </p:nvSpPr>
        <p:spPr>
          <a:xfrm>
            <a:off x="611505" y="5157153"/>
            <a:ext cx="6463030" cy="42989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蓝色的波长为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480nm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的第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个蓝区对应的油层厚度为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blackGray">
          <a:xfrm>
            <a:off x="395288" y="188913"/>
            <a:ext cx="8510588" cy="2308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defRPr/>
            </a:pP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、一油滴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=1.20)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浮在水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(n</a:t>
            </a:r>
            <a:r>
              <a:rPr kumimoji="1" lang="en-US" altLang="zh-CN" sz="2400" kern="1200" cap="none" spc="0" normalizeH="0" baseline="-2500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=1.33)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面上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用白光垂直照射，如图所示。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试求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：（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）油滴外围最薄的区域对应于亮区还是暗区？（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）从油滴边缘数起第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个蓝色（波长为</a:t>
            </a:r>
            <a:r>
              <a:rPr kumimoji="1" lang="en-US" altLang="zh-CN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480nm</a:t>
            </a:r>
            <a:r>
              <a:rPr kumimoji="1" lang="zh-CN" altLang="en-US" sz="2400" kern="1200" cap="none" spc="0" normalizeH="0" baseline="0" noProof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）区域的油层约有多厚？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）油膜厚度为</a:t>
            </a:r>
            <a:r>
              <a:rPr kumimoji="1" lang="en-US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460nm</a:t>
            </a:r>
            <a:r>
              <a:rPr kumimoji="1" lang="zh-CN" altLang="zh-CN" sz="2400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的区域，哪些波长的可见光反射最强？</a:t>
            </a:r>
            <a:endParaRPr kumimoji="1" lang="zh-CN" altLang="en-US" sz="2400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7650" name="Line 4"/>
          <p:cNvSpPr/>
          <p:nvPr/>
        </p:nvSpPr>
        <p:spPr>
          <a:xfrm>
            <a:off x="5167313" y="3114675"/>
            <a:ext cx="3581400" cy="0"/>
          </a:xfrm>
          <a:prstGeom prst="line">
            <a:avLst/>
          </a:prstGeom>
          <a:ln w="25400" cap="flat" cmpd="sng">
            <a:solidFill>
              <a:srgbClr val="99CC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651" name="Freeform 5"/>
          <p:cNvSpPr/>
          <p:nvPr/>
        </p:nvSpPr>
        <p:spPr>
          <a:xfrm>
            <a:off x="5548313" y="2492375"/>
            <a:ext cx="3128962" cy="6096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971" h="384">
                <a:moveTo>
                  <a:pt x="0" y="384"/>
                </a:moveTo>
                <a:cubicBezTo>
                  <a:pt x="75" y="378"/>
                  <a:pt x="225" y="369"/>
                  <a:pt x="287" y="328"/>
                </a:cubicBezTo>
                <a:cubicBezTo>
                  <a:pt x="308" y="315"/>
                  <a:pt x="330" y="281"/>
                  <a:pt x="349" y="266"/>
                </a:cubicBezTo>
                <a:cubicBezTo>
                  <a:pt x="437" y="196"/>
                  <a:pt x="485" y="149"/>
                  <a:pt x="580" y="88"/>
                </a:cubicBezTo>
                <a:cubicBezTo>
                  <a:pt x="622" y="27"/>
                  <a:pt x="809" y="23"/>
                  <a:pt x="881" y="0"/>
                </a:cubicBezTo>
                <a:cubicBezTo>
                  <a:pt x="996" y="26"/>
                  <a:pt x="1121" y="46"/>
                  <a:pt x="1218" y="71"/>
                </a:cubicBezTo>
                <a:cubicBezTo>
                  <a:pt x="1349" y="124"/>
                  <a:pt x="1527" y="265"/>
                  <a:pt x="1669" y="318"/>
                </a:cubicBezTo>
                <a:cubicBezTo>
                  <a:pt x="1735" y="340"/>
                  <a:pt x="1902" y="372"/>
                  <a:pt x="1971" y="372"/>
                </a:cubicBezTo>
              </a:path>
            </a:pathLst>
          </a:custGeom>
          <a:solidFill>
            <a:srgbClr val="CCFFCC"/>
          </a:solidFill>
          <a:ln w="34925" cap="flat" cmpd="sng">
            <a:solidFill>
              <a:srgbClr val="33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52" name="Text Box 6"/>
          <p:cNvSpPr txBox="1"/>
          <p:nvPr/>
        </p:nvSpPr>
        <p:spPr>
          <a:xfrm>
            <a:off x="6691313" y="2608263"/>
            <a:ext cx="463550" cy="427037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油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Text Box 7"/>
          <p:cNvSpPr txBox="1"/>
          <p:nvPr/>
        </p:nvSpPr>
        <p:spPr>
          <a:xfrm>
            <a:off x="6767513" y="3294063"/>
            <a:ext cx="463550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水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23850" y="3573463"/>
            <a:ext cx="4200525" cy="4302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）反射光干涉加强：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2n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e=k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47738" y="5386388"/>
            <a:ext cx="4919662" cy="4270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当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k=2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,=552nm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为可见光反射最强。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9" name="Object 10"/>
          <p:cNvGraphicFramePr/>
          <p:nvPr/>
        </p:nvGraphicFramePr>
        <p:xfrm>
          <a:off x="1231900" y="4232275"/>
          <a:ext cx="56721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" r:id="rId1" imgW="2678430" imgH="393700" progId="Equation.DSMT4">
                  <p:embed/>
                </p:oleObj>
              </mc:Choice>
              <mc:Fallback>
                <p:oleObj name="" r:id="rId1" imgW="2678430" imgH="3937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31900" y="4232275"/>
                        <a:ext cx="5672138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19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42"/>
          <p:cNvSpPr txBox="1"/>
          <p:nvPr/>
        </p:nvSpPr>
        <p:spPr>
          <a:xfrm>
            <a:off x="0" y="260350"/>
            <a:ext cx="8929688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、牛顿环：入射光波长为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589nm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，第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级暗环直径为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0.687cm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，当透镜竖直向上移动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d=5×10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-4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求：此时第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级暗纹直径为多少？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12" name="Text Box 60"/>
          <p:cNvSpPr txBox="1">
            <a:spLocks noChangeArrowheads="1"/>
          </p:cNvSpPr>
          <p:nvPr/>
        </p:nvSpPr>
        <p:spPr bwMode="blackGray">
          <a:xfrm>
            <a:off x="250825" y="1531938"/>
            <a:ext cx="7937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2400" b="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1" lang="zh-CN" altLang="en-US" sz="2400" b="0" kern="1200" cap="none" spc="0" normalizeH="0" baseline="0" noProof="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6013" name="Object 61"/>
          <p:cNvGraphicFramePr>
            <a:graphicFrameLocks noGrp="1"/>
          </p:cNvGraphicFramePr>
          <p:nvPr>
            <p:ph sz="quarter" idx="1"/>
          </p:nvPr>
        </p:nvGraphicFramePr>
        <p:xfrm>
          <a:off x="1835150" y="1431925"/>
          <a:ext cx="20177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2" name="" r:id="rId1" imgW="951865" imgH="228600" progId="Equation.DSMT4">
                  <p:embed/>
                </p:oleObj>
              </mc:Choice>
              <mc:Fallback>
                <p:oleObj name="" r:id="rId1" imgW="951865" imgH="2286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5150" y="1431925"/>
                        <a:ext cx="2017713" cy="4841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21" name="Object 69"/>
          <p:cNvGraphicFramePr>
            <a:graphicFrameLocks noGrp="1"/>
          </p:cNvGraphicFramePr>
          <p:nvPr>
            <p:ph sz="quarter" idx="2"/>
          </p:nvPr>
        </p:nvGraphicFramePr>
        <p:xfrm>
          <a:off x="1908175" y="2060575"/>
          <a:ext cx="17272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3" name="" r:id="rId3" imgW="812165" imgH="254000" progId="Equation.DSMT4">
                  <p:embed/>
                </p:oleObj>
              </mc:Choice>
              <mc:Fallback>
                <p:oleObj name="" r:id="rId3" imgW="812165" imgH="2540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8175" y="2060575"/>
                        <a:ext cx="1727200" cy="5413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41" name="Object 89"/>
          <p:cNvGraphicFramePr>
            <a:graphicFrameLocks noGrp="1"/>
          </p:cNvGraphicFramePr>
          <p:nvPr>
            <p:ph sz="quarter" idx="3"/>
          </p:nvPr>
        </p:nvGraphicFramePr>
        <p:xfrm>
          <a:off x="5148263" y="1873250"/>
          <a:ext cx="143986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4" name="" r:id="rId5" imgW="595630" imgH="177800" progId="Equation.DSMT4">
                  <p:embed/>
                </p:oleObj>
              </mc:Choice>
              <mc:Fallback>
                <p:oleObj name="" r:id="rId5" imgW="595630" imgH="1778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263" y="1873250"/>
                        <a:ext cx="1439862" cy="428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8"/>
          <p:cNvGrpSpPr/>
          <p:nvPr/>
        </p:nvGrpSpPr>
        <p:grpSpPr>
          <a:xfrm>
            <a:off x="3924300" y="1557338"/>
            <a:ext cx="889000" cy="1016000"/>
            <a:chOff x="2472" y="1027"/>
            <a:chExt cx="560" cy="640"/>
          </a:xfrm>
        </p:grpSpPr>
        <p:graphicFrame>
          <p:nvGraphicFramePr>
            <p:cNvPr id="28679" name="Object 72"/>
            <p:cNvGraphicFramePr/>
            <p:nvPr/>
          </p:nvGraphicFramePr>
          <p:xfrm>
            <a:off x="2472" y="1027"/>
            <a:ext cx="316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85" name="" r:id="rId7" imgW="177800" imgH="253365" progId="Equation.DSMT4">
                    <p:embed/>
                  </p:oleObj>
                </mc:Choice>
                <mc:Fallback>
                  <p:oleObj name="" r:id="rId7" imgW="177800" imgH="253365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66CC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2" y="1027"/>
                          <a:ext cx="316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" name="Object 73"/>
            <p:cNvGraphicFramePr/>
            <p:nvPr/>
          </p:nvGraphicFramePr>
          <p:xfrm>
            <a:off x="2744" y="1253"/>
            <a:ext cx="28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86" name="" r:id="rId9" imgW="190500" imgH="152400" progId="Equation.DSMT4">
                    <p:embed/>
                  </p:oleObj>
                </mc:Choice>
                <mc:Fallback>
                  <p:oleObj name="" r:id="rId9" imgW="190500" imgH="152400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66CC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1253"/>
                          <a:ext cx="28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6044" name="Object 92"/>
          <p:cNvGraphicFramePr>
            <a:graphicFrameLocks noGrp="1"/>
          </p:cNvGraphicFramePr>
          <p:nvPr>
            <p:ph sz="quarter" idx="4"/>
          </p:nvPr>
        </p:nvGraphicFramePr>
        <p:xfrm>
          <a:off x="770255" y="3666490"/>
          <a:ext cx="12573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7" name="" r:id="rId11" imgW="711200" imgH="393700" progId="Equation.DSMT4">
                  <p:embed/>
                </p:oleObj>
              </mc:Choice>
              <mc:Fallback>
                <p:oleObj name="" r:id="rId11" imgW="711200" imgH="3937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0255" y="3666490"/>
                        <a:ext cx="1257300" cy="695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47" name="Object 95"/>
          <p:cNvGraphicFramePr/>
          <p:nvPr/>
        </p:nvGraphicFramePr>
        <p:xfrm>
          <a:off x="769938" y="2997200"/>
          <a:ext cx="29956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8" name="" r:id="rId13" imgW="1383665" imgH="241300" progId="Equation.DSMT4">
                  <p:embed/>
                </p:oleObj>
              </mc:Choice>
              <mc:Fallback>
                <p:oleObj name="" r:id="rId13" imgW="1383665" imgH="2413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9938" y="2997200"/>
                        <a:ext cx="2995612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48" name="Object 96"/>
          <p:cNvGraphicFramePr/>
          <p:nvPr/>
        </p:nvGraphicFramePr>
        <p:xfrm>
          <a:off x="1258888" y="4508500"/>
          <a:ext cx="25415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9" name="" r:id="rId15" imgW="1205230" imgH="254000" progId="Equation.DSMT4">
                  <p:embed/>
                </p:oleObj>
              </mc:Choice>
              <mc:Fallback>
                <p:oleObj name="" r:id="rId15" imgW="1205230" imgH="2540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58888" y="4508500"/>
                        <a:ext cx="2541587" cy="534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049" name="Object 97"/>
          <p:cNvGraphicFramePr/>
          <p:nvPr/>
        </p:nvGraphicFramePr>
        <p:xfrm>
          <a:off x="971550" y="5373688"/>
          <a:ext cx="31686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0" name="" r:id="rId17" imgW="1421765" imgH="241300" progId="Equation.DSMT4">
                  <p:embed/>
                </p:oleObj>
              </mc:Choice>
              <mc:Fallback>
                <p:oleObj name="" r:id="rId17" imgW="1421765" imgH="2413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71550" y="5373688"/>
                        <a:ext cx="3168650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9"/>
          <p:cNvGrpSpPr/>
          <p:nvPr/>
        </p:nvGrpSpPr>
        <p:grpSpPr>
          <a:xfrm>
            <a:off x="3851275" y="3141663"/>
            <a:ext cx="889000" cy="1016000"/>
            <a:chOff x="2472" y="1027"/>
            <a:chExt cx="560" cy="640"/>
          </a:xfrm>
        </p:grpSpPr>
        <p:graphicFrame>
          <p:nvGraphicFramePr>
            <p:cNvPr id="28686" name="Object 100"/>
            <p:cNvGraphicFramePr/>
            <p:nvPr/>
          </p:nvGraphicFramePr>
          <p:xfrm>
            <a:off x="2472" y="1027"/>
            <a:ext cx="316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1" name="" r:id="rId19" imgW="177800" imgH="253365" progId="Equation.DSMT4">
                    <p:embed/>
                  </p:oleObj>
                </mc:Choice>
                <mc:Fallback>
                  <p:oleObj name="" r:id="rId19" imgW="177800" imgH="253365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66CC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2" y="1027"/>
                          <a:ext cx="316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7" name="Object 101"/>
            <p:cNvGraphicFramePr/>
            <p:nvPr/>
          </p:nvGraphicFramePr>
          <p:xfrm>
            <a:off x="2744" y="1253"/>
            <a:ext cx="28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2" name="" r:id="rId20" imgW="190500" imgH="152400" progId="Equation.DSMT4">
                    <p:embed/>
                  </p:oleObj>
                </mc:Choice>
                <mc:Fallback>
                  <p:oleObj name="" r:id="rId20" imgW="190500" imgH="152400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66CC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44" y="1253"/>
                          <a:ext cx="288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64" name="Group 134"/>
          <p:cNvGrpSpPr>
            <a:grpSpLocks noChangeAspect="1"/>
          </p:cNvGrpSpPr>
          <p:nvPr/>
        </p:nvGrpSpPr>
        <p:grpSpPr>
          <a:xfrm>
            <a:off x="4716463" y="3068638"/>
            <a:ext cx="4102100" cy="3267075"/>
            <a:chOff x="1800" y="1514"/>
            <a:chExt cx="6460" cy="5145"/>
          </a:xfrm>
        </p:grpSpPr>
        <p:sp>
          <p:nvSpPr>
            <p:cNvPr id="28689" name="AutoShape 135"/>
            <p:cNvSpPr>
              <a:spLocks noChangeAspect="1"/>
            </p:cNvSpPr>
            <p:nvPr/>
          </p:nvSpPr>
          <p:spPr>
            <a:xfrm>
              <a:off x="1800" y="1514"/>
              <a:ext cx="6460" cy="514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136"/>
            <p:cNvSpPr/>
            <p:nvPr/>
          </p:nvSpPr>
          <p:spPr>
            <a:xfrm>
              <a:off x="2140" y="5979"/>
              <a:ext cx="6120" cy="68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Freeform 137"/>
            <p:cNvSpPr/>
            <p:nvPr/>
          </p:nvSpPr>
          <p:spPr>
            <a:xfrm>
              <a:off x="2140" y="4959"/>
              <a:ext cx="6010" cy="10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2404" h="408">
                  <a:moveTo>
                    <a:pt x="0" y="0"/>
                  </a:moveTo>
                  <a:cubicBezTo>
                    <a:pt x="411" y="204"/>
                    <a:pt x="823" y="408"/>
                    <a:pt x="1224" y="408"/>
                  </a:cubicBezTo>
                  <a:cubicBezTo>
                    <a:pt x="1625" y="408"/>
                    <a:pt x="2014" y="204"/>
                    <a:pt x="2404" y="0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Freeform 138"/>
            <p:cNvSpPr/>
            <p:nvPr/>
          </p:nvSpPr>
          <p:spPr>
            <a:xfrm>
              <a:off x="2140" y="4550"/>
              <a:ext cx="6010" cy="10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0" t="0" r="0" b="0"/>
              <a:pathLst>
                <a:path w="2404" h="408">
                  <a:moveTo>
                    <a:pt x="0" y="0"/>
                  </a:moveTo>
                  <a:cubicBezTo>
                    <a:pt x="411" y="204"/>
                    <a:pt x="823" y="408"/>
                    <a:pt x="1224" y="408"/>
                  </a:cubicBezTo>
                  <a:cubicBezTo>
                    <a:pt x="1625" y="408"/>
                    <a:pt x="2014" y="204"/>
                    <a:pt x="2404" y="0"/>
                  </a:cubicBezTo>
                </a:path>
              </a:pathLst>
            </a:cu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Line 139"/>
            <p:cNvSpPr/>
            <p:nvPr/>
          </p:nvSpPr>
          <p:spPr>
            <a:xfrm flipH="1" flipV="1">
              <a:off x="5032" y="2294"/>
              <a:ext cx="56" cy="311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94" name="Line 140"/>
            <p:cNvSpPr/>
            <p:nvPr/>
          </p:nvSpPr>
          <p:spPr>
            <a:xfrm>
              <a:off x="5088" y="2805"/>
              <a:ext cx="2155" cy="2607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695" name="Line 141"/>
            <p:cNvSpPr/>
            <p:nvPr/>
          </p:nvSpPr>
          <p:spPr>
            <a:xfrm>
              <a:off x="5076" y="2306"/>
              <a:ext cx="1224" cy="3108"/>
            </a:xfrm>
            <a:prstGeom prst="line">
              <a:avLst/>
            </a:prstGeom>
            <a:ln w="9525" cap="rnd" cmpd="sng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696" name="Line 142"/>
            <p:cNvSpPr/>
            <p:nvPr/>
          </p:nvSpPr>
          <p:spPr>
            <a:xfrm flipH="1">
              <a:off x="5088" y="5412"/>
              <a:ext cx="2155" cy="0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697" name="Line 143"/>
            <p:cNvSpPr/>
            <p:nvPr/>
          </p:nvSpPr>
          <p:spPr>
            <a:xfrm>
              <a:off x="7243" y="5419"/>
              <a:ext cx="0" cy="568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graphicFrame>
          <p:nvGraphicFramePr>
            <p:cNvPr id="28698" name="Object 144"/>
            <p:cNvGraphicFramePr/>
            <p:nvPr/>
          </p:nvGraphicFramePr>
          <p:xfrm>
            <a:off x="4519" y="2606"/>
            <a:ext cx="401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3" name="" r:id="rId21" imgW="152400" imgH="177800" progId="Equation.DSMT4">
                    <p:embed/>
                  </p:oleObj>
                </mc:Choice>
                <mc:Fallback>
                  <p:oleObj name="" r:id="rId21" imgW="152400" imgH="1778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519" y="2606"/>
                          <a:ext cx="401" cy="4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9" name="Object 145"/>
            <p:cNvGraphicFramePr/>
            <p:nvPr/>
          </p:nvGraphicFramePr>
          <p:xfrm>
            <a:off x="4579" y="1982"/>
            <a:ext cx="411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4" name="" r:id="rId23" imgW="177800" imgH="202565" progId="Equation.DSMT4">
                    <p:embed/>
                  </p:oleObj>
                </mc:Choice>
                <mc:Fallback>
                  <p:oleObj name="" r:id="rId23" imgW="177800" imgH="202565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579" y="1982"/>
                          <a:ext cx="411" cy="4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0" name="Object 146"/>
            <p:cNvGraphicFramePr/>
            <p:nvPr/>
          </p:nvGraphicFramePr>
          <p:xfrm>
            <a:off x="6223" y="3386"/>
            <a:ext cx="436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5" name="" r:id="rId25" imgW="152400" imgH="165100" progId="Equation.DSMT4">
                    <p:embed/>
                  </p:oleObj>
                </mc:Choice>
                <mc:Fallback>
                  <p:oleObj name="" r:id="rId25" imgW="152400" imgH="165100" progId="Equation.DSMT4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223" y="3386"/>
                          <a:ext cx="436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1" name="Object 147"/>
            <p:cNvGraphicFramePr/>
            <p:nvPr/>
          </p:nvGraphicFramePr>
          <p:xfrm>
            <a:off x="7035" y="6039"/>
            <a:ext cx="557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6" name="" r:id="rId27" imgW="203200" imgH="228600" progId="Equation.DSMT4">
                    <p:embed/>
                  </p:oleObj>
                </mc:Choice>
                <mc:Fallback>
                  <p:oleObj name="" r:id="rId27" imgW="203200" imgH="228600" progId="Equation.DSMT4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035" y="6039"/>
                          <a:ext cx="557" cy="6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2" name="Object 148"/>
            <p:cNvGraphicFramePr/>
            <p:nvPr/>
          </p:nvGraphicFramePr>
          <p:xfrm>
            <a:off x="2484" y="5486"/>
            <a:ext cx="436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7" name="" r:id="rId29" imgW="139700" imgH="177800" progId="Equation.DSMT4">
                    <p:embed/>
                  </p:oleObj>
                </mc:Choice>
                <mc:Fallback>
                  <p:oleObj name="" r:id="rId29" imgW="139700" imgH="177800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484" y="5486"/>
                          <a:ext cx="436" cy="5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3" name="Object 149"/>
            <p:cNvGraphicFramePr/>
            <p:nvPr/>
          </p:nvGraphicFramePr>
          <p:xfrm>
            <a:off x="5350" y="4478"/>
            <a:ext cx="510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8" name="" r:id="rId31" imgW="177800" imgH="240665" progId="Equation.DSMT4">
                    <p:embed/>
                  </p:oleObj>
                </mc:Choice>
                <mc:Fallback>
                  <p:oleObj name="" r:id="rId31" imgW="177800" imgH="240665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350" y="4478"/>
                          <a:ext cx="510" cy="6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150"/>
            <p:cNvGraphicFramePr/>
            <p:nvPr/>
          </p:nvGraphicFramePr>
          <p:xfrm>
            <a:off x="6300" y="5414"/>
            <a:ext cx="45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99" name="" r:id="rId33" imgW="177800" imgH="240665" progId="Equation.DSMT4">
                    <p:embed/>
                  </p:oleObj>
                </mc:Choice>
                <mc:Fallback>
                  <p:oleObj name="" r:id="rId33" imgW="177800" imgH="240665" progId="Equation.DSMT4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300" y="5414"/>
                          <a:ext cx="459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5" name="Object 151"/>
            <p:cNvGraphicFramePr/>
            <p:nvPr/>
          </p:nvGraphicFramePr>
          <p:xfrm>
            <a:off x="5955" y="6039"/>
            <a:ext cx="527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0" name="" r:id="rId35" imgW="203200" imgH="241300" progId="Equation.DSMT4">
                    <p:embed/>
                  </p:oleObj>
                </mc:Choice>
                <mc:Fallback>
                  <p:oleObj name="" r:id="rId35" imgW="203200" imgH="241300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5955" y="6039"/>
                          <a:ext cx="527" cy="6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6" name="Line 152"/>
            <p:cNvSpPr/>
            <p:nvPr/>
          </p:nvSpPr>
          <p:spPr>
            <a:xfrm>
              <a:off x="2220" y="5570"/>
              <a:ext cx="2835" cy="1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28707" name="Line 153"/>
            <p:cNvSpPr/>
            <p:nvPr/>
          </p:nvSpPr>
          <p:spPr>
            <a:xfrm>
              <a:off x="2340" y="5570"/>
              <a:ext cx="1" cy="45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arrow" w="sm" len="sm"/>
              <a:tailEnd type="arrow" w="sm" len="sm"/>
            </a:ln>
          </p:spPr>
        </p:sp>
        <p:sp>
          <p:nvSpPr>
            <p:cNvPr id="28708" name="Line 154"/>
            <p:cNvSpPr/>
            <p:nvPr/>
          </p:nvSpPr>
          <p:spPr>
            <a:xfrm>
              <a:off x="6300" y="5414"/>
              <a:ext cx="1" cy="568"/>
            </a:xfrm>
            <a:prstGeom prst="line">
              <a:avLst/>
            </a:prstGeom>
            <a:ln w="9525" cap="rnd" cmpd="sng">
              <a:solidFill>
                <a:srgbClr val="000000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8709" name="AutoShape 155"/>
            <p:cNvSpPr/>
            <p:nvPr/>
          </p:nvSpPr>
          <p:spPr>
            <a:xfrm rot="5400000">
              <a:off x="5592" y="4754"/>
              <a:ext cx="180" cy="1140"/>
            </a:xfrm>
            <a:prstGeom prst="leftBrace">
              <a:avLst>
                <a:gd name="adj1" fmla="val 52660"/>
                <a:gd name="adj2" fmla="val 50000"/>
              </a:avLst>
            </a:prstGeom>
            <a:noFill/>
            <a:ln w="9525" cap="flat" cmpd="sng">
              <a:solidFill>
                <a:srgbClr val="FF0000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10" name="AutoShape 156"/>
            <p:cNvSpPr/>
            <p:nvPr/>
          </p:nvSpPr>
          <p:spPr>
            <a:xfrm rot="5400000" flipH="1" flipV="1">
              <a:off x="6037" y="4465"/>
              <a:ext cx="262" cy="2160"/>
            </a:xfrm>
            <a:prstGeom prst="leftBrace">
              <a:avLst>
                <a:gd name="adj1" fmla="val 68549"/>
                <a:gd name="adj2" fmla="val 50000"/>
              </a:avLst>
            </a:prstGeom>
            <a:noFill/>
            <a:ln w="9525" cap="flat" cmpd="sng">
              <a:solidFill>
                <a:srgbClr val="000000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711" name="Object 157"/>
            <p:cNvGraphicFramePr/>
            <p:nvPr/>
          </p:nvGraphicFramePr>
          <p:xfrm>
            <a:off x="5580" y="2450"/>
            <a:ext cx="436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1" name="" r:id="rId37" imgW="152400" imgH="165100" progId="Equation.DSMT4">
                    <p:embed/>
                  </p:oleObj>
                </mc:Choice>
                <mc:Fallback>
                  <p:oleObj name="" r:id="rId37" imgW="152400" imgH="165100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580" y="2450"/>
                          <a:ext cx="436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20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" name="Object 92"/>
          <p:cNvGraphicFramePr>
            <a:graphicFrameLocks noGrp="1"/>
          </p:cNvGraphicFramePr>
          <p:nvPr/>
        </p:nvGraphicFramePr>
        <p:xfrm>
          <a:off x="2131060" y="3666490"/>
          <a:ext cx="161671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2" name="" r:id="rId38" imgW="914400" imgH="393700" progId="Equation.DSMT4">
                  <p:embed/>
                </p:oleObj>
              </mc:Choice>
              <mc:Fallback>
                <p:oleObj name="" r:id="rId38" imgW="914400" imgH="3937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31060" y="3666490"/>
                        <a:ext cx="1616710" cy="695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39"/>
          <p:cNvSpPr/>
          <p:nvPr/>
        </p:nvSpPr>
        <p:spPr>
          <a:xfrm flipV="1">
            <a:off x="6799580" y="5516880"/>
            <a:ext cx="3810" cy="368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文本框 37889"/>
          <p:cNvSpPr txBox="1"/>
          <p:nvPr/>
        </p:nvSpPr>
        <p:spPr>
          <a:xfrm>
            <a:off x="222250" y="44450"/>
            <a:ext cx="838200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5 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用白光垂直照射在每厘米中有  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6500 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条刻线的平面光栅上，求第三级光谱的张角。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7891" name="文本框 37890"/>
          <p:cNvSpPr txBox="1"/>
          <p:nvPr/>
        </p:nvSpPr>
        <p:spPr>
          <a:xfrm>
            <a:off x="179388" y="1052513"/>
            <a:ext cx="5029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【</a:t>
            </a:r>
            <a:r>
              <a:rPr lang="zh-CN" altLang="en-US" sz="28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解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】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光栅常数为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37892" name="对象 37891"/>
          <p:cNvGraphicFramePr/>
          <p:nvPr/>
        </p:nvGraphicFramePr>
        <p:xfrm>
          <a:off x="3636963" y="1052513"/>
          <a:ext cx="37433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7" name="" r:id="rId1" imgW="1268095" imgH="215900" progId="Equation.3">
                  <p:embed/>
                </p:oleObj>
              </mc:Choice>
              <mc:Fallback>
                <p:oleObj name="" r:id="rId1" imgW="1268095" imgH="2159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6963" y="1052513"/>
                        <a:ext cx="3743325" cy="6318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  <a:effectLst>
                        <a:outerShdw dist="107763" dir="189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对象 37892"/>
          <p:cNvGraphicFramePr/>
          <p:nvPr/>
        </p:nvGraphicFramePr>
        <p:xfrm>
          <a:off x="6565107" y="1700372"/>
          <a:ext cx="1270000" cy="648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8" name="" r:id="rId3" imgW="355600" imgH="228600" progId="Equation.DSMT4">
                  <p:embed/>
                </p:oleObj>
              </mc:Choice>
              <mc:Fallback>
                <p:oleObj name="" r:id="rId3" imgW="355600" imgH="2286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65107" y="1700372"/>
                        <a:ext cx="1270000" cy="648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对象 37893"/>
          <p:cNvGraphicFramePr/>
          <p:nvPr/>
        </p:nvGraphicFramePr>
        <p:xfrm>
          <a:off x="1258888" y="2349500"/>
          <a:ext cx="31686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9" name="" r:id="rId5" imgW="1052830" imgH="215900" progId="Equation.3">
                  <p:embed/>
                </p:oleObj>
              </mc:Choice>
              <mc:Fallback>
                <p:oleObj name="" r:id="rId5" imgW="1052830" imgH="2159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2349500"/>
                        <a:ext cx="3168650" cy="6445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  <a:effectLst>
                        <a:outerShdw dist="107763" dir="189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文本框 37894"/>
          <p:cNvSpPr txBox="1"/>
          <p:nvPr/>
        </p:nvSpPr>
        <p:spPr>
          <a:xfrm>
            <a:off x="393700" y="1771650"/>
            <a:ext cx="72739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设：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第三级紫光和红光的衍射角分别为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7896" name="文本框 37895"/>
          <p:cNvSpPr txBox="1"/>
          <p:nvPr/>
        </p:nvSpPr>
        <p:spPr>
          <a:xfrm>
            <a:off x="395288" y="23495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由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37897" name="对象 37896"/>
          <p:cNvGraphicFramePr/>
          <p:nvPr/>
        </p:nvGraphicFramePr>
        <p:xfrm>
          <a:off x="219869" y="3052446"/>
          <a:ext cx="6277610" cy="168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0" name="" r:id="rId7" imgW="2463165" imgH="660400" progId="Equation.3">
                  <p:embed/>
                </p:oleObj>
              </mc:Choice>
              <mc:Fallback>
                <p:oleObj name="" r:id="rId7" imgW="2463165" imgH="6604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869" y="3052446"/>
                        <a:ext cx="6277610" cy="1683385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 w="38100">
                        <a:noFill/>
                        <a:miter/>
                      </a:ln>
                      <a:effectLst>
                        <a:outerShdw dist="107763" dir="189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8" name="文本框 37897"/>
          <p:cNvSpPr txBox="1"/>
          <p:nvPr/>
        </p:nvSpPr>
        <p:spPr>
          <a:xfrm>
            <a:off x="382588" y="5789613"/>
            <a:ext cx="6781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=3 </a:t>
            </a:r>
            <a:r>
              <a:rPr lang="zh-CN" altLang="en-US" sz="28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只出现一部分光谱，张角为</a:t>
            </a:r>
            <a:endParaRPr lang="zh-CN" altLang="en-US" sz="28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37899" name="对象 37898"/>
          <p:cNvGraphicFramePr/>
          <p:nvPr/>
        </p:nvGraphicFramePr>
        <p:xfrm>
          <a:off x="4643438" y="6281738"/>
          <a:ext cx="44640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1" name="" r:id="rId9" imgW="1689100" imgH="228600" progId="Equation.3">
                  <p:embed/>
                </p:oleObj>
              </mc:Choice>
              <mc:Fallback>
                <p:oleObj name="" r:id="rId9" imgW="1689100" imgH="2286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43438" y="6281738"/>
                        <a:ext cx="4464050" cy="6032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  <a:effectLst>
                        <a:outerShdw dist="107763" dir="189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/>
        </p:nvGraphicFramePr>
        <p:xfrm>
          <a:off x="219234" y="4760913"/>
          <a:ext cx="80581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2" name="" r:id="rId11" imgW="3162300" imgH="393700" progId="Equation.3">
                  <p:embed/>
                </p:oleObj>
              </mc:Choice>
              <mc:Fallback>
                <p:oleObj name="" r:id="rId11" imgW="3162300" imgH="3937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9234" y="4760913"/>
                        <a:ext cx="8058150" cy="1003300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 w="38100">
                        <a:noFill/>
                        <a:miter/>
                      </a:ln>
                      <a:effectLst>
                        <a:outerShdw dist="107763" dir="189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89" t="6507" b="10557"/>
          <a:stretch>
            <a:fillRect/>
          </a:stretch>
        </p:blipFill>
        <p:spPr bwMode="auto">
          <a:xfrm>
            <a:off x="7148485" y="2362041"/>
            <a:ext cx="1952566" cy="21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378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6" dur="1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  <p:bldP spid="37895" grpId="0" build="p"/>
      <p:bldP spid="37896" grpId="0" build="p"/>
      <p:bldP spid="3789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2"/>
          <p:cNvSpPr txBox="1"/>
          <p:nvPr/>
        </p:nvSpPr>
        <p:spPr>
          <a:xfrm>
            <a:off x="323850" y="333375"/>
            <a:ext cx="8424863" cy="249174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spcBef>
                <a:spcPct val="5000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、自然光射到平行平板玻璃上，反射光恰为线偏振光，且  折射光的折射角为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，试求：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spcBef>
                <a:spcPct val="50000"/>
              </a:spcBef>
              <a:buAutoNum type="arabicParenBoth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自然光的入射角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spcBef>
                <a:spcPct val="50000"/>
              </a:spcBef>
              <a:buAutoNum type="arabicParenBoth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玻璃的折射率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spcBef>
                <a:spcPct val="50000"/>
              </a:spcBef>
              <a:buAutoNum type="arabicParenBoth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玻璃下表面的反射光、透射光的偏振状态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58051" name="Text Box 3"/>
          <p:cNvSpPr txBox="1"/>
          <p:nvPr/>
        </p:nvSpPr>
        <p:spPr>
          <a:xfrm>
            <a:off x="539750" y="2997200"/>
            <a:ext cx="7993063" cy="968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: (1)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反射光恰为线偏振光意味着入射角为布儒斯特角，则，反射光与折射光垂直，即：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8052" name="Object 4"/>
          <p:cNvGraphicFramePr/>
          <p:nvPr/>
        </p:nvGraphicFramePr>
        <p:xfrm>
          <a:off x="3851275" y="3933825"/>
          <a:ext cx="14081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1" name="" r:id="rId1" imgW="711200" imgH="241300" progId="Equation.DSMT4">
                  <p:embed/>
                </p:oleObj>
              </mc:Choice>
              <mc:Fallback>
                <p:oleObj name="" r:id="rId1" imgW="711200" imgH="2413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1275" y="3933825"/>
                        <a:ext cx="1408113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3" name="Text Box 5"/>
          <p:cNvSpPr txBox="1"/>
          <p:nvPr/>
        </p:nvSpPr>
        <p:spPr>
          <a:xfrm>
            <a:off x="684213" y="4508500"/>
            <a:ext cx="5688012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因此，自然光的入射角：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8054" name="Object 6"/>
          <p:cNvGraphicFramePr/>
          <p:nvPr/>
        </p:nvGraphicFramePr>
        <p:xfrm>
          <a:off x="4090988" y="4508500"/>
          <a:ext cx="21367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2" name="" r:id="rId3" imgW="1078865" imgH="241300" progId="Equation.DSMT4">
                  <p:embed/>
                </p:oleObj>
              </mc:Choice>
              <mc:Fallback>
                <p:oleObj name="" r:id="rId3" imgW="1078865" imgH="2413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90988" y="4508500"/>
                        <a:ext cx="2136775" cy="47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5" name="Text Box 7"/>
          <p:cNvSpPr txBox="1"/>
          <p:nvPr/>
        </p:nvSpPr>
        <p:spPr>
          <a:xfrm>
            <a:off x="684213" y="5132388"/>
            <a:ext cx="3887787" cy="4937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根据布儒斯特定律，有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8056" name="Object 8"/>
          <p:cNvGraphicFramePr/>
          <p:nvPr/>
        </p:nvGraphicFramePr>
        <p:xfrm>
          <a:off x="4535488" y="5013325"/>
          <a:ext cx="1331912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name="" r:id="rId5" imgW="673100" imgH="431800" progId="Equation.DSMT4">
                  <p:embed/>
                </p:oleObj>
              </mc:Choice>
              <mc:Fallback>
                <p:oleObj name="" r:id="rId5" imgW="673100" imgH="4318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35488" y="5013325"/>
                        <a:ext cx="1331912" cy="855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7" name="Text Box 9"/>
          <p:cNvSpPr txBox="1"/>
          <p:nvPr/>
        </p:nvSpPr>
        <p:spPr>
          <a:xfrm>
            <a:off x="684213" y="5924550"/>
            <a:ext cx="5688012" cy="4937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因此，玻璃的折射率：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8058" name="Object 10"/>
          <p:cNvGraphicFramePr/>
          <p:nvPr/>
        </p:nvGraphicFramePr>
        <p:xfrm>
          <a:off x="4103688" y="5921375"/>
          <a:ext cx="34925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4" name="" r:id="rId7" imgW="1764665" imgH="241300" progId="Equation.DSMT4">
                  <p:embed/>
                </p:oleObj>
              </mc:Choice>
              <mc:Fallback>
                <p:oleObj name="" r:id="rId7" imgW="1764665" imgH="2413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3688" y="5921375"/>
                        <a:ext cx="34925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27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8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3" grpId="0"/>
      <p:bldP spid="258055" grpId="0"/>
      <p:bldP spid="2580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5" name="Text Box 3"/>
          <p:cNvSpPr txBox="1"/>
          <p:nvPr/>
        </p:nvSpPr>
        <p:spPr>
          <a:xfrm>
            <a:off x="107950" y="1916113"/>
            <a:ext cx="5688013" cy="534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解：同时考虑上下表面的折射定律，有：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9076" name="Object 4"/>
          <p:cNvGraphicFramePr/>
          <p:nvPr/>
        </p:nvGraphicFramePr>
        <p:xfrm>
          <a:off x="1331913" y="2565400"/>
          <a:ext cx="32924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5" name="" r:id="rId1" imgW="1663065" imgH="241300" progId="Equation.DSMT4">
                  <p:embed/>
                </p:oleObj>
              </mc:Choice>
              <mc:Fallback>
                <p:oleObj name="" r:id="rId1" imgW="1663065" imgH="2413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31913" y="2565400"/>
                        <a:ext cx="3292475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5"/>
          <p:cNvGraphicFramePr/>
          <p:nvPr/>
        </p:nvGraphicFramePr>
        <p:xfrm>
          <a:off x="1143000" y="3046413"/>
          <a:ext cx="32908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6" name="" r:id="rId3" imgW="1663065" imgH="482600" progId="Equation.DSMT4">
                  <p:embed/>
                </p:oleObj>
              </mc:Choice>
              <mc:Fallback>
                <p:oleObj name="" r:id="rId3" imgW="1663065" imgH="4826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046413"/>
                        <a:ext cx="3290888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8" name="Object 6"/>
          <p:cNvGraphicFramePr/>
          <p:nvPr/>
        </p:nvGraphicFramePr>
        <p:xfrm>
          <a:off x="1331913" y="4156075"/>
          <a:ext cx="26114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7" name="" r:id="rId5" imgW="1320165" imgH="431800" progId="Equation.DSMT4">
                  <p:embed/>
                </p:oleObj>
              </mc:Choice>
              <mc:Fallback>
                <p:oleObj name="" r:id="rId5" imgW="1320165" imgH="4318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913" y="4156075"/>
                        <a:ext cx="2611437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9" name="Text Box 7"/>
          <p:cNvSpPr txBox="1"/>
          <p:nvPr/>
        </p:nvSpPr>
        <p:spPr>
          <a:xfrm>
            <a:off x="539750" y="5013325"/>
            <a:ext cx="7777163" cy="1339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26267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可见，折射光入射到下表面时，入射角</a:t>
            </a:r>
            <a:r>
              <a:rPr lang="zh-CN" altLang="en-US" sz="2000" dirty="0">
                <a:solidFill>
                  <a:srgbClr val="262673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正是起偏角，因此，下表面的反射光也是线偏振光，振动方向垂直于入射面。</a:t>
            </a:r>
            <a:endParaRPr lang="zh-CN" altLang="en-US" sz="2000" dirty="0">
              <a:solidFill>
                <a:srgbClr val="262673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262673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玻璃的透射光还是部分偏振光</a:t>
            </a:r>
            <a:r>
              <a:rPr lang="zh-CN" altLang="en-US" sz="2000" dirty="0">
                <a:solidFill>
                  <a:srgbClr val="262673"/>
                </a:solidFill>
                <a:sym typeface="Symbol" panose="05050102010706020507" pitchFamily="18" charset="2"/>
              </a:rPr>
              <a:t>，但偏振度</a:t>
            </a:r>
            <a:r>
              <a:rPr lang="zh-CN" altLang="en-US" sz="2000" dirty="0">
                <a:solidFill>
                  <a:srgbClr val="262673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更大了！</a:t>
            </a:r>
            <a:endParaRPr lang="zh-CN" altLang="en-US" sz="2000" dirty="0">
              <a:solidFill>
                <a:srgbClr val="262673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59080" name="Object 8"/>
          <p:cNvGraphicFramePr/>
          <p:nvPr/>
        </p:nvGraphicFramePr>
        <p:xfrm>
          <a:off x="5651500" y="1844675"/>
          <a:ext cx="3084513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28" name="" r:id="rId7" imgW="3265805" imgH="1969770" progId="Visio.Drawing.11">
                  <p:embed/>
                </p:oleObj>
              </mc:Choice>
              <mc:Fallback>
                <p:oleObj name="" r:id="rId7" imgW="3265805" imgH="1969770" progId="Visio.Drawing.11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51500" y="1844675"/>
                        <a:ext cx="3084513" cy="1858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28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896" name="Text Box 2"/>
          <p:cNvSpPr txBox="1"/>
          <p:nvPr/>
        </p:nvSpPr>
        <p:spPr>
          <a:xfrm>
            <a:off x="323850" y="333375"/>
            <a:ext cx="8424863" cy="1383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、自然光射到平行平板玻璃上，反射光恰为线偏振光，且  折射光的折射角为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o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，试求：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indent="-457200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(3)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玻璃下表面的反射光、透射光的偏振状态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/>
      <p:bldP spid="25907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/>
          <p:nvPr/>
        </p:nvSpPr>
        <p:spPr>
          <a:xfrm>
            <a:off x="152400" y="63500"/>
            <a:ext cx="8894763" cy="1938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、有三个偏振片堆叠在一起，第一块与第三块的偏振化方向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相互垂直，第二块和第一块的偏振化方向相互平行，然后第二块偏振片以恒定角速度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绕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光传播的方向旋转，如图所示。设入射自然光的光强为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。试证明：此自然光通过这一系统后，出射光的光强为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I=I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(1-cos4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t)/16.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4211638" y="1916113"/>
            <a:ext cx="4764087" cy="2117725"/>
            <a:chOff x="2472" y="1162"/>
            <a:chExt cx="3001" cy="1334"/>
          </a:xfrm>
        </p:grpSpPr>
        <p:grpSp>
          <p:nvGrpSpPr>
            <p:cNvPr id="32772" name="Group 4"/>
            <p:cNvGrpSpPr/>
            <p:nvPr/>
          </p:nvGrpSpPr>
          <p:grpSpPr>
            <a:xfrm>
              <a:off x="2472" y="1162"/>
              <a:ext cx="3001" cy="1306"/>
              <a:chOff x="336" y="2400"/>
              <a:chExt cx="3424" cy="1758"/>
            </a:xfrm>
          </p:grpSpPr>
          <p:grpSp>
            <p:nvGrpSpPr>
              <p:cNvPr id="32773" name="Group 5"/>
              <p:cNvGrpSpPr/>
              <p:nvPr/>
            </p:nvGrpSpPr>
            <p:grpSpPr>
              <a:xfrm>
                <a:off x="1728" y="2448"/>
                <a:ext cx="432" cy="1308"/>
                <a:chOff x="1152" y="2352"/>
                <a:chExt cx="432" cy="1308"/>
              </a:xfrm>
            </p:grpSpPr>
            <p:sp>
              <p:nvSpPr>
                <p:cNvPr id="32774" name="Oval 6"/>
                <p:cNvSpPr/>
                <p:nvPr/>
              </p:nvSpPr>
              <p:spPr>
                <a:xfrm>
                  <a:off x="1248" y="2784"/>
                  <a:ext cx="336" cy="864"/>
                </a:xfrm>
                <a:prstGeom prst="ellipse">
                  <a:avLst/>
                </a:pr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775" name="Line 7"/>
                <p:cNvSpPr/>
                <p:nvPr/>
              </p:nvSpPr>
              <p:spPr>
                <a:xfrm>
                  <a:off x="1248" y="2784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76" name="Line 8"/>
                <p:cNvSpPr/>
                <p:nvPr/>
              </p:nvSpPr>
              <p:spPr>
                <a:xfrm>
                  <a:off x="1248" y="3648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77" name="Arc 9"/>
                <p:cNvSpPr/>
                <p:nvPr/>
              </p:nvSpPr>
              <p:spPr>
                <a:xfrm rot="-9817657">
                  <a:off x="1152" y="2352"/>
                  <a:ext cx="407" cy="130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0243" h="20809" fill="none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</a:path>
                    <a:path w="20243" h="20809" stroke="0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  <a:lnTo>
                        <a:pt x="0" y="20809"/>
                      </a:lnTo>
                      <a:close/>
                    </a:path>
                  </a:pathLst>
                </a:cu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778" name="Group 10"/>
              <p:cNvGrpSpPr/>
              <p:nvPr/>
            </p:nvGrpSpPr>
            <p:grpSpPr>
              <a:xfrm>
                <a:off x="864" y="2448"/>
                <a:ext cx="432" cy="1308"/>
                <a:chOff x="1152" y="2352"/>
                <a:chExt cx="432" cy="1308"/>
              </a:xfrm>
            </p:grpSpPr>
            <p:sp>
              <p:nvSpPr>
                <p:cNvPr id="32779" name="Oval 11"/>
                <p:cNvSpPr/>
                <p:nvPr/>
              </p:nvSpPr>
              <p:spPr>
                <a:xfrm>
                  <a:off x="1248" y="2784"/>
                  <a:ext cx="336" cy="864"/>
                </a:xfrm>
                <a:prstGeom prst="ellipse">
                  <a:avLst/>
                </a:pr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780" name="Line 12"/>
                <p:cNvSpPr/>
                <p:nvPr/>
              </p:nvSpPr>
              <p:spPr>
                <a:xfrm>
                  <a:off x="1248" y="2784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81" name="Line 13"/>
                <p:cNvSpPr/>
                <p:nvPr/>
              </p:nvSpPr>
              <p:spPr>
                <a:xfrm>
                  <a:off x="1248" y="3648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82" name="Arc 14"/>
                <p:cNvSpPr/>
                <p:nvPr/>
              </p:nvSpPr>
              <p:spPr>
                <a:xfrm rot="-9817657">
                  <a:off x="1152" y="2352"/>
                  <a:ext cx="407" cy="130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0243" h="20809" fill="none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</a:path>
                    <a:path w="20243" h="20809" stroke="0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  <a:lnTo>
                        <a:pt x="0" y="20809"/>
                      </a:lnTo>
                      <a:close/>
                    </a:path>
                  </a:pathLst>
                </a:cu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783" name="Group 15"/>
              <p:cNvGrpSpPr/>
              <p:nvPr/>
            </p:nvGrpSpPr>
            <p:grpSpPr>
              <a:xfrm>
                <a:off x="2688" y="2400"/>
                <a:ext cx="432" cy="1308"/>
                <a:chOff x="1152" y="2352"/>
                <a:chExt cx="432" cy="1308"/>
              </a:xfrm>
            </p:grpSpPr>
            <p:sp>
              <p:nvSpPr>
                <p:cNvPr id="32784" name="Oval 16"/>
                <p:cNvSpPr/>
                <p:nvPr/>
              </p:nvSpPr>
              <p:spPr>
                <a:xfrm>
                  <a:off x="1248" y="2784"/>
                  <a:ext cx="336" cy="864"/>
                </a:xfrm>
                <a:prstGeom prst="ellipse">
                  <a:avLst/>
                </a:pr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algn="ctr"/>
                  <a:endPara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2785" name="Line 17"/>
                <p:cNvSpPr/>
                <p:nvPr/>
              </p:nvSpPr>
              <p:spPr>
                <a:xfrm>
                  <a:off x="1248" y="2784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86" name="Line 18"/>
                <p:cNvSpPr/>
                <p:nvPr/>
              </p:nvSpPr>
              <p:spPr>
                <a:xfrm>
                  <a:off x="1248" y="3648"/>
                  <a:ext cx="144" cy="0"/>
                </a:xfrm>
                <a:prstGeom prst="line">
                  <a:avLst/>
                </a:prstGeom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32787" name="Arc 19"/>
                <p:cNvSpPr/>
                <p:nvPr/>
              </p:nvSpPr>
              <p:spPr>
                <a:xfrm rot="-9817657">
                  <a:off x="1152" y="2352"/>
                  <a:ext cx="407" cy="130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0243" h="20809" fill="none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</a:path>
                    <a:path w="20243" h="20809" stroke="0">
                      <a:moveTo>
                        <a:pt x="5792" y="0"/>
                      </a:moveTo>
                      <a:cubicBezTo>
                        <a:pt x="12457" y="1855"/>
                        <a:pt x="17829" y="6790"/>
                        <a:pt x="20243" y="13273"/>
                      </a:cubicBezTo>
                      <a:lnTo>
                        <a:pt x="0" y="20809"/>
                      </a:lnTo>
                      <a:close/>
                    </a:path>
                  </a:pathLst>
                </a:custGeom>
                <a:noFill/>
                <a:ln w="44450" cap="flat" cmpd="sng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788" name="Line 20"/>
              <p:cNvSpPr/>
              <p:nvPr/>
            </p:nvSpPr>
            <p:spPr>
              <a:xfrm>
                <a:off x="1104" y="2832"/>
                <a:ext cx="0" cy="912"/>
              </a:xfrm>
              <a:prstGeom prst="line">
                <a:avLst/>
              </a:prstGeom>
              <a:ln w="44450" cap="flat" cmpd="sng">
                <a:solidFill>
                  <a:srgbClr val="00FF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9" name="Line 21"/>
              <p:cNvSpPr/>
              <p:nvPr/>
            </p:nvSpPr>
            <p:spPr>
              <a:xfrm>
                <a:off x="2016" y="2880"/>
                <a:ext cx="0" cy="864"/>
              </a:xfrm>
              <a:prstGeom prst="line">
                <a:avLst/>
              </a:prstGeom>
              <a:ln w="44450" cap="flat" cmpd="sng">
                <a:solidFill>
                  <a:srgbClr val="00FF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0" name="Line 22"/>
              <p:cNvSpPr/>
              <p:nvPr/>
            </p:nvSpPr>
            <p:spPr>
              <a:xfrm rot="3735924" flipV="1">
                <a:off x="2970" y="3062"/>
                <a:ext cx="0" cy="384"/>
              </a:xfrm>
              <a:prstGeom prst="line">
                <a:avLst/>
              </a:prstGeom>
              <a:ln w="44450" cap="flat" cmpd="sng">
                <a:solidFill>
                  <a:srgbClr val="00FFFF"/>
                </a:solidFill>
                <a:prstDash val="dash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1" name="Line 23"/>
              <p:cNvSpPr/>
              <p:nvPr/>
            </p:nvSpPr>
            <p:spPr>
              <a:xfrm>
                <a:off x="336" y="3312"/>
                <a:ext cx="576" cy="0"/>
              </a:xfrm>
              <a:prstGeom prst="line">
                <a:avLst/>
              </a:prstGeom>
              <a:ln w="444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2792" name="Line 24"/>
              <p:cNvSpPr/>
              <p:nvPr/>
            </p:nvSpPr>
            <p:spPr>
              <a:xfrm>
                <a:off x="1104" y="3312"/>
                <a:ext cx="624" cy="0"/>
              </a:xfrm>
              <a:prstGeom prst="line">
                <a:avLst/>
              </a:prstGeom>
              <a:ln w="444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3" name="Line 25"/>
              <p:cNvSpPr/>
              <p:nvPr/>
            </p:nvSpPr>
            <p:spPr>
              <a:xfrm>
                <a:off x="2016" y="3312"/>
                <a:ext cx="672" cy="0"/>
              </a:xfrm>
              <a:prstGeom prst="line">
                <a:avLst/>
              </a:prstGeom>
              <a:ln w="444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4" name="Line 26"/>
              <p:cNvSpPr/>
              <p:nvPr/>
            </p:nvSpPr>
            <p:spPr>
              <a:xfrm>
                <a:off x="2976" y="3312"/>
                <a:ext cx="576" cy="0"/>
              </a:xfrm>
              <a:prstGeom prst="line">
                <a:avLst/>
              </a:prstGeom>
              <a:ln w="444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sm" len="lg"/>
              </a:ln>
            </p:spPr>
          </p:sp>
          <p:sp>
            <p:nvSpPr>
              <p:cNvPr id="32795" name="Text Box 27"/>
              <p:cNvSpPr txBox="1"/>
              <p:nvPr/>
            </p:nvSpPr>
            <p:spPr>
              <a:xfrm>
                <a:off x="902" y="3722"/>
                <a:ext cx="327" cy="388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96" name="Text Box 28"/>
              <p:cNvSpPr txBox="1"/>
              <p:nvPr/>
            </p:nvSpPr>
            <p:spPr>
              <a:xfrm>
                <a:off x="1814" y="3771"/>
                <a:ext cx="327" cy="387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97" name="Text Box 29"/>
              <p:cNvSpPr txBox="1"/>
              <p:nvPr/>
            </p:nvSpPr>
            <p:spPr>
              <a:xfrm>
                <a:off x="2822" y="3722"/>
                <a:ext cx="328" cy="388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98" name="Text Box 30"/>
              <p:cNvSpPr txBox="1"/>
              <p:nvPr/>
            </p:nvSpPr>
            <p:spPr>
              <a:xfrm>
                <a:off x="422" y="2953"/>
                <a:ext cx="291" cy="388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99" name="Text Box 31"/>
              <p:cNvSpPr txBox="1"/>
              <p:nvPr/>
            </p:nvSpPr>
            <p:spPr>
              <a:xfrm>
                <a:off x="3542" y="3000"/>
                <a:ext cx="218" cy="388"/>
              </a:xfrm>
              <a:prstGeom prst="rect">
                <a:avLst/>
              </a:prstGeom>
              <a:noFill/>
              <a:ln w="44450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2800" name="Group 32"/>
            <p:cNvGrpSpPr/>
            <p:nvPr/>
          </p:nvGrpSpPr>
          <p:grpSpPr>
            <a:xfrm>
              <a:off x="4235" y="1536"/>
              <a:ext cx="231" cy="576"/>
              <a:chOff x="1392" y="3072"/>
              <a:chExt cx="231" cy="576"/>
            </a:xfrm>
          </p:grpSpPr>
          <p:sp>
            <p:nvSpPr>
              <p:cNvPr id="32801" name="Arc 33"/>
              <p:cNvSpPr/>
              <p:nvPr/>
            </p:nvSpPr>
            <p:spPr>
              <a:xfrm flipH="1" flipV="1">
                <a:off x="1392" y="3072"/>
                <a:ext cx="192" cy="57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43200" h="43200" fill="none">
                    <a:moveTo>
                      <a:pt x="21600" y="43200"/>
                    </a:move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43200" stroke="0">
                    <a:moveTo>
                      <a:pt x="21600" y="43200"/>
                    </a:move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44450" cap="flat" cmpd="sng">
                <a:solidFill>
                  <a:srgbClr val="00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2" name="Line 34"/>
              <p:cNvSpPr/>
              <p:nvPr/>
            </p:nvSpPr>
            <p:spPr>
              <a:xfrm>
                <a:off x="1536" y="3408"/>
                <a:ext cx="39" cy="144"/>
              </a:xfrm>
              <a:prstGeom prst="line">
                <a:avLst/>
              </a:prstGeom>
              <a:ln w="44450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803" name="Line 35"/>
              <p:cNvSpPr/>
              <p:nvPr/>
            </p:nvSpPr>
            <p:spPr>
              <a:xfrm rot="2443514">
                <a:off x="1584" y="3408"/>
                <a:ext cx="39" cy="144"/>
              </a:xfrm>
              <a:prstGeom prst="line">
                <a:avLst/>
              </a:prstGeom>
              <a:ln w="44450" cap="flat" cmpd="sng">
                <a:solidFill>
                  <a:srgbClr val="00FF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2804" name="Text Box 36"/>
            <p:cNvSpPr txBox="1"/>
            <p:nvPr/>
          </p:nvSpPr>
          <p:spPr>
            <a:xfrm>
              <a:off x="4283" y="2208"/>
              <a:ext cx="248" cy="288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806" name="Text Box 38"/>
          <p:cNvSpPr txBox="1"/>
          <p:nvPr/>
        </p:nvSpPr>
        <p:spPr>
          <a:xfrm>
            <a:off x="184150" y="2133600"/>
            <a:ext cx="3778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经过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光强由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变为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4968" name="Object 2"/>
          <p:cNvGraphicFramePr/>
          <p:nvPr/>
        </p:nvGraphicFramePr>
        <p:xfrm>
          <a:off x="914400" y="3505200"/>
          <a:ext cx="19050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1" name="" r:id="rId1" imgW="926465" imgH="393700" progId="Equation.DSMT4">
                  <p:embed/>
                </p:oleObj>
              </mc:Choice>
              <mc:Fallback>
                <p:oleObj name="" r:id="rId1" imgW="926465" imgH="3937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3505200"/>
                        <a:ext cx="1905000" cy="80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69" name="Text Box 41"/>
          <p:cNvSpPr txBox="1"/>
          <p:nvPr/>
        </p:nvSpPr>
        <p:spPr>
          <a:xfrm>
            <a:off x="533400" y="4343400"/>
            <a:ext cx="70627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转动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的偏振化方向的夹角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=/2-t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24970" name="Object 3"/>
          <p:cNvGraphicFramePr/>
          <p:nvPr/>
        </p:nvGraphicFramePr>
        <p:xfrm>
          <a:off x="395288" y="5013643"/>
          <a:ext cx="214058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2" name="" r:id="rId3" imgW="862965" imgH="241300" progId="Equation.DSMT4">
                  <p:embed/>
                </p:oleObj>
              </mc:Choice>
              <mc:Fallback>
                <p:oleObj name="" r:id="rId3" imgW="862965" imgH="2413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288" y="5013643"/>
                        <a:ext cx="2140585" cy="512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3"/>
          <p:cNvGrpSpPr/>
          <p:nvPr/>
        </p:nvGrpSpPr>
        <p:grpSpPr>
          <a:xfrm>
            <a:off x="7315200" y="4267200"/>
            <a:ext cx="1524000" cy="1600200"/>
            <a:chOff x="4608" y="2688"/>
            <a:chExt cx="960" cy="1008"/>
          </a:xfrm>
        </p:grpSpPr>
        <p:sp>
          <p:nvSpPr>
            <p:cNvPr id="32812" name="Line 44"/>
            <p:cNvSpPr/>
            <p:nvPr/>
          </p:nvSpPr>
          <p:spPr>
            <a:xfrm>
              <a:off x="5040" y="2784"/>
              <a:ext cx="0" cy="912"/>
            </a:xfrm>
            <a:prstGeom prst="line">
              <a:avLst/>
            </a:prstGeom>
            <a:ln w="57150" cap="flat" cmpd="sng">
              <a:solidFill>
                <a:srgbClr val="66CC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813" name="Line 45"/>
            <p:cNvSpPr/>
            <p:nvPr/>
          </p:nvSpPr>
          <p:spPr>
            <a:xfrm rot="3068634">
              <a:off x="5068" y="2811"/>
              <a:ext cx="1" cy="912"/>
            </a:xfrm>
            <a:prstGeom prst="line">
              <a:avLst/>
            </a:prstGeom>
            <a:ln w="57150" cap="flat" cmpd="sng">
              <a:solidFill>
                <a:srgbClr val="66CC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814" name="Freeform 46"/>
            <p:cNvSpPr/>
            <p:nvPr/>
          </p:nvSpPr>
          <p:spPr>
            <a:xfrm>
              <a:off x="5050" y="3113"/>
              <a:ext cx="111" cy="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2" y="67"/>
                </a:cxn>
                <a:cxn ang="0">
                  <a:pos x="110" y="98"/>
                </a:cxn>
              </a:cxnLst>
              <a:rect l="0" t="0" r="0" b="0"/>
              <a:pathLst>
                <a:path w="111" h="98">
                  <a:moveTo>
                    <a:pt x="0" y="19"/>
                  </a:moveTo>
                  <a:cubicBezTo>
                    <a:pt x="99" y="28"/>
                    <a:pt x="78" y="0"/>
                    <a:pt x="102" y="67"/>
                  </a:cubicBezTo>
                  <a:cubicBezTo>
                    <a:pt x="111" y="91"/>
                    <a:pt x="110" y="83"/>
                    <a:pt x="110" y="98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5" name="Text Box 47"/>
            <p:cNvSpPr txBox="1"/>
            <p:nvPr/>
          </p:nvSpPr>
          <p:spPr>
            <a:xfrm>
              <a:off x="5184" y="2688"/>
              <a:ext cx="384" cy="288"/>
            </a:xfrm>
            <a:prstGeom prst="rect">
              <a:avLst/>
            </a:prstGeom>
            <a:noFill/>
            <a:ln w="19050">
              <a:noFill/>
            </a:ln>
          </p:spPr>
          <p:txBody>
            <a:bodyPr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t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816" name="Line 48"/>
            <p:cNvSpPr/>
            <p:nvPr/>
          </p:nvSpPr>
          <p:spPr>
            <a:xfrm rot="5166141">
              <a:off x="5059" y="2804"/>
              <a:ext cx="1" cy="912"/>
            </a:xfrm>
            <a:prstGeom prst="line">
              <a:avLst/>
            </a:prstGeom>
            <a:ln w="57150" cap="flat" cmpd="sng">
              <a:solidFill>
                <a:srgbClr val="66CCFF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32817" name="Line 49"/>
            <p:cNvSpPr/>
            <p:nvPr/>
          </p:nvSpPr>
          <p:spPr>
            <a:xfrm>
              <a:off x="5040" y="2880"/>
              <a:ext cx="192" cy="24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18" name="Line 50"/>
            <p:cNvSpPr/>
            <p:nvPr/>
          </p:nvSpPr>
          <p:spPr>
            <a:xfrm>
              <a:off x="5424" y="3024"/>
              <a:ext cx="0" cy="192"/>
            </a:xfrm>
            <a:prstGeom prst="line">
              <a:avLst/>
            </a:prstGeom>
            <a:ln w="3175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819" name="Line 51"/>
            <p:cNvSpPr/>
            <p:nvPr/>
          </p:nvSpPr>
          <p:spPr>
            <a:xfrm flipV="1">
              <a:off x="5136" y="2928"/>
              <a:ext cx="144" cy="192"/>
            </a:xfrm>
            <a:prstGeom prst="line">
              <a:avLst/>
            </a:prstGeom>
            <a:ln w="317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3" name="Text Box 39"/>
          <p:cNvSpPr txBox="1"/>
          <p:nvPr/>
        </p:nvSpPr>
        <p:spPr>
          <a:xfrm>
            <a:off x="258763" y="2667000"/>
            <a:ext cx="3552825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以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转动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,P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的偏振化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方向的夹角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=t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3"/>
          <p:cNvGraphicFramePr/>
          <p:nvPr/>
        </p:nvGraphicFramePr>
        <p:xfrm>
          <a:off x="2600008" y="4797108"/>
          <a:ext cx="311848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3" name="" r:id="rId5" imgW="1257300" imgH="393700" progId="Equation.DSMT4">
                  <p:embed/>
                </p:oleObj>
              </mc:Choice>
              <mc:Fallback>
                <p:oleObj name="" r:id="rId5" imgW="1257300" imgH="3937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0008" y="4797108"/>
                        <a:ext cx="3118485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/>
          <p:nvPr/>
        </p:nvGraphicFramePr>
        <p:xfrm>
          <a:off x="755650" y="5712778"/>
          <a:ext cx="796798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4" name="" r:id="rId7" imgW="3213100" imgH="393700" progId="Equation.DSMT4">
                  <p:embed/>
                </p:oleObj>
              </mc:Choice>
              <mc:Fallback>
                <p:oleObj name="" r:id="rId7" imgW="3213100" imgH="3937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650" y="5712778"/>
                        <a:ext cx="796798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4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4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06" grpId="0"/>
      <p:bldP spid="124969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4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2" name="Text Box 4"/>
          <p:cNvSpPr txBox="1"/>
          <p:nvPr/>
        </p:nvSpPr>
        <p:spPr>
          <a:xfrm>
            <a:off x="250825" y="333375"/>
            <a:ext cx="8675688" cy="2749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块规是一种长度标准器。它是一块钢质长方体，两端面磨平抛光，很精确地相互平行，两端面间距离即长度标准。块规的校准装置如图所示，其中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是一合格块规，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同规号待校准的块规。二者置于平台上，上面盖以平玻璃。平玻璃与块规端面间形成空气劈尖。用波长为 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589.3nm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的光垂直照射时，观察到两端面上方各有一组干涉条纹。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963" name="Text Box 5"/>
          <p:cNvSpPr txBox="1"/>
          <p:nvPr/>
        </p:nvSpPr>
        <p:spPr>
          <a:xfrm>
            <a:off x="250825" y="3322638"/>
            <a:ext cx="5399088" cy="1050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当两组条纹的间距都是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L=0.5mm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时，试求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的长度差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0964" name="Group 43"/>
          <p:cNvGrpSpPr/>
          <p:nvPr/>
        </p:nvGrpSpPr>
        <p:grpSpPr>
          <a:xfrm>
            <a:off x="5724525" y="3357563"/>
            <a:ext cx="3168650" cy="2974975"/>
            <a:chOff x="3560" y="2076"/>
            <a:chExt cx="1996" cy="1874"/>
          </a:xfrm>
        </p:grpSpPr>
        <p:sp>
          <p:nvSpPr>
            <p:cNvPr id="40965" name="Rectangle 8"/>
            <p:cNvSpPr/>
            <p:nvPr/>
          </p:nvSpPr>
          <p:spPr>
            <a:xfrm>
              <a:off x="3560" y="2076"/>
              <a:ext cx="1996" cy="1874"/>
            </a:xfrm>
            <a:prstGeom prst="rect">
              <a:avLst/>
            </a:prstGeom>
            <a:solidFill>
              <a:schemeClr val="bg1">
                <a:alpha val="39998"/>
              </a:schemeClr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66" name="Text Box 10"/>
            <p:cNvSpPr txBox="1"/>
            <p:nvPr/>
          </p:nvSpPr>
          <p:spPr>
            <a:xfrm>
              <a:off x="4942" y="2367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平玻璃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67" name="Rectangle 11"/>
            <p:cNvSpPr/>
            <p:nvPr/>
          </p:nvSpPr>
          <p:spPr>
            <a:xfrm>
              <a:off x="3752" y="3457"/>
              <a:ext cx="1104" cy="9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68" name="Rectangle 12"/>
            <p:cNvSpPr/>
            <p:nvPr/>
          </p:nvSpPr>
          <p:spPr>
            <a:xfrm>
              <a:off x="3914" y="2849"/>
              <a:ext cx="144" cy="612"/>
            </a:xfrm>
            <a:prstGeom prst="rect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69" name="Rectangle 13"/>
            <p:cNvSpPr/>
            <p:nvPr/>
          </p:nvSpPr>
          <p:spPr>
            <a:xfrm>
              <a:off x="4511" y="2737"/>
              <a:ext cx="144" cy="721"/>
            </a:xfrm>
            <a:prstGeom prst="rect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0" name="Rectangle 14"/>
            <p:cNvSpPr/>
            <p:nvPr/>
          </p:nvSpPr>
          <p:spPr>
            <a:xfrm rot="-637579">
              <a:off x="3752" y="2627"/>
              <a:ext cx="1006" cy="1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71" name="Line 16"/>
            <p:cNvSpPr/>
            <p:nvPr/>
          </p:nvSpPr>
          <p:spPr>
            <a:xfrm>
              <a:off x="3924" y="2849"/>
              <a:ext cx="5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2" name="Line 19"/>
            <p:cNvSpPr/>
            <p:nvPr/>
          </p:nvSpPr>
          <p:spPr>
            <a:xfrm>
              <a:off x="3848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3" name="Line 20"/>
            <p:cNvSpPr/>
            <p:nvPr/>
          </p:nvSpPr>
          <p:spPr>
            <a:xfrm>
              <a:off x="3944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4" name="Line 21"/>
            <p:cNvSpPr/>
            <p:nvPr/>
          </p:nvSpPr>
          <p:spPr>
            <a:xfrm>
              <a:off x="4088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5" name="Line 22"/>
            <p:cNvSpPr/>
            <p:nvPr/>
          </p:nvSpPr>
          <p:spPr>
            <a:xfrm>
              <a:off x="4232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6" name="Line 23"/>
            <p:cNvSpPr/>
            <p:nvPr/>
          </p:nvSpPr>
          <p:spPr>
            <a:xfrm>
              <a:off x="4664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7" name="Line 24"/>
            <p:cNvSpPr/>
            <p:nvPr/>
          </p:nvSpPr>
          <p:spPr>
            <a:xfrm>
              <a:off x="4520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8" name="Line 25"/>
            <p:cNvSpPr/>
            <p:nvPr/>
          </p:nvSpPr>
          <p:spPr>
            <a:xfrm>
              <a:off x="4376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9" name="Text Box 26"/>
            <p:cNvSpPr txBox="1"/>
            <p:nvPr/>
          </p:nvSpPr>
          <p:spPr>
            <a:xfrm>
              <a:off x="4285" y="2704"/>
              <a:ext cx="22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l-GR" altLang="zh-CN" sz="14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0980" name="Line 27"/>
            <p:cNvSpPr/>
            <p:nvPr/>
          </p:nvSpPr>
          <p:spPr>
            <a:xfrm>
              <a:off x="4808" y="3505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1" name="Text Box 28"/>
            <p:cNvSpPr txBox="1"/>
            <p:nvPr/>
          </p:nvSpPr>
          <p:spPr>
            <a:xfrm>
              <a:off x="5038" y="3375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平台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2" name="Line 29"/>
            <p:cNvSpPr/>
            <p:nvPr/>
          </p:nvSpPr>
          <p:spPr>
            <a:xfrm flipV="1">
              <a:off x="4712" y="2545"/>
              <a:ext cx="19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3" name="Line 30"/>
            <p:cNvSpPr/>
            <p:nvPr/>
          </p:nvSpPr>
          <p:spPr>
            <a:xfrm>
              <a:off x="4520" y="2785"/>
              <a:ext cx="24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4" name="Line 31"/>
            <p:cNvSpPr/>
            <p:nvPr/>
          </p:nvSpPr>
          <p:spPr>
            <a:xfrm>
              <a:off x="4655" y="2725"/>
              <a:ext cx="19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5" name="Text Box 32"/>
            <p:cNvSpPr txBox="1"/>
            <p:nvPr/>
          </p:nvSpPr>
          <p:spPr>
            <a:xfrm>
              <a:off x="4831" y="2625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空气膜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86" name="Text Box 33"/>
            <p:cNvSpPr txBox="1"/>
            <p:nvPr/>
          </p:nvSpPr>
          <p:spPr>
            <a:xfrm>
              <a:off x="4714" y="2787"/>
              <a:ext cx="3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Δ</a:t>
              </a:r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  <a:endParaRPr lang="el-GR" altLang="zh-CN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0987" name="Line 34"/>
            <p:cNvSpPr/>
            <p:nvPr/>
          </p:nvSpPr>
          <p:spPr>
            <a:xfrm>
              <a:off x="3914" y="3553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8" name="Line 35"/>
            <p:cNvSpPr/>
            <p:nvPr/>
          </p:nvSpPr>
          <p:spPr>
            <a:xfrm>
              <a:off x="3914" y="3601"/>
              <a:ext cx="60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lg"/>
              <a:tailEnd type="arrow" w="med" len="lg"/>
            </a:ln>
          </p:spPr>
        </p:sp>
        <p:sp>
          <p:nvSpPr>
            <p:cNvPr id="40989" name="Line 37"/>
            <p:cNvSpPr/>
            <p:nvPr/>
          </p:nvSpPr>
          <p:spPr>
            <a:xfrm>
              <a:off x="3914" y="3601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0" name="Line 38"/>
            <p:cNvSpPr/>
            <p:nvPr/>
          </p:nvSpPr>
          <p:spPr>
            <a:xfrm>
              <a:off x="4520" y="3553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1" name="Text Box 39"/>
            <p:cNvSpPr txBox="1"/>
            <p:nvPr/>
          </p:nvSpPr>
          <p:spPr>
            <a:xfrm>
              <a:off x="3917" y="3653"/>
              <a:ext cx="59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=5.0cm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992" name="Line 41"/>
            <p:cNvSpPr/>
            <p:nvPr/>
          </p:nvSpPr>
          <p:spPr>
            <a:xfrm>
              <a:off x="4241" y="2795"/>
              <a:ext cx="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aphicFrame>
        <p:nvGraphicFramePr>
          <p:cNvPr id="34820" name="Object 4"/>
          <p:cNvGraphicFramePr/>
          <p:nvPr/>
        </p:nvGraphicFramePr>
        <p:xfrm>
          <a:off x="1996440" y="4319588"/>
          <a:ext cx="113538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5" name="" r:id="rId1" imgW="482600" imgH="393700" progId="Equation.DSMT4">
                  <p:embed/>
                </p:oleObj>
              </mc:Choice>
              <mc:Fallback>
                <p:oleObj name="" r:id="rId1" imgW="482600" imgH="3937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6440" y="4319588"/>
                        <a:ext cx="1135380" cy="923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/>
          <p:nvPr/>
        </p:nvGraphicFramePr>
        <p:xfrm>
          <a:off x="754063" y="5343525"/>
          <a:ext cx="12192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6" name="" r:id="rId3" imgW="596900" imgH="393700" progId="Equation.DSMT4">
                  <p:embed/>
                </p:oleObj>
              </mc:Choice>
              <mc:Fallback>
                <p:oleObj name="" r:id="rId3" imgW="596900" imgH="3937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4063" y="5343525"/>
                        <a:ext cx="1219200" cy="793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/>
          <p:nvPr/>
        </p:nvGraphicFramePr>
        <p:xfrm>
          <a:off x="3026887" y="5300822"/>
          <a:ext cx="25400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" r:id="rId5" imgW="1104900" imgH="508000" progId="Equation.DSMT4">
                  <p:embed/>
                </p:oleObj>
              </mc:Choice>
              <mc:Fallback>
                <p:oleObj name="" r:id="rId5" imgW="1104900" imgH="50800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26887" y="5300822"/>
                        <a:ext cx="2540000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Rectangle 13"/>
          <p:cNvSpPr>
            <a:spLocks noChangeArrowheads="1"/>
          </p:cNvSpPr>
          <p:nvPr/>
        </p:nvSpPr>
        <p:spPr bwMode="auto">
          <a:xfrm>
            <a:off x="-541020" y="4464050"/>
            <a:ext cx="3810000" cy="1125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解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Wingdings" panose="05000000000000000000" pitchFamily="2" charset="2"/>
              </a:rPr>
              <a:t>:  (1)</a:t>
            </a:r>
            <a:endParaRPr kumimoji="1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200" b="1" i="0" u="none" kern="1200" baseline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/>
            <a:fld id="{9A0DB2DC-4C9A-4742-B13C-FB6460FD3503}" type="slidenum">
              <a:rPr lang="zh-CN" altLang="en-US" sz="1400" b="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</a:fld>
            <a:endParaRPr lang="zh-CN" altLang="en-US" sz="1400" b="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88" name="Rectangle 7"/>
          <p:cNvSpPr/>
          <p:nvPr/>
        </p:nvSpPr>
        <p:spPr>
          <a:xfrm>
            <a:off x="0" y="3471863"/>
            <a:ext cx="271463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14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100" dirty="0">
                <a:ea typeface="楷体_GB2312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41989" name="Rectangle 8"/>
          <p:cNvSpPr/>
          <p:nvPr/>
        </p:nvSpPr>
        <p:spPr>
          <a:xfrm>
            <a:off x="0" y="3276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26" name="Text Box 10"/>
          <p:cNvSpPr txBox="1"/>
          <p:nvPr/>
        </p:nvSpPr>
        <p:spPr>
          <a:xfrm>
            <a:off x="755650" y="1944688"/>
            <a:ext cx="7699375" cy="14204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高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l-GR" altLang="zh-CN" sz="2400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向右张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轻压平玻璃右侧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l-GR" altLang="zh-CN" sz="2400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减小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条纹间距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L=</a:t>
            </a:r>
            <a:r>
              <a:rPr lang="el-GR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/2</a:t>
            </a:r>
            <a:r>
              <a:rPr lang="el-GR" altLang="zh-CN" sz="2400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就增大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反之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l-GR" altLang="zh-CN" sz="2400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向左张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轻压平玻璃右侧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l-GR" altLang="zh-CN" sz="2400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增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条纹间距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减小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27" name="Text Box 11"/>
          <p:cNvSpPr txBox="1"/>
          <p:nvPr/>
        </p:nvSpPr>
        <p:spPr>
          <a:xfrm>
            <a:off x="683895" y="4046855"/>
            <a:ext cx="4889500" cy="93634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＞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说明</a:t>
            </a:r>
            <a:r>
              <a:rPr lang="el-GR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＜</a:t>
            </a:r>
            <a:r>
              <a:rPr lang="el-GR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上端面向右下方倾斜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1995" name="Group 15"/>
          <p:cNvGrpSpPr/>
          <p:nvPr/>
        </p:nvGrpSpPr>
        <p:grpSpPr>
          <a:xfrm>
            <a:off x="5651500" y="3333750"/>
            <a:ext cx="3168650" cy="2974975"/>
            <a:chOff x="3560" y="2076"/>
            <a:chExt cx="1996" cy="1874"/>
          </a:xfrm>
        </p:grpSpPr>
        <p:sp>
          <p:nvSpPr>
            <p:cNvPr id="41996" name="Rectangle 16"/>
            <p:cNvSpPr/>
            <p:nvPr/>
          </p:nvSpPr>
          <p:spPr>
            <a:xfrm>
              <a:off x="3560" y="2076"/>
              <a:ext cx="1996" cy="1874"/>
            </a:xfrm>
            <a:prstGeom prst="rect">
              <a:avLst/>
            </a:prstGeom>
            <a:solidFill>
              <a:schemeClr val="bg1">
                <a:alpha val="39998"/>
              </a:schemeClr>
            </a:solidFill>
            <a:ln w="9525">
              <a:noFill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97" name="Text Box 17"/>
            <p:cNvSpPr txBox="1"/>
            <p:nvPr/>
          </p:nvSpPr>
          <p:spPr>
            <a:xfrm>
              <a:off x="4942" y="2367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ea typeface="宋体" panose="02010600030101010101" pitchFamily="2" charset="-122"/>
                </a:rPr>
                <a:t>平玻璃</a:t>
              </a:r>
              <a:endParaRPr lang="zh-CN" altLang="en-US" dirty="0">
                <a:ea typeface="宋体" panose="02010600030101010101" pitchFamily="2" charset="-122"/>
              </a:endParaRPr>
            </a:p>
          </p:txBody>
        </p:sp>
        <p:sp>
          <p:nvSpPr>
            <p:cNvPr id="41998" name="Rectangle 18"/>
            <p:cNvSpPr/>
            <p:nvPr/>
          </p:nvSpPr>
          <p:spPr>
            <a:xfrm>
              <a:off x="3752" y="3457"/>
              <a:ext cx="1104" cy="9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999" name="Rectangle 19"/>
            <p:cNvSpPr/>
            <p:nvPr/>
          </p:nvSpPr>
          <p:spPr>
            <a:xfrm>
              <a:off x="3914" y="2849"/>
              <a:ext cx="144" cy="612"/>
            </a:xfrm>
            <a:prstGeom prst="rect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00" name="Rectangle 20"/>
            <p:cNvSpPr/>
            <p:nvPr/>
          </p:nvSpPr>
          <p:spPr>
            <a:xfrm>
              <a:off x="4511" y="2737"/>
              <a:ext cx="144" cy="721"/>
            </a:xfrm>
            <a:prstGeom prst="rect">
              <a:avLst/>
            </a:prstGeom>
            <a:solidFill>
              <a:srgbClr val="EAEAEA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baseline="-25000" dirty="0"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01" name="Rectangle 21"/>
            <p:cNvSpPr/>
            <p:nvPr/>
          </p:nvSpPr>
          <p:spPr>
            <a:xfrm rot="-637579">
              <a:off x="3752" y="2627"/>
              <a:ext cx="1006" cy="15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02" name="Line 22"/>
            <p:cNvSpPr/>
            <p:nvPr/>
          </p:nvSpPr>
          <p:spPr>
            <a:xfrm>
              <a:off x="3924" y="2849"/>
              <a:ext cx="58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03" name="Line 23"/>
            <p:cNvSpPr/>
            <p:nvPr/>
          </p:nvSpPr>
          <p:spPr>
            <a:xfrm>
              <a:off x="3848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4" name="Line 24"/>
            <p:cNvSpPr/>
            <p:nvPr/>
          </p:nvSpPr>
          <p:spPr>
            <a:xfrm>
              <a:off x="3944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5" name="Line 25"/>
            <p:cNvSpPr/>
            <p:nvPr/>
          </p:nvSpPr>
          <p:spPr>
            <a:xfrm>
              <a:off x="4088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6" name="Line 26"/>
            <p:cNvSpPr/>
            <p:nvPr/>
          </p:nvSpPr>
          <p:spPr>
            <a:xfrm>
              <a:off x="4232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7" name="Line 27"/>
            <p:cNvSpPr/>
            <p:nvPr/>
          </p:nvSpPr>
          <p:spPr>
            <a:xfrm>
              <a:off x="4664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8" name="Line 28"/>
            <p:cNvSpPr/>
            <p:nvPr/>
          </p:nvSpPr>
          <p:spPr>
            <a:xfrm>
              <a:off x="4520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09" name="Line 29"/>
            <p:cNvSpPr/>
            <p:nvPr/>
          </p:nvSpPr>
          <p:spPr>
            <a:xfrm>
              <a:off x="4376" y="2305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2010" name="Text Box 30"/>
            <p:cNvSpPr txBox="1"/>
            <p:nvPr/>
          </p:nvSpPr>
          <p:spPr>
            <a:xfrm>
              <a:off x="4285" y="2704"/>
              <a:ext cx="228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sz="1400" dirty="0">
                  <a:ea typeface="宋体" panose="02010600030101010101" pitchFamily="2" charset="-122"/>
                  <a:cs typeface="Times New Roman" panose="02020603050405020304" pitchFamily="18" charset="0"/>
                </a:rPr>
                <a:t>θ</a:t>
              </a:r>
              <a:endParaRPr lang="el-GR" altLang="zh-CN" sz="1400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11" name="Line 31"/>
            <p:cNvSpPr/>
            <p:nvPr/>
          </p:nvSpPr>
          <p:spPr>
            <a:xfrm>
              <a:off x="4808" y="3505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2" name="Text Box 32"/>
            <p:cNvSpPr txBox="1"/>
            <p:nvPr/>
          </p:nvSpPr>
          <p:spPr>
            <a:xfrm>
              <a:off x="5038" y="3375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ea typeface="宋体" panose="02010600030101010101" pitchFamily="2" charset="-122"/>
                </a:rPr>
                <a:t>平台</a:t>
              </a:r>
              <a:endParaRPr lang="zh-CN" altLang="en-US" dirty="0">
                <a:ea typeface="宋体" panose="02010600030101010101" pitchFamily="2" charset="-122"/>
              </a:endParaRPr>
            </a:p>
          </p:txBody>
        </p:sp>
        <p:sp>
          <p:nvSpPr>
            <p:cNvPr id="42013" name="Line 33"/>
            <p:cNvSpPr/>
            <p:nvPr/>
          </p:nvSpPr>
          <p:spPr>
            <a:xfrm flipV="1">
              <a:off x="4712" y="2545"/>
              <a:ext cx="19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4" name="Line 34"/>
            <p:cNvSpPr/>
            <p:nvPr/>
          </p:nvSpPr>
          <p:spPr>
            <a:xfrm>
              <a:off x="4520" y="2785"/>
              <a:ext cx="24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5" name="Line 35"/>
            <p:cNvSpPr/>
            <p:nvPr/>
          </p:nvSpPr>
          <p:spPr>
            <a:xfrm>
              <a:off x="4655" y="2725"/>
              <a:ext cx="192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6" name="Text Box 36"/>
            <p:cNvSpPr txBox="1"/>
            <p:nvPr/>
          </p:nvSpPr>
          <p:spPr>
            <a:xfrm>
              <a:off x="4831" y="2625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dirty="0">
                  <a:ea typeface="宋体" panose="02010600030101010101" pitchFamily="2" charset="-122"/>
                </a:rPr>
                <a:t>空气膜</a:t>
              </a:r>
              <a:endParaRPr lang="zh-CN" altLang="en-US" dirty="0">
                <a:ea typeface="宋体" panose="02010600030101010101" pitchFamily="2" charset="-122"/>
              </a:endParaRPr>
            </a:p>
          </p:txBody>
        </p:sp>
        <p:sp>
          <p:nvSpPr>
            <p:cNvPr id="42017" name="Text Box 37"/>
            <p:cNvSpPr txBox="1"/>
            <p:nvPr/>
          </p:nvSpPr>
          <p:spPr>
            <a:xfrm>
              <a:off x="4714" y="2787"/>
              <a:ext cx="33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lang="el-GR" altLang="zh-CN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18" name="Line 38"/>
            <p:cNvSpPr/>
            <p:nvPr/>
          </p:nvSpPr>
          <p:spPr>
            <a:xfrm>
              <a:off x="3914" y="3553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19" name="Line 39"/>
            <p:cNvSpPr/>
            <p:nvPr/>
          </p:nvSpPr>
          <p:spPr>
            <a:xfrm>
              <a:off x="3914" y="3601"/>
              <a:ext cx="60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med" len="lg"/>
              <a:tailEnd type="arrow" w="med" len="lg"/>
            </a:ln>
          </p:spPr>
        </p:sp>
        <p:sp>
          <p:nvSpPr>
            <p:cNvPr id="42020" name="Line 40"/>
            <p:cNvSpPr/>
            <p:nvPr/>
          </p:nvSpPr>
          <p:spPr>
            <a:xfrm>
              <a:off x="3914" y="3601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1" name="Line 41"/>
            <p:cNvSpPr/>
            <p:nvPr/>
          </p:nvSpPr>
          <p:spPr>
            <a:xfrm>
              <a:off x="4520" y="3553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2022" name="Text Box 42"/>
            <p:cNvSpPr txBox="1"/>
            <p:nvPr/>
          </p:nvSpPr>
          <p:spPr>
            <a:xfrm>
              <a:off x="3917" y="3653"/>
              <a:ext cx="59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r>
                <a:rPr lang="en-US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=5.0cm</a:t>
              </a:r>
              <a:endParaRPr lang="en-US" altLang="zh-CN" dirty="0"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2023" name="Line 43"/>
            <p:cNvSpPr/>
            <p:nvPr/>
          </p:nvSpPr>
          <p:spPr>
            <a:xfrm>
              <a:off x="4241" y="2795"/>
              <a:ext cx="0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0963" name="Text Box 5"/>
          <p:cNvSpPr txBox="1"/>
          <p:nvPr/>
        </p:nvSpPr>
        <p:spPr>
          <a:xfrm>
            <a:off x="395605" y="332740"/>
            <a:ext cx="8749030" cy="1494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如何判断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长还是短？</a:t>
            </a: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如两组条纹间距分别为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&gt;L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，这表示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在加工上有什么不合格？如果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400" baseline="-250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加工完全合格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应观察到什么现象？</a:t>
            </a:r>
            <a:endParaRPr lang="zh-CN" altLang="en-US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/>
      <p:bldP spid="348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64" name="组合 35863"/>
          <p:cNvGrpSpPr/>
          <p:nvPr/>
        </p:nvGrpSpPr>
        <p:grpSpPr>
          <a:xfrm>
            <a:off x="4859338" y="2593975"/>
            <a:ext cx="3741737" cy="1685925"/>
            <a:chOff x="3061" y="1752"/>
            <a:chExt cx="2357" cy="1062"/>
          </a:xfrm>
        </p:grpSpPr>
        <p:sp>
          <p:nvSpPr>
            <p:cNvPr id="35845" name="矩形 35844"/>
            <p:cNvSpPr/>
            <p:nvPr/>
          </p:nvSpPr>
          <p:spPr>
            <a:xfrm>
              <a:off x="3061" y="2539"/>
              <a:ext cx="2357" cy="27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5846" name="组合 35845"/>
            <p:cNvGrpSpPr/>
            <p:nvPr/>
          </p:nvGrpSpPr>
          <p:grpSpPr>
            <a:xfrm>
              <a:off x="3061" y="2194"/>
              <a:ext cx="2286" cy="345"/>
              <a:chOff x="1248" y="2304"/>
              <a:chExt cx="1536" cy="240"/>
            </a:xfrm>
          </p:grpSpPr>
          <p:sp>
            <p:nvSpPr>
              <p:cNvPr id="35847" name="直接连接符 35846"/>
              <p:cNvSpPr/>
              <p:nvPr/>
            </p:nvSpPr>
            <p:spPr>
              <a:xfrm>
                <a:off x="1248" y="2304"/>
                <a:ext cx="7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48" name="直接连接符 35847"/>
              <p:cNvSpPr/>
              <p:nvPr/>
            </p:nvSpPr>
            <p:spPr>
              <a:xfrm>
                <a:off x="2016" y="2304"/>
                <a:ext cx="7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49" name="直接连接符 35848"/>
              <p:cNvSpPr/>
              <p:nvPr/>
            </p:nvSpPr>
            <p:spPr>
              <a:xfrm>
                <a:off x="2016" y="2304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5850" name="直接连接符 35849"/>
              <p:cNvSpPr/>
              <p:nvPr/>
            </p:nvSpPr>
            <p:spPr>
              <a:xfrm>
                <a:off x="1248" y="2304"/>
                <a:ext cx="768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851" name="直接连接符 35850"/>
              <p:cNvSpPr/>
              <p:nvPr/>
            </p:nvSpPr>
            <p:spPr>
              <a:xfrm flipV="1">
                <a:off x="2016" y="2304"/>
                <a:ext cx="768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852" name="直接连接符 35851"/>
            <p:cNvSpPr/>
            <p:nvPr/>
          </p:nvSpPr>
          <p:spPr>
            <a:xfrm>
              <a:off x="3632" y="1919"/>
              <a:ext cx="0" cy="275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53" name="直接连接符 35852"/>
            <p:cNvSpPr/>
            <p:nvPr/>
          </p:nvSpPr>
          <p:spPr>
            <a:xfrm>
              <a:off x="4775" y="1919"/>
              <a:ext cx="0" cy="275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54" name="直接连接符 35853"/>
            <p:cNvSpPr/>
            <p:nvPr/>
          </p:nvSpPr>
          <p:spPr>
            <a:xfrm>
              <a:off x="4204" y="2332"/>
              <a:ext cx="6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855" name="直接连接符 35854"/>
            <p:cNvSpPr/>
            <p:nvPr/>
          </p:nvSpPr>
          <p:spPr>
            <a:xfrm>
              <a:off x="4830" y="2341"/>
              <a:ext cx="0" cy="2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856" name="文本框 35855"/>
            <p:cNvSpPr txBox="1"/>
            <p:nvPr/>
          </p:nvSpPr>
          <p:spPr>
            <a:xfrm>
              <a:off x="3618" y="175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>
                <a:buNone/>
              </a:pPr>
              <a:r>
                <a:rPr lang="el-GR" altLang="zh-CN" dirty="0">
                  <a:ea typeface="宋体" panose="02010600030101010101" pitchFamily="2" charset="-122"/>
                </a:rPr>
                <a:t>λ</a:t>
              </a:r>
              <a:endParaRPr lang="el-GR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35857" name="文本框 35856"/>
            <p:cNvSpPr txBox="1"/>
            <p:nvPr/>
          </p:nvSpPr>
          <p:spPr>
            <a:xfrm>
              <a:off x="4830" y="2284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b="1" i="1">
                  <a:ea typeface="宋体" panose="02010600030101010101" pitchFamily="2" charset="-122"/>
                </a:rPr>
                <a:t>e</a:t>
              </a:r>
              <a:endParaRPr lang="en-US" altLang="zh-CN" b="1" i="1">
                <a:ea typeface="宋体" panose="02010600030101010101" pitchFamily="2" charset="-122"/>
              </a:endParaRPr>
            </a:p>
          </p:txBody>
        </p:sp>
        <p:sp>
          <p:nvSpPr>
            <p:cNvPr id="35858" name="文本框 35857"/>
            <p:cNvSpPr txBox="1"/>
            <p:nvPr/>
          </p:nvSpPr>
          <p:spPr>
            <a:xfrm>
              <a:off x="4347" y="2102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b="1" i="1">
                  <a:ea typeface="宋体" panose="02010600030101010101" pitchFamily="2" charset="-122"/>
                </a:rPr>
                <a:t>r</a:t>
              </a:r>
              <a:endParaRPr lang="en-US" altLang="zh-CN" b="1" i="1">
                <a:ea typeface="宋体" panose="02010600030101010101" pitchFamily="2" charset="-122"/>
              </a:endParaRPr>
            </a:p>
          </p:txBody>
        </p:sp>
        <p:sp>
          <p:nvSpPr>
            <p:cNvPr id="35859" name="文本框 35858"/>
            <p:cNvSpPr txBox="1"/>
            <p:nvPr/>
          </p:nvSpPr>
          <p:spPr>
            <a:xfrm>
              <a:off x="4511" y="2321"/>
              <a:ext cx="1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>
                <a:buNone/>
              </a:pPr>
              <a:r>
                <a:rPr lang="el-GR" altLang="zh-CN" b="1" i="1" dirty="0">
                  <a:ea typeface="宋体" panose="02010600030101010101" pitchFamily="2" charset="-122"/>
                </a:rPr>
                <a:t> </a:t>
              </a:r>
              <a:endParaRPr lang="el-GR" altLang="zh-CN" b="1" dirty="0">
                <a:ea typeface="宋体" panose="02010600030101010101" pitchFamily="2" charset="-122"/>
              </a:endParaRPr>
            </a:p>
          </p:txBody>
        </p:sp>
        <p:sp>
          <p:nvSpPr>
            <p:cNvPr id="35860" name="任意多边形 35859"/>
            <p:cNvSpPr/>
            <p:nvPr/>
          </p:nvSpPr>
          <p:spPr>
            <a:xfrm rot="2330927">
              <a:off x="4489" y="2470"/>
              <a:ext cx="109" cy="69"/>
            </a:xfrm>
            <a:custGeom>
              <a:avLst/>
              <a:gdLst>
                <a:gd name="txL" fmla="*/ 0 w 16315"/>
                <a:gd name="txT" fmla="*/ 0 h 21600"/>
                <a:gd name="txR" fmla="*/ 16315 w 16315"/>
                <a:gd name="txB" fmla="*/ 21600 h 21600"/>
              </a:gdLst>
              <a:ahLst/>
              <a:cxnLst>
                <a:cxn ang="270">
                  <a:pos x="0" y="0"/>
                </a:cxn>
                <a:cxn ang="0">
                  <a:pos x="16314" y="7444"/>
                </a:cxn>
                <a:cxn ang="90">
                  <a:pos x="0" y="21600"/>
                </a:cxn>
              </a:cxnLst>
              <a:rect l="txL" t="txT" r="txR" b="txB"/>
              <a:pathLst>
                <a:path w="16315" h="21600" fill="none">
                  <a:moveTo>
                    <a:pt x="0" y="0"/>
                  </a:moveTo>
                  <a:arcTo wR="21600" hR="21600" stAng="-5400000" swAng="2943068"/>
                </a:path>
                <a:path w="16315" h="21600" stroke="0">
                  <a:moveTo>
                    <a:pt x="0" y="0"/>
                  </a:moveTo>
                  <a:arcTo wR="21600" hR="21600" stAng="-5400000" swAng="2943068"/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61" name="文本框 35860"/>
          <p:cNvSpPr txBox="1"/>
          <p:nvPr/>
        </p:nvSpPr>
        <p:spPr>
          <a:xfrm>
            <a:off x="250825" y="404813"/>
            <a:ext cx="8496300" cy="1714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highlight>
                  <a:srgbClr val="FFFF00"/>
                </a:highlight>
                <a:ea typeface="楷体_GB2312" pitchFamily="49" charset="-122"/>
              </a:rPr>
              <a:t>10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、 如图所示，在一平面玻璃上，端正地放一锥顶角很大的圆锥形平凸透镜 ，则形成一劈尖角</a:t>
            </a:r>
            <a:r>
              <a:rPr lang="el-GR" altLang="zh-CN" b="1" dirty="0">
                <a:solidFill>
                  <a:schemeClr val="tx1"/>
                </a:solidFill>
              </a:rPr>
              <a:t>φ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很小的空气薄层。若用波长为</a:t>
            </a:r>
            <a:r>
              <a:rPr kumimoji="1" lang="en-US" altLang="zh-CN" sz="2000" i="1" dirty="0">
                <a:solidFill>
                  <a:schemeClr val="tx1"/>
                </a:solidFill>
                <a:cs typeface="Times New Roman" panose="02020603050405020304" pitchFamily="18" charset="0"/>
              </a:rPr>
              <a:t>λ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的平行单色光垂直照射平凸透镜。问：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明暗条纹的形状及其位置如何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用</a:t>
            </a:r>
            <a:r>
              <a:rPr lang="el-GR" altLang="zh-CN" b="1" dirty="0">
                <a:solidFill>
                  <a:schemeClr val="tx1"/>
                </a:solidFill>
              </a:rPr>
              <a:t>φ</a:t>
            </a:r>
            <a:r>
              <a:rPr lang="zh-CN" altLang="en-US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表示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？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若平凸透镜稍向左倾斜，则干涉条纹如何变化？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5862" name="文本框 35861"/>
          <p:cNvSpPr txBox="1"/>
          <p:nvPr/>
        </p:nvSpPr>
        <p:spPr>
          <a:xfrm>
            <a:off x="322263" y="2874963"/>
            <a:ext cx="39624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zh-CN" altLang="en-US" b="1" dirty="0">
                <a:effectLst>
                  <a:outerShdw blurRad="38100" dist="38100" dir="2700000">
                    <a:srgbClr val="C0C0C0"/>
                  </a:outerShdw>
                </a:effectLst>
                <a:ea typeface="楷体_GB2312" pitchFamily="49" charset="-122"/>
              </a:rPr>
              <a:t>解</a:t>
            </a:r>
            <a:r>
              <a:rPr lang="en-US" altLang="zh-CN" b="1">
                <a:ea typeface="楷体_GB2312" pitchFamily="49" charset="-122"/>
              </a:rPr>
              <a:t>:</a:t>
            </a:r>
            <a:r>
              <a:rPr lang="en-US" altLang="zh-CN">
                <a:ea typeface="楷体_GB2312" pitchFamily="49" charset="-122"/>
              </a:rPr>
              <a:t> </a:t>
            </a:r>
            <a:r>
              <a:rPr lang="en-US" altLang="zh-CN" b="1">
                <a:ea typeface="楷体_GB2312" pitchFamily="49" charset="-122"/>
              </a:rPr>
              <a:t>(1)</a:t>
            </a:r>
            <a:r>
              <a:rPr lang="zh-CN" altLang="en-US" b="1" dirty="0">
                <a:ea typeface="楷体_GB2312" pitchFamily="49" charset="-122"/>
              </a:rPr>
              <a:t>由于空气薄膜的等厚线为同心圆，故干涉条纹的形状为一圈圈的同心圆。设半径为 </a:t>
            </a:r>
            <a:r>
              <a:rPr lang="en-US" altLang="zh-CN" b="1" i="1">
                <a:ea typeface="楷体_GB2312" pitchFamily="49" charset="-122"/>
              </a:rPr>
              <a:t>r</a:t>
            </a:r>
            <a:r>
              <a:rPr lang="en-US" altLang="zh-CN" b="1">
                <a:ea typeface="楷体_GB2312" pitchFamily="49" charset="-122"/>
              </a:rPr>
              <a:t> </a:t>
            </a:r>
            <a:r>
              <a:rPr lang="zh-CN" altLang="en-US" b="1" dirty="0">
                <a:ea typeface="楷体_GB2312" pitchFamily="49" charset="-122"/>
              </a:rPr>
              <a:t>处的空气薄膜厚度为 </a:t>
            </a:r>
            <a:r>
              <a:rPr lang="en-US" altLang="zh-CN" b="1" i="1">
                <a:ea typeface="楷体_GB2312" pitchFamily="49" charset="-122"/>
              </a:rPr>
              <a:t>e</a:t>
            </a:r>
            <a:r>
              <a:rPr lang="zh-CN" altLang="en-US" b="1" dirty="0">
                <a:ea typeface="楷体_GB2312" pitchFamily="49" charset="-122"/>
              </a:rPr>
              <a:t>，则</a:t>
            </a:r>
            <a:endParaRPr lang="zh-CN" altLang="en-US" b="1" dirty="0">
              <a:ea typeface="楷体_GB2312" pitchFamily="49" charset="-122"/>
            </a:endParaRPr>
          </a:p>
        </p:txBody>
      </p:sp>
      <p:graphicFrame>
        <p:nvGraphicFramePr>
          <p:cNvPr id="35863" name="对象 35862"/>
          <p:cNvGraphicFramePr>
            <a:graphicFrameLocks noChangeAspect="1"/>
          </p:cNvGraphicFramePr>
          <p:nvPr/>
        </p:nvGraphicFramePr>
        <p:xfrm>
          <a:off x="538163" y="5049838"/>
          <a:ext cx="7129462" cy="169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" r:id="rId1" imgW="67056000" imgH="15849600" progId="Equation.DSMT4">
                  <p:embed/>
                </p:oleObj>
              </mc:Choice>
              <mc:Fallback>
                <p:oleObj name="" r:id="rId1" imgW="67056000" imgH="158496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8163" y="5049838"/>
                        <a:ext cx="7129462" cy="1690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5" name="对象 35864"/>
          <p:cNvGraphicFramePr>
            <a:graphicFrameLocks noChangeAspect="1"/>
          </p:cNvGraphicFramePr>
          <p:nvPr/>
        </p:nvGraphicFramePr>
        <p:xfrm>
          <a:off x="7308850" y="3573463"/>
          <a:ext cx="2825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2" name="" r:id="rId3" imgW="3048000" imgH="3657600" progId="Equation.DSMT4">
                  <p:embed/>
                </p:oleObj>
              </mc:Choice>
              <mc:Fallback>
                <p:oleObj name="" r:id="rId3" imgW="3048000" imgH="36576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308850" y="3573463"/>
                        <a:ext cx="282575" cy="338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矩形 36867"/>
          <p:cNvSpPr/>
          <p:nvPr/>
        </p:nvSpPr>
        <p:spPr>
          <a:xfrm>
            <a:off x="-180975" y="31623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869" name="矩形 36868"/>
          <p:cNvSpPr/>
          <p:nvPr/>
        </p:nvSpPr>
        <p:spPr>
          <a:xfrm>
            <a:off x="3322638" y="3568700"/>
            <a:ext cx="3175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>
              <a:buNone/>
            </a:pPr>
            <a:r>
              <a:rPr lang="zh-CN" altLang="en-US" sz="1400" b="1" dirty="0">
                <a:ea typeface="楷体_GB2312" pitchFamily="49" charset="-122"/>
              </a:rPr>
              <a:t>   </a:t>
            </a:r>
            <a:endParaRPr lang="zh-CN" altLang="en-US" sz="1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6870" name="对象 36869"/>
          <p:cNvGraphicFramePr>
            <a:graphicFrameLocks noChangeAspect="1"/>
          </p:cNvGraphicFramePr>
          <p:nvPr/>
        </p:nvGraphicFramePr>
        <p:xfrm>
          <a:off x="1527175" y="3111500"/>
          <a:ext cx="2344738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1" name="" r:id="rId1" imgW="22555200" imgH="10668000" progId="Equation.DSMT4">
                  <p:embed/>
                </p:oleObj>
              </mc:Choice>
              <mc:Fallback>
                <p:oleObj name="" r:id="rId1" imgW="22555200" imgH="10668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7175" y="3111500"/>
                        <a:ext cx="2344738" cy="1109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对象 36870"/>
          <p:cNvGraphicFramePr>
            <a:graphicFrameLocks noChangeAspect="1"/>
          </p:cNvGraphicFramePr>
          <p:nvPr/>
        </p:nvGraphicFramePr>
        <p:xfrm>
          <a:off x="1476375" y="4005263"/>
          <a:ext cx="1516063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2" name="" r:id="rId3" imgW="12801600" imgH="10058400" progId="Equation.DSMT4">
                  <p:embed/>
                </p:oleObj>
              </mc:Choice>
              <mc:Fallback>
                <p:oleObj name="" r:id="rId3" imgW="12801600" imgH="100584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005263"/>
                        <a:ext cx="1516063" cy="107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矩形 36871"/>
          <p:cNvSpPr/>
          <p:nvPr/>
        </p:nvSpPr>
        <p:spPr>
          <a:xfrm>
            <a:off x="503238" y="2708275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l">
              <a:buNone/>
            </a:pPr>
            <a:r>
              <a:rPr lang="zh-CN" altLang="en-US" b="1" dirty="0">
                <a:ea typeface="楷体_GB2312" pitchFamily="49" charset="-122"/>
              </a:rPr>
              <a:t>整理得   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6873" name="矩形 36872"/>
          <p:cNvSpPr/>
          <p:nvPr/>
        </p:nvSpPr>
        <p:spPr>
          <a:xfrm>
            <a:off x="3289300" y="3479800"/>
            <a:ext cx="3911600" cy="6699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indent="352425" algn="l"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k=1,2,</a:t>
            </a:r>
            <a:r>
              <a:rPr lang="en-US" altLang="zh-CN" b="1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时为亮环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  <a:p>
            <a:pPr indent="352425" algn="l" eaLnBrk="0" hangingPunct="0">
              <a:buNone/>
            </a:pPr>
            <a:r>
              <a:rPr lang="zh-CN" altLang="en-US" sz="1400" b="1" dirty="0">
                <a:ea typeface="楷体_GB2312" pitchFamily="49" charset="-122"/>
              </a:rPr>
              <a:t>         </a:t>
            </a:r>
            <a:endParaRPr lang="zh-CN" altLang="en-US" sz="18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6874" name="矩形 36873"/>
          <p:cNvSpPr/>
          <p:nvPr/>
        </p:nvSpPr>
        <p:spPr>
          <a:xfrm>
            <a:off x="3438525" y="4340225"/>
            <a:ext cx="3825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l">
              <a:buNone/>
            </a:pPr>
            <a:r>
              <a:rPr lang="zh-CN" altLang="en-US" sz="1400" b="1" dirty="0">
                <a:ea typeface="楷体_GB2312" pitchFamily="49" charset="-122"/>
              </a:rPr>
              <a:t>    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k=0,1,2,</a:t>
            </a:r>
            <a:r>
              <a:rPr lang="en-US" altLang="zh-CN" b="1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时为暗环</a:t>
            </a:r>
            <a:endParaRPr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6875" name="组合 36874"/>
          <p:cNvGrpSpPr/>
          <p:nvPr/>
        </p:nvGrpSpPr>
        <p:grpSpPr>
          <a:xfrm>
            <a:off x="358775" y="188913"/>
            <a:ext cx="2940050" cy="476250"/>
            <a:chOff x="340" y="119"/>
            <a:chExt cx="1852" cy="300"/>
          </a:xfrm>
        </p:grpSpPr>
        <p:graphicFrame>
          <p:nvGraphicFramePr>
            <p:cNvPr id="36876" name="对象 36875"/>
            <p:cNvGraphicFramePr>
              <a:graphicFrameLocks noChangeAspect="1"/>
            </p:cNvGraphicFramePr>
            <p:nvPr/>
          </p:nvGraphicFramePr>
          <p:xfrm>
            <a:off x="633" y="119"/>
            <a:ext cx="155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3" name="" r:id="rId5" imgW="23469600" imgH="4572000" progId="Equation.DSMT4">
                    <p:embed/>
                  </p:oleObj>
                </mc:Choice>
                <mc:Fallback>
                  <p:oleObj name="" r:id="rId5" imgW="23469600" imgH="4572000" progId="Equation.DSMT4">
                    <p:embed/>
                    <p:pic>
                      <p:nvPicPr>
                        <p:cNvPr id="0" name="图片 512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33" y="119"/>
                          <a:ext cx="1559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7" name="矩形 36876"/>
            <p:cNvSpPr/>
            <p:nvPr/>
          </p:nvSpPr>
          <p:spPr>
            <a:xfrm>
              <a:off x="340" y="119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l">
                <a:buNone/>
              </a:pPr>
              <a:r>
                <a:rPr lang="zh-CN" altLang="en-US" b="1" dirty="0">
                  <a:ea typeface="楷体_GB2312" pitchFamily="49" charset="-122"/>
                </a:rPr>
                <a:t>而</a:t>
              </a:r>
              <a:endParaRPr lang="zh-CN" altLang="en-US" dirty="0"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36878" name="矩形 36877"/>
          <p:cNvSpPr/>
          <p:nvPr/>
        </p:nvSpPr>
        <p:spPr>
          <a:xfrm>
            <a:off x="3095625" y="188913"/>
            <a:ext cx="1149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indent="352425" algn="l">
              <a:buNone/>
            </a:pPr>
            <a:r>
              <a:rPr lang="zh-CN" altLang="en-US" b="1" dirty="0">
                <a:ea typeface="楷体_GB2312" pitchFamily="49" charset="-122"/>
              </a:rPr>
              <a:t>故有</a:t>
            </a:r>
            <a:endParaRPr lang="zh-CN" altLang="en-US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graphicFrame>
        <p:nvGraphicFramePr>
          <p:cNvPr id="36879" name="对象 36878"/>
          <p:cNvGraphicFramePr>
            <a:graphicFrameLocks noChangeAspect="1"/>
          </p:cNvGraphicFramePr>
          <p:nvPr/>
        </p:nvGraphicFramePr>
        <p:xfrm>
          <a:off x="412750" y="765175"/>
          <a:ext cx="6611938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" name="" r:id="rId7" imgW="69189600" imgH="15849600" progId="Equation.DSMT4">
                  <p:embed/>
                </p:oleObj>
              </mc:Choice>
              <mc:Fallback>
                <p:oleObj name="" r:id="rId7" imgW="69189600" imgH="158496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750" y="765175"/>
                        <a:ext cx="6611938" cy="1519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0" name="文本框 36879"/>
          <p:cNvSpPr txBox="1"/>
          <p:nvPr/>
        </p:nvSpPr>
        <p:spPr>
          <a:xfrm>
            <a:off x="539552" y="5733256"/>
            <a:ext cx="8208962" cy="90217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20000"/>
              </a:spcBef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若平凸透镜稍向左倾斜，则左侧的顶角变小，右侧的顶角变大。由上边的公式可知，左侧的明暗条纹变稀疏，右侧的条纹变密。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6915" name="组合 36914"/>
          <p:cNvGrpSpPr/>
          <p:nvPr/>
        </p:nvGrpSpPr>
        <p:grpSpPr>
          <a:xfrm>
            <a:off x="5078413" y="1628775"/>
            <a:ext cx="3741737" cy="1685925"/>
            <a:chOff x="3199" y="1026"/>
            <a:chExt cx="2357" cy="1062"/>
          </a:xfrm>
        </p:grpSpPr>
        <p:sp>
          <p:nvSpPr>
            <p:cNvPr id="36899" name="矩形 36898"/>
            <p:cNvSpPr/>
            <p:nvPr/>
          </p:nvSpPr>
          <p:spPr>
            <a:xfrm>
              <a:off x="3199" y="1813"/>
              <a:ext cx="2357" cy="275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6900" name="组合 36899"/>
            <p:cNvGrpSpPr/>
            <p:nvPr/>
          </p:nvGrpSpPr>
          <p:grpSpPr>
            <a:xfrm>
              <a:off x="3199" y="1468"/>
              <a:ext cx="2286" cy="345"/>
              <a:chOff x="1248" y="2304"/>
              <a:chExt cx="1536" cy="240"/>
            </a:xfrm>
          </p:grpSpPr>
          <p:sp>
            <p:nvSpPr>
              <p:cNvPr id="36901" name="直接连接符 36900"/>
              <p:cNvSpPr/>
              <p:nvPr/>
            </p:nvSpPr>
            <p:spPr>
              <a:xfrm>
                <a:off x="1248" y="2304"/>
                <a:ext cx="7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2" name="直接连接符 36901"/>
              <p:cNvSpPr/>
              <p:nvPr/>
            </p:nvSpPr>
            <p:spPr>
              <a:xfrm>
                <a:off x="2016" y="2304"/>
                <a:ext cx="768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3" name="直接连接符 36902"/>
              <p:cNvSpPr/>
              <p:nvPr/>
            </p:nvSpPr>
            <p:spPr>
              <a:xfrm>
                <a:off x="2016" y="2304"/>
                <a:ext cx="0" cy="24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6904" name="直接连接符 36903"/>
              <p:cNvSpPr/>
              <p:nvPr/>
            </p:nvSpPr>
            <p:spPr>
              <a:xfrm>
                <a:off x="1248" y="2304"/>
                <a:ext cx="768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5" name="直接连接符 36904"/>
              <p:cNvSpPr/>
              <p:nvPr/>
            </p:nvSpPr>
            <p:spPr>
              <a:xfrm flipV="1">
                <a:off x="2016" y="2304"/>
                <a:ext cx="768" cy="24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6906" name="直接连接符 36905"/>
            <p:cNvSpPr/>
            <p:nvPr/>
          </p:nvSpPr>
          <p:spPr>
            <a:xfrm>
              <a:off x="3770" y="1193"/>
              <a:ext cx="0" cy="275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7" name="直接连接符 36906"/>
            <p:cNvSpPr/>
            <p:nvPr/>
          </p:nvSpPr>
          <p:spPr>
            <a:xfrm>
              <a:off x="4913" y="1193"/>
              <a:ext cx="0" cy="275"/>
            </a:xfrm>
            <a:prstGeom prst="line">
              <a:avLst/>
            </a:prstGeom>
            <a:ln w="19050" cap="flat" cmpd="sng">
              <a:solidFill>
                <a:srgbClr val="FF00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08" name="直接连接符 36907"/>
            <p:cNvSpPr/>
            <p:nvPr/>
          </p:nvSpPr>
          <p:spPr>
            <a:xfrm>
              <a:off x="4342" y="1606"/>
              <a:ext cx="64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6909" name="直接连接符 36908"/>
            <p:cNvSpPr/>
            <p:nvPr/>
          </p:nvSpPr>
          <p:spPr>
            <a:xfrm flipH="1">
              <a:off x="4967" y="1615"/>
              <a:ext cx="1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910" name="文本框 36909"/>
            <p:cNvSpPr txBox="1"/>
            <p:nvPr/>
          </p:nvSpPr>
          <p:spPr>
            <a:xfrm>
              <a:off x="4885" y="1026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>
                <a:buNone/>
              </a:pPr>
              <a:r>
                <a:rPr lang="el-GR" altLang="zh-CN" dirty="0">
                  <a:ea typeface="宋体" panose="02010600030101010101" pitchFamily="2" charset="-122"/>
                </a:rPr>
                <a:t>λ</a:t>
              </a:r>
              <a:endParaRPr lang="el-GR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36911" name="文本框 36910"/>
            <p:cNvSpPr txBox="1"/>
            <p:nvPr/>
          </p:nvSpPr>
          <p:spPr>
            <a:xfrm>
              <a:off x="4968" y="1558"/>
              <a:ext cx="2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b="1" i="1">
                  <a:ea typeface="宋体" panose="02010600030101010101" pitchFamily="2" charset="-122"/>
                </a:rPr>
                <a:t>e</a:t>
              </a:r>
              <a:endParaRPr lang="en-US" altLang="zh-CN" b="1" i="1">
                <a:ea typeface="宋体" panose="02010600030101010101" pitchFamily="2" charset="-122"/>
              </a:endParaRPr>
            </a:p>
          </p:txBody>
        </p:sp>
        <p:sp>
          <p:nvSpPr>
            <p:cNvPr id="36912" name="文本框 36911"/>
            <p:cNvSpPr txBox="1"/>
            <p:nvPr/>
          </p:nvSpPr>
          <p:spPr>
            <a:xfrm>
              <a:off x="4485" y="1376"/>
              <a:ext cx="1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/>
              <a:r>
                <a:rPr lang="en-US" altLang="zh-CN" b="1" i="1">
                  <a:ea typeface="宋体" panose="02010600030101010101" pitchFamily="2" charset="-122"/>
                </a:rPr>
                <a:t>r</a:t>
              </a:r>
              <a:endParaRPr lang="en-US" altLang="zh-CN" b="1" i="1">
                <a:ea typeface="宋体" panose="02010600030101010101" pitchFamily="2" charset="-122"/>
              </a:endParaRPr>
            </a:p>
          </p:txBody>
        </p:sp>
        <p:sp>
          <p:nvSpPr>
            <p:cNvPr id="36913" name="文本框 36912"/>
            <p:cNvSpPr txBox="1"/>
            <p:nvPr/>
          </p:nvSpPr>
          <p:spPr>
            <a:xfrm>
              <a:off x="4649" y="1582"/>
              <a:ext cx="1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l">
                <a:buNone/>
              </a:pPr>
              <a:endParaRPr lang="el-GR" altLang="zh-CN" b="1" i="1" dirty="0">
                <a:ea typeface="宋体" panose="02010600030101010101" pitchFamily="2" charset="-122"/>
              </a:endParaRPr>
            </a:p>
          </p:txBody>
        </p:sp>
        <p:sp>
          <p:nvSpPr>
            <p:cNvPr id="36914" name="任意多边形 36913"/>
            <p:cNvSpPr/>
            <p:nvPr/>
          </p:nvSpPr>
          <p:spPr>
            <a:xfrm rot="2330927">
              <a:off x="4627" y="1744"/>
              <a:ext cx="109" cy="69"/>
            </a:xfrm>
            <a:custGeom>
              <a:avLst/>
              <a:gdLst>
                <a:gd name="txL" fmla="*/ 0 w 16315"/>
                <a:gd name="txT" fmla="*/ 0 h 21600"/>
                <a:gd name="txR" fmla="*/ 16315 w 16315"/>
                <a:gd name="txB" fmla="*/ 21600 h 21600"/>
              </a:gdLst>
              <a:ahLst/>
              <a:cxnLst>
                <a:cxn ang="270">
                  <a:pos x="0" y="0"/>
                </a:cxn>
                <a:cxn ang="0">
                  <a:pos x="16314" y="7444"/>
                </a:cxn>
                <a:cxn ang="90">
                  <a:pos x="0" y="21600"/>
                </a:cxn>
              </a:cxnLst>
              <a:rect l="txL" t="txT" r="txR" b="txB"/>
              <a:pathLst>
                <a:path w="16315" h="21600" fill="none">
                  <a:moveTo>
                    <a:pt x="0" y="0"/>
                  </a:moveTo>
                  <a:arcTo wR="21600" hR="21600" stAng="-5400000" swAng="2943068"/>
                </a:path>
                <a:path w="16315" h="21600" stroke="0">
                  <a:moveTo>
                    <a:pt x="0" y="0"/>
                  </a:moveTo>
                  <a:arcTo wR="21600" hR="21600" stAng="-5400000" swAng="2943068"/>
                  <a:lnTo>
                    <a:pt x="0" y="21600"/>
                  </a:ln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6916" name="对象 36915"/>
          <p:cNvGraphicFramePr>
            <a:graphicFrameLocks noChangeAspect="1"/>
          </p:cNvGraphicFramePr>
          <p:nvPr/>
        </p:nvGraphicFramePr>
        <p:xfrm>
          <a:off x="7524750" y="2636838"/>
          <a:ext cx="2825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5" name="" r:id="rId9" imgW="3048000" imgH="3657600" progId="Equation.DSMT4">
                  <p:embed/>
                </p:oleObj>
              </mc:Choice>
              <mc:Fallback>
                <p:oleObj name="" r:id="rId9" imgW="3048000" imgH="36576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24750" y="2636838"/>
                        <a:ext cx="282575" cy="338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/>
          <p:cNvSpPr/>
          <p:nvPr/>
        </p:nvSpPr>
        <p:spPr>
          <a:xfrm>
            <a:off x="539552" y="5229200"/>
            <a:ext cx="77048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(2)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若平凸透镜稍向左倾斜，则干涉条纹如何变化？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  <p:bldP spid="36873" grpId="0"/>
      <p:bldP spid="36874" grpId="0"/>
      <p:bldP spid="36878" grpId="0"/>
      <p:bldP spid="36880" grpId="0"/>
      <p:bldP spid="3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25601"/>
          <p:cNvSpPr txBox="1"/>
          <p:nvPr/>
        </p:nvSpPr>
        <p:spPr>
          <a:xfrm>
            <a:off x="242888" y="0"/>
            <a:ext cx="83439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13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.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一光栅的光栅常数</a:t>
            </a:r>
            <a:r>
              <a:rPr lang="en-US" altLang="zh-CN" sz="24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d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=2.1×10</a:t>
            </a:r>
            <a:r>
              <a:rPr lang="en-US" altLang="zh-CN" sz="2400" b="1" baseline="30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-6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，透光缝宽</a:t>
            </a:r>
            <a:r>
              <a:rPr lang="en-US" altLang="zh-CN" sz="2400" b="1" i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=0.7×10</a:t>
            </a:r>
            <a:r>
              <a:rPr lang="en-US" altLang="zh-CN" sz="2400" b="1" baseline="30000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-6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，用波长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=500nm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的光、以</a:t>
            </a:r>
            <a:r>
              <a:rPr lang="en-US" altLang="zh-CN" sz="2400" b="1" i="1" dirty="0" err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=30°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的入射角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照射，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求能看见几级、几条谱线。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3" name="文本框 25602"/>
          <p:cNvSpPr txBox="1"/>
          <p:nvPr/>
        </p:nvSpPr>
        <p:spPr>
          <a:xfrm>
            <a:off x="407988" y="2976563"/>
            <a:ext cx="5311775" cy="166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当</a:t>
            </a:r>
            <a:r>
              <a:rPr lang="en-US" altLang="zh-CN" sz="2400" b="1" i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90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° </a:t>
            </a:r>
            <a:r>
              <a:rPr lang="zh-CN" altLang="zh-CN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i="1" baseline="-250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max</a:t>
            </a:r>
            <a:r>
              <a:rPr lang="en-US" altLang="zh-CN" sz="28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2.1 = 2</a:t>
            </a:r>
            <a:r>
              <a:rPr lang="zh-CN" altLang="en-US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endParaRPr lang="zh-CN" altLang="en-US" sz="2800" b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当</a:t>
            </a:r>
            <a:r>
              <a:rPr lang="en-US" altLang="zh-CN" sz="2400" b="1" i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en-US" altLang="zh-CN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=-90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lang="zh-CN" altLang="zh-CN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时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800" b="1" i="1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800" b="1" i="1" baseline="-25000" err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max</a:t>
            </a:r>
            <a:r>
              <a:rPr lang="en-US" altLang="zh-CN" sz="28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-6.3 =  -6</a:t>
            </a:r>
            <a:r>
              <a:rPr lang="en-US" altLang="zh-CN" sz="2400" b="1" i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400" b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缺级：</a:t>
            </a:r>
            <a:endParaRPr lang="zh-CN" altLang="en-US" sz="2400" b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25604" name="对象 25603"/>
          <p:cNvGraphicFramePr/>
          <p:nvPr/>
        </p:nvGraphicFramePr>
        <p:xfrm>
          <a:off x="1449388" y="3979863"/>
          <a:ext cx="3419475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9" name="" r:id="rId1" imgW="1409065" imgH="393700" progId="Equation.DSMT4">
                  <p:embed/>
                </p:oleObj>
              </mc:Choice>
              <mc:Fallback>
                <p:oleObj name="" r:id="rId1" imgW="1409065" imgH="3937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9388" y="3979863"/>
                        <a:ext cx="3419475" cy="950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文本框 25604"/>
          <p:cNvSpPr txBox="1"/>
          <p:nvPr/>
        </p:nvSpPr>
        <p:spPr>
          <a:xfrm>
            <a:off x="125413" y="5360988"/>
            <a:ext cx="49403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   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能看见：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0 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,±1,±2 , - 4, -5</a:t>
            </a:r>
            <a:endParaRPr lang="en-US" altLang="zh-CN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                   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共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级，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条谱线。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6" name="文本框 25605"/>
          <p:cNvSpPr txBox="1"/>
          <p:nvPr/>
        </p:nvSpPr>
        <p:spPr>
          <a:xfrm>
            <a:off x="776288" y="1781175"/>
            <a:ext cx="63706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d( sin - sin30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)=k ,    k=0,±1,±2,...</a:t>
            </a:r>
            <a:endParaRPr lang="en-US" altLang="zh-CN" sz="2400" b="1" i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7" name="文本框 25606"/>
          <p:cNvSpPr txBox="1"/>
          <p:nvPr/>
        </p:nvSpPr>
        <p:spPr>
          <a:xfrm>
            <a:off x="180975" y="1276350"/>
            <a:ext cx="5961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【</a:t>
            </a:r>
            <a:r>
              <a:rPr lang="zh-CN" altLang="en-US" sz="2400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解</a:t>
            </a:r>
            <a:r>
              <a:rPr lang="zh-CN" altLang="en-US" sz="2400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】</a:t>
            </a:r>
            <a:r>
              <a:rPr lang="zh-CN" altLang="en-US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光线斜入射时，光栅方程应写为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25608" name="组合 25607"/>
          <p:cNvGrpSpPr/>
          <p:nvPr/>
        </p:nvGrpSpPr>
        <p:grpSpPr>
          <a:xfrm>
            <a:off x="5075238" y="4992688"/>
            <a:ext cx="1393825" cy="1298575"/>
            <a:chOff x="3177" y="3122"/>
            <a:chExt cx="878" cy="818"/>
          </a:xfrm>
        </p:grpSpPr>
        <p:grpSp>
          <p:nvGrpSpPr>
            <p:cNvPr id="25609" name="组合 25608"/>
            <p:cNvGrpSpPr/>
            <p:nvPr/>
          </p:nvGrpSpPr>
          <p:grpSpPr>
            <a:xfrm>
              <a:off x="3777" y="3122"/>
              <a:ext cx="278" cy="300"/>
              <a:chOff x="3778" y="2811"/>
              <a:chExt cx="278" cy="300"/>
            </a:xfrm>
          </p:grpSpPr>
          <p:sp>
            <p:nvSpPr>
              <p:cNvPr id="25610" name="直接连接符 25609"/>
              <p:cNvSpPr/>
              <p:nvPr/>
            </p:nvSpPr>
            <p:spPr>
              <a:xfrm>
                <a:off x="3923" y="2811"/>
                <a:ext cx="133" cy="211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11" name="直接连接符 25610"/>
              <p:cNvSpPr/>
              <p:nvPr/>
            </p:nvSpPr>
            <p:spPr>
              <a:xfrm flipH="1" flipV="1">
                <a:off x="3778" y="2911"/>
                <a:ext cx="134" cy="200"/>
              </a:xfrm>
              <a:prstGeom prst="line">
                <a:avLst/>
              </a:prstGeom>
              <a:ln w="190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5612" name="文本框 25611"/>
            <p:cNvSpPr txBox="1"/>
            <p:nvPr/>
          </p:nvSpPr>
          <p:spPr>
            <a:xfrm>
              <a:off x="3200" y="3652"/>
              <a:ext cx="23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5613" name="文本框 25612"/>
            <p:cNvSpPr txBox="1"/>
            <p:nvPr/>
          </p:nvSpPr>
          <p:spPr>
            <a:xfrm>
              <a:off x="3177" y="3364"/>
              <a:ext cx="2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14" name="组合 25613"/>
          <p:cNvGrpSpPr/>
          <p:nvPr/>
        </p:nvGrpSpPr>
        <p:grpSpPr>
          <a:xfrm>
            <a:off x="6183313" y="2538413"/>
            <a:ext cx="2736850" cy="3898900"/>
            <a:chOff x="3913" y="1662"/>
            <a:chExt cx="1724" cy="2456"/>
          </a:xfrm>
        </p:grpSpPr>
        <p:sp>
          <p:nvSpPr>
            <p:cNvPr id="25615" name="文本框 25614"/>
            <p:cNvSpPr txBox="1"/>
            <p:nvPr/>
          </p:nvSpPr>
          <p:spPr>
            <a:xfrm>
              <a:off x="4155" y="3830"/>
              <a:ext cx="10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25616" name="组合 25615"/>
            <p:cNvGrpSpPr/>
            <p:nvPr/>
          </p:nvGrpSpPr>
          <p:grpSpPr>
            <a:xfrm>
              <a:off x="4405" y="1863"/>
              <a:ext cx="121" cy="1965"/>
              <a:chOff x="1567" y="1245"/>
              <a:chExt cx="188" cy="2231"/>
            </a:xfrm>
          </p:grpSpPr>
          <p:sp>
            <p:nvSpPr>
              <p:cNvPr id="25617" name="椭圆 25616"/>
              <p:cNvSpPr/>
              <p:nvPr/>
            </p:nvSpPr>
            <p:spPr>
              <a:xfrm>
                <a:off x="1567" y="1245"/>
                <a:ext cx="188" cy="2231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66CCFF"/>
                  </a:gs>
                </a:gsLst>
                <a:path path="shape">
                  <a:fillToRect l="50000" t="50000" r="50000" b="50000"/>
                </a:path>
                <a:tileRect/>
              </a:gradFill>
              <a:ln w="38100" cap="flat" cmpd="sng">
                <a:solidFill>
                  <a:srgbClr val="3399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18" name="组合 25617"/>
              <p:cNvGrpSpPr/>
              <p:nvPr/>
            </p:nvGrpSpPr>
            <p:grpSpPr>
              <a:xfrm>
                <a:off x="1609" y="3087"/>
                <a:ext cx="63" cy="126"/>
                <a:chOff x="1253" y="2854"/>
                <a:chExt cx="63" cy="126"/>
              </a:xfrm>
            </p:grpSpPr>
            <p:grpSp>
              <p:nvGrpSpPr>
                <p:cNvPr id="25619" name="组合 25618"/>
                <p:cNvGrpSpPr/>
                <p:nvPr/>
              </p:nvGrpSpPr>
              <p:grpSpPr>
                <a:xfrm>
                  <a:off x="1253" y="2854"/>
                  <a:ext cx="63" cy="95"/>
                  <a:chOff x="1253" y="2854"/>
                  <a:chExt cx="63" cy="95"/>
                </a:xfrm>
              </p:grpSpPr>
              <p:sp>
                <p:nvSpPr>
                  <p:cNvPr id="25620" name="直接连接符 25619"/>
                  <p:cNvSpPr/>
                  <p:nvPr/>
                </p:nvSpPr>
                <p:spPr>
                  <a:xfrm flipH="1">
                    <a:off x="1253" y="2854"/>
                    <a:ext cx="55" cy="55"/>
                  </a:xfrm>
                  <a:prstGeom prst="line">
                    <a:avLst/>
                  </a:prstGeom>
                  <a:ln w="9525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21" name="直接连接符 25620"/>
                  <p:cNvSpPr/>
                  <p:nvPr/>
                </p:nvSpPr>
                <p:spPr>
                  <a:xfrm flipH="1">
                    <a:off x="1261" y="2894"/>
                    <a:ext cx="55" cy="55"/>
                  </a:xfrm>
                  <a:prstGeom prst="line">
                    <a:avLst/>
                  </a:prstGeom>
                  <a:ln w="9525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5622" name="直接连接符 25621"/>
                <p:cNvSpPr/>
                <p:nvPr/>
              </p:nvSpPr>
              <p:spPr>
                <a:xfrm flipH="1">
                  <a:off x="1258" y="2925"/>
                  <a:ext cx="55" cy="55"/>
                </a:xfrm>
                <a:prstGeom prst="line">
                  <a:avLst/>
                </a:prstGeom>
                <a:ln w="9525" cap="flat" cmpd="sng">
                  <a:solidFill>
                    <a:schemeClr val="tx2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5623" name="直接连接符 25622"/>
            <p:cNvSpPr/>
            <p:nvPr/>
          </p:nvSpPr>
          <p:spPr>
            <a:xfrm>
              <a:off x="3914" y="2899"/>
              <a:ext cx="1544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25624" name="直接连接符 25623"/>
            <p:cNvSpPr/>
            <p:nvPr/>
          </p:nvSpPr>
          <p:spPr>
            <a:xfrm>
              <a:off x="5461" y="1907"/>
              <a:ext cx="0" cy="1922"/>
            </a:xfrm>
            <a:prstGeom prst="line">
              <a:avLst/>
            </a:prstGeom>
            <a:ln w="57150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25" name="文本框 25624"/>
            <p:cNvSpPr txBox="1"/>
            <p:nvPr/>
          </p:nvSpPr>
          <p:spPr>
            <a:xfrm>
              <a:off x="5426" y="2753"/>
              <a:ext cx="2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o</a:t>
              </a:r>
              <a:endPara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5626" name="文本框 25625"/>
            <p:cNvSpPr txBox="1"/>
            <p:nvPr/>
          </p:nvSpPr>
          <p:spPr>
            <a:xfrm>
              <a:off x="5347" y="1662"/>
              <a:ext cx="27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25627" name="组合 25626"/>
            <p:cNvGrpSpPr/>
            <p:nvPr/>
          </p:nvGrpSpPr>
          <p:grpSpPr>
            <a:xfrm>
              <a:off x="4505" y="3524"/>
              <a:ext cx="944" cy="288"/>
              <a:chOff x="4183" y="2032"/>
              <a:chExt cx="944" cy="288"/>
            </a:xfrm>
          </p:grpSpPr>
          <p:sp>
            <p:nvSpPr>
              <p:cNvPr id="25628" name="文本框 25627"/>
              <p:cNvSpPr txBox="1"/>
              <p:nvPr/>
            </p:nvSpPr>
            <p:spPr>
              <a:xfrm>
                <a:off x="4505" y="2032"/>
                <a:ext cx="27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 i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f</a:t>
                </a:r>
                <a:endParaRPr lang="en-US" altLang="zh-CN" sz="2400" b="1" i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9" name="直接连接符 25628"/>
              <p:cNvSpPr/>
              <p:nvPr/>
            </p:nvSpPr>
            <p:spPr>
              <a:xfrm>
                <a:off x="4672" y="2198"/>
                <a:ext cx="455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25630" name="直接连接符 25629"/>
              <p:cNvSpPr/>
              <p:nvPr/>
            </p:nvSpPr>
            <p:spPr>
              <a:xfrm flipH="1">
                <a:off x="4183" y="2198"/>
                <a:ext cx="345" cy="0"/>
              </a:xfrm>
              <a:prstGeom prst="line">
                <a:avLst/>
              </a:prstGeom>
              <a:ln w="9525" cap="flat" cmpd="sng">
                <a:solidFill>
                  <a:schemeClr val="tx2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25631" name="矩形 25630"/>
            <p:cNvSpPr/>
            <p:nvPr/>
          </p:nvSpPr>
          <p:spPr>
            <a:xfrm>
              <a:off x="3913" y="2009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矩形 25631"/>
            <p:cNvSpPr/>
            <p:nvPr/>
          </p:nvSpPr>
          <p:spPr>
            <a:xfrm>
              <a:off x="3913" y="2309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矩形 25632"/>
            <p:cNvSpPr/>
            <p:nvPr/>
          </p:nvSpPr>
          <p:spPr>
            <a:xfrm>
              <a:off x="3913" y="2621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矩形 25633"/>
            <p:cNvSpPr/>
            <p:nvPr/>
          </p:nvSpPr>
          <p:spPr>
            <a:xfrm>
              <a:off x="3913" y="2933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矩形 25634"/>
            <p:cNvSpPr/>
            <p:nvPr/>
          </p:nvSpPr>
          <p:spPr>
            <a:xfrm>
              <a:off x="3913" y="3209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矩形 25635"/>
            <p:cNvSpPr/>
            <p:nvPr/>
          </p:nvSpPr>
          <p:spPr>
            <a:xfrm>
              <a:off x="3913" y="3533"/>
              <a:ext cx="47" cy="1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37" name="组合 25636"/>
          <p:cNvGrpSpPr/>
          <p:nvPr/>
        </p:nvGrpSpPr>
        <p:grpSpPr>
          <a:xfrm>
            <a:off x="5322888" y="3082925"/>
            <a:ext cx="3773487" cy="3014663"/>
            <a:chOff x="3371" y="2005"/>
            <a:chExt cx="2377" cy="1899"/>
          </a:xfrm>
        </p:grpSpPr>
        <p:sp>
          <p:nvSpPr>
            <p:cNvPr id="25638" name="文本框 25637"/>
            <p:cNvSpPr txBox="1"/>
            <p:nvPr/>
          </p:nvSpPr>
          <p:spPr>
            <a:xfrm>
              <a:off x="5459" y="2005"/>
              <a:ext cx="2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p</a:t>
              </a:r>
              <a:endPara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25639" name="组合 25638"/>
            <p:cNvGrpSpPr/>
            <p:nvPr/>
          </p:nvGrpSpPr>
          <p:grpSpPr>
            <a:xfrm>
              <a:off x="3371" y="2007"/>
              <a:ext cx="2090" cy="1897"/>
              <a:chOff x="3371" y="2007"/>
              <a:chExt cx="2090" cy="1897"/>
            </a:xfrm>
          </p:grpSpPr>
          <p:grpSp>
            <p:nvGrpSpPr>
              <p:cNvPr id="25640" name="组合 25639"/>
              <p:cNvGrpSpPr/>
              <p:nvPr/>
            </p:nvGrpSpPr>
            <p:grpSpPr>
              <a:xfrm>
                <a:off x="3371" y="2270"/>
                <a:ext cx="575" cy="1634"/>
                <a:chOff x="3348" y="2173"/>
                <a:chExt cx="575" cy="1634"/>
              </a:xfrm>
            </p:grpSpPr>
            <p:grpSp>
              <p:nvGrpSpPr>
                <p:cNvPr id="25641" name="组合 25640"/>
                <p:cNvGrpSpPr/>
                <p:nvPr/>
              </p:nvGrpSpPr>
              <p:grpSpPr>
                <a:xfrm>
                  <a:off x="3348" y="2173"/>
                  <a:ext cx="575" cy="1634"/>
                  <a:chOff x="3348" y="2173"/>
                  <a:chExt cx="575" cy="1634"/>
                </a:xfrm>
              </p:grpSpPr>
              <p:grpSp>
                <p:nvGrpSpPr>
                  <p:cNvPr id="25642" name="组合 25641"/>
                  <p:cNvGrpSpPr/>
                  <p:nvPr/>
                </p:nvGrpSpPr>
                <p:grpSpPr>
                  <a:xfrm>
                    <a:off x="3348" y="2173"/>
                    <a:ext cx="575" cy="1634"/>
                    <a:chOff x="3348" y="2183"/>
                    <a:chExt cx="575" cy="1634"/>
                  </a:xfrm>
                </p:grpSpPr>
                <p:grpSp>
                  <p:nvGrpSpPr>
                    <p:cNvPr id="25643" name="组合 25642"/>
                    <p:cNvGrpSpPr/>
                    <p:nvPr/>
                  </p:nvGrpSpPr>
                  <p:grpSpPr>
                    <a:xfrm>
                      <a:off x="3367" y="3101"/>
                      <a:ext cx="556" cy="411"/>
                      <a:chOff x="3367" y="3101"/>
                      <a:chExt cx="556" cy="411"/>
                    </a:xfrm>
                  </p:grpSpPr>
                  <p:sp>
                    <p:nvSpPr>
                      <p:cNvPr id="25644" name="直接连接符 25643"/>
                      <p:cNvSpPr/>
                      <p:nvPr/>
                    </p:nvSpPr>
                    <p:spPr>
                      <a:xfrm flipH="1">
                        <a:off x="3367" y="3101"/>
                        <a:ext cx="556" cy="41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45" name="直接连接符 25644"/>
                      <p:cNvSpPr/>
                      <p:nvPr/>
                    </p:nvSpPr>
                    <p:spPr>
                      <a:xfrm flipV="1">
                        <a:off x="3478" y="3345"/>
                        <a:ext cx="122" cy="78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triangle" w="sm" len="sm"/>
                      </a:ln>
                    </p:spPr>
                  </p:sp>
                </p:grpSp>
                <p:grpSp>
                  <p:nvGrpSpPr>
                    <p:cNvPr id="25646" name="组合 25645"/>
                    <p:cNvGrpSpPr/>
                    <p:nvPr/>
                  </p:nvGrpSpPr>
                  <p:grpSpPr>
                    <a:xfrm>
                      <a:off x="3364" y="3406"/>
                      <a:ext cx="556" cy="411"/>
                      <a:chOff x="3367" y="3101"/>
                      <a:chExt cx="556" cy="411"/>
                    </a:xfrm>
                  </p:grpSpPr>
                  <p:sp>
                    <p:nvSpPr>
                      <p:cNvPr id="25647" name="直接连接符 25646"/>
                      <p:cNvSpPr/>
                      <p:nvPr/>
                    </p:nvSpPr>
                    <p:spPr>
                      <a:xfrm flipH="1">
                        <a:off x="3367" y="3101"/>
                        <a:ext cx="556" cy="41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48" name="直接连接符 25647"/>
                      <p:cNvSpPr/>
                      <p:nvPr/>
                    </p:nvSpPr>
                    <p:spPr>
                      <a:xfrm flipV="1">
                        <a:off x="3478" y="3345"/>
                        <a:ext cx="122" cy="78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triangle" w="sm" len="sm"/>
                      </a:ln>
                    </p:spPr>
                  </p:sp>
                </p:grpSp>
                <p:grpSp>
                  <p:nvGrpSpPr>
                    <p:cNvPr id="25649" name="组合 25648"/>
                    <p:cNvGrpSpPr/>
                    <p:nvPr/>
                  </p:nvGrpSpPr>
                  <p:grpSpPr>
                    <a:xfrm>
                      <a:off x="3352" y="2809"/>
                      <a:ext cx="556" cy="411"/>
                      <a:chOff x="3367" y="3101"/>
                      <a:chExt cx="556" cy="411"/>
                    </a:xfrm>
                  </p:grpSpPr>
                  <p:sp>
                    <p:nvSpPr>
                      <p:cNvPr id="25650" name="直接连接符 25649"/>
                      <p:cNvSpPr/>
                      <p:nvPr/>
                    </p:nvSpPr>
                    <p:spPr>
                      <a:xfrm flipH="1">
                        <a:off x="3367" y="3101"/>
                        <a:ext cx="556" cy="41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51" name="直接连接符 25650"/>
                      <p:cNvSpPr/>
                      <p:nvPr/>
                    </p:nvSpPr>
                    <p:spPr>
                      <a:xfrm flipV="1">
                        <a:off x="3478" y="3345"/>
                        <a:ext cx="122" cy="78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triangle" w="sm" len="sm"/>
                      </a:ln>
                    </p:spPr>
                  </p:sp>
                </p:grpSp>
                <p:grpSp>
                  <p:nvGrpSpPr>
                    <p:cNvPr id="25652" name="组合 25651"/>
                    <p:cNvGrpSpPr/>
                    <p:nvPr/>
                  </p:nvGrpSpPr>
                  <p:grpSpPr>
                    <a:xfrm>
                      <a:off x="3348" y="2494"/>
                      <a:ext cx="556" cy="411"/>
                      <a:chOff x="3367" y="3101"/>
                      <a:chExt cx="556" cy="411"/>
                    </a:xfrm>
                  </p:grpSpPr>
                  <p:sp>
                    <p:nvSpPr>
                      <p:cNvPr id="25653" name="直接连接符 25652"/>
                      <p:cNvSpPr/>
                      <p:nvPr/>
                    </p:nvSpPr>
                    <p:spPr>
                      <a:xfrm flipH="1">
                        <a:off x="3367" y="3101"/>
                        <a:ext cx="556" cy="41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54" name="直接连接符 25653"/>
                      <p:cNvSpPr/>
                      <p:nvPr/>
                    </p:nvSpPr>
                    <p:spPr>
                      <a:xfrm flipV="1">
                        <a:off x="3478" y="3345"/>
                        <a:ext cx="122" cy="78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triangle" w="sm" len="sm"/>
                      </a:ln>
                    </p:spPr>
                  </p:sp>
                </p:grpSp>
                <p:grpSp>
                  <p:nvGrpSpPr>
                    <p:cNvPr id="25655" name="组合 25654"/>
                    <p:cNvGrpSpPr/>
                    <p:nvPr/>
                  </p:nvGrpSpPr>
                  <p:grpSpPr>
                    <a:xfrm>
                      <a:off x="3359" y="2183"/>
                      <a:ext cx="556" cy="411"/>
                      <a:chOff x="3367" y="3101"/>
                      <a:chExt cx="556" cy="411"/>
                    </a:xfrm>
                  </p:grpSpPr>
                  <p:sp>
                    <p:nvSpPr>
                      <p:cNvPr id="25656" name="直接连接符 25655"/>
                      <p:cNvSpPr/>
                      <p:nvPr/>
                    </p:nvSpPr>
                    <p:spPr>
                      <a:xfrm flipH="1">
                        <a:off x="3367" y="3101"/>
                        <a:ext cx="556" cy="411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57" name="直接连接符 25656"/>
                      <p:cNvSpPr/>
                      <p:nvPr/>
                    </p:nvSpPr>
                    <p:spPr>
                      <a:xfrm flipV="1">
                        <a:off x="3478" y="3345"/>
                        <a:ext cx="122" cy="78"/>
                      </a:xfrm>
                      <a:prstGeom prst="line">
                        <a:avLst/>
                      </a:prstGeom>
                      <a:ln w="19050" cap="flat" cmpd="sng">
                        <a:solidFill>
                          <a:srgbClr val="0000FF"/>
                        </a:solidFill>
                        <a:prstDash val="solid"/>
                        <a:headEnd type="none" w="med" len="med"/>
                        <a:tailEnd type="triangle" w="sm" len="sm"/>
                      </a:ln>
                    </p:spPr>
                  </p:sp>
                </p:grpSp>
              </p:grpSp>
              <p:grpSp>
                <p:nvGrpSpPr>
                  <p:cNvPr id="25658" name="组合 25657"/>
                  <p:cNvGrpSpPr/>
                  <p:nvPr/>
                </p:nvGrpSpPr>
                <p:grpSpPr>
                  <a:xfrm>
                    <a:off x="3578" y="3089"/>
                    <a:ext cx="345" cy="111"/>
                    <a:chOff x="3578" y="2800"/>
                    <a:chExt cx="345" cy="111"/>
                  </a:xfrm>
                </p:grpSpPr>
                <p:sp>
                  <p:nvSpPr>
                    <p:cNvPr id="25659" name="直接连接符 25658"/>
                    <p:cNvSpPr/>
                    <p:nvPr/>
                  </p:nvSpPr>
                  <p:spPr>
                    <a:xfrm>
                      <a:off x="3578" y="2800"/>
                      <a:ext cx="345" cy="0"/>
                    </a:xfrm>
                    <a:prstGeom prst="line">
                      <a:avLst/>
                    </a:prstGeom>
                    <a:ln w="952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60" name="任意多边形 25659"/>
                    <p:cNvSpPr/>
                    <p:nvPr/>
                  </p:nvSpPr>
                  <p:spPr>
                    <a:xfrm>
                      <a:off x="3731" y="2811"/>
                      <a:ext cx="47" cy="100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45" h="111">
                          <a:moveTo>
                            <a:pt x="45" y="0"/>
                          </a:moveTo>
                          <a:cubicBezTo>
                            <a:pt x="22" y="13"/>
                            <a:pt x="0" y="26"/>
                            <a:pt x="0" y="44"/>
                          </a:cubicBezTo>
                          <a:cubicBezTo>
                            <a:pt x="0" y="62"/>
                            <a:pt x="22" y="86"/>
                            <a:pt x="45" y="111"/>
                          </a:cubicBezTo>
                        </a:path>
                      </a:pathLst>
                    </a:custGeom>
                    <a:noFill/>
                    <a:ln w="952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25661" name="文本框 25660"/>
                <p:cNvSpPr txBox="1"/>
                <p:nvPr/>
              </p:nvSpPr>
              <p:spPr>
                <a:xfrm>
                  <a:off x="3577" y="3011"/>
                  <a:ext cx="26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i="1"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</a:rPr>
                    <a:t>i</a:t>
                  </a:r>
                  <a:endParaRPr lang="en-US" altLang="zh-CN" sz="2400" b="1" i="1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662" name="组合 25661"/>
              <p:cNvGrpSpPr/>
              <p:nvPr/>
            </p:nvGrpSpPr>
            <p:grpSpPr>
              <a:xfrm>
                <a:off x="3916" y="2007"/>
                <a:ext cx="1545" cy="1568"/>
                <a:chOff x="3916" y="2007"/>
                <a:chExt cx="1545" cy="1568"/>
              </a:xfrm>
            </p:grpSpPr>
            <p:grpSp>
              <p:nvGrpSpPr>
                <p:cNvPr id="25663" name="组合 25662"/>
                <p:cNvGrpSpPr/>
                <p:nvPr/>
              </p:nvGrpSpPr>
              <p:grpSpPr>
                <a:xfrm>
                  <a:off x="3939" y="3287"/>
                  <a:ext cx="446" cy="288"/>
                  <a:chOff x="3939" y="3287"/>
                  <a:chExt cx="446" cy="288"/>
                </a:xfrm>
              </p:grpSpPr>
              <p:sp>
                <p:nvSpPr>
                  <p:cNvPr id="25664" name="直接连接符 25663"/>
                  <p:cNvSpPr/>
                  <p:nvPr/>
                </p:nvSpPr>
                <p:spPr>
                  <a:xfrm>
                    <a:off x="3939" y="3518"/>
                    <a:ext cx="389" cy="0"/>
                  </a:xfrm>
                  <a:prstGeom prst="line">
                    <a:avLst/>
                  </a:prstGeom>
                  <a:ln w="952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65" name="文本框 25664"/>
                  <p:cNvSpPr txBox="1"/>
                  <p:nvPr/>
                </p:nvSpPr>
                <p:spPr>
                  <a:xfrm>
                    <a:off x="4096" y="3287"/>
                    <a:ext cx="289" cy="2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sz="2400" b="1" i="1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</a:t>
                    </a:r>
                    <a:endParaRPr lang="en-US" altLang="zh-CN" sz="2400" b="1" i="1" dirty="0"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25666" name="任意多边形 25665"/>
                  <p:cNvSpPr/>
                  <p:nvPr/>
                </p:nvSpPr>
                <p:spPr>
                  <a:xfrm>
                    <a:off x="4084" y="3428"/>
                    <a:ext cx="60" cy="8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71" h="100">
                        <a:moveTo>
                          <a:pt x="0" y="0"/>
                        </a:moveTo>
                        <a:cubicBezTo>
                          <a:pt x="30" y="14"/>
                          <a:pt x="61" y="28"/>
                          <a:pt x="66" y="45"/>
                        </a:cubicBezTo>
                        <a:cubicBezTo>
                          <a:pt x="71" y="62"/>
                          <a:pt x="52" y="81"/>
                          <a:pt x="33" y="1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667" name="组合 25666"/>
                <p:cNvGrpSpPr/>
                <p:nvPr/>
              </p:nvGrpSpPr>
              <p:grpSpPr>
                <a:xfrm>
                  <a:off x="3916" y="2007"/>
                  <a:ext cx="1545" cy="1511"/>
                  <a:chOff x="3896" y="2024"/>
                  <a:chExt cx="1545" cy="1511"/>
                </a:xfrm>
              </p:grpSpPr>
              <p:grpSp>
                <p:nvGrpSpPr>
                  <p:cNvPr id="25668" name="组合 25667"/>
                  <p:cNvGrpSpPr/>
                  <p:nvPr/>
                </p:nvGrpSpPr>
                <p:grpSpPr>
                  <a:xfrm>
                    <a:off x="3896" y="3202"/>
                    <a:ext cx="567" cy="333"/>
                    <a:chOff x="3896" y="3202"/>
                    <a:chExt cx="567" cy="333"/>
                  </a:xfrm>
                </p:grpSpPr>
                <p:sp>
                  <p:nvSpPr>
                    <p:cNvPr id="25669" name="直接连接符 25668"/>
                    <p:cNvSpPr/>
                    <p:nvPr/>
                  </p:nvSpPr>
                  <p:spPr>
                    <a:xfrm flipV="1">
                      <a:off x="3896" y="3202"/>
                      <a:ext cx="567" cy="333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70" name="直接连接符 25669"/>
                    <p:cNvSpPr/>
                    <p:nvPr/>
                  </p:nvSpPr>
                  <p:spPr>
                    <a:xfrm flipV="1">
                      <a:off x="4071" y="3330"/>
                      <a:ext cx="174" cy="102"/>
                    </a:xfrm>
                    <a:prstGeom prst="line">
                      <a:avLst/>
                    </a:prstGeom>
                    <a:ln w="19050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25671" name="组合 25670"/>
                  <p:cNvGrpSpPr/>
                  <p:nvPr/>
                </p:nvGrpSpPr>
                <p:grpSpPr>
                  <a:xfrm>
                    <a:off x="3907" y="2613"/>
                    <a:ext cx="556" cy="299"/>
                    <a:chOff x="924" y="1923"/>
                    <a:chExt cx="556" cy="266"/>
                  </a:xfrm>
                </p:grpSpPr>
                <p:sp>
                  <p:nvSpPr>
                    <p:cNvPr id="25672" name="直接连接符 25671"/>
                    <p:cNvSpPr/>
                    <p:nvPr/>
                  </p:nvSpPr>
                  <p:spPr>
                    <a:xfrm flipV="1">
                      <a:off x="924" y="1923"/>
                      <a:ext cx="556" cy="266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73" name="直接连接符 25672"/>
                    <p:cNvSpPr/>
                    <p:nvPr/>
                  </p:nvSpPr>
                  <p:spPr>
                    <a:xfrm flipV="1">
                      <a:off x="1080" y="2023"/>
                      <a:ext cx="189" cy="89"/>
                    </a:xfrm>
                    <a:prstGeom prst="line">
                      <a:avLst/>
                    </a:prstGeom>
                    <a:ln w="19050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25674" name="组合 25673"/>
                  <p:cNvGrpSpPr/>
                  <p:nvPr/>
                </p:nvGrpSpPr>
                <p:grpSpPr>
                  <a:xfrm>
                    <a:off x="3896" y="2325"/>
                    <a:ext cx="567" cy="276"/>
                    <a:chOff x="913" y="1602"/>
                    <a:chExt cx="567" cy="276"/>
                  </a:xfrm>
                </p:grpSpPr>
                <p:sp>
                  <p:nvSpPr>
                    <p:cNvPr id="25675" name="直接连接符 25674"/>
                    <p:cNvSpPr/>
                    <p:nvPr/>
                  </p:nvSpPr>
                  <p:spPr>
                    <a:xfrm flipV="1">
                      <a:off x="913" y="1602"/>
                      <a:ext cx="567" cy="276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76" name="直接连接符 25675"/>
                    <p:cNvSpPr/>
                    <p:nvPr/>
                  </p:nvSpPr>
                  <p:spPr>
                    <a:xfrm flipV="1">
                      <a:off x="1035" y="1723"/>
                      <a:ext cx="200" cy="89"/>
                    </a:xfrm>
                    <a:prstGeom prst="line">
                      <a:avLst/>
                    </a:prstGeom>
                    <a:ln w="19050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25677" name="组合 25676"/>
                  <p:cNvGrpSpPr/>
                  <p:nvPr/>
                </p:nvGrpSpPr>
                <p:grpSpPr>
                  <a:xfrm>
                    <a:off x="3896" y="2024"/>
                    <a:ext cx="556" cy="266"/>
                    <a:chOff x="913" y="1279"/>
                    <a:chExt cx="556" cy="288"/>
                  </a:xfrm>
                </p:grpSpPr>
                <p:sp>
                  <p:nvSpPr>
                    <p:cNvPr id="25678" name="直接连接符 25677"/>
                    <p:cNvSpPr/>
                    <p:nvPr/>
                  </p:nvSpPr>
                  <p:spPr>
                    <a:xfrm flipV="1">
                      <a:off x="913" y="1279"/>
                      <a:ext cx="556" cy="288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79" name="直接连接符 25678"/>
                    <p:cNvSpPr/>
                    <p:nvPr/>
                  </p:nvSpPr>
                  <p:spPr>
                    <a:xfrm flipV="1">
                      <a:off x="1025" y="1390"/>
                      <a:ext cx="222" cy="122"/>
                    </a:xfrm>
                    <a:prstGeom prst="line">
                      <a:avLst/>
                    </a:prstGeom>
                    <a:ln w="19050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25680" name="组合 25679"/>
                  <p:cNvGrpSpPr/>
                  <p:nvPr/>
                </p:nvGrpSpPr>
                <p:grpSpPr>
                  <a:xfrm>
                    <a:off x="3896" y="2879"/>
                    <a:ext cx="578" cy="345"/>
                    <a:chOff x="3896" y="2879"/>
                    <a:chExt cx="578" cy="345"/>
                  </a:xfrm>
                </p:grpSpPr>
                <p:sp>
                  <p:nvSpPr>
                    <p:cNvPr id="25681" name="直接连接符 25680"/>
                    <p:cNvSpPr/>
                    <p:nvPr/>
                  </p:nvSpPr>
                  <p:spPr>
                    <a:xfrm flipV="1">
                      <a:off x="3896" y="2879"/>
                      <a:ext cx="578" cy="345"/>
                    </a:xfrm>
                    <a:prstGeom prst="line">
                      <a:avLst/>
                    </a:prstGeom>
                    <a:ln w="28575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5682" name="直接连接符 25681"/>
                    <p:cNvSpPr/>
                    <p:nvPr/>
                  </p:nvSpPr>
                  <p:spPr>
                    <a:xfrm flipV="1">
                      <a:off x="4020" y="3019"/>
                      <a:ext cx="216" cy="126"/>
                    </a:xfrm>
                    <a:prstGeom prst="line">
                      <a:avLst/>
                    </a:prstGeom>
                    <a:ln w="12700" cap="flat" cmpd="sng">
                      <a:solidFill>
                        <a:srgbClr val="0000FF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sp>
                <p:nvSpPr>
                  <p:cNvPr id="25683" name="直接连接符 25682"/>
                  <p:cNvSpPr/>
                  <p:nvPr/>
                </p:nvSpPr>
                <p:spPr>
                  <a:xfrm flipV="1">
                    <a:off x="4432" y="2202"/>
                    <a:ext cx="1009" cy="422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84" name="直接连接符 25683"/>
                  <p:cNvSpPr/>
                  <p:nvPr/>
                </p:nvSpPr>
                <p:spPr>
                  <a:xfrm flipV="1">
                    <a:off x="4441" y="2213"/>
                    <a:ext cx="1000" cy="122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85" name="直接连接符 25684"/>
                  <p:cNvSpPr/>
                  <p:nvPr/>
                </p:nvSpPr>
                <p:spPr>
                  <a:xfrm>
                    <a:off x="4454" y="2035"/>
                    <a:ext cx="960" cy="178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86" name="直接连接符 25685"/>
                  <p:cNvSpPr/>
                  <p:nvPr/>
                </p:nvSpPr>
                <p:spPr>
                  <a:xfrm flipV="1">
                    <a:off x="4437" y="2202"/>
                    <a:ext cx="991" cy="1022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5687" name="直接连接符 25686"/>
                  <p:cNvSpPr/>
                  <p:nvPr/>
                </p:nvSpPr>
                <p:spPr>
                  <a:xfrm flipV="1">
                    <a:off x="4441" y="2223"/>
                    <a:ext cx="971" cy="678"/>
                  </a:xfrm>
                  <a:prstGeom prst="line">
                    <a:avLst/>
                  </a:prstGeom>
                  <a:ln w="28575" cap="flat" cmpd="sng">
                    <a:solidFill>
                      <a:srgbClr val="00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</p:grpSp>
      <p:sp>
        <p:nvSpPr>
          <p:cNvPr id="25688" name="文本框 25687"/>
          <p:cNvSpPr txBox="1"/>
          <p:nvPr/>
        </p:nvSpPr>
        <p:spPr>
          <a:xfrm>
            <a:off x="469900" y="2382838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零级条纹角位置：</a:t>
            </a:r>
            <a:endParaRPr lang="zh-CN" altLang="en-US" sz="2400" b="1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689" name="文本框 25688"/>
          <p:cNvSpPr txBox="1"/>
          <p:nvPr/>
        </p:nvSpPr>
        <p:spPr>
          <a:xfrm>
            <a:off x="3252788" y="2386013"/>
            <a:ext cx="26035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4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d( sin - sin30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=0</a:t>
            </a:r>
            <a:endParaRPr lang="en-US" altLang="zh-CN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690" name="右箭头 25689"/>
          <p:cNvSpPr/>
          <p:nvPr/>
        </p:nvSpPr>
        <p:spPr>
          <a:xfrm>
            <a:off x="6084888" y="2443163"/>
            <a:ext cx="527050" cy="309562"/>
          </a:xfrm>
          <a:prstGeom prst="rightArrow">
            <a:avLst>
              <a:gd name="adj1" fmla="val 50000"/>
              <a:gd name="adj2" fmla="val 42564"/>
            </a:avLst>
          </a:prstGeom>
          <a:noFill/>
          <a:ln w="9525" cap="flat" cmpd="sng">
            <a:solidFill>
              <a:srgbClr val="33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91" name="文本框 25690"/>
          <p:cNvSpPr txBox="1"/>
          <p:nvPr/>
        </p:nvSpPr>
        <p:spPr>
          <a:xfrm>
            <a:off x="6804025" y="2312988"/>
            <a:ext cx="19796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b="1" i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=30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上移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25692" name="对象 25691"/>
          <p:cNvGraphicFramePr/>
          <p:nvPr/>
        </p:nvGraphicFramePr>
        <p:xfrm>
          <a:off x="1323975" y="4891088"/>
          <a:ext cx="231140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0" name="" r:id="rId3" imgW="951865" imgH="203200" progId="Equation.DSMT4">
                  <p:embed/>
                </p:oleObj>
              </mc:Choice>
              <mc:Fallback>
                <p:oleObj name="" r:id="rId3" imgW="951865" imgH="2032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23975" y="4891088"/>
                        <a:ext cx="2311400" cy="490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93" name="文本框 25692"/>
          <p:cNvSpPr txBox="1"/>
          <p:nvPr/>
        </p:nvSpPr>
        <p:spPr>
          <a:xfrm>
            <a:off x="173038" y="6300788"/>
            <a:ext cx="63119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计算一下，垂直入射</a:t>
            </a:r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能看见几级、几条谱线？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694" name="文本框 25693"/>
          <p:cNvSpPr txBox="1"/>
          <p:nvPr/>
        </p:nvSpPr>
        <p:spPr>
          <a:xfrm>
            <a:off x="6364288" y="5949950"/>
            <a:ext cx="2743200" cy="879475"/>
          </a:xfrm>
          <a:prstGeom prst="rect">
            <a:avLst/>
          </a:prstGeom>
          <a:noFill/>
          <a:ln w="57150" cap="flat" cmpd="sng">
            <a:solidFill>
              <a:srgbClr val="FF2323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/>
          <a:p>
            <a:pPr algn="just"/>
            <a:r>
              <a:rPr lang="zh-CN" altLang="en-US" sz="2400" b="1" dirty="0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斜入射可看到更高级次的明纹！</a:t>
            </a:r>
            <a:endParaRPr lang="zh-CN" altLang="en-US" sz="2400" b="1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5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5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5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25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5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5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25605" grpId="0"/>
      <p:bldP spid="25606" grpId="0"/>
      <p:bldP spid="25607" grpId="0"/>
      <p:bldP spid="25688" grpId="0"/>
      <p:bldP spid="25689" grpId="0"/>
      <p:bldP spid="25691" grpId="0"/>
      <p:bldP spid="25693" grpId="0"/>
      <p:bldP spid="2569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/>
          <p:nvPr/>
        </p:nvSpPr>
        <p:spPr>
          <a:xfrm>
            <a:off x="147638" y="152400"/>
            <a:ext cx="8996362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just"/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14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：一个折射率为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=1.5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的平凸透镜，其球面半径为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放在折        射率为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n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1.75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的两种矩形平板玻璃上，如图所示。           设用波长为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的单色光正入射。试求：（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）在透镜和平板玻璃间为空气时，第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级牛顿环明纹的半径；（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）在透镜和平板玻璃间 充满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n=1.6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的透明液体时，牛顿环如何？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8787" name="Text Box 3"/>
          <p:cNvSpPr txBox="1"/>
          <p:nvPr/>
        </p:nvSpPr>
        <p:spPr>
          <a:xfrm>
            <a:off x="4017503" y="2133600"/>
            <a:ext cx="5150769" cy="83099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）如图所示。设第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级牛顿环的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半径为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该处空气膜厚度为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8788" name="Object 2"/>
          <p:cNvGraphicFramePr/>
          <p:nvPr/>
        </p:nvGraphicFramePr>
        <p:xfrm>
          <a:off x="7529830" y="2855913"/>
          <a:ext cx="1295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8" name="" r:id="rId1" imgW="495300" imgH="419100" progId="Equation.DSMT4">
                  <p:embed/>
                </p:oleObj>
              </mc:Choice>
              <mc:Fallback>
                <p:oleObj name="" r:id="rId1" imgW="495300" imgH="4191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29830" y="2855913"/>
                        <a:ext cx="1295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9" name="Text Box 5"/>
          <p:cNvSpPr txBox="1"/>
          <p:nvPr/>
        </p:nvSpPr>
        <p:spPr>
          <a:xfrm>
            <a:off x="4073525" y="3657600"/>
            <a:ext cx="20224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该处光程差为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8790" name="Object 3"/>
          <p:cNvGraphicFramePr/>
          <p:nvPr/>
        </p:nvGraphicFramePr>
        <p:xfrm>
          <a:off x="6011863" y="3716338"/>
          <a:ext cx="28194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99" name="" r:id="rId3" imgW="1295400" imgH="419100" progId="Equation.DSMT4">
                  <p:embed/>
                </p:oleObj>
              </mc:Choice>
              <mc:Fallback>
                <p:oleObj name="" r:id="rId3" imgW="1295400" imgH="4191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1863" y="3716338"/>
                        <a:ext cx="2819400" cy="912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/>
          <p:nvPr/>
        </p:nvGrpSpPr>
        <p:grpSpPr>
          <a:xfrm>
            <a:off x="4114800" y="4648200"/>
            <a:ext cx="3181350" cy="463550"/>
            <a:chOff x="2592" y="2928"/>
            <a:chExt cx="2004" cy="292"/>
          </a:xfrm>
        </p:grpSpPr>
        <p:sp>
          <p:nvSpPr>
            <p:cNvPr id="29704" name="Text Box 8"/>
            <p:cNvSpPr txBox="1"/>
            <p:nvPr/>
          </p:nvSpPr>
          <p:spPr>
            <a:xfrm>
              <a:off x="2592" y="2928"/>
              <a:ext cx="10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对亮条纹有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9705" name="Object 5"/>
            <p:cNvGraphicFramePr/>
            <p:nvPr/>
          </p:nvGraphicFramePr>
          <p:xfrm>
            <a:off x="3936" y="2965"/>
            <a:ext cx="66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0" name="" r:id="rId5" imgW="456565" imgH="177800" progId="Equation.3">
                    <p:embed/>
                  </p:oleObj>
                </mc:Choice>
                <mc:Fallback>
                  <p:oleObj name="" r:id="rId5" imgW="456565" imgH="1778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6" y="2965"/>
                          <a:ext cx="660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8794" name="Object 4"/>
          <p:cNvGraphicFramePr/>
          <p:nvPr/>
        </p:nvGraphicFramePr>
        <p:xfrm>
          <a:off x="1022350" y="5257800"/>
          <a:ext cx="73183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1" name="Equation" r:id="rId7" imgW="69799200" imgH="10668000" progId="Equation.DSMT4">
                  <p:embed/>
                </p:oleObj>
              </mc:Choice>
              <mc:Fallback>
                <p:oleObj name="Equation" r:id="rId7" imgW="69799200" imgH="106680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2350" y="5257800"/>
                        <a:ext cx="7318375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5" name="Text Box 11"/>
          <p:cNvSpPr txBox="1"/>
          <p:nvPr/>
        </p:nvSpPr>
        <p:spPr>
          <a:xfrm>
            <a:off x="77788" y="6324600"/>
            <a:ext cx="906621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与标准牛顿环亮纹公式一致</a:t>
            </a:r>
            <a:endParaRPr 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323850" y="2060575"/>
            <a:ext cx="3671888" cy="3024188"/>
            <a:chOff x="295" y="1389"/>
            <a:chExt cx="2085" cy="1633"/>
          </a:xfrm>
        </p:grpSpPr>
        <p:sp>
          <p:nvSpPr>
            <p:cNvPr id="29709" name="Line 13"/>
            <p:cNvSpPr/>
            <p:nvPr/>
          </p:nvSpPr>
          <p:spPr>
            <a:xfrm>
              <a:off x="305" y="2379"/>
              <a:ext cx="1449" cy="0"/>
            </a:xfrm>
            <a:prstGeom prst="line">
              <a:avLst/>
            </a:prstGeom>
            <a:ln w="4445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0" name="Line 14"/>
            <p:cNvSpPr/>
            <p:nvPr/>
          </p:nvSpPr>
          <p:spPr>
            <a:xfrm>
              <a:off x="1060" y="1717"/>
              <a:ext cx="0" cy="1248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1" name="Line 15"/>
            <p:cNvSpPr/>
            <p:nvPr/>
          </p:nvSpPr>
          <p:spPr>
            <a:xfrm flipH="1">
              <a:off x="295" y="1752"/>
              <a:ext cx="771" cy="627"/>
            </a:xfrm>
            <a:prstGeom prst="line">
              <a:avLst/>
            </a:prstGeom>
            <a:ln w="44450" cap="flat" cmpd="sng">
              <a:solidFill>
                <a:srgbClr val="00CCFF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29712" name="Line 16"/>
            <p:cNvSpPr/>
            <p:nvPr/>
          </p:nvSpPr>
          <p:spPr>
            <a:xfrm>
              <a:off x="572" y="1669"/>
              <a:ext cx="0" cy="480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3" name="Line 17"/>
            <p:cNvSpPr/>
            <p:nvPr/>
          </p:nvSpPr>
          <p:spPr>
            <a:xfrm>
              <a:off x="860" y="1669"/>
              <a:ext cx="0" cy="480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4" name="Line 18"/>
            <p:cNvSpPr/>
            <p:nvPr/>
          </p:nvSpPr>
          <p:spPr>
            <a:xfrm>
              <a:off x="1244" y="1669"/>
              <a:ext cx="0" cy="480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5" name="Line 19"/>
            <p:cNvSpPr/>
            <p:nvPr/>
          </p:nvSpPr>
          <p:spPr>
            <a:xfrm>
              <a:off x="1532" y="1669"/>
              <a:ext cx="0" cy="480"/>
            </a:xfrm>
            <a:prstGeom prst="line">
              <a:avLst/>
            </a:prstGeom>
            <a:ln w="444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6" name="Line 20"/>
            <p:cNvSpPr/>
            <p:nvPr/>
          </p:nvSpPr>
          <p:spPr>
            <a:xfrm>
              <a:off x="1066" y="2478"/>
              <a:ext cx="1296" cy="0"/>
            </a:xfrm>
            <a:prstGeom prst="line">
              <a:avLst/>
            </a:prstGeom>
            <a:ln w="444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7" name="Line 21"/>
            <p:cNvSpPr/>
            <p:nvPr/>
          </p:nvSpPr>
          <p:spPr>
            <a:xfrm>
              <a:off x="1708" y="2717"/>
              <a:ext cx="672" cy="0"/>
            </a:xfrm>
            <a:prstGeom prst="line">
              <a:avLst/>
            </a:prstGeom>
            <a:ln w="44450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718" name="Line 22"/>
            <p:cNvSpPr/>
            <p:nvPr/>
          </p:nvSpPr>
          <p:spPr>
            <a:xfrm>
              <a:off x="2200" y="2160"/>
              <a:ext cx="0" cy="240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9719" name="Line 23"/>
            <p:cNvSpPr/>
            <p:nvPr/>
          </p:nvSpPr>
          <p:spPr>
            <a:xfrm flipH="1">
              <a:off x="2200" y="2773"/>
              <a:ext cx="4" cy="249"/>
            </a:xfrm>
            <a:prstGeom prst="line">
              <a:avLst/>
            </a:prstGeom>
            <a:ln w="444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9720" name="Text Box 24"/>
            <p:cNvSpPr txBox="1"/>
            <p:nvPr/>
          </p:nvSpPr>
          <p:spPr>
            <a:xfrm>
              <a:off x="312" y="1917"/>
              <a:ext cx="230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1" name="Text Box 25"/>
            <p:cNvSpPr txBox="1"/>
            <p:nvPr/>
          </p:nvSpPr>
          <p:spPr>
            <a:xfrm>
              <a:off x="733" y="2341"/>
              <a:ext cx="259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2" name="Text Box 26"/>
            <p:cNvSpPr txBox="1"/>
            <p:nvPr/>
          </p:nvSpPr>
          <p:spPr>
            <a:xfrm>
              <a:off x="532" y="2677"/>
              <a:ext cx="259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3" name="Text Box 27"/>
            <p:cNvSpPr txBox="1"/>
            <p:nvPr/>
          </p:nvSpPr>
          <p:spPr>
            <a:xfrm>
              <a:off x="1252" y="2677"/>
              <a:ext cx="259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4" name="Text Box 28"/>
            <p:cNvSpPr txBox="1"/>
            <p:nvPr/>
          </p:nvSpPr>
          <p:spPr>
            <a:xfrm>
              <a:off x="2064" y="2432"/>
              <a:ext cx="201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5" name="Text Box 29"/>
            <p:cNvSpPr txBox="1"/>
            <p:nvPr/>
          </p:nvSpPr>
          <p:spPr>
            <a:xfrm>
              <a:off x="1125" y="2416"/>
              <a:ext cx="243" cy="249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6" name="Text Box 30"/>
            <p:cNvSpPr txBox="1"/>
            <p:nvPr/>
          </p:nvSpPr>
          <p:spPr>
            <a:xfrm>
              <a:off x="1565" y="1706"/>
              <a:ext cx="199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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7" name="Text Box 31"/>
            <p:cNvSpPr txBox="1"/>
            <p:nvPr/>
          </p:nvSpPr>
          <p:spPr>
            <a:xfrm>
              <a:off x="1066" y="1389"/>
              <a:ext cx="239" cy="247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8" name="Line 32"/>
            <p:cNvSpPr/>
            <p:nvPr/>
          </p:nvSpPr>
          <p:spPr>
            <a:xfrm>
              <a:off x="1066" y="1752"/>
              <a:ext cx="693" cy="605"/>
            </a:xfrm>
            <a:prstGeom prst="line">
              <a:avLst/>
            </a:prstGeom>
            <a:ln w="4445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29729" name="Arc 33"/>
            <p:cNvSpPr/>
            <p:nvPr/>
          </p:nvSpPr>
          <p:spPr>
            <a:xfrm rot="7766760">
              <a:off x="564" y="1836"/>
              <a:ext cx="907" cy="1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3642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81"/>
                    <a:pt x="21567" y="22963"/>
                    <a:pt x="21503" y="23642"/>
                  </a:cubicBezTo>
                </a:path>
                <a:path w="21600" h="23642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281"/>
                    <a:pt x="21567" y="22963"/>
                    <a:pt x="21503" y="2364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Rectangle 34"/>
            <p:cNvSpPr/>
            <p:nvPr/>
          </p:nvSpPr>
          <p:spPr>
            <a:xfrm>
              <a:off x="340" y="2717"/>
              <a:ext cx="1440" cy="192"/>
            </a:xfrm>
            <a:prstGeom prst="rect">
              <a:avLst/>
            </a:prstGeom>
            <a:noFill/>
            <a:ln w="44450" cap="flat" cmpd="sng">
              <a:solidFill>
                <a:srgbClr val="00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Line 15"/>
          <p:cNvSpPr/>
          <p:nvPr/>
        </p:nvSpPr>
        <p:spPr>
          <a:xfrm>
            <a:off x="1682115" y="2733040"/>
            <a:ext cx="1038225" cy="1384300"/>
          </a:xfrm>
          <a:prstGeom prst="line">
            <a:avLst/>
          </a:prstGeom>
          <a:ln w="44450" cap="flat" cmpd="sng">
            <a:solidFill>
              <a:srgbClr val="00CCFF"/>
            </a:solidFill>
            <a:prstDash val="solid"/>
            <a:round/>
            <a:headEnd type="none" w="med" len="med"/>
            <a:tailEnd type="stealth" w="lg" len="lg"/>
          </a:ln>
        </p:spPr>
      </p:sp>
      <p:graphicFrame>
        <p:nvGraphicFramePr>
          <p:cNvPr id="5" name="Object 2"/>
          <p:cNvGraphicFramePr/>
          <p:nvPr/>
        </p:nvGraphicFramePr>
        <p:xfrm>
          <a:off x="3824605" y="2980373"/>
          <a:ext cx="295656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2" name="" r:id="rId9" imgW="1130300" imgH="279400" progId="Equation.DSMT4">
                  <p:embed/>
                </p:oleObj>
              </mc:Choice>
              <mc:Fallback>
                <p:oleObj name="" r:id="rId9" imgW="1130300" imgH="2794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24605" y="2980373"/>
                        <a:ext cx="295656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/>
      <p:bldP spid="118789" grpId="0"/>
      <p:bldP spid="11879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/>
          <p:cNvSpPr txBox="1"/>
          <p:nvPr/>
        </p:nvSpPr>
        <p:spPr>
          <a:xfrm>
            <a:off x="381000" y="152400"/>
            <a:ext cx="8382000" cy="822325"/>
          </a:xfrm>
          <a:prstGeom prst="rect">
            <a:avLst/>
          </a:prstGeom>
          <a:noFill/>
          <a:ln w="44450">
            <a:noFill/>
          </a:ln>
        </p:spPr>
        <p:txBody>
          <a:bodyPr anchor="t" anchorCtr="0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(2) 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当在透镜和平板玻璃间充满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n=1.6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的透明液体时，在半径为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处有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9811" name="Object 2"/>
          <p:cNvGraphicFramePr/>
          <p:nvPr/>
        </p:nvGraphicFramePr>
        <p:xfrm>
          <a:off x="2438400" y="569913"/>
          <a:ext cx="16002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1" name="" r:id="rId1" imgW="495300" imgH="431800" progId="Equation.DSMT4">
                  <p:embed/>
                </p:oleObj>
              </mc:Choice>
              <mc:Fallback>
                <p:oleObj name="" r:id="rId1" imgW="495300" imgH="4318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569913"/>
                        <a:ext cx="1600200" cy="95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381000" y="1539875"/>
            <a:ext cx="4122738" cy="898525"/>
            <a:chOff x="240" y="970"/>
            <a:chExt cx="2597" cy="566"/>
          </a:xfrm>
        </p:grpSpPr>
        <p:sp>
          <p:nvSpPr>
            <p:cNvPr id="30725" name="Text Box 5"/>
            <p:cNvSpPr txBox="1"/>
            <p:nvPr/>
          </p:nvSpPr>
          <p:spPr>
            <a:xfrm>
              <a:off x="240" y="1104"/>
              <a:ext cx="1274" cy="288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右侧光程差：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26" name="Object 7"/>
            <p:cNvGraphicFramePr/>
            <p:nvPr/>
          </p:nvGraphicFramePr>
          <p:xfrm>
            <a:off x="1536" y="970"/>
            <a:ext cx="1301" cy="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2" name="" r:id="rId3" imgW="989965" imgH="431800" progId="Equation.3">
                    <p:embed/>
                  </p:oleObj>
                </mc:Choice>
                <mc:Fallback>
                  <p:oleObj name="" r:id="rId3" imgW="989965" imgH="4318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36" y="970"/>
                          <a:ext cx="1301" cy="5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/>
          <p:nvPr/>
        </p:nvGrpSpPr>
        <p:grpSpPr>
          <a:xfrm>
            <a:off x="381000" y="2549525"/>
            <a:ext cx="4419600" cy="1092200"/>
            <a:chOff x="240" y="1606"/>
            <a:chExt cx="2784" cy="688"/>
          </a:xfrm>
        </p:grpSpPr>
        <p:sp>
          <p:nvSpPr>
            <p:cNvPr id="30728" name="Text Box 8"/>
            <p:cNvSpPr txBox="1"/>
            <p:nvPr/>
          </p:nvSpPr>
          <p:spPr>
            <a:xfrm>
              <a:off x="240" y="1776"/>
              <a:ext cx="694" cy="518"/>
            </a:xfrm>
            <a:prstGeom prst="rect">
              <a:avLst/>
            </a:prstGeom>
            <a:noFill/>
            <a:ln w="44450">
              <a:noFill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左侧：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29" name="Object 6"/>
            <p:cNvGraphicFramePr/>
            <p:nvPr/>
          </p:nvGraphicFramePr>
          <p:xfrm>
            <a:off x="912" y="1606"/>
            <a:ext cx="2112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3" name="" r:id="rId5" imgW="1510665" imgH="431800" progId="Equation.3">
                    <p:embed/>
                  </p:oleObj>
                </mc:Choice>
                <mc:Fallback>
                  <p:oleObj name="" r:id="rId5" imgW="1510665" imgH="4318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12" y="1606"/>
                          <a:ext cx="2112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/>
          <p:cNvGrpSpPr/>
          <p:nvPr/>
        </p:nvGrpSpPr>
        <p:grpSpPr>
          <a:xfrm>
            <a:off x="381000" y="3724275"/>
            <a:ext cx="7772400" cy="962025"/>
            <a:chOff x="240" y="2346"/>
            <a:chExt cx="4896" cy="606"/>
          </a:xfrm>
        </p:grpSpPr>
        <p:sp>
          <p:nvSpPr>
            <p:cNvPr id="30731" name="Text Box 11"/>
            <p:cNvSpPr txBox="1"/>
            <p:nvPr/>
          </p:nvSpPr>
          <p:spPr>
            <a:xfrm>
              <a:off x="240" y="2448"/>
              <a:ext cx="1274" cy="288"/>
            </a:xfrm>
            <a:prstGeom prst="rect">
              <a:avLst/>
            </a:prstGeom>
            <a:noFill/>
            <a:ln w="44450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若均为明纹，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732" name="Object 4"/>
            <p:cNvGraphicFramePr/>
            <p:nvPr/>
          </p:nvGraphicFramePr>
          <p:xfrm>
            <a:off x="1824" y="2350"/>
            <a:ext cx="1296" cy="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4" name="" r:id="rId7" imgW="901065" imgH="419100" progId="Equation.3">
                    <p:embed/>
                  </p:oleObj>
                </mc:Choice>
                <mc:Fallback>
                  <p:oleObj name="" r:id="rId7" imgW="901065" imgH="4191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24" y="2350"/>
                          <a:ext cx="1296" cy="6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5"/>
            <p:cNvGraphicFramePr/>
            <p:nvPr/>
          </p:nvGraphicFramePr>
          <p:xfrm>
            <a:off x="3456" y="2346"/>
            <a:ext cx="1680" cy="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45" name="" r:id="rId9" imgW="1168400" imgH="419100" progId="Equation.3">
                    <p:embed/>
                  </p:oleObj>
                </mc:Choice>
                <mc:Fallback>
                  <p:oleObj name="" r:id="rId9" imgW="1168400" imgH="4191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56" y="2346"/>
                          <a:ext cx="1680" cy="6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9822" name="Object 3"/>
          <p:cNvGraphicFramePr/>
          <p:nvPr/>
        </p:nvGraphicFramePr>
        <p:xfrm>
          <a:off x="1143000" y="4800600"/>
          <a:ext cx="6019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6" name="" r:id="rId11" imgW="2500630" imgH="444500" progId="Equation.DSMT4">
                  <p:embed/>
                </p:oleObj>
              </mc:Choice>
              <mc:Fallback>
                <p:oleObj name="" r:id="rId11" imgW="2500630" imgH="4445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43000" y="4800600"/>
                        <a:ext cx="6019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23" name="Text Box 15"/>
          <p:cNvSpPr txBox="1"/>
          <p:nvPr/>
        </p:nvSpPr>
        <p:spPr>
          <a:xfrm>
            <a:off x="382588" y="5888038"/>
            <a:ext cx="8456612" cy="822325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just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左右两边同一级明纹半径大小不等，且右边的接触点为明纹，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而左边的接触点为暗纹，故形成一错开的半圆型图像。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36" name="Line 16"/>
          <p:cNvSpPr/>
          <p:nvPr/>
        </p:nvSpPr>
        <p:spPr>
          <a:xfrm>
            <a:off x="5026025" y="2451100"/>
            <a:ext cx="2851150" cy="0"/>
          </a:xfrm>
          <a:prstGeom prst="line">
            <a:avLst/>
          </a:prstGeom>
          <a:ln w="4445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7" name="Line 17"/>
          <p:cNvSpPr/>
          <p:nvPr/>
        </p:nvSpPr>
        <p:spPr>
          <a:xfrm>
            <a:off x="6511925" y="1130300"/>
            <a:ext cx="0" cy="2490788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38" name="Line 18"/>
          <p:cNvSpPr/>
          <p:nvPr/>
        </p:nvSpPr>
        <p:spPr>
          <a:xfrm flipH="1">
            <a:off x="5006975" y="1200150"/>
            <a:ext cx="1517650" cy="1250950"/>
          </a:xfrm>
          <a:prstGeom prst="line">
            <a:avLst/>
          </a:prstGeom>
          <a:ln w="44450" cap="flat" cmpd="sng">
            <a:solidFill>
              <a:srgbClr val="00CCFF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30739" name="Line 19"/>
          <p:cNvSpPr/>
          <p:nvPr/>
        </p:nvSpPr>
        <p:spPr>
          <a:xfrm>
            <a:off x="5551488" y="1035050"/>
            <a:ext cx="0" cy="957263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0740" name="Line 20"/>
          <p:cNvSpPr/>
          <p:nvPr/>
        </p:nvSpPr>
        <p:spPr>
          <a:xfrm>
            <a:off x="6118225" y="1035050"/>
            <a:ext cx="0" cy="957263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0741" name="Line 21"/>
          <p:cNvSpPr/>
          <p:nvPr/>
        </p:nvSpPr>
        <p:spPr>
          <a:xfrm>
            <a:off x="6873875" y="1035050"/>
            <a:ext cx="0" cy="957263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0742" name="Line 22"/>
          <p:cNvSpPr/>
          <p:nvPr/>
        </p:nvSpPr>
        <p:spPr>
          <a:xfrm>
            <a:off x="7440613" y="1035050"/>
            <a:ext cx="0" cy="957263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0743" name="Line 23"/>
          <p:cNvSpPr/>
          <p:nvPr/>
        </p:nvSpPr>
        <p:spPr>
          <a:xfrm>
            <a:off x="6524625" y="2649538"/>
            <a:ext cx="2549525" cy="0"/>
          </a:xfrm>
          <a:prstGeom prst="line">
            <a:avLst/>
          </a:prstGeom>
          <a:ln w="444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44" name="Line 24"/>
          <p:cNvSpPr/>
          <p:nvPr/>
        </p:nvSpPr>
        <p:spPr>
          <a:xfrm>
            <a:off x="7786688" y="3125788"/>
            <a:ext cx="1322387" cy="0"/>
          </a:xfrm>
          <a:prstGeom prst="line">
            <a:avLst/>
          </a:prstGeom>
          <a:ln w="4445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45" name="Line 25"/>
          <p:cNvSpPr/>
          <p:nvPr/>
        </p:nvSpPr>
        <p:spPr>
          <a:xfrm>
            <a:off x="8755063" y="2014538"/>
            <a:ext cx="0" cy="479425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0746" name="Line 26"/>
          <p:cNvSpPr/>
          <p:nvPr/>
        </p:nvSpPr>
        <p:spPr>
          <a:xfrm>
            <a:off x="8763000" y="3236913"/>
            <a:ext cx="0" cy="479425"/>
          </a:xfrm>
          <a:prstGeom prst="line">
            <a:avLst/>
          </a:prstGeom>
          <a:ln w="4445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30747" name="Text Box 27"/>
          <p:cNvSpPr txBox="1"/>
          <p:nvPr/>
        </p:nvSpPr>
        <p:spPr>
          <a:xfrm>
            <a:off x="5040313" y="1530350"/>
            <a:ext cx="404812" cy="455613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8" name="Text Box 28"/>
          <p:cNvSpPr txBox="1"/>
          <p:nvPr/>
        </p:nvSpPr>
        <p:spPr>
          <a:xfrm>
            <a:off x="5810250" y="2466975"/>
            <a:ext cx="455613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49" name="Text Box 29"/>
          <p:cNvSpPr txBox="1"/>
          <p:nvPr/>
        </p:nvSpPr>
        <p:spPr>
          <a:xfrm>
            <a:off x="5473700" y="3046413"/>
            <a:ext cx="455613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0" name="Text Box 30"/>
          <p:cNvSpPr txBox="1"/>
          <p:nvPr/>
        </p:nvSpPr>
        <p:spPr>
          <a:xfrm>
            <a:off x="6889750" y="3046413"/>
            <a:ext cx="457200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1" name="Text Box 31"/>
          <p:cNvSpPr txBox="1"/>
          <p:nvPr/>
        </p:nvSpPr>
        <p:spPr>
          <a:xfrm>
            <a:off x="8532813" y="2636838"/>
            <a:ext cx="354012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2" name="Text Box 32"/>
          <p:cNvSpPr txBox="1"/>
          <p:nvPr/>
        </p:nvSpPr>
        <p:spPr>
          <a:xfrm>
            <a:off x="6881813" y="2540000"/>
            <a:ext cx="319087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3" name="Text Box 33"/>
          <p:cNvSpPr txBox="1"/>
          <p:nvPr/>
        </p:nvSpPr>
        <p:spPr>
          <a:xfrm>
            <a:off x="7505700" y="1108075"/>
            <a:ext cx="350838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4" name="Text Box 34"/>
          <p:cNvSpPr txBox="1"/>
          <p:nvPr/>
        </p:nvSpPr>
        <p:spPr>
          <a:xfrm>
            <a:off x="6524625" y="476250"/>
            <a:ext cx="420688" cy="457200"/>
          </a:xfrm>
          <a:prstGeom prst="rect">
            <a:avLst/>
          </a:prstGeom>
          <a:noFill/>
          <a:ln w="44450">
            <a:noFill/>
          </a:ln>
        </p:spPr>
        <p:txBody>
          <a:bodyPr wrap="none" anchor="t" anchorCtr="0">
            <a:spAutoFit/>
          </a:bodyPr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55" name="Line 35"/>
          <p:cNvSpPr/>
          <p:nvPr/>
        </p:nvSpPr>
        <p:spPr>
          <a:xfrm>
            <a:off x="6524625" y="1200150"/>
            <a:ext cx="1362075" cy="1208088"/>
          </a:xfrm>
          <a:prstGeom prst="line">
            <a:avLst/>
          </a:prstGeom>
          <a:ln w="44450" cap="rnd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30756" name="Arc 36"/>
          <p:cNvSpPr/>
          <p:nvPr/>
        </p:nvSpPr>
        <p:spPr>
          <a:xfrm rot="7766760">
            <a:off x="5532438" y="1392238"/>
            <a:ext cx="1809750" cy="2149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21600" h="23642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81"/>
                  <a:pt x="21567" y="22963"/>
                  <a:pt x="21503" y="23642"/>
                </a:cubicBezTo>
              </a:path>
              <a:path w="21600" h="23642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81"/>
                  <a:pt x="21567" y="22963"/>
                  <a:pt x="21503" y="23642"/>
                </a:cubicBezTo>
                <a:lnTo>
                  <a:pt x="0" y="21600"/>
                </a:lnTo>
                <a:close/>
              </a:path>
            </a:pathLst>
          </a:custGeom>
          <a:noFill/>
          <a:ln w="444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7" name="Rectangle 37"/>
          <p:cNvSpPr/>
          <p:nvPr/>
        </p:nvSpPr>
        <p:spPr>
          <a:xfrm>
            <a:off x="5095875" y="3125788"/>
            <a:ext cx="2832100" cy="382587"/>
          </a:xfrm>
          <a:prstGeom prst="rect">
            <a:avLst/>
          </a:prstGeom>
          <a:noFill/>
          <a:ln w="44450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9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0" grpId="0"/>
      <p:bldP spid="1198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2"/>
          <p:cNvSpPr txBox="1"/>
          <p:nvPr/>
        </p:nvSpPr>
        <p:spPr>
          <a:xfrm>
            <a:off x="250825" y="44450"/>
            <a:ext cx="8642350" cy="182626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、如图，无线电波一部分直接射向天线，另一部分经海面反射到天线，无线电频率为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6.0×10</a:t>
            </a:r>
            <a:r>
              <a:rPr lang="en-US" altLang="zh-CN" sz="2400" baseline="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Hz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，天线高出水平面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25m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求：相消干涉时无线电波掠射角</a:t>
            </a:r>
            <a:r>
              <a:rPr lang="el-GR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θ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的最小值？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9938" name="Group 3"/>
          <p:cNvGrpSpPr/>
          <p:nvPr/>
        </p:nvGrpSpPr>
        <p:grpSpPr>
          <a:xfrm>
            <a:off x="4787900" y="1196975"/>
            <a:ext cx="4057650" cy="1871663"/>
            <a:chOff x="1383" y="2115"/>
            <a:chExt cx="3332" cy="1179"/>
          </a:xfrm>
        </p:grpSpPr>
        <p:sp>
          <p:nvSpPr>
            <p:cNvPr id="39939" name="Line 4"/>
            <p:cNvSpPr/>
            <p:nvPr/>
          </p:nvSpPr>
          <p:spPr>
            <a:xfrm>
              <a:off x="1565" y="3158"/>
              <a:ext cx="276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0" name="Rectangle 5" descr="波浪线"/>
            <p:cNvSpPr/>
            <p:nvPr/>
          </p:nvSpPr>
          <p:spPr>
            <a:xfrm>
              <a:off x="1565" y="3158"/>
              <a:ext cx="2767" cy="136"/>
            </a:xfrm>
            <a:prstGeom prst="rect">
              <a:avLst/>
            </a:prstGeom>
            <a:pattFill prst="wave">
              <a:fgClr>
                <a:schemeClr val="tx1"/>
              </a:fgClr>
              <a:bgClr>
                <a:schemeClr val="bg1"/>
              </a:bgClr>
            </a:pattFill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9941" name="Group 6"/>
            <p:cNvGrpSpPr/>
            <p:nvPr/>
          </p:nvGrpSpPr>
          <p:grpSpPr>
            <a:xfrm>
              <a:off x="4150" y="2750"/>
              <a:ext cx="318" cy="182"/>
              <a:chOff x="4014" y="2069"/>
              <a:chExt cx="590" cy="318"/>
            </a:xfrm>
          </p:grpSpPr>
          <p:sp>
            <p:nvSpPr>
              <p:cNvPr id="39942" name="Line 7"/>
              <p:cNvSpPr/>
              <p:nvPr/>
            </p:nvSpPr>
            <p:spPr>
              <a:xfrm>
                <a:off x="4014" y="2069"/>
                <a:ext cx="318" cy="4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43" name="Line 8"/>
              <p:cNvSpPr/>
              <p:nvPr/>
            </p:nvSpPr>
            <p:spPr>
              <a:xfrm>
                <a:off x="4150" y="2205"/>
                <a:ext cx="318" cy="4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44" name="Line 9"/>
              <p:cNvSpPr/>
              <p:nvPr/>
            </p:nvSpPr>
            <p:spPr>
              <a:xfrm>
                <a:off x="4286" y="2341"/>
                <a:ext cx="318" cy="4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9945" name="Line 10"/>
              <p:cNvSpPr/>
              <p:nvPr/>
            </p:nvSpPr>
            <p:spPr>
              <a:xfrm>
                <a:off x="4221" y="2105"/>
                <a:ext cx="227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9946" name="Line 11"/>
            <p:cNvSpPr/>
            <p:nvPr/>
          </p:nvSpPr>
          <p:spPr>
            <a:xfrm>
              <a:off x="4332" y="2840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947" name="Line 12"/>
            <p:cNvSpPr/>
            <p:nvPr/>
          </p:nvSpPr>
          <p:spPr>
            <a:xfrm>
              <a:off x="4332" y="3158"/>
              <a:ext cx="3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9948" name="Line 13"/>
            <p:cNvSpPr/>
            <p:nvPr/>
          </p:nvSpPr>
          <p:spPr>
            <a:xfrm>
              <a:off x="1565" y="2795"/>
              <a:ext cx="3084" cy="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sp>
        <p:sp>
          <p:nvSpPr>
            <p:cNvPr id="39949" name="Text Box 14"/>
            <p:cNvSpPr txBox="1"/>
            <p:nvPr/>
          </p:nvSpPr>
          <p:spPr>
            <a:xfrm>
              <a:off x="4436" y="2840"/>
              <a:ext cx="27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0" name="Line 15"/>
            <p:cNvSpPr/>
            <p:nvPr/>
          </p:nvSpPr>
          <p:spPr>
            <a:xfrm>
              <a:off x="1383" y="2614"/>
              <a:ext cx="1905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</p:sp>
        <p:sp>
          <p:nvSpPr>
            <p:cNvPr id="39951" name="Line 16"/>
            <p:cNvSpPr/>
            <p:nvPr/>
          </p:nvSpPr>
          <p:spPr>
            <a:xfrm>
              <a:off x="2381" y="2205"/>
              <a:ext cx="1949" cy="6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</p:sp>
        <p:sp>
          <p:nvSpPr>
            <p:cNvPr id="39952" name="Line 17"/>
            <p:cNvSpPr/>
            <p:nvPr/>
          </p:nvSpPr>
          <p:spPr>
            <a:xfrm flipV="1">
              <a:off x="3288" y="2840"/>
              <a:ext cx="1044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</p:sp>
        <p:sp>
          <p:nvSpPr>
            <p:cNvPr id="39953" name="Line 18"/>
            <p:cNvSpPr/>
            <p:nvPr/>
          </p:nvSpPr>
          <p:spPr>
            <a:xfrm flipH="1">
              <a:off x="3288" y="2614"/>
              <a:ext cx="318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lg" len="lg"/>
            </a:ln>
          </p:spPr>
        </p:sp>
        <p:sp>
          <p:nvSpPr>
            <p:cNvPr id="39954" name="Text Box 19"/>
            <p:cNvSpPr txBox="1"/>
            <p:nvPr/>
          </p:nvSpPr>
          <p:spPr>
            <a:xfrm>
              <a:off x="2804" y="2115"/>
              <a:ext cx="26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5" name="Text Box 20"/>
            <p:cNvSpPr txBox="1"/>
            <p:nvPr/>
          </p:nvSpPr>
          <p:spPr>
            <a:xfrm>
              <a:off x="1760" y="2523"/>
              <a:ext cx="26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6" name="Text Box 21"/>
            <p:cNvSpPr txBox="1"/>
            <p:nvPr/>
          </p:nvSpPr>
          <p:spPr>
            <a:xfrm>
              <a:off x="3525" y="2341"/>
              <a:ext cx="30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7" name="Text Box 22"/>
            <p:cNvSpPr txBox="1"/>
            <p:nvPr/>
          </p:nvSpPr>
          <p:spPr>
            <a:xfrm>
              <a:off x="3072" y="2840"/>
              <a:ext cx="30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8" name="Text Box 23"/>
            <p:cNvSpPr txBox="1"/>
            <p:nvPr/>
          </p:nvSpPr>
          <p:spPr>
            <a:xfrm>
              <a:off x="4249" y="2614"/>
              <a:ext cx="317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9959" name="AutoShape 24"/>
            <p:cNvSpPr/>
            <p:nvPr/>
          </p:nvSpPr>
          <p:spPr>
            <a:xfrm rot="-4507917">
              <a:off x="2893" y="3086"/>
              <a:ext cx="91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2175" y="9375"/>
                  </a:moveTo>
                  <a:cubicBezTo>
                    <a:pt x="2873" y="5154"/>
                    <a:pt x="6522" y="2058"/>
                    <a:pt x="10800" y="2059"/>
                  </a:cubicBezTo>
                  <a:cubicBezTo>
                    <a:pt x="15077" y="2059"/>
                    <a:pt x="18726" y="5154"/>
                    <a:pt x="19424" y="9375"/>
                  </a:cubicBezTo>
                  <a:lnTo>
                    <a:pt x="21455" y="9039"/>
                  </a:lnTo>
                  <a:cubicBezTo>
                    <a:pt x="20594" y="3824"/>
                    <a:pt x="16085" y="-1"/>
                    <a:pt x="10799" y="0"/>
                  </a:cubicBezTo>
                  <a:cubicBezTo>
                    <a:pt x="5514" y="0"/>
                    <a:pt x="1005" y="3824"/>
                    <a:pt x="144" y="9039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0" name="Text Box 25"/>
            <p:cNvSpPr txBox="1"/>
            <p:nvPr/>
          </p:nvSpPr>
          <p:spPr>
            <a:xfrm>
              <a:off x="3566" y="2951"/>
              <a:ext cx="38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l-GR" altLang="zh-CN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9961" name="Text Box 26"/>
            <p:cNvSpPr txBox="1"/>
            <p:nvPr/>
          </p:nvSpPr>
          <p:spPr>
            <a:xfrm>
              <a:off x="2547" y="2944"/>
              <a:ext cx="38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algn="ctr"/>
              <a:r>
                <a:rPr lang="el-GR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θ</a:t>
              </a:r>
              <a:endParaRPr lang="el-GR" altLang="zh-CN" i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9962" name="AutoShape 27"/>
            <p:cNvSpPr/>
            <p:nvPr/>
          </p:nvSpPr>
          <p:spPr>
            <a:xfrm rot="4580136">
              <a:off x="3559" y="3076"/>
              <a:ext cx="91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00">
                  <a:moveTo>
                    <a:pt x="2175" y="9375"/>
                  </a:moveTo>
                  <a:cubicBezTo>
                    <a:pt x="2873" y="5154"/>
                    <a:pt x="6522" y="2058"/>
                    <a:pt x="10800" y="2059"/>
                  </a:cubicBezTo>
                  <a:cubicBezTo>
                    <a:pt x="15077" y="2059"/>
                    <a:pt x="18726" y="5154"/>
                    <a:pt x="19424" y="9375"/>
                  </a:cubicBezTo>
                  <a:lnTo>
                    <a:pt x="21455" y="9039"/>
                  </a:lnTo>
                  <a:cubicBezTo>
                    <a:pt x="20594" y="3824"/>
                    <a:pt x="16085" y="-1"/>
                    <a:pt x="10799" y="0"/>
                  </a:cubicBezTo>
                  <a:cubicBezTo>
                    <a:pt x="5514" y="0"/>
                    <a:pt x="1005" y="3824"/>
                    <a:pt x="144" y="9039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3500" name="Text Box 28"/>
          <p:cNvSpPr txBox="1">
            <a:spLocks noChangeArrowheads="1"/>
          </p:cNvSpPr>
          <p:nvPr/>
        </p:nvSpPr>
        <p:spPr bwMode="blackGray">
          <a:xfrm>
            <a:off x="395288" y="1620838"/>
            <a:ext cx="72072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1" lang="zh-CN" altLang="en-US" sz="2400" kern="1200" cap="none" spc="0" normalizeH="0" baseline="0" noProof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endParaRPr kumimoji="1" lang="zh-CN" altLang="en-US" sz="2000" kern="1200" cap="none" spc="0" normalizeH="0" baseline="0" noProof="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3501" name="Text Box 29"/>
          <p:cNvSpPr txBox="1"/>
          <p:nvPr/>
        </p:nvSpPr>
        <p:spPr>
          <a:xfrm>
            <a:off x="1043940" y="1617345"/>
            <a:ext cx="4286250" cy="4937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光线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到达天线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的光程差为：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0"/>
          <p:cNvGraphicFramePr>
            <a:graphicFrameLocks noGrp="1"/>
          </p:cNvGraphicFramePr>
          <p:nvPr>
            <p:ph sz="quarter" idx="1"/>
          </p:nvPr>
        </p:nvGraphicFramePr>
        <p:xfrm>
          <a:off x="6588125" y="3716338"/>
          <a:ext cx="151288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7" name="" r:id="rId1" imgW="735965" imgH="393700" progId="Equation.DSMT4">
                  <p:embed/>
                </p:oleObj>
              </mc:Choice>
              <mc:Fallback>
                <p:oleObj name="" r:id="rId1" imgW="735965" imgH="393700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588125" y="3716338"/>
                        <a:ext cx="1512888" cy="80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1"/>
          <p:cNvGraphicFramePr>
            <a:graphicFrameLocks noGrp="1"/>
          </p:cNvGraphicFramePr>
          <p:nvPr>
            <p:ph sz="quarter" idx="4"/>
          </p:nvPr>
        </p:nvGraphicFramePr>
        <p:xfrm>
          <a:off x="1358265" y="2166462"/>
          <a:ext cx="3115945" cy="1544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8" name="" r:id="rId3" imgW="1638300" imgH="812800" progId="Equation.DSMT4">
                  <p:embed/>
                </p:oleObj>
              </mc:Choice>
              <mc:Fallback>
                <p:oleObj name="" r:id="rId3" imgW="1638300" imgH="8128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8265" y="2166462"/>
                        <a:ext cx="3115945" cy="154432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504" name="Text Box 32"/>
          <p:cNvSpPr txBox="1"/>
          <p:nvPr/>
        </p:nvSpPr>
        <p:spPr>
          <a:xfrm>
            <a:off x="323850" y="3859213"/>
            <a:ext cx="6191250" cy="4937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考虑半波损失后光线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到达天线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的光程差为：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05" name="Text Box 33"/>
          <p:cNvSpPr txBox="1"/>
          <p:nvPr/>
        </p:nvSpPr>
        <p:spPr>
          <a:xfrm>
            <a:off x="539750" y="4436428"/>
            <a:ext cx="2087563" cy="4937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干涉相消条件：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34"/>
          <p:cNvGraphicFramePr>
            <a:graphicFrameLocks noGrp="1"/>
          </p:cNvGraphicFramePr>
          <p:nvPr>
            <p:ph sz="quarter" idx="3"/>
          </p:nvPr>
        </p:nvGraphicFramePr>
        <p:xfrm>
          <a:off x="2771775" y="4374515"/>
          <a:ext cx="287972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9" name="" r:id="rId5" imgW="1497965" imgH="393700" progId="Equation.DSMT4">
                  <p:embed/>
                </p:oleObj>
              </mc:Choice>
              <mc:Fallback>
                <p:oleObj name="" r:id="rId5" imgW="1497965" imgH="393700" progId="Equation.DSMT4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1775" y="4374515"/>
                        <a:ext cx="2879725" cy="7572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/>
          <p:nvPr/>
        </p:nvGrpSpPr>
        <p:grpSpPr>
          <a:xfrm>
            <a:off x="1187450" y="5085398"/>
            <a:ext cx="4103688" cy="1512887"/>
            <a:chOff x="340" y="2949"/>
            <a:chExt cx="2903" cy="1134"/>
          </a:xfrm>
        </p:grpSpPr>
        <p:graphicFrame>
          <p:nvGraphicFramePr>
            <p:cNvPr id="39971" name="Object 39"/>
            <p:cNvGraphicFramePr/>
            <p:nvPr/>
          </p:nvGraphicFramePr>
          <p:xfrm>
            <a:off x="431" y="3475"/>
            <a:ext cx="118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40" name="" r:id="rId7" imgW="812165" imgH="419100" progId="Equation.3">
                    <p:embed/>
                  </p:oleObj>
                </mc:Choice>
                <mc:Fallback>
                  <p:oleObj name="" r:id="rId7" imgW="812165" imgH="4191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31" y="3475"/>
                          <a:ext cx="1180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9972" name="Group 40"/>
            <p:cNvGrpSpPr/>
            <p:nvPr/>
          </p:nvGrpSpPr>
          <p:grpSpPr>
            <a:xfrm>
              <a:off x="340" y="2949"/>
              <a:ext cx="2903" cy="922"/>
              <a:chOff x="340" y="2949"/>
              <a:chExt cx="2903" cy="922"/>
            </a:xfrm>
          </p:grpSpPr>
          <p:graphicFrame>
            <p:nvGraphicFramePr>
              <p:cNvPr id="39973" name="Object 41"/>
              <p:cNvGraphicFramePr/>
              <p:nvPr/>
            </p:nvGraphicFramePr>
            <p:xfrm>
              <a:off x="340" y="3113"/>
              <a:ext cx="118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1" name="" r:id="rId9" imgW="811530" imgH="177800" progId="Equation.3">
                      <p:embed/>
                    </p:oleObj>
                  </mc:Choice>
                  <mc:Fallback>
                    <p:oleObj name="" r:id="rId9" imgW="811530" imgH="177800" progId="Equation.3">
                      <p:embed/>
                      <p:pic>
                        <p:nvPicPr>
                          <p:cNvPr id="0" name="图片 3198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340" y="3113"/>
                            <a:ext cx="1184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4" name="Object 42"/>
              <p:cNvGraphicFramePr/>
              <p:nvPr/>
            </p:nvGraphicFramePr>
            <p:xfrm>
              <a:off x="1519" y="3113"/>
              <a:ext cx="203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2" name="" r:id="rId11" imgW="139700" imgH="177800" progId="Equation.3">
                      <p:embed/>
                    </p:oleObj>
                  </mc:Choice>
                  <mc:Fallback>
                    <p:oleObj name="" r:id="rId11" imgW="139700" imgH="177800" progId="Equation.3">
                      <p:embed/>
                      <p:pic>
                        <p:nvPicPr>
                          <p:cNvPr id="0" name="图片 3199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519" y="3113"/>
                            <a:ext cx="203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5" name="Object 43"/>
              <p:cNvGraphicFramePr/>
              <p:nvPr/>
            </p:nvGraphicFramePr>
            <p:xfrm>
              <a:off x="1701" y="3113"/>
              <a:ext cx="629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3" name="" r:id="rId13" imgW="431165" imgH="177800" progId="Equation.3">
                      <p:embed/>
                    </p:oleObj>
                  </mc:Choice>
                  <mc:Fallback>
                    <p:oleObj name="" r:id="rId13" imgW="431165" imgH="177800" progId="Equation.3">
                      <p:embed/>
                      <p:pic>
                        <p:nvPicPr>
                          <p:cNvPr id="0" name="图片 3201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701" y="3113"/>
                            <a:ext cx="629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6" name="Object 44"/>
              <p:cNvGraphicFramePr/>
              <p:nvPr/>
            </p:nvGraphicFramePr>
            <p:xfrm>
              <a:off x="2290" y="2949"/>
              <a:ext cx="885" cy="5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4" name="" r:id="rId15" imgW="609600" imgH="393700" progId="Equation.3">
                      <p:embed/>
                    </p:oleObj>
                  </mc:Choice>
                  <mc:Fallback>
                    <p:oleObj name="" r:id="rId15" imgW="609600" imgH="393700" progId="Equation.3">
                      <p:embed/>
                      <p:pic>
                        <p:nvPicPr>
                          <p:cNvPr id="0" name="图片 320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2290" y="2949"/>
                            <a:ext cx="885" cy="5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7" name="Object 45"/>
              <p:cNvGraphicFramePr/>
              <p:nvPr/>
            </p:nvGraphicFramePr>
            <p:xfrm>
              <a:off x="1610" y="3612"/>
              <a:ext cx="105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5" name="" r:id="rId17" imgW="722630" imgH="177800" progId="Equation.3">
                      <p:embed/>
                    </p:oleObj>
                  </mc:Choice>
                  <mc:Fallback>
                    <p:oleObj name="" r:id="rId17" imgW="722630" imgH="177800" progId="Equation.3">
                      <p:embed/>
                      <p:pic>
                        <p:nvPicPr>
                          <p:cNvPr id="0" name="图片 320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610" y="3612"/>
                            <a:ext cx="1054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78" name="Object 46"/>
              <p:cNvGraphicFramePr/>
              <p:nvPr/>
            </p:nvGraphicFramePr>
            <p:xfrm>
              <a:off x="2653" y="3566"/>
              <a:ext cx="590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46" name="" r:id="rId19" imgW="405765" imgH="203200" progId="Equation.3">
                      <p:embed/>
                    </p:oleObj>
                  </mc:Choice>
                  <mc:Fallback>
                    <p:oleObj name="" r:id="rId19" imgW="405765" imgH="203200" progId="Equation.3">
                      <p:embed/>
                      <p:pic>
                        <p:nvPicPr>
                          <p:cNvPr id="0" name="图片 3202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653" y="3566"/>
                            <a:ext cx="590" cy="29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7" name="灯片编号占位符 3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239000" y="6400800"/>
            <a:ext cx="1905000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  <a:t>33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23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33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00" grpId="0" build="p"/>
      <p:bldP spid="233501" grpId="0"/>
      <p:bldP spid="233504" grpId="0"/>
    </p:bldLst>
  </p:timing>
</p:sld>
</file>

<file path=ppt/tags/tag1.xml><?xml version="1.0" encoding="utf-8"?>
<p:tagLst xmlns:p="http://schemas.openxmlformats.org/presentationml/2006/main">
  <p:tag name="TIMING" val="|12.2|23.7|14.7|39.8|9.5"/>
</p:tagLst>
</file>

<file path=ppt/tags/tag2.xml><?xml version="1.0" encoding="utf-8"?>
<p:tagLst xmlns:p="http://schemas.openxmlformats.org/presentationml/2006/main">
  <p:tag name="TIMING" val="|51.4|34.7|43.1"/>
</p:tagLst>
</file>

<file path=ppt/tags/tag3.xml><?xml version="1.0" encoding="utf-8"?>
<p:tagLst xmlns:p="http://schemas.openxmlformats.org/presentationml/2006/main">
  <p:tag name="TIMING" val="|0.3|5.8"/>
</p:tagLst>
</file>

<file path=ppt/tags/tag4.xml><?xml version="1.0" encoding="utf-8"?>
<p:tagLst xmlns:p="http://schemas.openxmlformats.org/presentationml/2006/main">
  <p:tag name="TIMING" val="|29.7|7.8"/>
</p:tagLst>
</file>

<file path=ppt/tags/tag5.xml><?xml version="1.0" encoding="utf-8"?>
<p:tagLst xmlns:p="http://schemas.openxmlformats.org/presentationml/2006/main">
  <p:tag name="TIMING" val="|5.6|68.5"/>
</p:tagLst>
</file>

<file path=ppt/tags/tag6.xml><?xml version="1.0" encoding="utf-8"?>
<p:tagLst xmlns:p="http://schemas.openxmlformats.org/presentationml/2006/main">
  <p:tag name="TIMING" val="|54.4|29.9|54.1|23.2|5.8|40.2|14.8|11.2"/>
</p:tagLst>
</file>

<file path=ppt/tags/tag7.xml><?xml version="1.0" encoding="utf-8"?>
<p:tagLst xmlns:p="http://schemas.openxmlformats.org/presentationml/2006/main">
  <p:tag name="TIMING" val="|6.0"/>
</p:tagLst>
</file>

<file path=ppt/tags/tag8.xml><?xml version="1.0" encoding="utf-8"?>
<p:tagLst xmlns:p="http://schemas.openxmlformats.org/presentationml/2006/main">
  <p:tag name="TIMING" val="|37.5|12.1|1.2|5.4|1.1|15.9|1.7|0.4|19.9|52.1|4.2|0.4|0.1|19.2|35.2|34.4"/>
</p:tagLst>
</file>

<file path=ppt/tags/tag9.xml><?xml version="1.0" encoding="utf-8"?>
<p:tagLst xmlns:p="http://schemas.openxmlformats.org/presentationml/2006/main">
  <p:tag name="COMMONDATA" val="eyJoZGlkIjoiMTM1NDJhMDJlY2I5MDBjYzAzMDk5NTk4ZjVkZGUzMDIifQ=="/>
  <p:tag name="commondata" val="eyJoZGlkIjoiYjVkZTY4OWU3ZGFmNjg5NTU0YjIzNTljMDQzMDI3ZjQ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0" tIns="0" rIns="0" bIns="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1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4738</Words>
  <Application>WPS 演示</Application>
  <PresentationFormat>全屏显示(4:3)</PresentationFormat>
  <Paragraphs>667</Paragraphs>
  <Slides>33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192</vt:i4>
      </vt:variant>
      <vt:variant>
        <vt:lpstr>幻灯片标题</vt:lpstr>
      </vt:variant>
      <vt:variant>
        <vt:i4>33</vt:i4>
      </vt:variant>
    </vt:vector>
  </HeadingPairs>
  <TitlesOfParts>
    <vt:vector size="242" baseType="lpstr">
      <vt:lpstr>Arial</vt:lpstr>
      <vt:lpstr>宋体</vt:lpstr>
      <vt:lpstr>Wingdings</vt:lpstr>
      <vt:lpstr>Times New Roman</vt:lpstr>
      <vt:lpstr>华文隶书</vt:lpstr>
      <vt:lpstr>楷体_GB2312</vt:lpstr>
      <vt:lpstr>新宋体</vt:lpstr>
      <vt:lpstr>华文新魏</vt:lpstr>
      <vt:lpstr>Symbol</vt:lpstr>
      <vt:lpstr>微软雅黑</vt:lpstr>
      <vt:lpstr>Arial Unicode MS</vt:lpstr>
      <vt:lpstr>仿宋_GB2312</vt:lpstr>
      <vt:lpstr>仿宋</vt:lpstr>
      <vt:lpstr>隶书</vt:lpstr>
      <vt:lpstr>默认设计模板</vt:lpstr>
      <vt:lpstr>自定义设计方案</vt:lpstr>
      <vt:lpstr>3_默认设计模板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Visio.Drawing.11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hitdaxuewulijiaoyanshi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gongdewei</dc:creator>
  <cp:lastModifiedBy>诺维茨基</cp:lastModifiedBy>
  <cp:revision>430</cp:revision>
  <dcterms:created xsi:type="dcterms:W3CDTF">2005-09-11T11:42:00Z</dcterms:created>
  <dcterms:modified xsi:type="dcterms:W3CDTF">2024-10-31T15:27:05Z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F9A189B6B6B64955A01C237A5C38D942</vt:lpwstr>
  </property>
</Properties>
</file>