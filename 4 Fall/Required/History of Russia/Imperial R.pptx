
<file path=[Content_Types].xml><?xml version="1.0" encoding="utf-8"?>
<Types xmlns="http://schemas.openxmlformats.org/package/2006/content-types">
  <Default Extension="png" ContentType="image/png"/>
  <Default Extension="bin" ContentType="image/unknown"/>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57" r:id="rId3"/>
    <p:sldId id="271" r:id="rId4"/>
    <p:sldId id="267" r:id="rId5"/>
    <p:sldId id="258" r:id="rId6"/>
    <p:sldId id="272" r:id="rId7"/>
    <p:sldId id="259" r:id="rId8"/>
    <p:sldId id="268" r:id="rId9"/>
    <p:sldId id="269" r:id="rId10"/>
    <p:sldId id="260" r:id="rId11"/>
    <p:sldId id="261" r:id="rId12"/>
    <p:sldId id="270" r:id="rId13"/>
    <p:sldId id="262" r:id="rId14"/>
    <p:sldId id="263" r:id="rId15"/>
    <p:sldId id="264" r:id="rId16"/>
    <p:sldId id="265" r:id="rId1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07" autoAdjust="0"/>
    <p:restoredTop sz="94660"/>
  </p:normalViewPr>
  <p:slideViewPr>
    <p:cSldViewPr snapToGrid="0">
      <p:cViewPr varScale="1">
        <p:scale>
          <a:sx n="99" d="100"/>
          <a:sy n="99" d="100"/>
        </p:scale>
        <p:origin x="120" y="1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8979D1-1A27-4A9E-A7A8-F68268D3BF4F}"/>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6E4ECABB-BD8C-4635-A9CD-953952DEEA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46F1D960-6CAB-492C-BE6B-B81745921C99}"/>
              </a:ext>
            </a:extLst>
          </p:cNvPr>
          <p:cNvSpPr>
            <a:spLocks noGrp="1"/>
          </p:cNvSpPr>
          <p:nvPr>
            <p:ph type="dt" sz="half" idx="10"/>
          </p:nvPr>
        </p:nvSpPr>
        <p:spPr/>
        <p:txBody>
          <a:bodyPr/>
          <a:lstStyle/>
          <a:p>
            <a:fld id="{5ABE4698-0471-4B7F-A109-60A408D61CD3}" type="datetimeFigureOut">
              <a:rPr lang="ru-RU" smtClean="0"/>
              <a:t>15.12.2025</a:t>
            </a:fld>
            <a:endParaRPr lang="ru-RU"/>
          </a:p>
        </p:txBody>
      </p:sp>
      <p:sp>
        <p:nvSpPr>
          <p:cNvPr id="5" name="Нижний колонтитул 4">
            <a:extLst>
              <a:ext uri="{FF2B5EF4-FFF2-40B4-BE49-F238E27FC236}">
                <a16:creationId xmlns:a16="http://schemas.microsoft.com/office/drawing/2014/main" id="{35CFDF7E-0C0D-403D-B687-DF57DFAD48A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81635F8-D22F-49A0-B4CD-86522E572D9B}"/>
              </a:ext>
            </a:extLst>
          </p:cNvPr>
          <p:cNvSpPr>
            <a:spLocks noGrp="1"/>
          </p:cNvSpPr>
          <p:nvPr>
            <p:ph type="sldNum" sz="quarter" idx="12"/>
          </p:nvPr>
        </p:nvSpPr>
        <p:spPr/>
        <p:txBody>
          <a:bodyPr/>
          <a:lstStyle/>
          <a:p>
            <a:fld id="{4D1A27DC-0C95-4041-AA9C-4C6A6323B763}" type="slidenum">
              <a:rPr lang="ru-RU" smtClean="0"/>
              <a:t>‹#›</a:t>
            </a:fld>
            <a:endParaRPr lang="ru-RU"/>
          </a:p>
        </p:txBody>
      </p:sp>
    </p:spTree>
    <p:extLst>
      <p:ext uri="{BB962C8B-B14F-4D97-AF65-F5344CB8AC3E}">
        <p14:creationId xmlns:p14="http://schemas.microsoft.com/office/powerpoint/2010/main" val="4170040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F7F52F-742B-4DFD-B40D-D1A0B416939B}"/>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849CF541-3A9A-4A00-9BBC-6D812289304C}"/>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2CDA42D-193F-4542-BB9A-1E2BB47C2086}"/>
              </a:ext>
            </a:extLst>
          </p:cNvPr>
          <p:cNvSpPr>
            <a:spLocks noGrp="1"/>
          </p:cNvSpPr>
          <p:nvPr>
            <p:ph type="dt" sz="half" idx="10"/>
          </p:nvPr>
        </p:nvSpPr>
        <p:spPr/>
        <p:txBody>
          <a:bodyPr/>
          <a:lstStyle/>
          <a:p>
            <a:fld id="{5ABE4698-0471-4B7F-A109-60A408D61CD3}" type="datetimeFigureOut">
              <a:rPr lang="ru-RU" smtClean="0"/>
              <a:t>15.12.2025</a:t>
            </a:fld>
            <a:endParaRPr lang="ru-RU"/>
          </a:p>
        </p:txBody>
      </p:sp>
      <p:sp>
        <p:nvSpPr>
          <p:cNvPr id="5" name="Нижний колонтитул 4">
            <a:extLst>
              <a:ext uri="{FF2B5EF4-FFF2-40B4-BE49-F238E27FC236}">
                <a16:creationId xmlns:a16="http://schemas.microsoft.com/office/drawing/2014/main" id="{EFD3B6D4-7641-48B2-8BD9-7F112B53478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4D02F1F-1C3F-4C66-A05E-706CA6D0CEA4}"/>
              </a:ext>
            </a:extLst>
          </p:cNvPr>
          <p:cNvSpPr>
            <a:spLocks noGrp="1"/>
          </p:cNvSpPr>
          <p:nvPr>
            <p:ph type="sldNum" sz="quarter" idx="12"/>
          </p:nvPr>
        </p:nvSpPr>
        <p:spPr/>
        <p:txBody>
          <a:bodyPr/>
          <a:lstStyle/>
          <a:p>
            <a:fld id="{4D1A27DC-0C95-4041-AA9C-4C6A6323B763}" type="slidenum">
              <a:rPr lang="ru-RU" smtClean="0"/>
              <a:t>‹#›</a:t>
            </a:fld>
            <a:endParaRPr lang="ru-RU"/>
          </a:p>
        </p:txBody>
      </p:sp>
    </p:spTree>
    <p:extLst>
      <p:ext uri="{BB962C8B-B14F-4D97-AF65-F5344CB8AC3E}">
        <p14:creationId xmlns:p14="http://schemas.microsoft.com/office/powerpoint/2010/main" val="540193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E0F17C6-E6C3-411A-B07F-08B7C08071BD}"/>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D319C2C3-87A5-4A10-85EF-5D6DE30286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8347D2D1-9CA0-48DB-B99B-4B633794A135}"/>
              </a:ext>
            </a:extLst>
          </p:cNvPr>
          <p:cNvSpPr>
            <a:spLocks noGrp="1"/>
          </p:cNvSpPr>
          <p:nvPr>
            <p:ph type="dt" sz="half" idx="10"/>
          </p:nvPr>
        </p:nvSpPr>
        <p:spPr/>
        <p:txBody>
          <a:bodyPr/>
          <a:lstStyle/>
          <a:p>
            <a:fld id="{5ABE4698-0471-4B7F-A109-60A408D61CD3}" type="datetimeFigureOut">
              <a:rPr lang="ru-RU" smtClean="0"/>
              <a:t>15.12.2025</a:t>
            </a:fld>
            <a:endParaRPr lang="ru-RU"/>
          </a:p>
        </p:txBody>
      </p:sp>
      <p:sp>
        <p:nvSpPr>
          <p:cNvPr id="5" name="Нижний колонтитул 4">
            <a:extLst>
              <a:ext uri="{FF2B5EF4-FFF2-40B4-BE49-F238E27FC236}">
                <a16:creationId xmlns:a16="http://schemas.microsoft.com/office/drawing/2014/main" id="{299A3DA2-0CD1-4F1B-AE4B-6871013C113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FEC4733-F5FA-4461-A46A-9933D5B5C169}"/>
              </a:ext>
            </a:extLst>
          </p:cNvPr>
          <p:cNvSpPr>
            <a:spLocks noGrp="1"/>
          </p:cNvSpPr>
          <p:nvPr>
            <p:ph type="sldNum" sz="quarter" idx="12"/>
          </p:nvPr>
        </p:nvSpPr>
        <p:spPr/>
        <p:txBody>
          <a:bodyPr/>
          <a:lstStyle/>
          <a:p>
            <a:fld id="{4D1A27DC-0C95-4041-AA9C-4C6A6323B763}" type="slidenum">
              <a:rPr lang="ru-RU" smtClean="0"/>
              <a:t>‹#›</a:t>
            </a:fld>
            <a:endParaRPr lang="ru-RU"/>
          </a:p>
        </p:txBody>
      </p:sp>
    </p:spTree>
    <p:extLst>
      <p:ext uri="{BB962C8B-B14F-4D97-AF65-F5344CB8AC3E}">
        <p14:creationId xmlns:p14="http://schemas.microsoft.com/office/powerpoint/2010/main" val="13514620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B86759-DE61-4FAF-B4F4-283E70E4E8B2}"/>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4B452A5E-A3B9-41F4-BBC7-3BEBC3CACECD}"/>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0EFA7A3B-CE9D-45AF-A6D7-23CFB64F615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D888394C-BC51-49C6-82E3-7CEBE14BE037}"/>
              </a:ext>
            </a:extLst>
          </p:cNvPr>
          <p:cNvSpPr>
            <a:spLocks noGrp="1"/>
          </p:cNvSpPr>
          <p:nvPr>
            <p:ph type="dt" sz="half" idx="10"/>
          </p:nvPr>
        </p:nvSpPr>
        <p:spPr/>
        <p:txBody>
          <a:bodyPr/>
          <a:lstStyle/>
          <a:p>
            <a:fld id="{5ABE4698-0471-4B7F-A109-60A408D61CD3}" type="datetimeFigureOut">
              <a:rPr lang="ru-RU" smtClean="0"/>
              <a:t>15.12.2025</a:t>
            </a:fld>
            <a:endParaRPr lang="ru-RU"/>
          </a:p>
        </p:txBody>
      </p:sp>
      <p:sp>
        <p:nvSpPr>
          <p:cNvPr id="6" name="Нижний колонтитул 5">
            <a:extLst>
              <a:ext uri="{FF2B5EF4-FFF2-40B4-BE49-F238E27FC236}">
                <a16:creationId xmlns:a16="http://schemas.microsoft.com/office/drawing/2014/main" id="{D962BCB5-FA6D-43FE-8490-78D3493BE016}"/>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B487C1BB-9F80-415F-A235-75CC6510A550}"/>
              </a:ext>
            </a:extLst>
          </p:cNvPr>
          <p:cNvSpPr>
            <a:spLocks noGrp="1"/>
          </p:cNvSpPr>
          <p:nvPr>
            <p:ph type="sldNum" sz="quarter" idx="12"/>
          </p:nvPr>
        </p:nvSpPr>
        <p:spPr/>
        <p:txBody>
          <a:bodyPr/>
          <a:lstStyle/>
          <a:p>
            <a:fld id="{4D1A27DC-0C95-4041-AA9C-4C6A6323B763}" type="slidenum">
              <a:rPr lang="ru-RU" smtClean="0"/>
              <a:t>‹#›</a:t>
            </a:fld>
            <a:endParaRPr lang="ru-RU"/>
          </a:p>
        </p:txBody>
      </p:sp>
    </p:spTree>
    <p:extLst>
      <p:ext uri="{BB962C8B-B14F-4D97-AF65-F5344CB8AC3E}">
        <p14:creationId xmlns:p14="http://schemas.microsoft.com/office/powerpoint/2010/main" val="2436949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8824FC6-A2EE-44DE-B57F-56FE361CEB32}"/>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F168E8B7-2F83-47EB-964E-2E98C2F34B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DF86E7F9-EC26-41B1-A1CB-A36A3FB5378B}"/>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BF9F9760-8190-4877-8637-382010AE91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9D46D666-E9A6-49AE-923C-AF853D0EB8DA}"/>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A018D4DF-2877-40F9-BCE3-409F30FBAF0F}"/>
              </a:ext>
            </a:extLst>
          </p:cNvPr>
          <p:cNvSpPr>
            <a:spLocks noGrp="1"/>
          </p:cNvSpPr>
          <p:nvPr>
            <p:ph type="dt" sz="half" idx="10"/>
          </p:nvPr>
        </p:nvSpPr>
        <p:spPr/>
        <p:txBody>
          <a:bodyPr/>
          <a:lstStyle/>
          <a:p>
            <a:fld id="{5ABE4698-0471-4B7F-A109-60A408D61CD3}" type="datetimeFigureOut">
              <a:rPr lang="ru-RU" smtClean="0"/>
              <a:t>15.12.2025</a:t>
            </a:fld>
            <a:endParaRPr lang="ru-RU"/>
          </a:p>
        </p:txBody>
      </p:sp>
      <p:sp>
        <p:nvSpPr>
          <p:cNvPr id="8" name="Нижний колонтитул 7">
            <a:extLst>
              <a:ext uri="{FF2B5EF4-FFF2-40B4-BE49-F238E27FC236}">
                <a16:creationId xmlns:a16="http://schemas.microsoft.com/office/drawing/2014/main" id="{113B3B24-3C34-4848-B88D-A4AF9629906A}"/>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BF406F26-8B30-4D9E-A969-8E8EA027BE3E}"/>
              </a:ext>
            </a:extLst>
          </p:cNvPr>
          <p:cNvSpPr>
            <a:spLocks noGrp="1"/>
          </p:cNvSpPr>
          <p:nvPr>
            <p:ph type="sldNum" sz="quarter" idx="12"/>
          </p:nvPr>
        </p:nvSpPr>
        <p:spPr/>
        <p:txBody>
          <a:bodyPr/>
          <a:lstStyle/>
          <a:p>
            <a:fld id="{4D1A27DC-0C95-4041-AA9C-4C6A6323B763}" type="slidenum">
              <a:rPr lang="ru-RU" smtClean="0"/>
              <a:t>‹#›</a:t>
            </a:fld>
            <a:endParaRPr lang="ru-RU"/>
          </a:p>
        </p:txBody>
      </p:sp>
    </p:spTree>
    <p:extLst>
      <p:ext uri="{BB962C8B-B14F-4D97-AF65-F5344CB8AC3E}">
        <p14:creationId xmlns:p14="http://schemas.microsoft.com/office/powerpoint/2010/main" val="2790019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34DE318-EE45-4174-8B69-4B88852776B5}"/>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6FB6CDD8-0399-4EEE-ADB2-AA737A982547}"/>
              </a:ext>
            </a:extLst>
          </p:cNvPr>
          <p:cNvSpPr>
            <a:spLocks noGrp="1"/>
          </p:cNvSpPr>
          <p:nvPr>
            <p:ph type="dt" sz="half" idx="10"/>
          </p:nvPr>
        </p:nvSpPr>
        <p:spPr/>
        <p:txBody>
          <a:bodyPr/>
          <a:lstStyle/>
          <a:p>
            <a:fld id="{5ABE4698-0471-4B7F-A109-60A408D61CD3}" type="datetimeFigureOut">
              <a:rPr lang="ru-RU" smtClean="0"/>
              <a:t>15.12.2025</a:t>
            </a:fld>
            <a:endParaRPr lang="ru-RU"/>
          </a:p>
        </p:txBody>
      </p:sp>
      <p:sp>
        <p:nvSpPr>
          <p:cNvPr id="4" name="Нижний колонтитул 3">
            <a:extLst>
              <a:ext uri="{FF2B5EF4-FFF2-40B4-BE49-F238E27FC236}">
                <a16:creationId xmlns:a16="http://schemas.microsoft.com/office/drawing/2014/main" id="{79C8EAD0-80B6-4F58-80CE-AB6C48A8AF1E}"/>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058B949-61B7-4894-968F-977D7FAD6C4E}"/>
              </a:ext>
            </a:extLst>
          </p:cNvPr>
          <p:cNvSpPr>
            <a:spLocks noGrp="1"/>
          </p:cNvSpPr>
          <p:nvPr>
            <p:ph type="sldNum" sz="quarter" idx="12"/>
          </p:nvPr>
        </p:nvSpPr>
        <p:spPr/>
        <p:txBody>
          <a:bodyPr/>
          <a:lstStyle/>
          <a:p>
            <a:fld id="{4D1A27DC-0C95-4041-AA9C-4C6A6323B763}" type="slidenum">
              <a:rPr lang="ru-RU" smtClean="0"/>
              <a:t>‹#›</a:t>
            </a:fld>
            <a:endParaRPr lang="ru-RU"/>
          </a:p>
        </p:txBody>
      </p:sp>
    </p:spTree>
    <p:extLst>
      <p:ext uri="{BB962C8B-B14F-4D97-AF65-F5344CB8AC3E}">
        <p14:creationId xmlns:p14="http://schemas.microsoft.com/office/powerpoint/2010/main" val="1327298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F497B736-3265-4611-8A72-196D8CA60F84}"/>
              </a:ext>
            </a:extLst>
          </p:cNvPr>
          <p:cNvSpPr>
            <a:spLocks noGrp="1"/>
          </p:cNvSpPr>
          <p:nvPr>
            <p:ph type="dt" sz="half" idx="10"/>
          </p:nvPr>
        </p:nvSpPr>
        <p:spPr/>
        <p:txBody>
          <a:bodyPr/>
          <a:lstStyle/>
          <a:p>
            <a:fld id="{5ABE4698-0471-4B7F-A109-60A408D61CD3}" type="datetimeFigureOut">
              <a:rPr lang="ru-RU" smtClean="0"/>
              <a:t>15.12.2025</a:t>
            </a:fld>
            <a:endParaRPr lang="ru-RU"/>
          </a:p>
        </p:txBody>
      </p:sp>
      <p:sp>
        <p:nvSpPr>
          <p:cNvPr id="3" name="Нижний колонтитул 2">
            <a:extLst>
              <a:ext uri="{FF2B5EF4-FFF2-40B4-BE49-F238E27FC236}">
                <a16:creationId xmlns:a16="http://schemas.microsoft.com/office/drawing/2014/main" id="{05A55DAD-6F66-4413-B237-B2C40AD23A49}"/>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4EFD649E-8EA6-481B-94B6-6D0A3330D056}"/>
              </a:ext>
            </a:extLst>
          </p:cNvPr>
          <p:cNvSpPr>
            <a:spLocks noGrp="1"/>
          </p:cNvSpPr>
          <p:nvPr>
            <p:ph type="sldNum" sz="quarter" idx="12"/>
          </p:nvPr>
        </p:nvSpPr>
        <p:spPr/>
        <p:txBody>
          <a:bodyPr/>
          <a:lstStyle/>
          <a:p>
            <a:fld id="{4D1A27DC-0C95-4041-AA9C-4C6A6323B763}" type="slidenum">
              <a:rPr lang="ru-RU" smtClean="0"/>
              <a:t>‹#›</a:t>
            </a:fld>
            <a:endParaRPr lang="ru-RU"/>
          </a:p>
        </p:txBody>
      </p:sp>
    </p:spTree>
    <p:extLst>
      <p:ext uri="{BB962C8B-B14F-4D97-AF65-F5344CB8AC3E}">
        <p14:creationId xmlns:p14="http://schemas.microsoft.com/office/powerpoint/2010/main" val="2046910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D289A9-478F-458E-8709-FCEC3DA2E56F}"/>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2BF49498-48AA-4326-A4FE-B80CF77DC6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9EDCCFF8-98E1-463D-8894-8522853D25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5CF0DC06-EB2C-466C-952D-E4C7CE1806DD}"/>
              </a:ext>
            </a:extLst>
          </p:cNvPr>
          <p:cNvSpPr>
            <a:spLocks noGrp="1"/>
          </p:cNvSpPr>
          <p:nvPr>
            <p:ph type="dt" sz="half" idx="10"/>
          </p:nvPr>
        </p:nvSpPr>
        <p:spPr/>
        <p:txBody>
          <a:bodyPr/>
          <a:lstStyle/>
          <a:p>
            <a:fld id="{5ABE4698-0471-4B7F-A109-60A408D61CD3}" type="datetimeFigureOut">
              <a:rPr lang="ru-RU" smtClean="0"/>
              <a:t>15.12.2025</a:t>
            </a:fld>
            <a:endParaRPr lang="ru-RU"/>
          </a:p>
        </p:txBody>
      </p:sp>
      <p:sp>
        <p:nvSpPr>
          <p:cNvPr id="6" name="Нижний колонтитул 5">
            <a:extLst>
              <a:ext uri="{FF2B5EF4-FFF2-40B4-BE49-F238E27FC236}">
                <a16:creationId xmlns:a16="http://schemas.microsoft.com/office/drawing/2014/main" id="{C8A30445-232B-4B24-8583-192056834656}"/>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9BA00C92-1F4B-46FE-A370-FCDC982E7FA0}"/>
              </a:ext>
            </a:extLst>
          </p:cNvPr>
          <p:cNvSpPr>
            <a:spLocks noGrp="1"/>
          </p:cNvSpPr>
          <p:nvPr>
            <p:ph type="sldNum" sz="quarter" idx="12"/>
          </p:nvPr>
        </p:nvSpPr>
        <p:spPr/>
        <p:txBody>
          <a:bodyPr/>
          <a:lstStyle/>
          <a:p>
            <a:fld id="{4D1A27DC-0C95-4041-AA9C-4C6A6323B763}" type="slidenum">
              <a:rPr lang="ru-RU" smtClean="0"/>
              <a:t>‹#›</a:t>
            </a:fld>
            <a:endParaRPr lang="ru-RU"/>
          </a:p>
        </p:txBody>
      </p:sp>
    </p:spTree>
    <p:extLst>
      <p:ext uri="{BB962C8B-B14F-4D97-AF65-F5344CB8AC3E}">
        <p14:creationId xmlns:p14="http://schemas.microsoft.com/office/powerpoint/2010/main" val="3960355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8888EC-8B0A-4B5B-AE51-8B762C1A9C72}"/>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C0F75735-41A7-4A00-A7D0-25A7E33A2E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CD589D0D-01B0-448F-81D3-EB0087D704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6E3E8501-DE8E-42F9-A61C-49FA1D058E3D}"/>
              </a:ext>
            </a:extLst>
          </p:cNvPr>
          <p:cNvSpPr>
            <a:spLocks noGrp="1"/>
          </p:cNvSpPr>
          <p:nvPr>
            <p:ph type="dt" sz="half" idx="10"/>
          </p:nvPr>
        </p:nvSpPr>
        <p:spPr/>
        <p:txBody>
          <a:bodyPr/>
          <a:lstStyle/>
          <a:p>
            <a:fld id="{5ABE4698-0471-4B7F-A109-60A408D61CD3}" type="datetimeFigureOut">
              <a:rPr lang="ru-RU" smtClean="0"/>
              <a:t>15.12.2025</a:t>
            </a:fld>
            <a:endParaRPr lang="ru-RU"/>
          </a:p>
        </p:txBody>
      </p:sp>
      <p:sp>
        <p:nvSpPr>
          <p:cNvPr id="6" name="Нижний колонтитул 5">
            <a:extLst>
              <a:ext uri="{FF2B5EF4-FFF2-40B4-BE49-F238E27FC236}">
                <a16:creationId xmlns:a16="http://schemas.microsoft.com/office/drawing/2014/main" id="{7A047393-162E-45E4-9A00-A9AEED8D3C9D}"/>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C637FFCF-9529-41C6-89F1-734351145D56}"/>
              </a:ext>
            </a:extLst>
          </p:cNvPr>
          <p:cNvSpPr>
            <a:spLocks noGrp="1"/>
          </p:cNvSpPr>
          <p:nvPr>
            <p:ph type="sldNum" sz="quarter" idx="12"/>
          </p:nvPr>
        </p:nvSpPr>
        <p:spPr/>
        <p:txBody>
          <a:bodyPr/>
          <a:lstStyle/>
          <a:p>
            <a:fld id="{4D1A27DC-0C95-4041-AA9C-4C6A6323B763}" type="slidenum">
              <a:rPr lang="ru-RU" smtClean="0"/>
              <a:t>‹#›</a:t>
            </a:fld>
            <a:endParaRPr lang="ru-RU"/>
          </a:p>
        </p:txBody>
      </p:sp>
    </p:spTree>
    <p:extLst>
      <p:ext uri="{BB962C8B-B14F-4D97-AF65-F5344CB8AC3E}">
        <p14:creationId xmlns:p14="http://schemas.microsoft.com/office/powerpoint/2010/main" val="711181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9654A8-31C9-4E42-8C23-5C8788D49B7B}"/>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0239F658-8250-4E94-9746-9FE8A0A23309}"/>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199AA15-E357-451B-91FB-39841014F41A}"/>
              </a:ext>
            </a:extLst>
          </p:cNvPr>
          <p:cNvSpPr>
            <a:spLocks noGrp="1"/>
          </p:cNvSpPr>
          <p:nvPr>
            <p:ph type="dt" sz="half" idx="10"/>
          </p:nvPr>
        </p:nvSpPr>
        <p:spPr/>
        <p:txBody>
          <a:bodyPr/>
          <a:lstStyle/>
          <a:p>
            <a:fld id="{5ABE4698-0471-4B7F-A109-60A408D61CD3}" type="datetimeFigureOut">
              <a:rPr lang="ru-RU" smtClean="0"/>
              <a:t>15.12.2025</a:t>
            </a:fld>
            <a:endParaRPr lang="ru-RU"/>
          </a:p>
        </p:txBody>
      </p:sp>
      <p:sp>
        <p:nvSpPr>
          <p:cNvPr id="5" name="Нижний колонтитул 4">
            <a:extLst>
              <a:ext uri="{FF2B5EF4-FFF2-40B4-BE49-F238E27FC236}">
                <a16:creationId xmlns:a16="http://schemas.microsoft.com/office/drawing/2014/main" id="{09F05425-A107-45DC-B312-EB07D0DD82F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6D4C9639-C7DD-4114-88B2-DE9E87383D2C}"/>
              </a:ext>
            </a:extLst>
          </p:cNvPr>
          <p:cNvSpPr>
            <a:spLocks noGrp="1"/>
          </p:cNvSpPr>
          <p:nvPr>
            <p:ph type="sldNum" sz="quarter" idx="12"/>
          </p:nvPr>
        </p:nvSpPr>
        <p:spPr/>
        <p:txBody>
          <a:bodyPr/>
          <a:lstStyle/>
          <a:p>
            <a:fld id="{4D1A27DC-0C95-4041-AA9C-4C6A6323B763}" type="slidenum">
              <a:rPr lang="ru-RU" smtClean="0"/>
              <a:t>‹#›</a:t>
            </a:fld>
            <a:endParaRPr lang="ru-RU"/>
          </a:p>
        </p:txBody>
      </p:sp>
    </p:spTree>
    <p:extLst>
      <p:ext uri="{BB962C8B-B14F-4D97-AF65-F5344CB8AC3E}">
        <p14:creationId xmlns:p14="http://schemas.microsoft.com/office/powerpoint/2010/main" val="3217139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F2AA5764-85E2-4654-9386-6BD49FE77B70}"/>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8578373D-959B-4056-95E3-139981E616E4}"/>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465D840-00E4-4F7B-BD4F-E214968EA921}"/>
              </a:ext>
            </a:extLst>
          </p:cNvPr>
          <p:cNvSpPr>
            <a:spLocks noGrp="1"/>
          </p:cNvSpPr>
          <p:nvPr>
            <p:ph type="dt" sz="half" idx="10"/>
          </p:nvPr>
        </p:nvSpPr>
        <p:spPr/>
        <p:txBody>
          <a:bodyPr/>
          <a:lstStyle/>
          <a:p>
            <a:fld id="{5ABE4698-0471-4B7F-A109-60A408D61CD3}" type="datetimeFigureOut">
              <a:rPr lang="ru-RU" smtClean="0"/>
              <a:t>15.12.2025</a:t>
            </a:fld>
            <a:endParaRPr lang="ru-RU"/>
          </a:p>
        </p:txBody>
      </p:sp>
      <p:sp>
        <p:nvSpPr>
          <p:cNvPr id="5" name="Нижний колонтитул 4">
            <a:extLst>
              <a:ext uri="{FF2B5EF4-FFF2-40B4-BE49-F238E27FC236}">
                <a16:creationId xmlns:a16="http://schemas.microsoft.com/office/drawing/2014/main" id="{49812FF6-2427-4AAB-8ED2-F3A1DA5C489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B98FFA8-3EAE-4456-A2A6-1D7C345E3BC4}"/>
              </a:ext>
            </a:extLst>
          </p:cNvPr>
          <p:cNvSpPr>
            <a:spLocks noGrp="1"/>
          </p:cNvSpPr>
          <p:nvPr>
            <p:ph type="sldNum" sz="quarter" idx="12"/>
          </p:nvPr>
        </p:nvSpPr>
        <p:spPr/>
        <p:txBody>
          <a:bodyPr/>
          <a:lstStyle/>
          <a:p>
            <a:fld id="{4D1A27DC-0C95-4041-AA9C-4C6A6323B763}" type="slidenum">
              <a:rPr lang="ru-RU" smtClean="0"/>
              <a:t>‹#›</a:t>
            </a:fld>
            <a:endParaRPr lang="ru-RU"/>
          </a:p>
        </p:txBody>
      </p:sp>
    </p:spTree>
    <p:extLst>
      <p:ext uri="{BB962C8B-B14F-4D97-AF65-F5344CB8AC3E}">
        <p14:creationId xmlns:p14="http://schemas.microsoft.com/office/powerpoint/2010/main" val="2766244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783DA05-0A5B-4DB1-ABB3-917AAC505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8DDFABA7-98FC-45DF-A405-945FAC626F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2890B00-805E-4657-83F5-67644E78CA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BE4698-0471-4B7F-A109-60A408D61CD3}" type="datetimeFigureOut">
              <a:rPr lang="ru-RU" smtClean="0"/>
              <a:t>15.12.2025</a:t>
            </a:fld>
            <a:endParaRPr lang="ru-RU"/>
          </a:p>
        </p:txBody>
      </p:sp>
      <p:sp>
        <p:nvSpPr>
          <p:cNvPr id="5" name="Нижний колонтитул 4">
            <a:extLst>
              <a:ext uri="{FF2B5EF4-FFF2-40B4-BE49-F238E27FC236}">
                <a16:creationId xmlns:a16="http://schemas.microsoft.com/office/drawing/2014/main" id="{0783FAA7-3659-4F1B-9199-DD350AB9DC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11559BBB-F062-4E87-AEE2-23E7FF3B16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1A27DC-0C95-4041-AA9C-4C6A6323B763}" type="slidenum">
              <a:rPr lang="ru-RU" smtClean="0"/>
              <a:t>‹#›</a:t>
            </a:fld>
            <a:endParaRPr lang="ru-RU"/>
          </a:p>
        </p:txBody>
      </p:sp>
    </p:spTree>
    <p:extLst>
      <p:ext uri="{BB962C8B-B14F-4D97-AF65-F5344CB8AC3E}">
        <p14:creationId xmlns:p14="http://schemas.microsoft.com/office/powerpoint/2010/main" val="9206807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pPr algn="ctr"/>
            <a:r>
              <a:rPr lang="en-US" sz="4800" b="1" dirty="0">
                <a:effectLst/>
                <a:latin typeface="Times New Roman" panose="02020603050405020304" pitchFamily="18" charset="0"/>
                <a:cs typeface="Times New Roman" panose="02020603050405020304" pitchFamily="18" charset="0"/>
              </a:rPr>
              <a:t>The Imperial Period of Russian History (1721-1917)</a:t>
            </a:r>
            <a:endParaRPr lang="ru-RU" sz="4800" b="1" dirty="0">
              <a:latin typeface="Times New Roman" panose="02020603050405020304" pitchFamily="18" charset="0"/>
              <a:cs typeface="Times New Roman" panose="02020603050405020304" pitchFamily="18" charset="0"/>
            </a:endParaRPr>
          </a:p>
        </p:txBody>
      </p:sp>
      <p:sp>
        <p:nvSpPr>
          <p:cNvPr id="3" name="Текст 2"/>
          <p:cNvSpPr>
            <a:spLocks noGrp="1"/>
          </p:cNvSpPr>
          <p:nvPr>
            <p:ph type="body" idx="1"/>
          </p:nvPr>
        </p:nvSpPr>
        <p:spPr/>
        <p:txBody>
          <a:bodyPr/>
          <a:lstStyle/>
          <a:p>
            <a:pPr algn="ctr"/>
            <a:r>
              <a:rPr lang="en-US" dirty="0">
                <a:latin typeface="Times New Roman" panose="02020603050405020304" pitchFamily="18" charset="0"/>
                <a:cs typeface="Times New Roman" panose="02020603050405020304" pitchFamily="18" charset="0"/>
              </a:rPr>
              <a:t>Peter I the Great (1682-1725)</a:t>
            </a:r>
            <a:endParaRPr lang="ru-RU" dirty="0">
              <a:latin typeface="Times New Roman" panose="02020603050405020304" pitchFamily="18" charset="0"/>
              <a:cs typeface="Times New Roman" panose="02020603050405020304" pitchFamily="18" charset="0"/>
            </a:endParaRPr>
          </a:p>
        </p:txBody>
      </p:sp>
      <p:sp>
        <p:nvSpPr>
          <p:cNvPr id="5" name="Текст 4"/>
          <p:cNvSpPr>
            <a:spLocks noGrp="1"/>
          </p:cNvSpPr>
          <p:nvPr>
            <p:ph type="body" sz="quarter" idx="3"/>
          </p:nvPr>
        </p:nvSpPr>
        <p:spPr/>
        <p:txBody>
          <a:bodyPr/>
          <a:lstStyle/>
          <a:p>
            <a:pPr algn="ctr"/>
            <a:r>
              <a:rPr lang="en-US" dirty="0">
                <a:effectLst/>
                <a:latin typeface="Times New Roman" panose="02020603050405020304" pitchFamily="18" charset="0"/>
                <a:cs typeface="Times New Roman" panose="02020603050405020304" pitchFamily="18" charset="0"/>
              </a:rPr>
              <a:t>Nicholas II (1894-1917)</a:t>
            </a:r>
            <a:endParaRPr lang="ru-RU" dirty="0">
              <a:latin typeface="Times New Roman" panose="02020603050405020304" pitchFamily="18" charset="0"/>
              <a:cs typeface="Times New Roman" panose="02020603050405020304" pitchFamily="18" charset="0"/>
            </a:endParaRPr>
          </a:p>
        </p:txBody>
      </p:sp>
      <p:pic>
        <p:nvPicPr>
          <p:cNvPr id="10" name="Объект 9"/>
          <p:cNvPicPr>
            <a:picLocks noGrp="1" noChangeAspect="1"/>
          </p:cNvPicPr>
          <p:nvPr>
            <p:ph sz="half" idx="2"/>
          </p:nvPr>
        </p:nvPicPr>
        <p:blipFill>
          <a:blip r:embed="rId2"/>
          <a:stretch>
            <a:fillRect/>
          </a:stretch>
        </p:blipFill>
        <p:spPr>
          <a:xfrm>
            <a:off x="839788" y="2505076"/>
            <a:ext cx="5157787" cy="3871232"/>
          </a:xfrm>
          <a:prstGeom prst="rect">
            <a:avLst/>
          </a:prstGeom>
        </p:spPr>
      </p:pic>
      <p:pic>
        <p:nvPicPr>
          <p:cNvPr id="14" name="Объект 13"/>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172200" y="2505075"/>
            <a:ext cx="5183188" cy="3871233"/>
          </a:xfrm>
        </p:spPr>
      </p:pic>
    </p:spTree>
    <p:extLst>
      <p:ext uri="{BB962C8B-B14F-4D97-AF65-F5344CB8AC3E}">
        <p14:creationId xmlns:p14="http://schemas.microsoft.com/office/powerpoint/2010/main" val="40459510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a:extLst>
              <a:ext uri="{FF2B5EF4-FFF2-40B4-BE49-F238E27FC236}">
                <a16:creationId xmlns:a16="http://schemas.microsoft.com/office/drawing/2014/main" id="{C40E6E14-D341-45B0-8600-0610A68AFA8B}"/>
              </a:ext>
            </a:extLst>
          </p:cNvPr>
          <p:cNvPicPr>
            <a:picLocks noGrp="1" noChangeAspect="1"/>
          </p:cNvPicPr>
          <p:nvPr>
            <p:ph idx="1"/>
          </p:nvPr>
        </p:nvPicPr>
        <p:blipFill>
          <a:blip r:embed="rId2"/>
          <a:stretch>
            <a:fillRect/>
          </a:stretch>
        </p:blipFill>
        <p:spPr>
          <a:xfrm>
            <a:off x="962108" y="979169"/>
            <a:ext cx="3864334" cy="5643399"/>
          </a:xfrm>
          <a:prstGeom prst="rect">
            <a:avLst/>
          </a:prstGeom>
        </p:spPr>
      </p:pic>
      <p:sp>
        <p:nvSpPr>
          <p:cNvPr id="2" name="Заголовок 1">
            <a:extLst>
              <a:ext uri="{FF2B5EF4-FFF2-40B4-BE49-F238E27FC236}">
                <a16:creationId xmlns:a16="http://schemas.microsoft.com/office/drawing/2014/main" id="{939BFB16-4BE8-4D44-8D40-34885728A30E}"/>
              </a:ext>
            </a:extLst>
          </p:cNvPr>
          <p:cNvSpPr>
            <a:spLocks noGrp="1"/>
          </p:cNvSpPr>
          <p:nvPr>
            <p:ph type="title"/>
          </p:nvPr>
        </p:nvSpPr>
        <p:spPr>
          <a:xfrm>
            <a:off x="2368187" y="150630"/>
            <a:ext cx="7455624" cy="828539"/>
          </a:xfrm>
        </p:spPr>
        <p:txBody>
          <a:bodyPr>
            <a:normAutofit/>
          </a:bodyPr>
          <a:lstStyle/>
          <a:p>
            <a:r>
              <a:rPr lang="en-US" sz="4800" b="1" u="sng" dirty="0">
                <a:latin typeface="Times New Roman" panose="02020603050405020304" pitchFamily="18" charset="0"/>
                <a:ea typeface="SimSun" panose="02010600030101010101" pitchFamily="2" charset="-122"/>
                <a:cs typeface="Times New Roman" panose="02020603050405020304" pitchFamily="18" charset="0"/>
              </a:rPr>
              <a:t>Peter the Great</a:t>
            </a:r>
            <a:r>
              <a:rPr lang="ru-RU" sz="4800" b="1" u="sng" dirty="0">
                <a:latin typeface="Times New Roman" panose="02020603050405020304" pitchFamily="18" charset="0"/>
                <a:ea typeface="SimSun" panose="02010600030101010101" pitchFamily="2" charset="-122"/>
                <a:cs typeface="Times New Roman" panose="02020603050405020304" pitchFamily="18" charset="0"/>
              </a:rPr>
              <a:t> (1682-1721)</a:t>
            </a:r>
          </a:p>
        </p:txBody>
      </p:sp>
      <p:sp>
        <p:nvSpPr>
          <p:cNvPr id="3" name="Прямоугольник 2"/>
          <p:cNvSpPr/>
          <p:nvPr/>
        </p:nvSpPr>
        <p:spPr>
          <a:xfrm>
            <a:off x="4905954" y="1028343"/>
            <a:ext cx="6257677" cy="6001643"/>
          </a:xfrm>
          <a:prstGeom prst="rect">
            <a:avLst/>
          </a:prstGeom>
        </p:spPr>
        <p:txBody>
          <a:bodyPr wrap="square">
            <a:spAutoFit/>
          </a:bodyPr>
          <a:lstStyle/>
          <a:p>
            <a:r>
              <a:rPr lang="en-US" sz="2400" b="1" dirty="0" smtClean="0">
                <a:latin typeface="Times New Roman" panose="02020603050405020304" pitchFamily="18" charset="0"/>
                <a:cs typeface="Times New Roman" panose="02020603050405020304" pitchFamily="18" charset="0"/>
              </a:rPr>
              <a:t>Foreign Policy 1689-1725.</a:t>
            </a:r>
          </a:p>
          <a:p>
            <a:r>
              <a:rPr lang="en-US" b="1" dirty="0" smtClean="0">
                <a:latin typeface="Times New Roman" panose="02020603050405020304" pitchFamily="18" charset="0"/>
                <a:cs typeface="Times New Roman" panose="02020603050405020304" pitchFamily="18" charset="0"/>
              </a:rPr>
              <a:t>Southern </a:t>
            </a:r>
            <a:r>
              <a:rPr lang="en-US" b="1" dirty="0">
                <a:latin typeface="Times New Roman" panose="02020603050405020304" pitchFamily="18" charset="0"/>
                <a:cs typeface="Times New Roman" panose="02020603050405020304" pitchFamily="18" charset="0"/>
              </a:rPr>
              <a:t>direction</a:t>
            </a:r>
            <a:r>
              <a:rPr lang="en-US" dirty="0">
                <a:latin typeface="Times New Roman" panose="02020603050405020304" pitchFamily="18" charset="0"/>
                <a:cs typeface="Times New Roman" panose="02020603050405020304" pitchFamily="18" charset="0"/>
              </a:rPr>
              <a:t>: The Azov campaigns (1695, 1696): the struggle against the Ottoman Empire. The beginning of Russia's establishment in the Northern Black Sea region</a:t>
            </a:r>
            <a:r>
              <a:rPr lang="en-US" dirty="0" smtClean="0">
                <a:latin typeface="Times New Roman" panose="02020603050405020304" pitchFamily="18" charset="0"/>
                <a:cs typeface="Times New Roman" panose="02020603050405020304" pitchFamily="18" charset="0"/>
              </a:rPr>
              <a:t>.</a:t>
            </a:r>
          </a:p>
          <a:p>
            <a:endParaRPr lang="en-US" dirty="0" smtClean="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Northern </a:t>
            </a:r>
            <a:r>
              <a:rPr lang="en-US" b="1" dirty="0">
                <a:latin typeface="Times New Roman" panose="02020603050405020304" pitchFamily="18" charset="0"/>
                <a:cs typeface="Times New Roman" panose="02020603050405020304" pitchFamily="18" charset="0"/>
              </a:rPr>
              <a:t>direction</a:t>
            </a:r>
            <a:r>
              <a:rPr lang="en-US" dirty="0">
                <a:latin typeface="Times New Roman" panose="02020603050405020304" pitchFamily="18" charset="0"/>
                <a:cs typeface="Times New Roman" panose="02020603050405020304" pitchFamily="18" charset="0"/>
              </a:rPr>
              <a:t>: The Great Embassy (1697-1698): the search for allies to continue the struggle against Turkey; acquaintance with the art of war, the way of life of Europe. The Northern War. 1700-1721. The reasons for the war: Sweden's desire for supremacy in the Baltic; the need for Russia to enter the Baltic; Sweden's geopolitical contradictions with other European powers. The Battle of Poltava – 1709. 1721 – The </a:t>
            </a:r>
            <a:r>
              <a:rPr lang="en-US" dirty="0" err="1">
                <a:latin typeface="Times New Roman" panose="02020603050405020304" pitchFamily="18" charset="0"/>
                <a:cs typeface="Times New Roman" panose="02020603050405020304" pitchFamily="18" charset="0"/>
              </a:rPr>
              <a:t>Nishtadt</a:t>
            </a:r>
            <a:r>
              <a:rPr lang="en-US" dirty="0">
                <a:latin typeface="Times New Roman" panose="02020603050405020304" pitchFamily="18" charset="0"/>
                <a:cs typeface="Times New Roman" panose="02020603050405020304" pitchFamily="18" charset="0"/>
              </a:rPr>
              <a:t> Peace Treaty; proclamation of Russia as an empire. Terms of the agreement: Russia received the territories of the Baltic States, part of Karelia, access to the Baltic Sea, was obliged to pay monetary compensation to Sweden and return Finland</a:t>
            </a:r>
            <a:r>
              <a:rPr lang="en-US" dirty="0" smtClean="0">
                <a:latin typeface="Times New Roman" panose="02020603050405020304" pitchFamily="18" charset="0"/>
                <a:cs typeface="Times New Roman" panose="02020603050405020304" pitchFamily="18" charset="0"/>
              </a:rPr>
              <a:t>.</a:t>
            </a:r>
          </a:p>
          <a:p>
            <a:endParaRPr lang="en-US" dirty="0" smtClean="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eastern direction</a:t>
            </a:r>
            <a:r>
              <a:rPr lang="en-US" dirty="0">
                <a:latin typeface="Times New Roman" panose="02020603050405020304" pitchFamily="18" charset="0"/>
                <a:cs typeface="Times New Roman" panose="02020603050405020304" pitchFamily="18" charset="0"/>
              </a:rPr>
              <a:t>: The 1689 Treaty of </a:t>
            </a:r>
            <a:r>
              <a:rPr lang="en-US" dirty="0" err="1">
                <a:latin typeface="Times New Roman" panose="02020603050405020304" pitchFamily="18" charset="0"/>
                <a:cs typeface="Times New Roman" panose="02020603050405020304" pitchFamily="18" charset="0"/>
              </a:rPr>
              <a:t>Nerchinsk</a:t>
            </a:r>
            <a:r>
              <a:rPr lang="en-US" dirty="0">
                <a:latin typeface="Times New Roman" panose="02020603050405020304" pitchFamily="18" charset="0"/>
                <a:cs typeface="Times New Roman" panose="02020603050405020304" pitchFamily="18" charset="0"/>
              </a:rPr>
              <a:t> with China. </a:t>
            </a: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Persian War. (The Caspian Campaign. 1722-1723): creating the prerequisites for Russian expansion into Central Asia and Transcaucasia.</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98992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1" y="0"/>
            <a:ext cx="7165430" cy="3549112"/>
          </a:xfrm>
          <a:prstGeom prst="rect">
            <a:avLst/>
          </a:prstGeom>
        </p:spPr>
      </p:pic>
      <p:pic>
        <p:nvPicPr>
          <p:cNvPr id="3" name="Рисунок 2"/>
          <p:cNvPicPr>
            <a:picLocks noChangeAspect="1"/>
          </p:cNvPicPr>
          <p:nvPr/>
        </p:nvPicPr>
        <p:blipFill>
          <a:blip r:embed="rId3"/>
          <a:stretch>
            <a:fillRect/>
          </a:stretch>
        </p:blipFill>
        <p:spPr>
          <a:xfrm>
            <a:off x="0" y="3549112"/>
            <a:ext cx="5664631" cy="3308888"/>
          </a:xfrm>
          <a:prstGeom prst="rect">
            <a:avLst/>
          </a:prstGeom>
        </p:spPr>
      </p:pic>
      <p:pic>
        <p:nvPicPr>
          <p:cNvPr id="4" name="Рисунок 3"/>
          <p:cNvPicPr>
            <a:picLocks noChangeAspect="1"/>
          </p:cNvPicPr>
          <p:nvPr/>
        </p:nvPicPr>
        <p:blipFill>
          <a:blip r:embed="rId4"/>
          <a:stretch>
            <a:fillRect/>
          </a:stretch>
        </p:blipFill>
        <p:spPr>
          <a:xfrm>
            <a:off x="7165429" y="0"/>
            <a:ext cx="5026571" cy="4272455"/>
          </a:xfrm>
          <a:prstGeom prst="rect">
            <a:avLst/>
          </a:prstGeom>
        </p:spPr>
      </p:pic>
      <p:pic>
        <p:nvPicPr>
          <p:cNvPr id="5" name="Рисунок 4"/>
          <p:cNvPicPr>
            <a:picLocks noChangeAspect="1"/>
          </p:cNvPicPr>
          <p:nvPr/>
        </p:nvPicPr>
        <p:blipFill>
          <a:blip r:embed="rId5"/>
          <a:stretch>
            <a:fillRect/>
          </a:stretch>
        </p:blipFill>
        <p:spPr>
          <a:xfrm>
            <a:off x="5376040" y="3549112"/>
            <a:ext cx="6815959" cy="3308888"/>
          </a:xfrm>
          <a:prstGeom prst="rect">
            <a:avLst/>
          </a:prstGeom>
        </p:spPr>
      </p:pic>
    </p:spTree>
    <p:extLst>
      <p:ext uri="{BB962C8B-B14F-4D97-AF65-F5344CB8AC3E}">
        <p14:creationId xmlns:p14="http://schemas.microsoft.com/office/powerpoint/2010/main" val="16276557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6"/>
            <a:ext cx="10515600" cy="1082012"/>
          </a:xfrm>
        </p:spPr>
        <p:txBody>
          <a:bodyPr>
            <a:normAutofit/>
          </a:bodyPr>
          <a:lstStyle/>
          <a:p>
            <a:pPr algn="ctr"/>
            <a:r>
              <a:rPr lang="en-US" sz="4800" b="1" u="sng" dirty="0" smtClean="0">
                <a:latin typeface="Times New Roman" panose="02020603050405020304" pitchFamily="18" charset="0"/>
                <a:cs typeface="Times New Roman" panose="02020603050405020304" pitchFamily="18" charset="0"/>
              </a:rPr>
              <a:t>Peter I the Great domestic activities.</a:t>
            </a:r>
            <a:endParaRPr lang="ru-RU" sz="4800" b="1" u="sng" dirty="0">
              <a:latin typeface="Times New Roman" panose="02020603050405020304" pitchFamily="18" charset="0"/>
              <a:cs typeface="Times New Roman" panose="02020603050405020304" pitchFamily="18" charset="0"/>
            </a:endParaRPr>
          </a:p>
        </p:txBody>
      </p:sp>
      <p:sp>
        <p:nvSpPr>
          <p:cNvPr id="3" name="Текст 2"/>
          <p:cNvSpPr>
            <a:spLocks noGrp="1"/>
          </p:cNvSpPr>
          <p:nvPr>
            <p:ph type="body" idx="1"/>
          </p:nvPr>
        </p:nvSpPr>
        <p:spPr>
          <a:xfrm>
            <a:off x="839788" y="1510748"/>
            <a:ext cx="10515600" cy="858741"/>
          </a:xfrm>
        </p:spPr>
        <p:txBody>
          <a:bodyPr>
            <a:normAutofit fontScale="92500" lnSpcReduction="20000"/>
          </a:bodyPr>
          <a:lstStyle/>
          <a:p>
            <a:pPr algn="ctr"/>
            <a:r>
              <a:rPr lang="en-US" dirty="0">
                <a:latin typeface="Times New Roman" panose="02020603050405020304" pitchFamily="18" charset="0"/>
                <a:cs typeface="Times New Roman" panose="02020603050405020304" pitchFamily="18" charset="0"/>
              </a:rPr>
              <a:t>The goal of Peter the Great's reforms is to gain Russia's competitive advantage over other European states through the adoption and implementation of advanced technologies of state, military and technical development.</a:t>
            </a:r>
            <a:endParaRPr lang="ru-RU" dirty="0">
              <a:latin typeface="Times New Roman" panose="02020603050405020304" pitchFamily="18" charset="0"/>
              <a:cs typeface="Times New Roman" panose="02020603050405020304" pitchFamily="18" charset="0"/>
            </a:endParaRPr>
          </a:p>
        </p:txBody>
      </p:sp>
      <p:sp>
        <p:nvSpPr>
          <p:cNvPr id="4" name="Объект 3"/>
          <p:cNvSpPr>
            <a:spLocks noGrp="1"/>
          </p:cNvSpPr>
          <p:nvPr>
            <p:ph sz="half" idx="2"/>
          </p:nvPr>
        </p:nvSpPr>
        <p:spPr>
          <a:xfrm>
            <a:off x="839788" y="2369489"/>
            <a:ext cx="5157787" cy="3820174"/>
          </a:xfrm>
        </p:spPr>
        <p:txBody>
          <a:bodyPr>
            <a:normAutofit fontScale="55000" lnSpcReduction="20000"/>
          </a:bodyPr>
          <a:lstStyle/>
          <a:p>
            <a:pPr marL="0" indent="0">
              <a:buNone/>
            </a:pPr>
            <a:r>
              <a:rPr lang="en-US" sz="3300" b="1" dirty="0">
                <a:latin typeface="Times New Roman" panose="02020603050405020304" pitchFamily="18" charset="0"/>
                <a:cs typeface="Times New Roman" panose="02020603050405020304" pitchFamily="18" charset="0"/>
              </a:rPr>
              <a:t>Peter's reforms</a:t>
            </a:r>
            <a:r>
              <a:rPr lang="en-US" sz="3300" b="1"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1) </a:t>
            </a:r>
            <a:r>
              <a:rPr lang="en-US" sz="3300" b="1" dirty="0">
                <a:latin typeface="Times New Roman" panose="02020603050405020304" pitchFamily="18" charset="0"/>
                <a:cs typeface="Times New Roman" panose="02020603050405020304" pitchFamily="18" charset="0"/>
              </a:rPr>
              <a:t>Military reform. </a:t>
            </a:r>
            <a:r>
              <a:rPr lang="en-US" dirty="0">
                <a:latin typeface="Times New Roman" panose="02020603050405020304" pitchFamily="18" charset="0"/>
                <a:cs typeface="Times New Roman" panose="02020603050405020304" pitchFamily="18" charset="0"/>
              </a:rPr>
              <a:t>Of the 36 years of Peter I's reign, Russia fought for 28 years. Regular shelves. A qualitatively new fleet. Qualitatively new artillery. Training of military personnel. Development of new military legislation – Military Regulations of 1716, Naval Regulations of 1720. Unification of uniforms and armaments by branches of the armed forces. New principles of formation (conscription), quartering, and maintenance in peacetime</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2</a:t>
            </a:r>
            <a:r>
              <a:rPr lang="en-US" sz="3300" b="1" dirty="0">
                <a:latin typeface="Times New Roman" panose="02020603050405020304" pitchFamily="18" charset="0"/>
                <a:cs typeface="Times New Roman" panose="02020603050405020304" pitchFamily="18" charset="0"/>
              </a:rPr>
              <a:t>) T</a:t>
            </a:r>
            <a:r>
              <a:rPr lang="en-US" sz="3300" b="1" dirty="0" smtClean="0">
                <a:latin typeface="Times New Roman" panose="02020603050405020304" pitchFamily="18" charset="0"/>
                <a:cs typeface="Times New Roman" panose="02020603050405020304" pitchFamily="18" charset="0"/>
              </a:rPr>
              <a:t>he </a:t>
            </a:r>
            <a:r>
              <a:rPr lang="en-US" sz="3300" b="1" dirty="0">
                <a:latin typeface="Times New Roman" panose="02020603050405020304" pitchFamily="18" charset="0"/>
                <a:cs typeface="Times New Roman" panose="02020603050405020304" pitchFamily="18" charset="0"/>
              </a:rPr>
              <a:t>reform of government and management </a:t>
            </a:r>
            <a:r>
              <a:rPr lang="en-US" dirty="0">
                <a:latin typeface="Times New Roman" panose="02020603050405020304" pitchFamily="18" charset="0"/>
                <a:cs typeface="Times New Roman" panose="02020603050405020304" pitchFamily="18" charset="0"/>
              </a:rPr>
              <a:t>(Established in 1711 The Senate is the highest body of legislative, executive and judicial power. The Senate replaced the Boyar Duma. Creation of 9 colleges in 1718</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3) </a:t>
            </a:r>
            <a:r>
              <a:rPr lang="en-US" sz="3300" b="1" dirty="0" smtClean="0">
                <a:latin typeface="Times New Roman" panose="02020603050405020304" pitchFamily="18" charset="0"/>
                <a:cs typeface="Times New Roman" panose="02020603050405020304" pitchFamily="18" charset="0"/>
              </a:rPr>
              <a:t>Economic </a:t>
            </a:r>
            <a:r>
              <a:rPr lang="en-US" sz="3300" b="1" dirty="0">
                <a:latin typeface="Times New Roman" panose="02020603050405020304" pitchFamily="18" charset="0"/>
                <a:cs typeface="Times New Roman" panose="02020603050405020304" pitchFamily="18" charset="0"/>
              </a:rPr>
              <a:t>reform </a:t>
            </a:r>
            <a:r>
              <a:rPr lang="en-US" dirty="0">
                <a:latin typeface="Times New Roman" panose="02020603050405020304" pitchFamily="18" charset="0"/>
                <a:cs typeface="Times New Roman" panose="02020603050405020304" pitchFamily="18" charset="0"/>
              </a:rPr>
              <a:t>(by 1725, about 200 manufactories and the same number of small craft enterprises. The introduction of taxes, including the poll tax, which provided 53% of the estimated income. Trade: exports of goods exceeded imports by two times. The center of foreign trade has moved from Arkhangelsk to St. Petersburg).</a:t>
            </a:r>
            <a:endParaRPr lang="ru-RU" dirty="0">
              <a:latin typeface="Times New Roman" panose="02020603050405020304" pitchFamily="18" charset="0"/>
              <a:cs typeface="Times New Roman" panose="02020603050405020304" pitchFamily="18" charset="0"/>
            </a:endParaRPr>
          </a:p>
        </p:txBody>
      </p:sp>
      <p:sp>
        <p:nvSpPr>
          <p:cNvPr id="5" name="Текст 4"/>
          <p:cNvSpPr>
            <a:spLocks noGrp="1"/>
          </p:cNvSpPr>
          <p:nvPr>
            <p:ph type="body" sz="quarter" idx="3"/>
          </p:nvPr>
        </p:nvSpPr>
        <p:spPr>
          <a:xfrm>
            <a:off x="10744200" y="1681163"/>
            <a:ext cx="611188" cy="823912"/>
          </a:xfrm>
        </p:spPr>
        <p:txBody>
          <a:bodyPr/>
          <a:lstStyle/>
          <a:p>
            <a:endParaRPr lang="ru-RU" dirty="0"/>
          </a:p>
        </p:txBody>
      </p:sp>
      <p:sp>
        <p:nvSpPr>
          <p:cNvPr id="6" name="Объект 5"/>
          <p:cNvSpPr>
            <a:spLocks noGrp="1"/>
          </p:cNvSpPr>
          <p:nvPr>
            <p:ph sz="quarter" idx="4"/>
          </p:nvPr>
        </p:nvSpPr>
        <p:spPr>
          <a:xfrm>
            <a:off x="6172200" y="2369489"/>
            <a:ext cx="5183188" cy="3820174"/>
          </a:xfrm>
        </p:spPr>
        <p:txBody>
          <a:bodyPr>
            <a:normAutofit fontScale="55000" lnSpcReduction="20000"/>
          </a:bodyPr>
          <a:lstStyle/>
          <a:p>
            <a:r>
              <a:rPr lang="en-US" dirty="0">
                <a:latin typeface="Times New Roman" panose="02020603050405020304" pitchFamily="18" charset="0"/>
                <a:cs typeface="Times New Roman" panose="02020603050405020304" pitchFamily="18" charset="0"/>
              </a:rPr>
              <a:t>4) </a:t>
            </a:r>
            <a:r>
              <a:rPr lang="en-US" sz="3300" b="1" dirty="0" smtClean="0">
                <a:latin typeface="Times New Roman" panose="02020603050405020304" pitchFamily="18" charset="0"/>
                <a:cs typeface="Times New Roman" panose="02020603050405020304" pitchFamily="18" charset="0"/>
              </a:rPr>
              <a:t>Social </a:t>
            </a:r>
            <a:r>
              <a:rPr lang="en-US" sz="3300" b="1" dirty="0">
                <a:latin typeface="Times New Roman" panose="02020603050405020304" pitchFamily="18" charset="0"/>
                <a:cs typeface="Times New Roman" panose="02020603050405020304" pitchFamily="18" charset="0"/>
              </a:rPr>
              <a:t>reform </a:t>
            </a:r>
            <a:r>
              <a:rPr lang="en-US" dirty="0">
                <a:latin typeface="Times New Roman" panose="02020603050405020304" pitchFamily="18" charset="0"/>
                <a:cs typeface="Times New Roman" panose="02020603050405020304" pitchFamily="18" charset="0"/>
              </a:rPr>
              <a:t>(The boyars disappeared as a class. It became part of the nobility. The Table of ranks of 1722 divided the urban population into 2 categories – regular and irregular citizens. The first is merchants, industrialists, and bankers. The second group consists of small traders and </a:t>
            </a:r>
            <a:r>
              <a:rPr lang="en-US" dirty="0" smtClean="0">
                <a:latin typeface="Times New Roman" panose="02020603050405020304" pitchFamily="18" charset="0"/>
                <a:cs typeface="Times New Roman" panose="02020603050405020304" pitchFamily="18" charset="0"/>
              </a:rPr>
              <a:t>craftsmen. </a:t>
            </a:r>
            <a:r>
              <a:rPr lang="en-US" dirty="0">
                <a:latin typeface="Times New Roman" panose="02020603050405020304" pitchFamily="18" charset="0"/>
                <a:cs typeface="Times New Roman" panose="02020603050405020304" pitchFamily="18" charset="0"/>
              </a:rPr>
              <a:t>The rest are "vile people." Rural population: peasants, serfs, free people, </a:t>
            </a:r>
            <a:r>
              <a:rPr lang="en-US" dirty="0" err="1">
                <a:latin typeface="Times New Roman" panose="02020603050405020304" pitchFamily="18" charset="0"/>
                <a:cs typeface="Times New Roman" panose="02020603050405020304" pitchFamily="18" charset="0"/>
              </a:rPr>
              <a:t>odnodvorets</a:t>
            </a:r>
            <a:r>
              <a:rPr lang="en-US" dirty="0">
                <a:latin typeface="Times New Roman" panose="02020603050405020304" pitchFamily="18" charset="0"/>
                <a:cs typeface="Times New Roman" panose="02020603050405020304" pitchFamily="18" charset="0"/>
              </a:rPr>
              <a:t>, black-shod peasants (north), arable people of Siberia, </a:t>
            </a:r>
            <a:r>
              <a:rPr lang="en-US" dirty="0" err="1">
                <a:latin typeface="Times New Roman" panose="02020603050405020304" pitchFamily="18" charset="0"/>
                <a:cs typeface="Times New Roman" panose="02020603050405020304" pitchFamily="18" charset="0"/>
              </a:rPr>
              <a:t>yasachny</a:t>
            </a:r>
            <a:r>
              <a:rPr lang="en-US" dirty="0">
                <a:latin typeface="Times New Roman" panose="02020603050405020304" pitchFamily="18" charset="0"/>
                <a:cs typeface="Times New Roman" panose="02020603050405020304" pitchFamily="18" charset="0"/>
              </a:rPr>
              <a:t> people of the Middle Volga region). - </a:t>
            </a:r>
            <a:r>
              <a:rPr lang="en-US" b="1" dirty="0">
                <a:latin typeface="Times New Roman" panose="02020603050405020304" pitchFamily="18" charset="0"/>
                <a:cs typeface="Times New Roman" panose="02020603050405020304" pitchFamily="18" charset="0"/>
              </a:rPr>
              <a:t>1703</a:t>
            </a:r>
            <a:r>
              <a:rPr lang="en-US" dirty="0">
                <a:latin typeface="Times New Roman" panose="02020603050405020304" pitchFamily="18" charset="0"/>
                <a:cs typeface="Times New Roman" panose="02020603050405020304" pitchFamily="18" charset="0"/>
              </a:rPr>
              <a:t> – decree on attributed peasants (state, palace and economic peasants who, instead of paying poll taxes, worked in state-owned or private factories and factories, that is, attached (attributed) to them). </a:t>
            </a:r>
            <a:r>
              <a:rPr lang="en-US" b="1" dirty="0">
                <a:latin typeface="Times New Roman" panose="02020603050405020304" pitchFamily="18" charset="0"/>
                <a:cs typeface="Times New Roman" panose="02020603050405020304" pitchFamily="18" charset="0"/>
              </a:rPr>
              <a:t>- 1721 </a:t>
            </a:r>
            <a:r>
              <a:rPr lang="en-US" dirty="0">
                <a:latin typeface="Times New Roman" panose="02020603050405020304" pitchFamily="18" charset="0"/>
                <a:cs typeface="Times New Roman" panose="02020603050405020304" pitchFamily="18" charset="0"/>
              </a:rPr>
              <a:t>– decree on concession peasants (attached to the manufactory, could not be sold separately from the enterprise). - </a:t>
            </a:r>
            <a:r>
              <a:rPr lang="en-US" b="1" dirty="0">
                <a:latin typeface="Times New Roman" panose="02020603050405020304" pitchFamily="18" charset="0"/>
                <a:cs typeface="Times New Roman" panose="02020603050405020304" pitchFamily="18" charset="0"/>
              </a:rPr>
              <a:t>1718-1724</a:t>
            </a:r>
            <a:r>
              <a:rPr lang="en-US" dirty="0">
                <a:latin typeface="Times New Roman" panose="02020603050405020304" pitchFamily="18" charset="0"/>
                <a:cs typeface="Times New Roman" panose="02020603050405020304" pitchFamily="18" charset="0"/>
              </a:rPr>
              <a:t> – poll tax (replacement of household tax</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5) </a:t>
            </a:r>
            <a:r>
              <a:rPr lang="en-US" sz="3300" b="1" dirty="0">
                <a:latin typeface="Times New Roman" panose="02020603050405020304" pitchFamily="18" charset="0"/>
                <a:cs typeface="Times New Roman" panose="02020603050405020304" pitchFamily="18" charset="0"/>
              </a:rPr>
              <a:t>Church reform </a:t>
            </a:r>
            <a:r>
              <a:rPr lang="en-US" dirty="0">
                <a:latin typeface="Times New Roman" panose="02020603050405020304" pitchFamily="18" charset="0"/>
                <a:cs typeface="Times New Roman" panose="02020603050405020304" pitchFamily="18" charset="0"/>
              </a:rPr>
              <a:t>(in 1721, the Ecclesiastical College (the Holy Synod) was established, so the patriarchate was liquidated. The church became part of the state mechanism: the members of the Ecclesiastical College were appointed by the tsar from among the clergy).</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09744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a:extLst>
              <a:ext uri="{FF2B5EF4-FFF2-40B4-BE49-F238E27FC236}">
                <a16:creationId xmlns:a16="http://schemas.microsoft.com/office/drawing/2014/main" id="{955D116B-8F0D-4C17-B443-E6D84FEBF78B}"/>
              </a:ext>
            </a:extLst>
          </p:cNvPr>
          <p:cNvPicPr>
            <a:picLocks noGrp="1" noChangeAspect="1"/>
          </p:cNvPicPr>
          <p:nvPr>
            <p:ph idx="1"/>
          </p:nvPr>
        </p:nvPicPr>
        <p:blipFill>
          <a:blip r:embed="rId2"/>
          <a:stretch>
            <a:fillRect/>
          </a:stretch>
        </p:blipFill>
        <p:spPr>
          <a:xfrm>
            <a:off x="1230086" y="1012650"/>
            <a:ext cx="3964348" cy="5682232"/>
          </a:xfrm>
          <a:prstGeom prst="rect">
            <a:avLst/>
          </a:prstGeom>
        </p:spPr>
      </p:pic>
      <p:sp>
        <p:nvSpPr>
          <p:cNvPr id="2" name="Заголовок 1">
            <a:extLst>
              <a:ext uri="{FF2B5EF4-FFF2-40B4-BE49-F238E27FC236}">
                <a16:creationId xmlns:a16="http://schemas.microsoft.com/office/drawing/2014/main" id="{862965D6-8479-4331-8C28-AB0F602DBEA9}"/>
              </a:ext>
            </a:extLst>
          </p:cNvPr>
          <p:cNvSpPr>
            <a:spLocks noGrp="1"/>
          </p:cNvSpPr>
          <p:nvPr>
            <p:ph type="title"/>
          </p:nvPr>
        </p:nvSpPr>
        <p:spPr>
          <a:xfrm>
            <a:off x="1230086" y="0"/>
            <a:ext cx="9731828" cy="938255"/>
          </a:xfrm>
        </p:spPr>
        <p:txBody>
          <a:bodyPr>
            <a:noAutofit/>
          </a:bodyPr>
          <a:lstStyle/>
          <a:p>
            <a:r>
              <a:rPr lang="en-US" sz="4800" b="1" u="sng" dirty="0">
                <a:latin typeface="Times New Roman" panose="02020603050405020304" pitchFamily="18" charset="0"/>
                <a:ea typeface="SimSun" panose="02010600030101010101" pitchFamily="2" charset="-122"/>
                <a:cs typeface="Times New Roman" panose="02020603050405020304" pitchFamily="18" charset="0"/>
              </a:rPr>
              <a:t>The Empress Elizabeth</a:t>
            </a:r>
            <a:r>
              <a:rPr lang="ru-RU" sz="4800" b="1" u="sng" dirty="0">
                <a:latin typeface="Times New Roman" panose="02020603050405020304" pitchFamily="18" charset="0"/>
                <a:ea typeface="SimSun" panose="02010600030101010101" pitchFamily="2" charset="-122"/>
                <a:cs typeface="Times New Roman" panose="02020603050405020304" pitchFamily="18" charset="0"/>
              </a:rPr>
              <a:t> (1741–1761)</a:t>
            </a:r>
          </a:p>
        </p:txBody>
      </p:sp>
      <p:sp>
        <p:nvSpPr>
          <p:cNvPr id="9" name="Прямоугольник 8"/>
          <p:cNvSpPr/>
          <p:nvPr/>
        </p:nvSpPr>
        <p:spPr>
          <a:xfrm>
            <a:off x="5327374" y="2007106"/>
            <a:ext cx="6337189" cy="4801314"/>
          </a:xfrm>
          <a:prstGeom prst="rect">
            <a:avLst/>
          </a:prstGeom>
        </p:spPr>
        <p:txBody>
          <a:bodyPr wrap="square">
            <a:spAutoFit/>
          </a:bodyPr>
          <a:lstStyle/>
          <a:p>
            <a:r>
              <a:rPr lang="en-US" b="1" dirty="0" smtClean="0">
                <a:latin typeface="Times New Roman" panose="02020603050405020304" pitchFamily="18" charset="0"/>
                <a:cs typeface="Times New Roman" panose="02020603050405020304" pitchFamily="18" charset="0"/>
              </a:rPr>
              <a:t>Foreign policy</a:t>
            </a:r>
          </a:p>
          <a:p>
            <a:r>
              <a:rPr lang="en-US" dirty="0" smtClean="0">
                <a:latin typeface="Times New Roman" panose="02020603050405020304" pitchFamily="18" charset="0"/>
                <a:cs typeface="Times New Roman" panose="02020603050405020304" pitchFamily="18" charset="0"/>
              </a:rPr>
              <a:t>On </a:t>
            </a:r>
            <a:r>
              <a:rPr lang="en-US" dirty="0">
                <a:latin typeface="Times New Roman" panose="02020603050405020304" pitchFamily="18" charset="0"/>
                <a:cs typeface="Times New Roman" panose="02020603050405020304" pitchFamily="18" charset="0"/>
              </a:rPr>
              <a:t>May 17, 1756, England's attack on France began the Seven Years' War</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On December 31, 1756, the act of Russia's accession to the Treaty of Versailles on the alliance of Austria with France was signed.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On </a:t>
            </a:r>
            <a:r>
              <a:rPr lang="en-US" dirty="0">
                <a:latin typeface="Times New Roman" panose="02020603050405020304" pitchFamily="18" charset="0"/>
                <a:cs typeface="Times New Roman" panose="02020603050405020304" pitchFamily="18" charset="0"/>
              </a:rPr>
              <a:t>January 22, 1757, an agreement was signed in St. Petersburg between Russia and Austria, confirming the terms of the 1746 treaty between them and directed against Frederick II</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 early 1758, Russia occupied East Prussia, including its capital, Konigsberg.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1760, Russian troops entered Berlin </a:t>
            </a:r>
            <a:endParaRPr lang="en-US" dirty="0" smtClean="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Domestic </a:t>
            </a:r>
            <a:r>
              <a:rPr lang="en-US" b="1" dirty="0">
                <a:latin typeface="Times New Roman" panose="02020603050405020304" pitchFamily="18" charset="0"/>
                <a:cs typeface="Times New Roman" panose="02020603050405020304" pitchFamily="18" charset="0"/>
              </a:rPr>
              <a:t>policy</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the spread of education, the establishment of universities and gymnasiums</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destruction of internal customs offices</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abolition of the death penalty and some relaxation in legislation regarding the use of torture in investigations</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10139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70186" y="207471"/>
            <a:ext cx="11175124" cy="825169"/>
          </a:xfrm>
        </p:spPr>
        <p:txBody>
          <a:bodyPr>
            <a:noAutofit/>
          </a:bodyPr>
          <a:lstStyle/>
          <a:p>
            <a:pPr algn="ctr"/>
            <a:r>
              <a:rPr lang="en-US" sz="3200" dirty="0">
                <a:latin typeface="Times New Roman" panose="02020603050405020304" pitchFamily="18" charset="0"/>
                <a:cs typeface="Times New Roman" panose="02020603050405020304" pitchFamily="18" charset="0"/>
              </a:rPr>
              <a:t>The capture of Berlin, the capital of Prussia</a:t>
            </a:r>
            <a:r>
              <a:rPr lang="en-US" sz="3200" dirty="0" smtClean="0">
                <a:latin typeface="Times New Roman" panose="02020603050405020304" pitchFamily="18" charset="0"/>
                <a:cs typeface="Times New Roman" panose="02020603050405020304" pitchFamily="18" charset="0"/>
              </a:rPr>
              <a:t>,</a:t>
            </a:r>
            <a:r>
              <a:rPr lang="ru-RU" sz="3200" dirty="0" smtClean="0">
                <a:latin typeface="Times New Roman" panose="02020603050405020304" pitchFamily="18" charset="0"/>
                <a:cs typeface="Times New Roman" panose="02020603050405020304" pitchFamily="18" charset="0"/>
              </a:rPr>
              <a:t/>
            </a:r>
            <a:br>
              <a:rPr lang="ru-RU" sz="3200" dirty="0" smtClean="0">
                <a:latin typeface="Times New Roman" panose="02020603050405020304" pitchFamily="18" charset="0"/>
                <a:cs typeface="Times New Roman" panose="02020603050405020304" pitchFamily="18" charset="0"/>
              </a:rPr>
            </a:br>
            <a:r>
              <a:rPr lang="en-US" sz="3200" dirty="0" smtClean="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by Russian </a:t>
            </a:r>
            <a:r>
              <a:rPr lang="en-US" sz="3200" dirty="0" smtClean="0">
                <a:latin typeface="Times New Roman" panose="02020603050405020304" pitchFamily="18" charset="0"/>
                <a:cs typeface="Times New Roman" panose="02020603050405020304" pitchFamily="18" charset="0"/>
              </a:rPr>
              <a:t>troops</a:t>
            </a:r>
            <a:r>
              <a:rPr lang="ru-RU" sz="3200" dirty="0">
                <a:latin typeface="Times New Roman" panose="02020603050405020304" pitchFamily="18" charset="0"/>
                <a:cs typeface="Times New Roman" panose="02020603050405020304" pitchFamily="18" charset="0"/>
              </a:rPr>
              <a:t> </a:t>
            </a:r>
            <a:r>
              <a:rPr lang="en-US" sz="3200" dirty="0" smtClean="0">
                <a:latin typeface="Times New Roman" panose="02020603050405020304" pitchFamily="18" charset="0"/>
                <a:cs typeface="Times New Roman" panose="02020603050405020304" pitchFamily="18" charset="0"/>
              </a:rPr>
              <a:t>in 1760</a:t>
            </a:r>
            <a:r>
              <a:rPr lang="ru-RU" sz="3200" dirty="0" smtClean="0">
                <a:latin typeface="Times New Roman" panose="02020603050405020304" pitchFamily="18" charset="0"/>
                <a:cs typeface="Times New Roman" panose="02020603050405020304" pitchFamily="18" charset="0"/>
              </a:rPr>
              <a:t> (7</a:t>
            </a:r>
            <a:r>
              <a:rPr lang="en-US" sz="3200" dirty="0" smtClean="0">
                <a:latin typeface="Times New Roman" panose="02020603050405020304" pitchFamily="18" charset="0"/>
                <a:cs typeface="Times New Roman" panose="02020603050405020304" pitchFamily="18" charset="0"/>
              </a:rPr>
              <a:t>years war)</a:t>
            </a:r>
            <a:r>
              <a:rPr lang="ru-RU" sz="3200" dirty="0" smtClean="0">
                <a:latin typeface="Times New Roman" panose="02020603050405020304" pitchFamily="18" charset="0"/>
                <a:cs typeface="Times New Roman" panose="02020603050405020304" pitchFamily="18" charset="0"/>
              </a:rPr>
              <a:t> </a:t>
            </a:r>
            <a:endParaRPr lang="ru-RU" sz="3200" dirty="0">
              <a:latin typeface="Times New Roman" panose="02020603050405020304" pitchFamily="18" charset="0"/>
              <a:cs typeface="Times New Roman" panose="02020603050405020304" pitchFamily="18" charset="0"/>
            </a:endParaRPr>
          </a:p>
        </p:txBody>
      </p:sp>
      <p:pic>
        <p:nvPicPr>
          <p:cNvPr id="4" name="Объект 3"/>
          <p:cNvPicPr>
            <a:picLocks noGrp="1" noChangeAspect="1"/>
          </p:cNvPicPr>
          <p:nvPr>
            <p:ph idx="1"/>
          </p:nvPr>
        </p:nvPicPr>
        <p:blipFill>
          <a:blip r:embed="rId2"/>
          <a:stretch>
            <a:fillRect/>
          </a:stretch>
        </p:blipFill>
        <p:spPr>
          <a:xfrm>
            <a:off x="6629400" y="1190297"/>
            <a:ext cx="6538148" cy="2676525"/>
          </a:xfrm>
          <a:prstGeom prst="rect">
            <a:avLst/>
          </a:prstGeom>
        </p:spPr>
      </p:pic>
      <p:pic>
        <p:nvPicPr>
          <p:cNvPr id="5" name="Рисунок 4"/>
          <p:cNvPicPr>
            <a:picLocks noChangeAspect="1"/>
          </p:cNvPicPr>
          <p:nvPr/>
        </p:nvPicPr>
        <p:blipFill>
          <a:blip r:embed="rId3"/>
          <a:stretch>
            <a:fillRect/>
          </a:stretch>
        </p:blipFill>
        <p:spPr>
          <a:xfrm>
            <a:off x="7620000" y="3866822"/>
            <a:ext cx="4572000" cy="3038474"/>
          </a:xfrm>
          <a:prstGeom prst="rect">
            <a:avLst/>
          </a:prstGeom>
        </p:spPr>
      </p:pic>
      <p:pic>
        <p:nvPicPr>
          <p:cNvPr id="6" name="Рисунок 5"/>
          <p:cNvPicPr>
            <a:picLocks noChangeAspect="1"/>
          </p:cNvPicPr>
          <p:nvPr/>
        </p:nvPicPr>
        <p:blipFill>
          <a:blip r:embed="rId4"/>
          <a:stretch>
            <a:fillRect/>
          </a:stretch>
        </p:blipFill>
        <p:spPr>
          <a:xfrm>
            <a:off x="346842" y="1190296"/>
            <a:ext cx="7273158" cy="5715000"/>
          </a:xfrm>
          <a:prstGeom prst="rect">
            <a:avLst/>
          </a:prstGeom>
        </p:spPr>
      </p:pic>
    </p:spTree>
    <p:extLst>
      <p:ext uri="{BB962C8B-B14F-4D97-AF65-F5344CB8AC3E}">
        <p14:creationId xmlns:p14="http://schemas.microsoft.com/office/powerpoint/2010/main" val="41901471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a:extLst>
              <a:ext uri="{FF2B5EF4-FFF2-40B4-BE49-F238E27FC236}">
                <a16:creationId xmlns:a16="http://schemas.microsoft.com/office/drawing/2014/main" id="{BB3B58E6-2F9B-48E7-8AA5-945D860AF614}"/>
              </a:ext>
            </a:extLst>
          </p:cNvPr>
          <p:cNvPicPr>
            <a:picLocks noGrp="1" noChangeAspect="1"/>
          </p:cNvPicPr>
          <p:nvPr>
            <p:ph idx="1"/>
          </p:nvPr>
        </p:nvPicPr>
        <p:blipFill>
          <a:blip r:embed="rId2"/>
          <a:stretch>
            <a:fillRect/>
          </a:stretch>
        </p:blipFill>
        <p:spPr>
          <a:xfrm>
            <a:off x="355727" y="1067746"/>
            <a:ext cx="3735976" cy="5603965"/>
          </a:xfrm>
          <a:prstGeom prst="rect">
            <a:avLst/>
          </a:prstGeom>
        </p:spPr>
      </p:pic>
      <p:sp>
        <p:nvSpPr>
          <p:cNvPr id="2" name="Заголовок 1">
            <a:extLst>
              <a:ext uri="{FF2B5EF4-FFF2-40B4-BE49-F238E27FC236}">
                <a16:creationId xmlns:a16="http://schemas.microsoft.com/office/drawing/2014/main" id="{8BEE3FF5-E64F-4F18-931A-CCC6955145B0}"/>
              </a:ext>
            </a:extLst>
          </p:cNvPr>
          <p:cNvSpPr>
            <a:spLocks noGrp="1"/>
          </p:cNvSpPr>
          <p:nvPr>
            <p:ph type="title"/>
          </p:nvPr>
        </p:nvSpPr>
        <p:spPr>
          <a:xfrm>
            <a:off x="1703205" y="130629"/>
            <a:ext cx="8785588" cy="796925"/>
          </a:xfrm>
        </p:spPr>
        <p:txBody>
          <a:bodyPr>
            <a:noAutofit/>
          </a:bodyPr>
          <a:lstStyle/>
          <a:p>
            <a:r>
              <a:rPr lang="en-US" sz="4800" b="1" u="sng" dirty="0">
                <a:latin typeface="Times New Roman" panose="02020603050405020304" pitchFamily="18" charset="0"/>
                <a:ea typeface="SimSun" panose="02010600030101010101" pitchFamily="2" charset="-122"/>
                <a:cs typeface="Times New Roman" panose="02020603050405020304" pitchFamily="18" charset="0"/>
              </a:rPr>
              <a:t>Catherine the Great</a:t>
            </a:r>
            <a:r>
              <a:rPr lang="ru-RU" sz="4800" b="1" u="sng" dirty="0">
                <a:latin typeface="Times New Roman" panose="02020603050405020304" pitchFamily="18" charset="0"/>
                <a:ea typeface="SimSun" panose="02010600030101010101" pitchFamily="2" charset="-122"/>
                <a:cs typeface="Times New Roman" panose="02020603050405020304" pitchFamily="18" charset="0"/>
              </a:rPr>
              <a:t> (1762–1796)</a:t>
            </a:r>
          </a:p>
        </p:txBody>
      </p:sp>
      <p:sp>
        <p:nvSpPr>
          <p:cNvPr id="7" name="Прямоугольник 6"/>
          <p:cNvSpPr/>
          <p:nvPr/>
        </p:nvSpPr>
        <p:spPr>
          <a:xfrm>
            <a:off x="4214191" y="2162755"/>
            <a:ext cx="7808181" cy="3170099"/>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The tasks of the "enlightened monarch" in the view of Catherine II:</a:t>
            </a:r>
          </a:p>
          <a:p>
            <a:r>
              <a:rPr lang="en-US" sz="2000" dirty="0">
                <a:latin typeface="Times New Roman" panose="02020603050405020304" pitchFamily="18" charset="0"/>
                <a:cs typeface="Times New Roman" panose="02020603050405020304" pitchFamily="18" charset="0"/>
              </a:rPr>
              <a:t>"It is necessary to educate the nation, which should be governed by an enlightened monarch.</a:t>
            </a:r>
          </a:p>
          <a:p>
            <a:r>
              <a:rPr lang="en-US" sz="2000" dirty="0">
                <a:latin typeface="Times New Roman" panose="02020603050405020304" pitchFamily="18" charset="0"/>
                <a:cs typeface="Times New Roman" panose="02020603050405020304" pitchFamily="18" charset="0"/>
              </a:rPr>
              <a:t>It is necessary to introduce good order in the state, support society and force it to comply with the laws. </a:t>
            </a:r>
          </a:p>
          <a:p>
            <a:r>
              <a:rPr lang="en-US" sz="2000" dirty="0">
                <a:latin typeface="Times New Roman" panose="02020603050405020304" pitchFamily="18" charset="0"/>
                <a:cs typeface="Times New Roman" panose="02020603050405020304" pitchFamily="18" charset="0"/>
              </a:rPr>
              <a:t>We need to establish a good and accurate police force in the state. </a:t>
            </a:r>
          </a:p>
          <a:p>
            <a:r>
              <a:rPr lang="en-US" sz="2000" dirty="0">
                <a:latin typeface="Times New Roman" panose="02020603050405020304" pitchFamily="18" charset="0"/>
                <a:cs typeface="Times New Roman" panose="02020603050405020304" pitchFamily="18" charset="0"/>
              </a:rPr>
              <a:t>It is necessary to promote the flourishing of the state and make it abundant. </a:t>
            </a:r>
          </a:p>
          <a:p>
            <a:r>
              <a:rPr lang="en-US" sz="2000" dirty="0">
                <a:latin typeface="Times New Roman" panose="02020603050405020304" pitchFamily="18" charset="0"/>
                <a:cs typeface="Times New Roman" panose="02020603050405020304" pitchFamily="18" charset="0"/>
              </a:rPr>
              <a:t>It is necessary to make the state formidable in itself and inspiring respect for its neighbors</a:t>
            </a:r>
            <a:r>
              <a:rPr lang="en-US" sz="2000" dirty="0" smtClean="0">
                <a:latin typeface="Times New Roman" panose="02020603050405020304" pitchFamily="18" charset="0"/>
                <a:cs typeface="Times New Roman" panose="02020603050405020304" pitchFamily="18" charset="0"/>
              </a:rPr>
              <a:t>."</a:t>
            </a:r>
            <a:endParaRPr lang="ru-R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96839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6"/>
            <a:ext cx="10515600" cy="676496"/>
          </a:xfrm>
        </p:spPr>
        <p:txBody>
          <a:bodyPr>
            <a:normAutofit fontScale="90000"/>
          </a:bodyPr>
          <a:lstStyle/>
          <a:p>
            <a:pPr algn="ctr"/>
            <a:r>
              <a:rPr lang="en-US" b="1" u="sng" dirty="0" smtClean="0">
                <a:latin typeface="Times New Roman" panose="02020603050405020304" pitchFamily="18" charset="0"/>
                <a:cs typeface="Times New Roman" panose="02020603050405020304" pitchFamily="18" charset="0"/>
              </a:rPr>
              <a:t>Domestic policy</a:t>
            </a:r>
            <a:endParaRPr lang="ru-RU" b="1" u="sng"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838200" y="1240402"/>
            <a:ext cx="10515600" cy="5462547"/>
          </a:xfrm>
        </p:spPr>
        <p:txBody>
          <a:bodyPr>
            <a:noAutofit/>
          </a:bodyPr>
          <a:lstStyle/>
          <a:p>
            <a:r>
              <a:rPr lang="en-US" sz="1800" dirty="0">
                <a:latin typeface="Times New Roman" panose="02020603050405020304" pitchFamily="18" charset="0"/>
                <a:cs typeface="Times New Roman" panose="02020603050405020304" pitchFamily="18" charset="0"/>
              </a:rPr>
              <a:t>- July 6, 1762 – the assassination of Peter III in </a:t>
            </a:r>
            <a:r>
              <a:rPr lang="en-US" sz="1800" dirty="0" err="1">
                <a:latin typeface="Times New Roman" panose="02020603050405020304" pitchFamily="18" charset="0"/>
                <a:cs typeface="Times New Roman" panose="02020603050405020304" pitchFamily="18" charset="0"/>
              </a:rPr>
              <a:t>Ropsha</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October 14, 1762 – decree allowing all foreigners to settle in Russia </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1764 – secularization of church and monastery lands.</a:t>
            </a:r>
          </a:p>
          <a:p>
            <a:r>
              <a:rPr lang="en-US" sz="1800" dirty="0">
                <a:latin typeface="Times New Roman" panose="02020603050405020304" pitchFamily="18" charset="0"/>
                <a:cs typeface="Times New Roman" panose="02020603050405020304" pitchFamily="18" charset="0"/>
              </a:rPr>
              <a:t>- 1765 – creation of a Free Economic Society headed by </a:t>
            </a:r>
            <a:r>
              <a:rPr lang="en-US" sz="1800" dirty="0" err="1">
                <a:latin typeface="Times New Roman" panose="02020603050405020304" pitchFamily="18" charset="0"/>
                <a:cs typeface="Times New Roman" panose="02020603050405020304" pitchFamily="18" charset="0"/>
              </a:rPr>
              <a:t>Grigory</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Orlov</a:t>
            </a:r>
            <a:r>
              <a:rPr lang="en-US" sz="1800" dirty="0">
                <a:latin typeface="Times New Roman" panose="02020603050405020304" pitchFamily="18" charset="0"/>
                <a:cs typeface="Times New Roman" panose="02020603050405020304" pitchFamily="18" charset="0"/>
              </a:rPr>
              <a:t> to help noble entrepreneurship.</a:t>
            </a:r>
          </a:p>
          <a:p>
            <a:r>
              <a:rPr lang="en-US" sz="1800" dirty="0">
                <a:latin typeface="Times New Roman" panose="02020603050405020304" pitchFamily="18" charset="0"/>
                <a:cs typeface="Times New Roman" panose="02020603050405020304" pitchFamily="18" charset="0"/>
              </a:rPr>
              <a:t>- 1765 – decree authorizing landowners to send serfs to hard labor.</a:t>
            </a:r>
          </a:p>
          <a:p>
            <a:r>
              <a:rPr lang="en-US" sz="1800" dirty="0">
                <a:latin typeface="Times New Roman" panose="02020603050405020304" pitchFamily="18" charset="0"/>
                <a:cs typeface="Times New Roman" panose="02020603050405020304" pitchFamily="18" charset="0"/>
              </a:rPr>
              <a:t>- 1767 – decree prohibiting peasants from complaining about landlords. </a:t>
            </a:r>
          </a:p>
          <a:p>
            <a:r>
              <a:rPr lang="en-US" sz="1800" dirty="0">
                <a:latin typeface="Times New Roman" panose="02020603050405020304" pitchFamily="18" charset="0"/>
                <a:cs typeface="Times New Roman" panose="02020603050405020304" pitchFamily="18" charset="0"/>
              </a:rPr>
              <a:t>- 1767-1769 –Completed the commission.</a:t>
            </a:r>
          </a:p>
          <a:p>
            <a:r>
              <a:rPr lang="en-US" sz="1800" dirty="0">
                <a:latin typeface="Times New Roman" panose="02020603050405020304" pitchFamily="18" charset="0"/>
                <a:cs typeface="Times New Roman" panose="02020603050405020304" pitchFamily="18" charset="0"/>
              </a:rPr>
              <a:t>- January 11, 1768 – the establishment of the Assignation Bank and the introduction of banknotes (paper money).</a:t>
            </a:r>
          </a:p>
          <a:p>
            <a:r>
              <a:rPr lang="en-US" sz="1800" dirty="0">
                <a:latin typeface="Times New Roman" panose="02020603050405020304" pitchFamily="18" charset="0"/>
                <a:cs typeface="Times New Roman" panose="02020603050405020304" pitchFamily="18" charset="0"/>
              </a:rPr>
              <a:t>- 1773 – the foundation of the Mining Institute in St. Petersburg.</a:t>
            </a:r>
          </a:p>
          <a:p>
            <a:r>
              <a:rPr lang="en-US" sz="1800" dirty="0">
                <a:latin typeface="Times New Roman" panose="02020603050405020304" pitchFamily="18" charset="0"/>
                <a:cs typeface="Times New Roman" panose="02020603050405020304" pitchFamily="18" charset="0"/>
              </a:rPr>
              <a:t>- 1773-1775 – the peasant War led by </a:t>
            </a:r>
            <a:r>
              <a:rPr lang="en-US" sz="1800" dirty="0" err="1">
                <a:latin typeface="Times New Roman" panose="02020603050405020304" pitchFamily="18" charset="0"/>
                <a:cs typeface="Times New Roman" panose="02020603050405020304" pitchFamily="18" charset="0"/>
              </a:rPr>
              <a:t>Yemelyan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Pugachev</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- 1775 – provincial reform (shifting the center of gravity of government to places).</a:t>
            </a:r>
          </a:p>
          <a:p>
            <a:r>
              <a:rPr lang="en-US" sz="1800" dirty="0">
                <a:latin typeface="Times New Roman" panose="02020603050405020304" pitchFamily="18" charset="0"/>
                <a:cs typeface="Times New Roman" panose="02020603050405020304" pitchFamily="18" charset="0"/>
              </a:rPr>
              <a:t>- 1775 – the abolition of Cossack self-government on the Don and the destruction of the </a:t>
            </a:r>
            <a:r>
              <a:rPr lang="en-US" sz="1800" dirty="0" err="1">
                <a:latin typeface="Times New Roman" panose="02020603050405020304" pitchFamily="18" charset="0"/>
                <a:cs typeface="Times New Roman" panose="02020603050405020304" pitchFamily="18" charset="0"/>
              </a:rPr>
              <a:t>Zaporozhian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Sich</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- 1782 – the opening of the monument to Peter I (the Bronze Horseman) in St. Petersburg.</a:t>
            </a:r>
          </a:p>
          <a:p>
            <a:r>
              <a:rPr lang="en-US" sz="1800" dirty="0">
                <a:latin typeface="Times New Roman" panose="02020603050405020304" pitchFamily="18" charset="0"/>
                <a:cs typeface="Times New Roman" panose="02020603050405020304" pitchFamily="18" charset="0"/>
              </a:rPr>
              <a:t>- 1785 – The letter of commendation to the nobility.</a:t>
            </a:r>
          </a:p>
          <a:p>
            <a:r>
              <a:rPr lang="en-US" sz="1800" dirty="0">
                <a:latin typeface="Times New Roman" panose="02020603050405020304" pitchFamily="18" charset="0"/>
                <a:cs typeface="Times New Roman" panose="02020603050405020304" pitchFamily="18" charset="0"/>
              </a:rPr>
              <a:t>- 1786 – Loan bank.</a:t>
            </a:r>
            <a:endParaRPr lang="ru-RU"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28055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0"/>
            <a:ext cx="10515600" cy="612250"/>
          </a:xfrm>
        </p:spPr>
        <p:txBody>
          <a:bodyPr>
            <a:normAutofit fontScale="90000"/>
          </a:bodyPr>
          <a:lstStyle/>
          <a:p>
            <a:pPr algn="ctr"/>
            <a:r>
              <a:rPr lang="en-US" u="sng" dirty="0" smtClean="0">
                <a:latin typeface="Times New Roman" panose="02020603050405020304" pitchFamily="18" charset="0"/>
                <a:cs typeface="Times New Roman" panose="02020603050405020304" pitchFamily="18" charset="0"/>
              </a:rPr>
              <a:t>Foreign Policy</a:t>
            </a:r>
            <a:endParaRPr lang="ru-RU" u="sng"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sz="half" idx="1"/>
          </p:nvPr>
        </p:nvSpPr>
        <p:spPr>
          <a:xfrm>
            <a:off x="838200" y="612250"/>
            <a:ext cx="5181600" cy="6245750"/>
          </a:xfrm>
        </p:spPr>
        <p:txBody>
          <a:bodyPr>
            <a:noAutofit/>
          </a:bodyPr>
          <a:lstStyle/>
          <a:p>
            <a:pPr marL="0" indent="0">
              <a:buNone/>
            </a:pPr>
            <a:r>
              <a:rPr lang="en-US" sz="1400" b="1" dirty="0">
                <a:latin typeface="Times New Roman" panose="02020603050405020304" pitchFamily="18" charset="0"/>
                <a:cs typeface="Times New Roman" panose="02020603050405020304" pitchFamily="18" charset="0"/>
              </a:rPr>
              <a:t>Tasks:</a:t>
            </a:r>
          </a:p>
          <a:p>
            <a:r>
              <a:rPr lang="en-US" sz="1400" dirty="0" smtClean="0">
                <a:latin typeface="Times New Roman" panose="02020603050405020304" pitchFamily="18" charset="0"/>
                <a:cs typeface="Times New Roman" panose="02020603050405020304" pitchFamily="18" charset="0"/>
              </a:rPr>
              <a:t>the </a:t>
            </a:r>
            <a:r>
              <a:rPr lang="en-US" sz="1400" dirty="0">
                <a:latin typeface="Times New Roman" panose="02020603050405020304" pitchFamily="18" charset="0"/>
                <a:cs typeface="Times New Roman" panose="02020603050405020304" pitchFamily="18" charset="0"/>
              </a:rPr>
              <a:t>struggle for access to the Black and Azov Seas.</a:t>
            </a:r>
          </a:p>
          <a:p>
            <a:r>
              <a:rPr lang="en-US" sz="1400" dirty="0" smtClean="0">
                <a:latin typeface="Times New Roman" panose="02020603050405020304" pitchFamily="18" charset="0"/>
                <a:cs typeface="Times New Roman" panose="02020603050405020304" pitchFamily="18" charset="0"/>
              </a:rPr>
              <a:t>liberation </a:t>
            </a:r>
            <a:r>
              <a:rPr lang="en-US" sz="1400" dirty="0">
                <a:latin typeface="Times New Roman" panose="02020603050405020304" pitchFamily="18" charset="0"/>
                <a:cs typeface="Times New Roman" panose="02020603050405020304" pitchFamily="18" charset="0"/>
              </a:rPr>
              <a:t>of the lands of Ukraine and Belarus from foreign domination and unification of all Eastern Slavs in one state. </a:t>
            </a:r>
          </a:p>
          <a:p>
            <a:r>
              <a:rPr lang="en-US" sz="1400" dirty="0" smtClean="0">
                <a:latin typeface="Times New Roman" panose="02020603050405020304" pitchFamily="18" charset="0"/>
                <a:cs typeface="Times New Roman" panose="02020603050405020304" pitchFamily="18" charset="0"/>
              </a:rPr>
              <a:t>annexation </a:t>
            </a:r>
            <a:r>
              <a:rPr lang="en-US" sz="1400" dirty="0">
                <a:latin typeface="Times New Roman" panose="02020603050405020304" pitchFamily="18" charset="0"/>
                <a:cs typeface="Times New Roman" panose="02020603050405020304" pitchFamily="18" charset="0"/>
              </a:rPr>
              <a:t>of Crimea.</a:t>
            </a:r>
          </a:p>
          <a:p>
            <a:r>
              <a:rPr lang="en-US" sz="1400" dirty="0" smtClean="0">
                <a:latin typeface="Times New Roman" panose="02020603050405020304" pitchFamily="18" charset="0"/>
                <a:cs typeface="Times New Roman" panose="02020603050405020304" pitchFamily="18" charset="0"/>
              </a:rPr>
              <a:t>the </a:t>
            </a:r>
            <a:r>
              <a:rPr lang="en-US" sz="1400" dirty="0">
                <a:latin typeface="Times New Roman" panose="02020603050405020304" pitchFamily="18" charset="0"/>
                <a:cs typeface="Times New Roman" panose="02020603050405020304" pitchFamily="18" charset="0"/>
              </a:rPr>
              <a:t>struggle against revolutionary France. </a:t>
            </a:r>
          </a:p>
          <a:p>
            <a:r>
              <a:rPr lang="en-US" sz="1400" dirty="0">
                <a:latin typeface="Times New Roman" panose="02020603050405020304" pitchFamily="18" charset="0"/>
                <a:cs typeface="Times New Roman" panose="02020603050405020304" pitchFamily="18" charset="0"/>
              </a:rPr>
              <a:t>Main directions: western, southern. </a:t>
            </a:r>
          </a:p>
          <a:p>
            <a:r>
              <a:rPr lang="en-US" sz="1400" dirty="0" smtClean="0">
                <a:latin typeface="Times New Roman" panose="02020603050405020304" pitchFamily="18" charset="0"/>
                <a:cs typeface="Times New Roman" panose="02020603050405020304" pitchFamily="18" charset="0"/>
              </a:rPr>
              <a:t>1766 </a:t>
            </a:r>
            <a:r>
              <a:rPr lang="en-US" sz="1400" dirty="0">
                <a:latin typeface="Times New Roman" panose="02020603050405020304" pitchFamily="18" charset="0"/>
                <a:cs typeface="Times New Roman" panose="02020603050405020304" pitchFamily="18" charset="0"/>
              </a:rPr>
              <a:t>– the annexation of the Aleutian Islands to Russia.</a:t>
            </a:r>
          </a:p>
          <a:p>
            <a:r>
              <a:rPr lang="en-US" sz="1400" dirty="0" smtClean="0">
                <a:latin typeface="Times New Roman" panose="02020603050405020304" pitchFamily="18" charset="0"/>
                <a:cs typeface="Times New Roman" panose="02020603050405020304" pitchFamily="18" charset="0"/>
              </a:rPr>
              <a:t>1768-1774 </a:t>
            </a:r>
            <a:r>
              <a:rPr lang="en-US" sz="1400" dirty="0">
                <a:latin typeface="Times New Roman" panose="02020603050405020304" pitchFamily="18" charset="0"/>
                <a:cs typeface="Times New Roman" panose="02020603050405020304" pitchFamily="18" charset="0"/>
              </a:rPr>
              <a:t>– The Russian-Turkish War (June 26, 1770 – the defeat of the Turkish fleet in the </a:t>
            </a:r>
            <a:r>
              <a:rPr lang="en-US" sz="1400" dirty="0" err="1">
                <a:latin typeface="Times New Roman" panose="02020603050405020304" pitchFamily="18" charset="0"/>
                <a:cs typeface="Times New Roman" panose="02020603050405020304" pitchFamily="18" charset="0"/>
              </a:rPr>
              <a:t>Chesma</a:t>
            </a:r>
            <a:r>
              <a:rPr lang="en-US" sz="1400" dirty="0">
                <a:latin typeface="Times New Roman" panose="02020603050405020304" pitchFamily="18" charset="0"/>
                <a:cs typeface="Times New Roman" panose="02020603050405020304" pitchFamily="18" charset="0"/>
              </a:rPr>
              <a:t> Bay). </a:t>
            </a:r>
            <a:r>
              <a:rPr lang="en-US" sz="1400" dirty="0" err="1">
                <a:latin typeface="Times New Roman" panose="02020603050405020304" pitchFamily="18" charset="0"/>
                <a:cs typeface="Times New Roman" panose="02020603050405020304" pitchFamily="18" charset="0"/>
              </a:rPr>
              <a:t>Kuchuk-Kaynardzhi</a:t>
            </a:r>
            <a:r>
              <a:rPr lang="en-US" sz="1400" dirty="0">
                <a:latin typeface="Times New Roman" panose="02020603050405020304" pitchFamily="18" charset="0"/>
                <a:cs typeface="Times New Roman" panose="02020603050405020304" pitchFamily="18" charset="0"/>
              </a:rPr>
              <a:t> Peace Treaty.</a:t>
            </a:r>
          </a:p>
          <a:p>
            <a:r>
              <a:rPr lang="en-US" sz="1400" dirty="0" smtClean="0">
                <a:latin typeface="Times New Roman" panose="02020603050405020304" pitchFamily="18" charset="0"/>
                <a:cs typeface="Times New Roman" panose="02020603050405020304" pitchFamily="18" charset="0"/>
              </a:rPr>
              <a:t>1783 </a:t>
            </a:r>
            <a:r>
              <a:rPr lang="en-US" sz="1400" dirty="0">
                <a:latin typeface="Times New Roman" panose="02020603050405020304" pitchFamily="18" charset="0"/>
                <a:cs typeface="Times New Roman" panose="02020603050405020304" pitchFamily="18" charset="0"/>
              </a:rPr>
              <a:t>– annexation of Crimea and lands along the Kuban River to Russia. The liquidation of the Crimean Khanate.</a:t>
            </a:r>
          </a:p>
          <a:p>
            <a:r>
              <a:rPr lang="en-US" sz="1400" dirty="0" smtClean="0">
                <a:latin typeface="Times New Roman" panose="02020603050405020304" pitchFamily="18" charset="0"/>
                <a:cs typeface="Times New Roman" panose="02020603050405020304" pitchFamily="18" charset="0"/>
              </a:rPr>
              <a:t>Russia's </a:t>
            </a:r>
            <a:r>
              <a:rPr lang="en-US" sz="1400" dirty="0">
                <a:latin typeface="Times New Roman" panose="02020603050405020304" pitchFamily="18" charset="0"/>
                <a:cs typeface="Times New Roman" panose="02020603050405020304" pitchFamily="18" charset="0"/>
              </a:rPr>
              <a:t>participation in the partitions of Poland: 1772-1773; 1793; 1796.</a:t>
            </a:r>
          </a:p>
          <a:p>
            <a:r>
              <a:rPr lang="en-US" sz="1400" dirty="0" smtClean="0">
                <a:latin typeface="Times New Roman" panose="02020603050405020304" pitchFamily="18" charset="0"/>
                <a:cs typeface="Times New Roman" panose="02020603050405020304" pitchFamily="18" charset="0"/>
              </a:rPr>
              <a:t>1783 </a:t>
            </a:r>
            <a:r>
              <a:rPr lang="en-US" sz="1400" dirty="0">
                <a:latin typeface="Times New Roman" panose="02020603050405020304" pitchFamily="18" charset="0"/>
                <a:cs typeface="Times New Roman" panose="02020603050405020304" pitchFamily="18" charset="0"/>
              </a:rPr>
              <a:t>– the acceptance of eastern Georgia under the patronage of Russia. (Annexation of all Georgia – January 18, 1801)</a:t>
            </a:r>
          </a:p>
          <a:p>
            <a:r>
              <a:rPr lang="en-US" sz="1400" dirty="0" smtClean="0">
                <a:latin typeface="Times New Roman" panose="02020603050405020304" pitchFamily="18" charset="0"/>
                <a:cs typeface="Times New Roman" panose="02020603050405020304" pitchFamily="18" charset="0"/>
              </a:rPr>
              <a:t>1787-1791 </a:t>
            </a:r>
            <a:r>
              <a:rPr lang="en-US" sz="1400" dirty="0">
                <a:latin typeface="Times New Roman" panose="02020603050405020304" pitchFamily="18" charset="0"/>
                <a:cs typeface="Times New Roman" panose="02020603050405020304" pitchFamily="18" charset="0"/>
              </a:rPr>
              <a:t>– Russian-Turkish War. The Iasi Peace Treaty: Russia gained access to the Black Sea. </a:t>
            </a:r>
          </a:p>
          <a:p>
            <a:r>
              <a:rPr lang="en-US" sz="1400" dirty="0">
                <a:latin typeface="Times New Roman" panose="02020603050405020304" pitchFamily="18" charset="0"/>
                <a:cs typeface="Times New Roman" panose="02020603050405020304" pitchFamily="18" charset="0"/>
              </a:rPr>
              <a:t>1788-1790 – Russian-Swedish War. </a:t>
            </a:r>
          </a:p>
          <a:p>
            <a:r>
              <a:rPr lang="en-US" sz="1400" dirty="0">
                <a:latin typeface="Times New Roman" panose="02020603050405020304" pitchFamily="18" charset="0"/>
                <a:cs typeface="Times New Roman" panose="02020603050405020304" pitchFamily="18" charset="0"/>
              </a:rPr>
              <a:t>Attempts to counter the French Revolution (1786-1794): diplomatic and trade relations with France were severed. </a:t>
            </a:r>
            <a:endParaRPr lang="ru-RU" sz="1400" dirty="0">
              <a:latin typeface="Times New Roman" panose="02020603050405020304" pitchFamily="18" charset="0"/>
              <a:cs typeface="Times New Roman" panose="02020603050405020304" pitchFamily="18" charset="0"/>
            </a:endParaRPr>
          </a:p>
        </p:txBody>
      </p:sp>
      <p:sp>
        <p:nvSpPr>
          <p:cNvPr id="4" name="Объект 3"/>
          <p:cNvSpPr>
            <a:spLocks noGrp="1"/>
          </p:cNvSpPr>
          <p:nvPr>
            <p:ph sz="half" idx="2"/>
          </p:nvPr>
        </p:nvSpPr>
        <p:spPr>
          <a:xfrm>
            <a:off x="6172200" y="612250"/>
            <a:ext cx="5181600" cy="3204376"/>
          </a:xfrm>
        </p:spPr>
        <p:txBody>
          <a:bodyPr>
            <a:noAutofit/>
          </a:bodyPr>
          <a:lstStyle/>
          <a:p>
            <a:pPr marL="0" indent="0">
              <a:buNone/>
            </a:pPr>
            <a:r>
              <a:rPr lang="en-US" sz="1600" b="1" dirty="0">
                <a:latin typeface="Times New Roman" panose="02020603050405020304" pitchFamily="18" charset="0"/>
                <a:cs typeface="Times New Roman" panose="02020603050405020304" pitchFamily="18" charset="0"/>
              </a:rPr>
              <a:t>Foreign policy results:</a:t>
            </a:r>
          </a:p>
          <a:p>
            <a:r>
              <a:rPr lang="en-US" sz="1600" dirty="0">
                <a:latin typeface="Times New Roman" panose="02020603050405020304" pitchFamily="18" charset="0"/>
                <a:cs typeface="Times New Roman" panose="02020603050405020304" pitchFamily="18" charset="0"/>
              </a:rPr>
              <a:t>- Russia has gained access to the Black Sea.</a:t>
            </a:r>
          </a:p>
          <a:p>
            <a:r>
              <a:rPr lang="en-US" sz="1600" dirty="0">
                <a:latin typeface="Times New Roman" panose="02020603050405020304" pitchFamily="18" charset="0"/>
                <a:cs typeface="Times New Roman" panose="02020603050405020304" pitchFamily="18" charset="0"/>
              </a:rPr>
              <a:t>accelerated economic development of the steppe south of Russia. </a:t>
            </a:r>
          </a:p>
          <a:p>
            <a:r>
              <a:rPr lang="en-US" sz="1600" dirty="0">
                <a:latin typeface="Times New Roman" panose="02020603050405020304" pitchFamily="18" charset="0"/>
                <a:cs typeface="Times New Roman" panose="02020603050405020304" pitchFamily="18" charset="0"/>
              </a:rPr>
              <a:t>- liquidation of the Crimean Khanate.</a:t>
            </a:r>
          </a:p>
          <a:p>
            <a:r>
              <a:rPr lang="en-US" sz="1600" dirty="0">
                <a:latin typeface="Times New Roman" panose="02020603050405020304" pitchFamily="18" charset="0"/>
                <a:cs typeface="Times New Roman" panose="02020603050405020304" pitchFamily="18" charset="0"/>
              </a:rPr>
              <a:t>- the foundation of new cities: </a:t>
            </a:r>
            <a:r>
              <a:rPr lang="en-US" sz="1600" dirty="0" err="1">
                <a:latin typeface="Times New Roman" panose="02020603050405020304" pitchFamily="18" charset="0"/>
                <a:cs typeface="Times New Roman" panose="02020603050405020304" pitchFamily="18" charset="0"/>
              </a:rPr>
              <a:t>Nikolaev</a:t>
            </a:r>
            <a:r>
              <a:rPr lang="en-US" sz="1600" dirty="0">
                <a:latin typeface="Times New Roman" panose="02020603050405020304" pitchFamily="18" charset="0"/>
                <a:cs typeface="Times New Roman" panose="02020603050405020304" pitchFamily="18" charset="0"/>
              </a:rPr>
              <a:t>, Odessa, Sevastopol, Kherson, etc. </a:t>
            </a:r>
          </a:p>
          <a:p>
            <a:r>
              <a:rPr lang="en-US" sz="1600" dirty="0">
                <a:latin typeface="Times New Roman" panose="02020603050405020304" pitchFamily="18" charset="0"/>
                <a:cs typeface="Times New Roman" panose="02020603050405020304" pitchFamily="18" charset="0"/>
              </a:rPr>
              <a:t>- expansion of trade relations between Russia and the Mediterranean countries.</a:t>
            </a:r>
          </a:p>
          <a:p>
            <a:r>
              <a:rPr lang="en-US" sz="1600" dirty="0">
                <a:latin typeface="Times New Roman" panose="02020603050405020304" pitchFamily="18" charset="0"/>
                <a:cs typeface="Times New Roman" panose="02020603050405020304" pitchFamily="18" charset="0"/>
              </a:rPr>
              <a:t>-The partitions of Poland pushed the borders of the Russian Empire to the </a:t>
            </a:r>
            <a:r>
              <a:rPr lang="en-US" sz="1600" dirty="0" smtClean="0">
                <a:latin typeface="Times New Roman" panose="02020603050405020304" pitchFamily="18" charset="0"/>
                <a:cs typeface="Times New Roman" panose="02020603050405020304" pitchFamily="18" charset="0"/>
              </a:rPr>
              <a:t>West</a:t>
            </a:r>
            <a:r>
              <a:rPr lang="ru-RU" sz="1600"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Belarus </a:t>
            </a:r>
            <a:r>
              <a:rPr lang="en-US" sz="1600" dirty="0">
                <a:latin typeface="Times New Roman" panose="02020603050405020304" pitchFamily="18" charset="0"/>
                <a:cs typeface="Times New Roman" panose="02020603050405020304" pitchFamily="18" charset="0"/>
              </a:rPr>
              <a:t>and </a:t>
            </a:r>
            <a:r>
              <a:rPr lang="en-US" sz="1600" dirty="0" smtClean="0">
                <a:latin typeface="Times New Roman" panose="02020603050405020304" pitchFamily="18" charset="0"/>
                <a:cs typeface="Times New Roman" panose="02020603050405020304" pitchFamily="18" charset="0"/>
              </a:rPr>
              <a:t>Ukraine</a:t>
            </a:r>
            <a:r>
              <a:rPr lang="ru-RU" sz="1600" dirty="0" smtClean="0">
                <a:latin typeface="Times New Roman" panose="02020603050405020304" pitchFamily="18" charset="0"/>
                <a:cs typeface="Times New Roman" panose="02020603050405020304" pitchFamily="18" charset="0"/>
              </a:rPr>
              <a:t>)</a:t>
            </a:r>
            <a:r>
              <a:rPr lang="en-US" sz="1600" dirty="0" smtClean="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Russia's authority as a great power has increased.</a:t>
            </a:r>
            <a:endParaRPr lang="ru-RU" sz="1600" dirty="0">
              <a:latin typeface="Times New Roman" panose="02020603050405020304" pitchFamily="18" charset="0"/>
              <a:cs typeface="Times New Roman" panose="02020603050405020304" pitchFamily="18" charset="0"/>
            </a:endParaRPr>
          </a:p>
        </p:txBody>
      </p:sp>
      <p:pic>
        <p:nvPicPr>
          <p:cNvPr id="5" name="Рисунок 4"/>
          <p:cNvPicPr>
            <a:picLocks noChangeAspect="1"/>
          </p:cNvPicPr>
          <p:nvPr/>
        </p:nvPicPr>
        <p:blipFill>
          <a:blip r:embed="rId2"/>
          <a:stretch>
            <a:fillRect/>
          </a:stretch>
        </p:blipFill>
        <p:spPr>
          <a:xfrm>
            <a:off x="6106602" y="3816626"/>
            <a:ext cx="5693133" cy="2756418"/>
          </a:xfrm>
          <a:prstGeom prst="rect">
            <a:avLst/>
          </a:prstGeom>
        </p:spPr>
      </p:pic>
    </p:spTree>
    <p:extLst>
      <p:ext uri="{BB962C8B-B14F-4D97-AF65-F5344CB8AC3E}">
        <p14:creationId xmlns:p14="http://schemas.microsoft.com/office/powerpoint/2010/main" val="30115622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a:extLst>
              <a:ext uri="{FF2B5EF4-FFF2-40B4-BE49-F238E27FC236}">
                <a16:creationId xmlns:a16="http://schemas.microsoft.com/office/drawing/2014/main" id="{2F244E94-64D4-45A7-8F89-B0831CD420CC}"/>
              </a:ext>
            </a:extLst>
          </p:cNvPr>
          <p:cNvPicPr>
            <a:picLocks noGrp="1" noChangeAspect="1"/>
          </p:cNvPicPr>
          <p:nvPr>
            <p:ph idx="1"/>
          </p:nvPr>
        </p:nvPicPr>
        <p:blipFill>
          <a:blip r:embed="rId2"/>
          <a:stretch>
            <a:fillRect/>
          </a:stretch>
        </p:blipFill>
        <p:spPr>
          <a:xfrm>
            <a:off x="422983" y="1102981"/>
            <a:ext cx="3871259" cy="5288141"/>
          </a:xfrm>
          <a:prstGeom prst="rect">
            <a:avLst/>
          </a:prstGeom>
        </p:spPr>
      </p:pic>
      <p:sp>
        <p:nvSpPr>
          <p:cNvPr id="2" name="Заголовок 1">
            <a:extLst>
              <a:ext uri="{FF2B5EF4-FFF2-40B4-BE49-F238E27FC236}">
                <a16:creationId xmlns:a16="http://schemas.microsoft.com/office/drawing/2014/main" id="{22AF7BC3-6C41-44B8-A528-0E4824572589}"/>
              </a:ext>
            </a:extLst>
          </p:cNvPr>
          <p:cNvSpPr>
            <a:spLocks noGrp="1"/>
          </p:cNvSpPr>
          <p:nvPr>
            <p:ph type="title"/>
          </p:nvPr>
        </p:nvSpPr>
        <p:spPr>
          <a:xfrm>
            <a:off x="3465194" y="-37281"/>
            <a:ext cx="5261610" cy="968375"/>
          </a:xfrm>
        </p:spPr>
        <p:txBody>
          <a:bodyPr>
            <a:noAutofit/>
          </a:bodyPr>
          <a:lstStyle/>
          <a:p>
            <a:r>
              <a:rPr lang="en-US" sz="4800" b="1" u="sng" dirty="0">
                <a:latin typeface="Times New Roman" panose="02020603050405020304" pitchFamily="18" charset="0"/>
                <a:ea typeface="SimSun" panose="02010600030101010101" pitchFamily="2" charset="-122"/>
                <a:cs typeface="Times New Roman" panose="02020603050405020304" pitchFamily="18" charset="0"/>
              </a:rPr>
              <a:t>Paul I</a:t>
            </a:r>
            <a:r>
              <a:rPr lang="ru-RU" sz="4800" b="1" u="sng" dirty="0">
                <a:latin typeface="Times New Roman" panose="02020603050405020304" pitchFamily="18" charset="0"/>
                <a:ea typeface="SimSun" panose="02010600030101010101" pitchFamily="2" charset="-122"/>
                <a:cs typeface="Times New Roman" panose="02020603050405020304" pitchFamily="18" charset="0"/>
              </a:rPr>
              <a:t> (1796–1801)</a:t>
            </a:r>
          </a:p>
        </p:txBody>
      </p:sp>
      <p:sp>
        <p:nvSpPr>
          <p:cNvPr id="3" name="Прямоугольник 2"/>
          <p:cNvSpPr/>
          <p:nvPr/>
        </p:nvSpPr>
        <p:spPr>
          <a:xfrm>
            <a:off x="4940411" y="792396"/>
            <a:ext cx="6096000" cy="5909310"/>
          </a:xfrm>
          <a:prstGeom prst="rect">
            <a:avLst/>
          </a:prstGeom>
        </p:spPr>
        <p:txBody>
          <a:bodyPr>
            <a:spAutoFit/>
          </a:bodyPr>
          <a:lstStyle/>
          <a:p>
            <a:r>
              <a:rPr lang="en-US" b="1" dirty="0">
                <a:latin typeface="Times New Roman" panose="02020603050405020304" pitchFamily="18" charset="0"/>
                <a:cs typeface="Times New Roman" panose="02020603050405020304" pitchFamily="18" charset="0"/>
              </a:rPr>
              <a:t>Domestic policy:</a:t>
            </a:r>
          </a:p>
          <a:p>
            <a:r>
              <a:rPr lang="en-US" dirty="0">
                <a:latin typeface="Times New Roman" panose="02020603050405020304" pitchFamily="18" charset="0"/>
                <a:cs typeface="Times New Roman" panose="02020603050405020304" pitchFamily="18" charset="0"/>
              </a:rPr>
              <a:t>- restoration of the </a:t>
            </a:r>
            <a:r>
              <a:rPr lang="en-US" dirty="0" smtClean="0">
                <a:latin typeface="Times New Roman" panose="02020603050405020304" pitchFamily="18" charset="0"/>
                <a:cs typeface="Times New Roman" panose="02020603050405020304" pitchFamily="18" charset="0"/>
              </a:rPr>
              <a:t>Collegium </a:t>
            </a:r>
            <a:r>
              <a:rPr lang="en-US" dirty="0">
                <a:latin typeface="Times New Roman" panose="02020603050405020304" pitchFamily="18" charset="0"/>
                <a:cs typeface="Times New Roman" panose="02020603050405020304" pitchFamily="18" charset="0"/>
              </a:rPr>
              <a:t>system. </a:t>
            </a:r>
          </a:p>
          <a:p>
            <a:r>
              <a:rPr lang="en-US" dirty="0">
                <a:latin typeface="Times New Roman" panose="02020603050405020304" pitchFamily="18" charset="0"/>
                <a:cs typeface="Times New Roman" panose="02020603050405020304" pitchFamily="18" charset="0"/>
              </a:rPr>
              <a:t>- changing the administrative division of Russia, reducing the number of provinces, </a:t>
            </a:r>
          </a:p>
          <a:p>
            <a:r>
              <a:rPr lang="en-US" dirty="0">
                <a:latin typeface="Times New Roman" panose="02020603050405020304" pitchFamily="18" charset="0"/>
                <a:cs typeface="Times New Roman" panose="02020603050405020304" pitchFamily="18" charset="0"/>
              </a:rPr>
              <a:t>- the return of the </a:t>
            </a:r>
            <a:r>
              <a:rPr lang="en-US" dirty="0" smtClean="0">
                <a:latin typeface="Times New Roman" panose="02020603050405020304" pitchFamily="18" charset="0"/>
                <a:cs typeface="Times New Roman" panose="02020603050405020304" pitchFamily="18" charset="0"/>
              </a:rPr>
              <a:t>previous </a:t>
            </a:r>
            <a:r>
              <a:rPr lang="en-US" dirty="0">
                <a:latin typeface="Times New Roman" panose="02020603050405020304" pitchFamily="18" charset="0"/>
                <a:cs typeface="Times New Roman" panose="02020603050405020304" pitchFamily="18" charset="0"/>
              </a:rPr>
              <a:t>forms of government </a:t>
            </a: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the provinces of Russia. </a:t>
            </a:r>
          </a:p>
          <a:p>
            <a:r>
              <a:rPr lang="en-US" dirty="0">
                <a:latin typeface="Times New Roman" panose="02020603050405020304" pitchFamily="18" charset="0"/>
                <a:cs typeface="Times New Roman" panose="02020603050405020304" pitchFamily="18" charset="0"/>
              </a:rPr>
              <a:t>- Depriving the nobility of privileges;</a:t>
            </a:r>
          </a:p>
          <a:p>
            <a:r>
              <a:rPr lang="en-US" dirty="0">
                <a:latin typeface="Times New Roman" panose="02020603050405020304" pitchFamily="18" charset="0"/>
                <a:cs typeface="Times New Roman" panose="02020603050405020304" pitchFamily="18" charset="0"/>
              </a:rPr>
              <a:t>- limitation of the validity of chartered certificates; </a:t>
            </a:r>
          </a:p>
          <a:p>
            <a:r>
              <a:rPr lang="en-US" dirty="0">
                <a:latin typeface="Times New Roman" panose="02020603050405020304" pitchFamily="18" charset="0"/>
                <a:cs typeface="Times New Roman" panose="02020603050405020304" pitchFamily="18" charset="0"/>
              </a:rPr>
              <a:t>- attempts to stabilize the country's financial situation;</a:t>
            </a:r>
          </a:p>
          <a:p>
            <a:r>
              <a:rPr lang="en-US" dirty="0">
                <a:latin typeface="Times New Roman" panose="02020603050405020304" pitchFamily="18" charset="0"/>
                <a:cs typeface="Times New Roman" panose="02020603050405020304" pitchFamily="18" charset="0"/>
              </a:rPr>
              <a:t>- establishment of the standard of peasant labor;</a:t>
            </a:r>
          </a:p>
          <a:p>
            <a:r>
              <a:rPr lang="en-US" dirty="0">
                <a:latin typeface="Times New Roman" panose="02020603050405020304" pitchFamily="18" charset="0"/>
                <a:cs typeface="Times New Roman" panose="02020603050405020304" pitchFamily="18" charset="0"/>
              </a:rPr>
              <a:t>- changing the system of succession to the throne.</a:t>
            </a:r>
          </a:p>
          <a:p>
            <a:r>
              <a:rPr lang="en-US" dirty="0">
                <a:latin typeface="Times New Roman" panose="02020603050405020304" pitchFamily="18" charset="0"/>
                <a:cs typeface="Times New Roman" panose="02020603050405020304" pitchFamily="18" charset="0"/>
              </a:rPr>
              <a:t>- 1797 – decree prohibiting the sale of household servants and landless </a:t>
            </a:r>
            <a:r>
              <a:rPr lang="en-US" dirty="0" smtClean="0">
                <a:latin typeface="Times New Roman" panose="02020603050405020304" pitchFamily="18" charset="0"/>
                <a:cs typeface="Times New Roman" panose="02020603050405020304" pitchFamily="18" charset="0"/>
              </a:rPr>
              <a:t>serfs; </a:t>
            </a:r>
            <a:r>
              <a:rPr lang="en-US" dirty="0">
                <a:latin typeface="Times New Roman" panose="02020603050405020304" pitchFamily="18" charset="0"/>
                <a:cs typeface="Times New Roman" panose="02020603050405020304" pitchFamily="18" charset="0"/>
              </a:rPr>
              <a:t>publication of a Manifesto on three-day </a:t>
            </a:r>
            <a:r>
              <a:rPr lang="en-US" dirty="0" smtClean="0">
                <a:latin typeface="Times New Roman" panose="02020603050405020304" pitchFamily="18" charset="0"/>
                <a:cs typeface="Times New Roman" panose="02020603050405020304" pitchFamily="18" charset="0"/>
              </a:rPr>
              <a:t>Servitude.</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Foreign policy:</a:t>
            </a:r>
          </a:p>
          <a:p>
            <a:r>
              <a:rPr lang="en-US" dirty="0">
                <a:latin typeface="Times New Roman" panose="02020603050405020304" pitchFamily="18" charset="0"/>
                <a:cs typeface="Times New Roman" panose="02020603050405020304" pitchFamily="18" charset="0"/>
              </a:rPr>
              <a:t>- A change in foreign policy: a reorientation towards an alliance with France.</a:t>
            </a:r>
          </a:p>
          <a:p>
            <a:r>
              <a:rPr lang="en-US" dirty="0">
                <a:latin typeface="Times New Roman" panose="02020603050405020304" pitchFamily="18" charset="0"/>
                <a:cs typeface="Times New Roman" panose="02020603050405020304" pitchFamily="18" charset="0"/>
              </a:rPr>
              <a:t> - 1798-1800 – Russian-French wars.</a:t>
            </a:r>
          </a:p>
          <a:p>
            <a:r>
              <a:rPr lang="en-US" dirty="0">
                <a:latin typeface="Times New Roman" panose="02020603050405020304" pitchFamily="18" charset="0"/>
                <a:cs typeface="Times New Roman" panose="02020603050405020304" pitchFamily="18" charset="0"/>
              </a:rPr>
              <a:t>- 1798-1800 – Italian and Swiss campaigns of A.V. Suvorov, the Mediterranean campaign of F.F. </a:t>
            </a:r>
            <a:r>
              <a:rPr lang="en-US" dirty="0" err="1">
                <a:latin typeface="Times New Roman" panose="02020603050405020304" pitchFamily="18" charset="0"/>
                <a:cs typeface="Times New Roman" panose="02020603050405020304" pitchFamily="18" charset="0"/>
              </a:rPr>
              <a:t>Ushakov</a:t>
            </a:r>
            <a:r>
              <a:rPr lang="en-US" dirty="0">
                <a:latin typeface="Times New Roman" panose="02020603050405020304" pitchFamily="18" charset="0"/>
                <a:cs typeface="Times New Roman" panose="02020603050405020304" pitchFamily="18" charset="0"/>
              </a:rPr>
              <a:t>. </a:t>
            </a:r>
          </a:p>
          <a:p>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721011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a:extLst>
              <a:ext uri="{FF2B5EF4-FFF2-40B4-BE49-F238E27FC236}">
                <a16:creationId xmlns:a16="http://schemas.microsoft.com/office/drawing/2014/main" id="{299287E5-288E-4FA5-A5CB-4921ECE568C0}"/>
              </a:ext>
            </a:extLst>
          </p:cNvPr>
          <p:cNvPicPr>
            <a:picLocks noGrp="1" noChangeAspect="1"/>
          </p:cNvPicPr>
          <p:nvPr>
            <p:ph idx="1"/>
          </p:nvPr>
        </p:nvPicPr>
        <p:blipFill>
          <a:blip r:embed="rId2"/>
          <a:stretch>
            <a:fillRect/>
          </a:stretch>
        </p:blipFill>
        <p:spPr>
          <a:xfrm>
            <a:off x="3913867" y="1088530"/>
            <a:ext cx="4364266" cy="5568804"/>
          </a:xfrm>
          <a:prstGeom prst="rect">
            <a:avLst/>
          </a:prstGeom>
        </p:spPr>
      </p:pic>
      <p:sp>
        <p:nvSpPr>
          <p:cNvPr id="2" name="Заголовок 1">
            <a:extLst>
              <a:ext uri="{FF2B5EF4-FFF2-40B4-BE49-F238E27FC236}">
                <a16:creationId xmlns:a16="http://schemas.microsoft.com/office/drawing/2014/main" id="{D3CC5E9C-4538-430A-A695-6E749A659106}"/>
              </a:ext>
            </a:extLst>
          </p:cNvPr>
          <p:cNvSpPr>
            <a:spLocks noGrp="1"/>
          </p:cNvSpPr>
          <p:nvPr>
            <p:ph type="title"/>
          </p:nvPr>
        </p:nvSpPr>
        <p:spPr>
          <a:xfrm>
            <a:off x="2752725" y="82055"/>
            <a:ext cx="6686550" cy="1006475"/>
          </a:xfrm>
        </p:spPr>
        <p:txBody>
          <a:bodyPr>
            <a:noAutofit/>
          </a:bodyPr>
          <a:lstStyle/>
          <a:p>
            <a:r>
              <a:rPr lang="en-US" sz="4800" b="1" u="sng" dirty="0">
                <a:latin typeface="Times New Roman" panose="02020603050405020304" pitchFamily="18" charset="0"/>
                <a:ea typeface="SimSun" panose="02010600030101010101" pitchFamily="2" charset="-122"/>
                <a:cs typeface="Times New Roman" panose="02020603050405020304" pitchFamily="18" charset="0"/>
              </a:rPr>
              <a:t>Alexander I</a:t>
            </a:r>
            <a:r>
              <a:rPr lang="ru-RU" sz="4800" b="1" u="sng" dirty="0">
                <a:latin typeface="Times New Roman" panose="02020603050405020304" pitchFamily="18" charset="0"/>
                <a:ea typeface="SimSun" panose="02010600030101010101" pitchFamily="2" charset="-122"/>
                <a:cs typeface="Times New Roman" panose="02020603050405020304" pitchFamily="18" charset="0"/>
              </a:rPr>
              <a:t> (</a:t>
            </a:r>
            <a:r>
              <a:rPr lang="en-US" sz="4800" b="1" u="sng" dirty="0">
                <a:latin typeface="Times New Roman" panose="02020603050405020304" pitchFamily="18" charset="0"/>
                <a:ea typeface="SimSun" panose="02010600030101010101" pitchFamily="2" charset="-122"/>
                <a:cs typeface="Times New Roman" panose="02020603050405020304" pitchFamily="18" charset="0"/>
              </a:rPr>
              <a:t>1801–1825</a:t>
            </a:r>
            <a:r>
              <a:rPr lang="ru-RU" sz="4800" b="1" u="sng" dirty="0">
                <a:latin typeface="Times New Roman" panose="02020603050405020304" pitchFamily="18" charset="0"/>
                <a:ea typeface="SimSun" panose="02010600030101010101" pitchFamily="2" charset="-122"/>
                <a:cs typeface="Times New Roman" panose="02020603050405020304" pitchFamily="18" charset="0"/>
              </a:rPr>
              <a:t>)</a:t>
            </a:r>
          </a:p>
        </p:txBody>
      </p:sp>
      <p:sp>
        <p:nvSpPr>
          <p:cNvPr id="3" name="Прямоугольник 2"/>
          <p:cNvSpPr/>
          <p:nvPr/>
        </p:nvSpPr>
        <p:spPr>
          <a:xfrm>
            <a:off x="0" y="913698"/>
            <a:ext cx="3913867" cy="5632311"/>
          </a:xfrm>
          <a:prstGeom prst="rect">
            <a:avLst/>
          </a:prstGeom>
        </p:spPr>
        <p:txBody>
          <a:bodyPr wrap="square">
            <a:spAutoFit/>
          </a:bodyPr>
          <a:lstStyle/>
          <a:p>
            <a:r>
              <a:rPr lang="en-US" b="1" dirty="0" smtClean="0"/>
              <a:t>Domestic activities</a:t>
            </a:r>
          </a:p>
          <a:p>
            <a:pPr marL="285750" indent="-285750">
              <a:buFontTx/>
              <a:buChar char="-"/>
            </a:pPr>
            <a:r>
              <a:rPr lang="en-US" dirty="0" smtClean="0"/>
              <a:t>1802 – Manifesto on the establishment of ministries. </a:t>
            </a:r>
          </a:p>
          <a:p>
            <a:pPr marL="285750" indent="-285750">
              <a:buFontTx/>
              <a:buChar char="-"/>
            </a:pPr>
            <a:r>
              <a:rPr lang="en-US" dirty="0" smtClean="0"/>
              <a:t>1803 – decree "On free farmers.“</a:t>
            </a:r>
          </a:p>
          <a:p>
            <a:pPr marL="285750" indent="-285750">
              <a:buFontTx/>
              <a:buChar char="-"/>
            </a:pPr>
            <a:r>
              <a:rPr lang="en-US" dirty="0" smtClean="0"/>
              <a:t>1809 – compilation by M.M. </a:t>
            </a:r>
            <a:r>
              <a:rPr lang="en-US" dirty="0" err="1" smtClean="0"/>
              <a:t>Speransky</a:t>
            </a:r>
            <a:r>
              <a:rPr lang="en-US" dirty="0" smtClean="0"/>
              <a:t> of the "Introduction to the Code of State Laws". It is based on the principle of separation of powers - legislative, executive and judicial, which were combined in the State Council. The real legislative power remained in the hands of the Emperor. </a:t>
            </a:r>
          </a:p>
          <a:p>
            <a:pPr marL="285750" indent="-285750">
              <a:buFontTx/>
              <a:buChar char="-"/>
            </a:pPr>
            <a:r>
              <a:rPr lang="en-US" dirty="0" smtClean="0"/>
              <a:t>1810 - creation of the State Council. Development of water transport. The </a:t>
            </a:r>
            <a:r>
              <a:rPr lang="en-US" dirty="0" err="1" smtClean="0"/>
              <a:t>Mariinsky</a:t>
            </a:r>
            <a:r>
              <a:rPr lang="en-US" dirty="0" smtClean="0"/>
              <a:t> and </a:t>
            </a:r>
            <a:r>
              <a:rPr lang="en-US" dirty="0" err="1" smtClean="0"/>
              <a:t>Tikhvin</a:t>
            </a:r>
            <a:r>
              <a:rPr lang="en-US" dirty="0" smtClean="0"/>
              <a:t> canal systems</a:t>
            </a:r>
          </a:p>
          <a:p>
            <a:pPr marL="285750" indent="-285750">
              <a:buFontTx/>
              <a:buChar char="-"/>
            </a:pPr>
            <a:r>
              <a:rPr lang="en-US" dirty="0" smtClean="0"/>
              <a:t>1810-1811. - Military settlements. 1810-1857. Organizer: General A. </a:t>
            </a:r>
            <a:r>
              <a:rPr lang="en-US" dirty="0" err="1" smtClean="0"/>
              <a:t>Arakcheev</a:t>
            </a:r>
            <a:r>
              <a:rPr lang="en-US" dirty="0" smtClean="0"/>
              <a:t>. </a:t>
            </a:r>
            <a:endParaRPr lang="ru-RU" dirty="0"/>
          </a:p>
        </p:txBody>
      </p:sp>
      <p:sp>
        <p:nvSpPr>
          <p:cNvPr id="7" name="Прямоугольник 6"/>
          <p:cNvSpPr/>
          <p:nvPr/>
        </p:nvSpPr>
        <p:spPr>
          <a:xfrm>
            <a:off x="8278132" y="1287609"/>
            <a:ext cx="3924469" cy="4801314"/>
          </a:xfrm>
          <a:prstGeom prst="rect">
            <a:avLst/>
          </a:prstGeom>
        </p:spPr>
        <p:txBody>
          <a:bodyPr wrap="square">
            <a:spAutoFit/>
          </a:bodyPr>
          <a:lstStyle/>
          <a:p>
            <a:pPr marL="285750" indent="-285750">
              <a:buFontTx/>
              <a:buChar char="-"/>
            </a:pPr>
            <a:r>
              <a:rPr lang="en-US" dirty="0" smtClean="0"/>
              <a:t>1815 </a:t>
            </a:r>
            <a:r>
              <a:rPr lang="en-US" dirty="0"/>
              <a:t>– opening of the first steamship line in Russia "Saint Petersburg-</a:t>
            </a:r>
            <a:r>
              <a:rPr lang="en-US" dirty="0" err="1"/>
              <a:t>Kronstadt</a:t>
            </a:r>
            <a:r>
              <a:rPr lang="en-US" dirty="0"/>
              <a:t>". </a:t>
            </a:r>
            <a:endParaRPr lang="en-US" dirty="0" smtClean="0"/>
          </a:p>
          <a:p>
            <a:pPr marL="285750" indent="-285750">
              <a:buFontTx/>
              <a:buChar char="-"/>
            </a:pPr>
            <a:r>
              <a:rPr lang="en-US" dirty="0" smtClean="0"/>
              <a:t>1815 </a:t>
            </a:r>
            <a:r>
              <a:rPr lang="en-US" dirty="0"/>
              <a:t>– granting of the constitution to the Kingdom of Poland </a:t>
            </a:r>
            <a:endParaRPr lang="en-US" dirty="0" smtClean="0"/>
          </a:p>
          <a:p>
            <a:pPr marL="285750" indent="-285750">
              <a:buFontTx/>
              <a:buChar char="-"/>
            </a:pPr>
            <a:r>
              <a:rPr lang="en-US" dirty="0" smtClean="0"/>
              <a:t>1816-1819 </a:t>
            </a:r>
            <a:r>
              <a:rPr lang="en-US" dirty="0"/>
              <a:t>– granting personal freedom to the peasants of the Baltic provinces</a:t>
            </a:r>
            <a:r>
              <a:rPr lang="en-US" dirty="0" smtClean="0"/>
              <a:t>.</a:t>
            </a:r>
          </a:p>
          <a:p>
            <a:pPr marL="285750" indent="-285750">
              <a:buFontTx/>
              <a:buChar char="-"/>
            </a:pPr>
            <a:r>
              <a:rPr lang="en-US" dirty="0" smtClean="0"/>
              <a:t> 1819 </a:t>
            </a:r>
            <a:r>
              <a:rPr lang="en-US" dirty="0"/>
              <a:t>– </a:t>
            </a:r>
            <a:r>
              <a:rPr lang="en-US" dirty="0" err="1"/>
              <a:t>Chuguev</a:t>
            </a:r>
            <a:r>
              <a:rPr lang="en-US" dirty="0"/>
              <a:t> uprising of military settlers in Ukraine</a:t>
            </a:r>
            <a:r>
              <a:rPr lang="en-US" dirty="0" smtClean="0"/>
              <a:t>.</a:t>
            </a:r>
          </a:p>
          <a:p>
            <a:pPr marL="285750" indent="-285750">
              <a:buFontTx/>
              <a:buChar char="-"/>
            </a:pPr>
            <a:r>
              <a:rPr lang="en-US" dirty="0" smtClean="0"/>
              <a:t> 1821</a:t>
            </a:r>
            <a:r>
              <a:rPr lang="en-US" dirty="0"/>
              <a:t>. </a:t>
            </a:r>
            <a:r>
              <a:rPr lang="en-US" dirty="0" err="1"/>
              <a:t>N.N.Novosiltsev</a:t>
            </a:r>
            <a:r>
              <a:rPr lang="en-US" dirty="0"/>
              <a:t>. The draft Constitution "The State Charter of the Russian Empire". </a:t>
            </a:r>
            <a:endParaRPr lang="en-US" dirty="0" smtClean="0"/>
          </a:p>
          <a:p>
            <a:pPr marL="285750" indent="-285750">
              <a:buFontTx/>
              <a:buChar char="-"/>
            </a:pPr>
            <a:r>
              <a:rPr lang="en-US" dirty="0" smtClean="0"/>
              <a:t>Decree </a:t>
            </a:r>
            <a:r>
              <a:rPr lang="en-US" dirty="0"/>
              <a:t>of Alexander I of 1822 on the restoration of the rights of landlords to send serfs to settle in Siberia "for bad deeds".</a:t>
            </a:r>
            <a:endParaRPr lang="ru-RU" dirty="0"/>
          </a:p>
        </p:txBody>
      </p:sp>
    </p:spTree>
    <p:extLst>
      <p:ext uri="{BB962C8B-B14F-4D97-AF65-F5344CB8AC3E}">
        <p14:creationId xmlns:p14="http://schemas.microsoft.com/office/powerpoint/2010/main" val="19096505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2990" y="0"/>
            <a:ext cx="12099010" cy="705173"/>
          </a:xfrm>
        </p:spPr>
        <p:txBody>
          <a:bodyPr>
            <a:normAutofit/>
          </a:bodyPr>
          <a:lstStyle/>
          <a:p>
            <a:pPr algn="ctr"/>
            <a:r>
              <a:rPr lang="en-US" b="1" u="sng" dirty="0" smtClean="0"/>
              <a:t>Foreign affairs </a:t>
            </a:r>
            <a:endParaRPr lang="ru-RU" b="1" u="sng" dirty="0"/>
          </a:p>
        </p:txBody>
      </p:sp>
      <p:sp>
        <p:nvSpPr>
          <p:cNvPr id="3" name="Объект 2"/>
          <p:cNvSpPr>
            <a:spLocks noGrp="1"/>
          </p:cNvSpPr>
          <p:nvPr>
            <p:ph sz="half" idx="1"/>
          </p:nvPr>
        </p:nvSpPr>
        <p:spPr>
          <a:xfrm>
            <a:off x="92990" y="705172"/>
            <a:ext cx="6036590" cy="6152827"/>
          </a:xfrm>
        </p:spPr>
        <p:txBody>
          <a:bodyPr>
            <a:noAutofit/>
          </a:bodyPr>
          <a:lstStyle/>
          <a:p>
            <a:r>
              <a:rPr lang="en-US" sz="1400" dirty="0">
                <a:latin typeface="Times New Roman" panose="02020603050405020304" pitchFamily="18" charset="0"/>
                <a:cs typeface="Times New Roman" panose="02020603050405020304" pitchFamily="18" charset="0"/>
              </a:rPr>
              <a:t>- 1805-1807 – Russia's participation in the anti-Napoleonic coalitions.</a:t>
            </a:r>
          </a:p>
          <a:p>
            <a:r>
              <a:rPr lang="en-US" sz="1400" dirty="0">
                <a:latin typeface="Times New Roman" panose="02020603050405020304" pitchFamily="18" charset="0"/>
                <a:cs typeface="Times New Roman" panose="02020603050405020304" pitchFamily="18" charset="0"/>
              </a:rPr>
              <a:t>- June 25, 1807 – The Peace of </a:t>
            </a:r>
            <a:r>
              <a:rPr lang="en-US" sz="1400" dirty="0" err="1">
                <a:latin typeface="Times New Roman" panose="02020603050405020304" pitchFamily="18" charset="0"/>
                <a:cs typeface="Times New Roman" panose="02020603050405020304" pitchFamily="18" charset="0"/>
              </a:rPr>
              <a:t>Tilsit</a:t>
            </a:r>
            <a:r>
              <a:rPr lang="en-US" sz="1400" dirty="0">
                <a:latin typeface="Times New Roman" panose="02020603050405020304" pitchFamily="18" charset="0"/>
                <a:cs typeface="Times New Roman" panose="02020603050405020304" pitchFamily="18" charset="0"/>
              </a:rPr>
              <a:t> (the formation of the Russian-French union and the division of spheres of influence).</a:t>
            </a:r>
          </a:p>
          <a:p>
            <a:r>
              <a:rPr lang="en-US" sz="1400" dirty="0">
                <a:latin typeface="Times New Roman" panose="02020603050405020304" pitchFamily="18" charset="0"/>
                <a:cs typeface="Times New Roman" panose="02020603050405020304" pitchFamily="18" charset="0"/>
              </a:rPr>
              <a:t>- The Russian-Turkish War of 1806-1812. Bucharest Peace </a:t>
            </a:r>
            <a:r>
              <a:rPr lang="en-US" sz="1400" dirty="0" smtClean="0">
                <a:latin typeface="Times New Roman" panose="02020603050405020304" pitchFamily="18" charset="0"/>
                <a:cs typeface="Times New Roman" panose="02020603050405020304" pitchFamily="18" charset="0"/>
              </a:rPr>
              <a:t>Treaty1808-1809 </a:t>
            </a:r>
            <a:r>
              <a:rPr lang="en-US" sz="1400" dirty="0">
                <a:latin typeface="Times New Roman" panose="02020603050405020304" pitchFamily="18" charset="0"/>
                <a:cs typeface="Times New Roman" panose="02020603050405020304" pitchFamily="18" charset="0"/>
              </a:rPr>
              <a:t>– Russian-Swedish War. The </a:t>
            </a:r>
            <a:r>
              <a:rPr lang="en-US" sz="1400" dirty="0" err="1">
                <a:latin typeface="Times New Roman" panose="02020603050405020304" pitchFamily="18" charset="0"/>
                <a:cs typeface="Times New Roman" panose="02020603050405020304" pitchFamily="18" charset="0"/>
              </a:rPr>
              <a:t>Friedrichsham</a:t>
            </a:r>
            <a:r>
              <a:rPr lang="en-US" sz="1400" dirty="0">
                <a:latin typeface="Times New Roman" panose="02020603050405020304" pitchFamily="18" charset="0"/>
                <a:cs typeface="Times New Roman" panose="02020603050405020304" pitchFamily="18" charset="0"/>
              </a:rPr>
              <a:t> Peace Treaty. Finland's entry into Russia.</a:t>
            </a:r>
          </a:p>
          <a:p>
            <a:r>
              <a:rPr lang="en-US" sz="1400" dirty="0">
                <a:latin typeface="Times New Roman" panose="02020603050405020304" pitchFamily="18" charset="0"/>
                <a:cs typeface="Times New Roman" panose="02020603050405020304" pitchFamily="18" charset="0"/>
              </a:rPr>
              <a:t>Causes and outbreak of the Patriotic War of 1812:</a:t>
            </a:r>
          </a:p>
          <a:p>
            <a:r>
              <a:rPr lang="en-US" sz="1400" dirty="0">
                <a:latin typeface="Times New Roman" panose="02020603050405020304" pitchFamily="18" charset="0"/>
                <a:cs typeface="Times New Roman" panose="02020603050405020304" pitchFamily="18" charset="0"/>
              </a:rPr>
              <a:t>- political and economic contradictions between Russia and France,</a:t>
            </a:r>
          </a:p>
          <a:p>
            <a:r>
              <a:rPr lang="en-US" sz="1400" dirty="0">
                <a:latin typeface="Times New Roman" panose="02020603050405020304" pitchFamily="18" charset="0"/>
                <a:cs typeface="Times New Roman" panose="02020603050405020304" pitchFamily="18" charset="0"/>
              </a:rPr>
              <a:t>- France's desire for European hegemony, </a:t>
            </a:r>
          </a:p>
          <a:p>
            <a:r>
              <a:rPr lang="en-US" sz="1400" dirty="0">
                <a:latin typeface="Times New Roman" panose="02020603050405020304" pitchFamily="18" charset="0"/>
                <a:cs typeface="Times New Roman" panose="02020603050405020304" pitchFamily="18" charset="0"/>
              </a:rPr>
              <a:t>- Russia's refusal to support the continental blockade of England.</a:t>
            </a:r>
            <a:endParaRPr lang="ru-RU" sz="1400" dirty="0">
              <a:latin typeface="Times New Roman" panose="02020603050405020304" pitchFamily="18" charset="0"/>
              <a:cs typeface="Times New Roman" panose="02020603050405020304" pitchFamily="18" charset="0"/>
            </a:endParaRPr>
          </a:p>
        </p:txBody>
      </p:sp>
      <p:sp>
        <p:nvSpPr>
          <p:cNvPr id="4" name="Объект 3"/>
          <p:cNvSpPr>
            <a:spLocks noGrp="1"/>
          </p:cNvSpPr>
          <p:nvPr>
            <p:ph sz="half" idx="2"/>
          </p:nvPr>
        </p:nvSpPr>
        <p:spPr>
          <a:xfrm>
            <a:off x="6129580" y="705172"/>
            <a:ext cx="6062420" cy="6152827"/>
          </a:xfrm>
        </p:spPr>
        <p:txBody>
          <a:bodyPr>
            <a:normAutofit fontScale="55000" lnSpcReduction="20000"/>
          </a:bodyPr>
          <a:lstStyle/>
          <a:p>
            <a:r>
              <a:rPr lang="en-US" dirty="0"/>
              <a:t>- June 24, 1812 – invasion of Napoleon's army in Russia.</a:t>
            </a:r>
          </a:p>
          <a:p>
            <a:r>
              <a:rPr lang="en-US" dirty="0"/>
              <a:t>- August 16-18, 1812 – Battle of Smolensk.</a:t>
            </a:r>
          </a:p>
          <a:p>
            <a:r>
              <a:rPr lang="en-US" dirty="0"/>
              <a:t>- August 26, 1812 – Battle of Borodino.</a:t>
            </a:r>
          </a:p>
          <a:p>
            <a:r>
              <a:rPr lang="en-US" dirty="0"/>
              <a:t>September 1, 1812 - Council in the village of </a:t>
            </a:r>
            <a:r>
              <a:rPr lang="en-US" dirty="0" err="1"/>
              <a:t>Fili</a:t>
            </a:r>
            <a:r>
              <a:rPr lang="en-US" dirty="0"/>
              <a:t>. </a:t>
            </a:r>
          </a:p>
          <a:p>
            <a:r>
              <a:rPr lang="en-US" dirty="0"/>
              <a:t>On September 2, 1812, Napoleon entered Moscow. </a:t>
            </a:r>
          </a:p>
          <a:p>
            <a:r>
              <a:rPr lang="en-US" dirty="0"/>
              <a:t>The </a:t>
            </a:r>
            <a:r>
              <a:rPr lang="en-US" dirty="0" err="1"/>
              <a:t>Tarutino</a:t>
            </a:r>
            <a:r>
              <a:rPr lang="en-US" dirty="0"/>
              <a:t> maneuver.</a:t>
            </a:r>
          </a:p>
          <a:p>
            <a:r>
              <a:rPr lang="en-US" dirty="0"/>
              <a:t>Actions of partisan detachments.</a:t>
            </a:r>
          </a:p>
          <a:p>
            <a:r>
              <a:rPr lang="en-US" dirty="0"/>
              <a:t>October 7, 1812 - Napoleon left Moscow </a:t>
            </a:r>
          </a:p>
          <a:p>
            <a:r>
              <a:rPr lang="en-US" dirty="0"/>
              <a:t>- October 12, 1812 – Battle of </a:t>
            </a:r>
            <a:r>
              <a:rPr lang="en-US" dirty="0" err="1"/>
              <a:t>Maloyaroslavets</a:t>
            </a:r>
            <a:r>
              <a:rPr lang="en-US" dirty="0"/>
              <a:t>.</a:t>
            </a:r>
          </a:p>
          <a:p>
            <a:r>
              <a:rPr lang="en-US" dirty="0"/>
              <a:t>- November 14-16, 1812 – French troops crossed the Berezina.</a:t>
            </a:r>
          </a:p>
          <a:p>
            <a:r>
              <a:rPr lang="en-US" dirty="0"/>
              <a:t>On December 23, 1812, the tsarist manifesto on the end of the Patriotic War was issued.</a:t>
            </a:r>
          </a:p>
          <a:p>
            <a:r>
              <a:rPr lang="en-US" dirty="0"/>
              <a:t>- January 14, 1813 – the beginning of the liberation of Europe from Napoleon's troops. The 5th anti-French coalition (Russia, Prussia, England, Sweden, Austria).</a:t>
            </a:r>
          </a:p>
          <a:p>
            <a:r>
              <a:rPr lang="en-US" dirty="0"/>
              <a:t>- October 16-19, 1813 – The "Battle of the Nations" at Leipzig. The defeat of Napoleon.</a:t>
            </a:r>
          </a:p>
          <a:p>
            <a:r>
              <a:rPr lang="en-US" dirty="0"/>
              <a:t>- 1813-1814 – the Russian army's overseas campaign.</a:t>
            </a:r>
          </a:p>
          <a:p>
            <a:r>
              <a:rPr lang="en-US" dirty="0"/>
              <a:t>- March 18, 1814 – the entry of the Allied forces into Paris.</a:t>
            </a:r>
          </a:p>
          <a:p>
            <a:r>
              <a:rPr lang="en-US" dirty="0"/>
              <a:t>- September 1814 – June 1815 – Congress of Vienna.</a:t>
            </a:r>
          </a:p>
          <a:p>
            <a:r>
              <a:rPr lang="en-US" dirty="0"/>
              <a:t>- 1815 – foundation of the "Holy Alliance" of monarchs.</a:t>
            </a:r>
          </a:p>
          <a:p>
            <a:r>
              <a:rPr lang="en-US" dirty="0"/>
              <a:t>- 1825-1855 – reign of Nicholas I.</a:t>
            </a:r>
          </a:p>
          <a:p>
            <a:r>
              <a:rPr lang="en-US" dirty="0"/>
              <a:t>- 1826-1828 – the Russian-Iranian War. </a:t>
            </a:r>
            <a:endParaRPr lang="ru-RU" dirty="0"/>
          </a:p>
        </p:txBody>
      </p:sp>
      <p:pic>
        <p:nvPicPr>
          <p:cNvPr id="5" name="Рисунок 4"/>
          <p:cNvPicPr>
            <a:picLocks noChangeAspect="1"/>
          </p:cNvPicPr>
          <p:nvPr/>
        </p:nvPicPr>
        <p:blipFill>
          <a:blip r:embed="rId2"/>
          <a:stretch>
            <a:fillRect/>
          </a:stretch>
        </p:blipFill>
        <p:spPr>
          <a:xfrm>
            <a:off x="92989" y="3436883"/>
            <a:ext cx="6110741" cy="3421116"/>
          </a:xfrm>
          <a:prstGeom prst="rect">
            <a:avLst/>
          </a:prstGeom>
        </p:spPr>
      </p:pic>
    </p:spTree>
    <p:extLst>
      <p:ext uri="{BB962C8B-B14F-4D97-AF65-F5344CB8AC3E}">
        <p14:creationId xmlns:p14="http://schemas.microsoft.com/office/powerpoint/2010/main" val="2664570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a:extLst>
              <a:ext uri="{FF2B5EF4-FFF2-40B4-BE49-F238E27FC236}">
                <a16:creationId xmlns:a16="http://schemas.microsoft.com/office/drawing/2014/main" id="{C2CD8D30-02DC-474A-822B-D1960911F247}"/>
              </a:ext>
            </a:extLst>
          </p:cNvPr>
          <p:cNvPicPr>
            <a:picLocks noGrp="1" noChangeAspect="1"/>
          </p:cNvPicPr>
          <p:nvPr>
            <p:ph idx="1"/>
          </p:nvPr>
        </p:nvPicPr>
        <p:blipFill>
          <a:blip r:embed="rId2"/>
          <a:stretch>
            <a:fillRect/>
          </a:stretch>
        </p:blipFill>
        <p:spPr>
          <a:xfrm>
            <a:off x="4002833" y="1099004"/>
            <a:ext cx="4186332" cy="5517586"/>
          </a:xfrm>
          <a:prstGeom prst="rect">
            <a:avLst/>
          </a:prstGeom>
        </p:spPr>
      </p:pic>
      <p:sp>
        <p:nvSpPr>
          <p:cNvPr id="2" name="Заголовок 1">
            <a:extLst>
              <a:ext uri="{FF2B5EF4-FFF2-40B4-BE49-F238E27FC236}">
                <a16:creationId xmlns:a16="http://schemas.microsoft.com/office/drawing/2014/main" id="{6C77AB31-AA31-4925-9091-6B1E665C34BC}"/>
              </a:ext>
            </a:extLst>
          </p:cNvPr>
          <p:cNvSpPr>
            <a:spLocks noGrp="1"/>
          </p:cNvSpPr>
          <p:nvPr>
            <p:ph type="title"/>
          </p:nvPr>
        </p:nvSpPr>
        <p:spPr>
          <a:xfrm>
            <a:off x="3009899" y="13063"/>
            <a:ext cx="6172200" cy="968375"/>
          </a:xfrm>
        </p:spPr>
        <p:txBody>
          <a:bodyPr>
            <a:normAutofit/>
          </a:bodyPr>
          <a:lstStyle/>
          <a:p>
            <a:r>
              <a:rPr lang="en-US" sz="4800" b="1" u="sng" dirty="0">
                <a:latin typeface="Times New Roman" panose="02020603050405020304" pitchFamily="18" charset="0"/>
                <a:ea typeface="SimSun" panose="02010600030101010101" pitchFamily="2" charset="-122"/>
                <a:cs typeface="Times New Roman" panose="02020603050405020304" pitchFamily="18" charset="0"/>
              </a:rPr>
              <a:t>Nicholas I</a:t>
            </a:r>
            <a:r>
              <a:rPr lang="ru-RU" sz="4800" b="1" u="sng" dirty="0">
                <a:latin typeface="Times New Roman" panose="02020603050405020304" pitchFamily="18" charset="0"/>
                <a:ea typeface="SimSun" panose="02010600030101010101" pitchFamily="2" charset="-122"/>
                <a:cs typeface="Times New Roman" panose="02020603050405020304" pitchFamily="18" charset="0"/>
              </a:rPr>
              <a:t> (1825–1855)</a:t>
            </a:r>
          </a:p>
        </p:txBody>
      </p:sp>
    </p:spTree>
    <p:extLst>
      <p:ext uri="{BB962C8B-B14F-4D97-AF65-F5344CB8AC3E}">
        <p14:creationId xmlns:p14="http://schemas.microsoft.com/office/powerpoint/2010/main" val="31381976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a:extLst>
              <a:ext uri="{FF2B5EF4-FFF2-40B4-BE49-F238E27FC236}">
                <a16:creationId xmlns:a16="http://schemas.microsoft.com/office/drawing/2014/main" id="{6F950430-0F5A-45EB-9167-7F0622CDEE71}"/>
              </a:ext>
            </a:extLst>
          </p:cNvPr>
          <p:cNvPicPr>
            <a:picLocks noGrp="1" noChangeAspect="1"/>
          </p:cNvPicPr>
          <p:nvPr>
            <p:ph idx="1"/>
          </p:nvPr>
        </p:nvPicPr>
        <p:blipFill>
          <a:blip r:embed="rId2"/>
          <a:stretch>
            <a:fillRect/>
          </a:stretch>
        </p:blipFill>
        <p:spPr>
          <a:xfrm>
            <a:off x="4082631" y="1055621"/>
            <a:ext cx="3893386" cy="5575331"/>
          </a:xfrm>
          <a:prstGeom prst="rect">
            <a:avLst/>
          </a:prstGeom>
        </p:spPr>
      </p:pic>
      <p:sp>
        <p:nvSpPr>
          <p:cNvPr id="2" name="Заголовок 1">
            <a:extLst>
              <a:ext uri="{FF2B5EF4-FFF2-40B4-BE49-F238E27FC236}">
                <a16:creationId xmlns:a16="http://schemas.microsoft.com/office/drawing/2014/main" id="{97CEC269-885F-4B5F-87F5-40930DB0454D}"/>
              </a:ext>
            </a:extLst>
          </p:cNvPr>
          <p:cNvSpPr>
            <a:spLocks noGrp="1"/>
          </p:cNvSpPr>
          <p:nvPr>
            <p:ph type="title"/>
          </p:nvPr>
        </p:nvSpPr>
        <p:spPr>
          <a:xfrm>
            <a:off x="2601140" y="26126"/>
            <a:ext cx="6856369" cy="1029495"/>
          </a:xfrm>
        </p:spPr>
        <p:txBody>
          <a:bodyPr>
            <a:noAutofit/>
          </a:bodyPr>
          <a:lstStyle/>
          <a:p>
            <a:r>
              <a:rPr lang="en-US" sz="4800" b="1" u="sng" dirty="0">
                <a:latin typeface="Times New Roman" panose="02020603050405020304" pitchFamily="18" charset="0"/>
                <a:ea typeface="SimSun" panose="02010600030101010101" pitchFamily="2" charset="-122"/>
                <a:cs typeface="Times New Roman" panose="02020603050405020304" pitchFamily="18" charset="0"/>
              </a:rPr>
              <a:t>Alexander II</a:t>
            </a:r>
            <a:r>
              <a:rPr lang="ru-RU" sz="4800" b="1" u="sng" dirty="0">
                <a:latin typeface="Times New Roman" panose="02020603050405020304" pitchFamily="18" charset="0"/>
                <a:ea typeface="SimSun" panose="02010600030101010101" pitchFamily="2" charset="-122"/>
                <a:cs typeface="Times New Roman" panose="02020603050405020304" pitchFamily="18" charset="0"/>
              </a:rPr>
              <a:t> (</a:t>
            </a:r>
            <a:r>
              <a:rPr lang="en-US" sz="4800" b="1" u="sng" dirty="0">
                <a:latin typeface="Times New Roman" panose="02020603050405020304" pitchFamily="18" charset="0"/>
                <a:ea typeface="SimSun" panose="02010600030101010101" pitchFamily="2" charset="-122"/>
                <a:cs typeface="Times New Roman" panose="02020603050405020304" pitchFamily="18" charset="0"/>
              </a:rPr>
              <a:t>1855–1881</a:t>
            </a:r>
            <a:r>
              <a:rPr lang="ru-RU" sz="4800" b="1" u="sng" dirty="0">
                <a:latin typeface="Times New Roman" panose="02020603050405020304" pitchFamily="18" charset="0"/>
                <a:ea typeface="SimSun"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3840755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a:extLst>
              <a:ext uri="{FF2B5EF4-FFF2-40B4-BE49-F238E27FC236}">
                <a16:creationId xmlns:a16="http://schemas.microsoft.com/office/drawing/2014/main" id="{8227D2CD-30D9-4B9C-B1A2-4DB7ED538AB2}"/>
              </a:ext>
            </a:extLst>
          </p:cNvPr>
          <p:cNvPicPr>
            <a:picLocks noGrp="1" noChangeAspect="1"/>
          </p:cNvPicPr>
          <p:nvPr>
            <p:ph idx="1"/>
          </p:nvPr>
        </p:nvPicPr>
        <p:blipFill>
          <a:blip r:embed="rId2"/>
          <a:stretch>
            <a:fillRect/>
          </a:stretch>
        </p:blipFill>
        <p:spPr>
          <a:xfrm>
            <a:off x="3905994" y="982526"/>
            <a:ext cx="4380011" cy="5571375"/>
          </a:xfrm>
          <a:prstGeom prst="rect">
            <a:avLst/>
          </a:prstGeom>
        </p:spPr>
      </p:pic>
      <p:sp>
        <p:nvSpPr>
          <p:cNvPr id="2" name="Заголовок 1">
            <a:extLst>
              <a:ext uri="{FF2B5EF4-FFF2-40B4-BE49-F238E27FC236}">
                <a16:creationId xmlns:a16="http://schemas.microsoft.com/office/drawing/2014/main" id="{32924DE6-4EDC-4437-AD3D-2B5A5719FB5B}"/>
              </a:ext>
            </a:extLst>
          </p:cNvPr>
          <p:cNvSpPr>
            <a:spLocks noGrp="1"/>
          </p:cNvSpPr>
          <p:nvPr>
            <p:ph type="title"/>
          </p:nvPr>
        </p:nvSpPr>
        <p:spPr>
          <a:xfrm>
            <a:off x="2541542" y="52251"/>
            <a:ext cx="7108916" cy="930275"/>
          </a:xfrm>
        </p:spPr>
        <p:txBody>
          <a:bodyPr>
            <a:noAutofit/>
          </a:bodyPr>
          <a:lstStyle/>
          <a:p>
            <a:r>
              <a:rPr lang="en-US" sz="4800" b="1" u="sng" dirty="0">
                <a:latin typeface="Times New Roman" panose="02020603050405020304" pitchFamily="18" charset="0"/>
                <a:ea typeface="SimSun" panose="02010600030101010101" pitchFamily="2" charset="-122"/>
                <a:cs typeface="Times New Roman" panose="02020603050405020304" pitchFamily="18" charset="0"/>
              </a:rPr>
              <a:t>Alexander III</a:t>
            </a:r>
            <a:r>
              <a:rPr lang="ru-RU" sz="4800" b="1" u="sng" dirty="0">
                <a:latin typeface="Times New Roman" panose="02020603050405020304" pitchFamily="18" charset="0"/>
                <a:ea typeface="SimSun" panose="02010600030101010101" pitchFamily="2" charset="-122"/>
                <a:cs typeface="Times New Roman" panose="02020603050405020304" pitchFamily="18" charset="0"/>
              </a:rPr>
              <a:t> (1881–1894)</a:t>
            </a:r>
          </a:p>
        </p:txBody>
      </p:sp>
    </p:spTree>
    <p:extLst>
      <p:ext uri="{BB962C8B-B14F-4D97-AF65-F5344CB8AC3E}">
        <p14:creationId xmlns:p14="http://schemas.microsoft.com/office/powerpoint/2010/main" val="1177615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a:extLst>
              <a:ext uri="{FF2B5EF4-FFF2-40B4-BE49-F238E27FC236}">
                <a16:creationId xmlns:a16="http://schemas.microsoft.com/office/drawing/2014/main" id="{042AE4A7-7F32-43BA-A959-D341799100CF}"/>
              </a:ext>
            </a:extLst>
          </p:cNvPr>
          <p:cNvPicPr>
            <a:picLocks noGrp="1" noChangeAspect="1"/>
          </p:cNvPicPr>
          <p:nvPr>
            <p:ph idx="1"/>
          </p:nvPr>
        </p:nvPicPr>
        <p:blipFill>
          <a:blip r:embed="rId2"/>
          <a:stretch>
            <a:fillRect/>
          </a:stretch>
        </p:blipFill>
        <p:spPr>
          <a:xfrm>
            <a:off x="4037307" y="981825"/>
            <a:ext cx="4117386" cy="5739637"/>
          </a:xfrm>
          <a:prstGeom prst="rect">
            <a:avLst/>
          </a:prstGeom>
        </p:spPr>
      </p:pic>
      <p:sp>
        <p:nvSpPr>
          <p:cNvPr id="2" name="Заголовок 1">
            <a:extLst>
              <a:ext uri="{FF2B5EF4-FFF2-40B4-BE49-F238E27FC236}">
                <a16:creationId xmlns:a16="http://schemas.microsoft.com/office/drawing/2014/main" id="{330556D5-0F3D-4CA7-8FDF-B528DC0FB9F0}"/>
              </a:ext>
            </a:extLst>
          </p:cNvPr>
          <p:cNvSpPr>
            <a:spLocks noGrp="1"/>
          </p:cNvSpPr>
          <p:nvPr>
            <p:ph type="title"/>
          </p:nvPr>
        </p:nvSpPr>
        <p:spPr>
          <a:xfrm>
            <a:off x="2903900" y="136538"/>
            <a:ext cx="6384199" cy="644525"/>
          </a:xfrm>
        </p:spPr>
        <p:txBody>
          <a:bodyPr>
            <a:noAutofit/>
          </a:bodyPr>
          <a:lstStyle/>
          <a:p>
            <a:r>
              <a:rPr lang="en-US" sz="4800" b="1" u="sng" dirty="0">
                <a:latin typeface="Times New Roman" panose="02020603050405020304" pitchFamily="18" charset="0"/>
                <a:ea typeface="SimSun" panose="02010600030101010101" pitchFamily="2" charset="-122"/>
                <a:cs typeface="Times New Roman" panose="02020603050405020304" pitchFamily="18" charset="0"/>
              </a:rPr>
              <a:t>Nicholas II</a:t>
            </a:r>
            <a:r>
              <a:rPr lang="ru-RU" sz="4800" b="1" u="sng" dirty="0">
                <a:latin typeface="Times New Roman" panose="02020603050405020304" pitchFamily="18" charset="0"/>
                <a:ea typeface="SimSun" panose="02010600030101010101" pitchFamily="2" charset="-122"/>
                <a:cs typeface="Times New Roman" panose="02020603050405020304" pitchFamily="18" charset="0"/>
              </a:rPr>
              <a:t> (1894–1917)</a:t>
            </a:r>
          </a:p>
        </p:txBody>
      </p:sp>
    </p:spTree>
    <p:extLst>
      <p:ext uri="{BB962C8B-B14F-4D97-AF65-F5344CB8AC3E}">
        <p14:creationId xmlns:p14="http://schemas.microsoft.com/office/powerpoint/2010/main" val="3214184274"/>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TotalTime>
  <Words>2141</Words>
  <Application>Microsoft Office PowerPoint</Application>
  <PresentationFormat>Широкоэкранный</PresentationFormat>
  <Paragraphs>134</Paragraphs>
  <Slides>16</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16</vt:i4>
      </vt:variant>
    </vt:vector>
  </HeadingPairs>
  <TitlesOfParts>
    <vt:vector size="22" baseType="lpstr">
      <vt:lpstr>SimSun</vt:lpstr>
      <vt:lpstr>Arial</vt:lpstr>
      <vt:lpstr>Calibri</vt:lpstr>
      <vt:lpstr>Calibri Light</vt:lpstr>
      <vt:lpstr>Times New Roman</vt:lpstr>
      <vt:lpstr>Тема Office</vt:lpstr>
      <vt:lpstr>The Imperial Period of Russian History (1721-1917)</vt:lpstr>
      <vt:lpstr>Peter the Great (1682-1721)</vt:lpstr>
      <vt:lpstr>Презентация PowerPoint</vt:lpstr>
      <vt:lpstr>Peter I the Great domestic activities.</vt:lpstr>
      <vt:lpstr>The Empress Elizabeth (1741–1761)</vt:lpstr>
      <vt:lpstr>The capture of Berlin, the capital of Prussia,  by Russian troops in 1760 (7years war) </vt:lpstr>
      <vt:lpstr>Catherine the Great (1762–1796)</vt:lpstr>
      <vt:lpstr>Domestic policy</vt:lpstr>
      <vt:lpstr>Foreign Policy</vt:lpstr>
      <vt:lpstr>Paul I (1796–1801)</vt:lpstr>
      <vt:lpstr>Alexander I (1801–1825)</vt:lpstr>
      <vt:lpstr>Foreign affairs </vt:lpstr>
      <vt:lpstr>Nicholas I (1825–1855)</vt:lpstr>
      <vt:lpstr>Alexander II (1855–1881)</vt:lpstr>
      <vt:lpstr>Alexander III (1881–1894)</vt:lpstr>
      <vt:lpstr>Nicholas II (1894–1917)</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hxhshshsjeje@gmail.com</dc:creator>
  <cp:lastModifiedBy>Су И</cp:lastModifiedBy>
  <cp:revision>21</cp:revision>
  <dcterms:created xsi:type="dcterms:W3CDTF">2025-12-14T23:49:30Z</dcterms:created>
  <dcterms:modified xsi:type="dcterms:W3CDTF">2025-12-15T04:18:28Z</dcterms:modified>
</cp:coreProperties>
</file>